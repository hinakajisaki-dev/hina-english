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4" Type="http://schemas.openxmlformats.org/officeDocument/2006/relationships/presProps" Target="presProps.xml"/><Relationship Id="rId56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8477250" y="0"/>
            <a:ext cx="3714750" cy="3333750"/>
          </a:xfrm>
          <a:custGeom>
            <a:avLst/>
            <a:gdLst/>
            <a:ahLst/>
            <a:cxnLst/>
            <a:rect l="l" t="t" r="r" b="b"/>
            <a:pathLst>
              <a:path w="3714750" h="3333750">
                <a:moveTo>
                  <a:pt x="3714750" y="0"/>
                </a:moveTo>
                <a:lnTo>
                  <a:pt x="3714750" y="3118485"/>
                </a:lnTo>
                <a:lnTo>
                  <a:pt x="3688080" y="3130868"/>
                </a:lnTo>
                <a:lnTo>
                  <a:pt x="3524250" y="3191828"/>
                </a:lnTo>
                <a:lnTo>
                  <a:pt x="3357563" y="3243263"/>
                </a:lnTo>
                <a:lnTo>
                  <a:pt x="3187065" y="3282315"/>
                </a:lnTo>
                <a:lnTo>
                  <a:pt x="3014663" y="3310890"/>
                </a:lnTo>
                <a:lnTo>
                  <a:pt x="2841307" y="3328035"/>
                </a:lnTo>
                <a:lnTo>
                  <a:pt x="2667000" y="3333750"/>
                </a:lnTo>
                <a:lnTo>
                  <a:pt x="2492693" y="3328035"/>
                </a:lnTo>
                <a:lnTo>
                  <a:pt x="2319337" y="3310890"/>
                </a:lnTo>
                <a:lnTo>
                  <a:pt x="2146935" y="3282315"/>
                </a:lnTo>
                <a:lnTo>
                  <a:pt x="1976437" y="3243263"/>
                </a:lnTo>
                <a:lnTo>
                  <a:pt x="1809750" y="3191828"/>
                </a:lnTo>
                <a:lnTo>
                  <a:pt x="1645920" y="3130868"/>
                </a:lnTo>
                <a:lnTo>
                  <a:pt x="1487805" y="3058478"/>
                </a:lnTo>
                <a:lnTo>
                  <a:pt x="1333500" y="2976562"/>
                </a:lnTo>
                <a:lnTo>
                  <a:pt x="1184910" y="2884170"/>
                </a:lnTo>
                <a:lnTo>
                  <a:pt x="1042988" y="2782253"/>
                </a:lnTo>
                <a:lnTo>
                  <a:pt x="908685" y="2671763"/>
                </a:lnTo>
                <a:lnTo>
                  <a:pt x="781050" y="2552700"/>
                </a:lnTo>
                <a:lnTo>
                  <a:pt x="661987" y="2425065"/>
                </a:lnTo>
                <a:lnTo>
                  <a:pt x="551497" y="2290762"/>
                </a:lnTo>
                <a:lnTo>
                  <a:pt x="449580" y="2148840"/>
                </a:lnTo>
                <a:lnTo>
                  <a:pt x="357188" y="2000250"/>
                </a:lnTo>
                <a:lnTo>
                  <a:pt x="275272" y="1845945"/>
                </a:lnTo>
                <a:lnTo>
                  <a:pt x="202882" y="1687830"/>
                </a:lnTo>
                <a:lnTo>
                  <a:pt x="141922" y="1524000"/>
                </a:lnTo>
                <a:lnTo>
                  <a:pt x="90488" y="1357313"/>
                </a:lnTo>
                <a:lnTo>
                  <a:pt x="51435" y="1186815"/>
                </a:lnTo>
                <a:lnTo>
                  <a:pt x="22860" y="1014413"/>
                </a:lnTo>
                <a:lnTo>
                  <a:pt x="5715" y="841057"/>
                </a:lnTo>
                <a:lnTo>
                  <a:pt x="0" y="666750"/>
                </a:lnTo>
                <a:lnTo>
                  <a:pt x="5715" y="492443"/>
                </a:lnTo>
                <a:lnTo>
                  <a:pt x="22860" y="319088"/>
                </a:lnTo>
                <a:lnTo>
                  <a:pt x="51435" y="146685"/>
                </a:lnTo>
                <a:lnTo>
                  <a:pt x="85725" y="0"/>
                </a:lnTo>
                <a:close/>
              </a:path>
            </a:pathLst>
          </a:custGeom>
          <a:solidFill>
            <a:srgbClr val="D6E8F8"/>
          </a:solidFill>
          <a:ln/>
        </p:spPr>
      </p:sp>
      <p:sp>
        <p:nvSpPr>
          <p:cNvPr id="3" name=""/>
          <p:cNvSpPr/>
          <p:nvPr/>
        </p:nvSpPr>
        <p:spPr>
          <a:xfrm>
            <a:off x="0" y="4286250"/>
            <a:ext cx="3048000" cy="2571750"/>
          </a:xfrm>
          <a:custGeom>
            <a:avLst/>
            <a:gdLst/>
            <a:ahLst/>
            <a:cxnLst/>
            <a:rect l="l" t="t" r="r" b="b"/>
            <a:pathLst>
              <a:path w="3048000" h="2571750">
                <a:moveTo>
                  <a:pt x="3048000" y="2190750"/>
                </a:moveTo>
                <a:lnTo>
                  <a:pt x="3043238" y="2333625"/>
                </a:lnTo>
                <a:lnTo>
                  <a:pt x="3028950" y="2476500"/>
                </a:lnTo>
                <a:lnTo>
                  <a:pt x="3013710" y="2571750"/>
                </a:lnTo>
                <a:lnTo>
                  <a:pt x="0" y="2571750"/>
                </a:lnTo>
                <a:lnTo>
                  <a:pt x="0" y="175260"/>
                </a:lnTo>
                <a:lnTo>
                  <a:pt x="19050" y="166688"/>
                </a:lnTo>
                <a:lnTo>
                  <a:pt x="153353" y="116205"/>
                </a:lnTo>
                <a:lnTo>
                  <a:pt x="290513" y="74295"/>
                </a:lnTo>
                <a:lnTo>
                  <a:pt x="429578" y="41910"/>
                </a:lnTo>
                <a:lnTo>
                  <a:pt x="571500" y="19050"/>
                </a:lnTo>
                <a:lnTo>
                  <a:pt x="714375" y="4763"/>
                </a:lnTo>
                <a:lnTo>
                  <a:pt x="857250" y="0"/>
                </a:lnTo>
                <a:lnTo>
                  <a:pt x="1000125" y="4763"/>
                </a:lnTo>
                <a:lnTo>
                  <a:pt x="1143000" y="19050"/>
                </a:lnTo>
                <a:lnTo>
                  <a:pt x="1284923" y="41910"/>
                </a:lnTo>
                <a:lnTo>
                  <a:pt x="1423987" y="74295"/>
                </a:lnTo>
                <a:lnTo>
                  <a:pt x="1561148" y="116205"/>
                </a:lnTo>
                <a:lnTo>
                  <a:pt x="1695450" y="166688"/>
                </a:lnTo>
                <a:lnTo>
                  <a:pt x="1825942" y="225742"/>
                </a:lnTo>
                <a:lnTo>
                  <a:pt x="1952625" y="293370"/>
                </a:lnTo>
                <a:lnTo>
                  <a:pt x="2074545" y="369570"/>
                </a:lnTo>
                <a:lnTo>
                  <a:pt x="2190750" y="452437"/>
                </a:lnTo>
                <a:lnTo>
                  <a:pt x="2301240" y="543878"/>
                </a:lnTo>
                <a:lnTo>
                  <a:pt x="2406015" y="641985"/>
                </a:lnTo>
                <a:lnTo>
                  <a:pt x="2504123" y="746760"/>
                </a:lnTo>
                <a:lnTo>
                  <a:pt x="2595563" y="857250"/>
                </a:lnTo>
                <a:lnTo>
                  <a:pt x="2678430" y="973455"/>
                </a:lnTo>
                <a:lnTo>
                  <a:pt x="2754630" y="1095375"/>
                </a:lnTo>
                <a:lnTo>
                  <a:pt x="2822258" y="1222057"/>
                </a:lnTo>
                <a:lnTo>
                  <a:pt x="2881313" y="1352550"/>
                </a:lnTo>
                <a:lnTo>
                  <a:pt x="2931795" y="1486853"/>
                </a:lnTo>
                <a:lnTo>
                  <a:pt x="2973705" y="1624012"/>
                </a:lnTo>
                <a:lnTo>
                  <a:pt x="3006090" y="1763078"/>
                </a:lnTo>
                <a:lnTo>
                  <a:pt x="3028950" y="1905000"/>
                </a:lnTo>
                <a:lnTo>
                  <a:pt x="3043238" y="2047875"/>
                </a:lnTo>
                <a:close/>
              </a:path>
            </a:pathLst>
          </a:custGeom>
          <a:solidFill>
            <a:srgbClr val="FFE1D3"/>
          </a:solidFill>
          <a:ln/>
        </p:spPr>
      </p:sp>
      <p:sp>
        <p:nvSpPr>
          <p:cNvPr id="4" name=""/>
          <p:cNvSpPr/>
          <p:nvPr/>
        </p:nvSpPr>
        <p:spPr>
          <a:xfrm>
            <a:off x="2076450" y="4114800"/>
            <a:ext cx="8039100" cy="323850"/>
          </a:xfrm>
          <a:prstGeom prst="roundRect">
            <a:avLst>
              <a:gd name="adj" fmla="val 35294"/>
            </a:avLst>
          </a:prstGeom>
          <a:solidFill>
            <a:srgbClr val="FFD966"/>
          </a:solidFill>
          <a:ln/>
        </p:spPr>
      </p:sp>
      <p:sp>
        <p:nvSpPr>
          <p:cNvPr id="5" name=""/>
          <p:cNvSpPr txBox="1"/>
          <p:nvPr/>
        </p:nvSpPr>
        <p:spPr>
          <a:xfrm>
            <a:off x="1990725" y="2257425"/>
            <a:ext cx="8210550" cy="1209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6600" b="1" spc="198" kern="0">
                <a:solidFill>
                  <a:srgbClr val="1A2238"/>
                </a:solidFill>
                <a:latin typeface="Noto Sans JP"/>
                <a:ea typeface="Noto Sans JP"/>
              </a:rPr>
              <a:t>ネイティブっぽく</a:t>
            </a:r>
          </a:p>
        </p:txBody>
      </p:sp>
      <p:sp>
        <p:nvSpPr>
          <p:cNvPr id="6" name=""/>
          <p:cNvSpPr txBox="1"/>
          <p:nvPr/>
        </p:nvSpPr>
        <p:spPr>
          <a:xfrm>
            <a:off x="2209800" y="3343275"/>
            <a:ext cx="9277350" cy="1209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600" b="1" spc="198" kern="0">
                <a:solidFill>
                  <a:srgbClr val="1A2238"/>
                </a:solidFill>
                <a:latin typeface="Noto Sans JP"/>
                <a:ea typeface="Noto Sans JP"/>
              </a:rPr>
              <a:t>長い文章で話す方法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15425" y="390525"/>
            <a:ext cx="24669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487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4" name=""/>
          <p:cNvSpPr txBox="1"/>
          <p:nvPr/>
        </p:nvSpPr>
        <p:spPr>
          <a:xfrm>
            <a:off x="9458325" y="466725"/>
            <a:ext cx="1743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SPECIAL GUEST</a:t>
            </a:r>
          </a:p>
        </p:txBody>
      </p:sp>
      <p:sp>
        <p:nvSpPr>
          <p:cNvPr id="5" name=""/>
          <p:cNvSpPr txBox="1"/>
          <p:nvPr/>
        </p:nvSpPr>
        <p:spPr>
          <a:xfrm>
            <a:off x="10763250" y="447675"/>
            <a:ext cx="10858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Scott先生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TODAY'S GUEST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32385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今日のゲスト</a:t>
            </a:r>
          </a:p>
        </p:txBody>
      </p:sp>
      <p:sp>
        <p:nvSpPr>
          <p:cNvPr id="8" name=""/>
          <p:cNvSpPr/>
          <p:nvPr/>
        </p:nvSpPr>
        <p:spPr>
          <a:xfrm>
            <a:off x="609600" y="2286000"/>
            <a:ext cx="3810000" cy="38100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9" name="Image 0" descr="Scott先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2343150"/>
            <a:ext cx="3695700" cy="36957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4914900" y="1962150"/>
            <a:ext cx="3819525" cy="952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100" b="1">
                <a:solidFill>
                  <a:srgbClr val="1A2238"/>
                </a:solidFill>
                <a:latin typeface="DM Sans"/>
                <a:ea typeface="DM Sans"/>
              </a:rPr>
              <a:t>Scott</a:t>
            </a:r>
            <a:pPr/>
            <a:r>
              <a:rPr sz="5100" b="1">
                <a:solidFill>
                  <a:srgbClr val="1A2238"/>
                </a:solidFill>
                <a:latin typeface="Noto Sans JP"/>
                <a:ea typeface="Noto Sans JP"/>
              </a:rPr>
              <a:t>先生</a:t>
            </a:r>
          </a:p>
        </p:txBody>
      </p:sp>
      <p:pic>
        <p:nvPicPr>
          <p:cNvPr id="11" name="Image 1" descr="カナダの国旗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875" y="2314575"/>
            <a:ext cx="609600" cy="3048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8829675" y="2333625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→</a:t>
            </a:r>
          </a:p>
        </p:txBody>
      </p:sp>
      <p:pic>
        <p:nvPicPr>
          <p:cNvPr id="13" name="Image 2" descr="アメリカの国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6375" y="2314575"/>
            <a:ext cx="581025" cy="3048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4914900" y="3038475"/>
            <a:ext cx="6667500" cy="3267075"/>
          </a:xfrm>
          <a:prstGeom prst="roundRect">
            <a:avLst>
              <a:gd name="adj" fmla="val 64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5181600" y="3305175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出身</a:t>
            </a:r>
          </a:p>
        </p:txBody>
      </p:sp>
      <p:sp>
        <p:nvSpPr>
          <p:cNvPr id="16" name=""/>
          <p:cNvSpPr txBox="1"/>
          <p:nvPr/>
        </p:nvSpPr>
        <p:spPr>
          <a:xfrm>
            <a:off x="6096000" y="3171825"/>
            <a:ext cx="49244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Born in Canada, grew up mostly in the US</a:t>
            </a:r>
          </a:p>
        </p:txBody>
      </p:sp>
      <p:sp>
        <p:nvSpPr>
          <p:cNvPr id="17" name=""/>
          <p:cNvSpPr txBox="1"/>
          <p:nvPr/>
        </p:nvSpPr>
        <p:spPr>
          <a:xfrm>
            <a:off x="6096000" y="3448050"/>
            <a:ext cx="26384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カナダ生まれ、ほぼアメリカ育ち</a:t>
            </a:r>
          </a:p>
        </p:txBody>
      </p:sp>
      <p:sp>
        <p:nvSpPr>
          <p:cNvPr id="18" name=""/>
          <p:cNvSpPr/>
          <p:nvPr/>
        </p:nvSpPr>
        <p:spPr>
          <a:xfrm>
            <a:off x="5181600" y="3743325"/>
            <a:ext cx="6134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9" name=""/>
          <p:cNvSpPr txBox="1"/>
          <p:nvPr/>
        </p:nvSpPr>
        <p:spPr>
          <a:xfrm>
            <a:off x="5181600" y="40005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来日</a:t>
            </a:r>
          </a:p>
        </p:txBody>
      </p:sp>
      <p:sp>
        <p:nvSpPr>
          <p:cNvPr id="20" name=""/>
          <p:cNvSpPr txBox="1"/>
          <p:nvPr/>
        </p:nvSpPr>
        <p:spPr>
          <a:xfrm>
            <a:off x="6096000" y="3876675"/>
            <a:ext cx="53911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Came to Japan to study martial arts and </a:t>
            </a:r>
            <a:pPr/>
            <a:r>
              <a:rPr sz="1600" b="1">
                <a:solidFill>
                  <a:srgbClr val="1A2238"/>
                </a:solidFill>
                <a:latin typeface="Noto Sans JP"/>
                <a:ea typeface="Noto Sans JP"/>
              </a:rPr>
              <a:t>整体</a:t>
            </a:r>
          </a:p>
        </p:txBody>
      </p:sp>
      <p:sp>
        <p:nvSpPr>
          <p:cNvPr id="21" name=""/>
          <p:cNvSpPr txBox="1"/>
          <p:nvPr/>
        </p:nvSpPr>
        <p:spPr>
          <a:xfrm>
            <a:off x="6096000" y="4152900"/>
            <a:ext cx="21812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武道と整体を学びに日本へ</a:t>
            </a:r>
          </a:p>
        </p:txBody>
      </p:sp>
      <p:sp>
        <p:nvSpPr>
          <p:cNvPr id="22" name=""/>
          <p:cNvSpPr/>
          <p:nvPr/>
        </p:nvSpPr>
        <p:spPr>
          <a:xfrm>
            <a:off x="5181600" y="4448175"/>
            <a:ext cx="6134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3" name=""/>
          <p:cNvSpPr txBox="1"/>
          <p:nvPr/>
        </p:nvSpPr>
        <p:spPr>
          <a:xfrm>
            <a:off x="5181600" y="46863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経歴</a:t>
            </a:r>
          </a:p>
        </p:txBody>
      </p:sp>
      <p:sp>
        <p:nvSpPr>
          <p:cNvPr id="24" name=""/>
          <p:cNvSpPr txBox="1"/>
          <p:nvPr/>
        </p:nvSpPr>
        <p:spPr>
          <a:xfrm>
            <a:off x="6096000" y="4552950"/>
            <a:ext cx="3276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Teaching for over 35 years</a:t>
            </a:r>
          </a:p>
        </p:txBody>
      </p:sp>
      <p:sp>
        <p:nvSpPr>
          <p:cNvPr id="25" name=""/>
          <p:cNvSpPr txBox="1"/>
          <p:nvPr/>
        </p:nvSpPr>
        <p:spPr>
          <a:xfrm>
            <a:off x="6096000" y="4829175"/>
            <a:ext cx="20478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35年以上、教えています</a:t>
            </a:r>
          </a:p>
        </p:txBody>
      </p:sp>
      <p:sp>
        <p:nvSpPr>
          <p:cNvPr id="26" name=""/>
          <p:cNvSpPr/>
          <p:nvPr/>
        </p:nvSpPr>
        <p:spPr>
          <a:xfrm>
            <a:off x="5181600" y="5124450"/>
            <a:ext cx="6134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7" name=""/>
          <p:cNvSpPr txBox="1"/>
          <p:nvPr/>
        </p:nvSpPr>
        <p:spPr>
          <a:xfrm>
            <a:off x="5181600" y="5362575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在住</a:t>
            </a:r>
          </a:p>
        </p:txBody>
      </p:sp>
      <p:sp>
        <p:nvSpPr>
          <p:cNvPr id="28" name=""/>
          <p:cNvSpPr txBox="1"/>
          <p:nvPr/>
        </p:nvSpPr>
        <p:spPr>
          <a:xfrm>
            <a:off x="6096000" y="5229225"/>
            <a:ext cx="19335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Lives in Osaka</a:t>
            </a:r>
          </a:p>
        </p:txBody>
      </p:sp>
      <p:sp>
        <p:nvSpPr>
          <p:cNvPr id="29" name=""/>
          <p:cNvSpPr txBox="1"/>
          <p:nvPr/>
        </p:nvSpPr>
        <p:spPr>
          <a:xfrm>
            <a:off x="6096000" y="55054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大阪在住</a:t>
            </a:r>
          </a:p>
        </p:txBody>
      </p:sp>
      <p:sp>
        <p:nvSpPr>
          <p:cNvPr id="30" name=""/>
          <p:cNvSpPr/>
          <p:nvPr/>
        </p:nvSpPr>
        <p:spPr>
          <a:xfrm>
            <a:off x="5181600" y="5800725"/>
            <a:ext cx="61341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 txBox="1"/>
          <p:nvPr/>
        </p:nvSpPr>
        <p:spPr>
          <a:xfrm>
            <a:off x="5181600" y="5943600"/>
            <a:ext cx="10287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D91F26"/>
                </a:solidFill>
                <a:latin typeface="Noto Sans JP"/>
                <a:ea typeface="Noto Sans JP"/>
              </a:rPr>
              <a:t>YouTube</a:t>
            </a:r>
          </a:p>
        </p:txBody>
      </p:sp>
      <p:sp>
        <p:nvSpPr>
          <p:cNvPr id="32" name=""/>
          <p:cNvSpPr txBox="1"/>
          <p:nvPr/>
        </p:nvSpPr>
        <p:spPr>
          <a:xfrm>
            <a:off x="6096000" y="5905500"/>
            <a:ext cx="19526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DM Sans"/>
                <a:ea typeface="DM Sans"/>
              </a:rPr>
              <a:t>BananaeigoTV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8877300" y="390525"/>
            <a:ext cx="2705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0106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220200" y="466725"/>
            <a:ext cx="17621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TODAY'S THEME</a:t>
            </a:r>
          </a:p>
        </p:txBody>
      </p:sp>
      <p:sp>
        <p:nvSpPr>
          <p:cNvPr id="5" name=""/>
          <p:cNvSpPr txBox="1"/>
          <p:nvPr/>
        </p:nvSpPr>
        <p:spPr>
          <a:xfrm>
            <a:off x="10553700" y="4476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今日のテーマ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9240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TODAY'S THEME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219200"/>
            <a:ext cx="43338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1809750"/>
            <a:ext cx="7905750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F0521E"/>
                </a:solidFill>
                <a:latin typeface="Noto Sans JP"/>
                <a:ea typeface="Noto Sans JP"/>
              </a:rPr>
              <a:t>長い文章</a:t>
            </a:r>
            <a:pPr/>
            <a:r>
              <a:rPr sz="3450" b="1">
                <a:solidFill>
                  <a:srgbClr val="1A2238"/>
                </a:solidFill>
                <a:latin typeface="Noto Sans JP"/>
                <a:ea typeface="Noto Sans JP"/>
              </a:rPr>
              <a:t>で話せるようになる方法</a:t>
            </a:r>
          </a:p>
        </p:txBody>
      </p:sp>
      <p:sp>
        <p:nvSpPr>
          <p:cNvPr id="9" name=""/>
          <p:cNvSpPr/>
          <p:nvPr/>
        </p:nvSpPr>
        <p:spPr>
          <a:xfrm>
            <a:off x="609600" y="2628900"/>
            <a:ext cx="10972800" cy="38100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952500" y="2914650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942975" y="2990850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2" name=""/>
          <p:cNvSpPr txBox="1"/>
          <p:nvPr/>
        </p:nvSpPr>
        <p:spPr>
          <a:xfrm>
            <a:off x="1581150" y="2914650"/>
            <a:ext cx="3238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主語 ＋ will ＋ 動詞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5219700" y="2990850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未来のことを言う</a:t>
            </a:r>
          </a:p>
        </p:txBody>
      </p:sp>
      <p:sp>
        <p:nvSpPr>
          <p:cNvPr id="14" name=""/>
          <p:cNvSpPr/>
          <p:nvPr/>
        </p:nvSpPr>
        <p:spPr>
          <a:xfrm>
            <a:off x="952500" y="360045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5" name=""/>
          <p:cNvSpPr/>
          <p:nvPr/>
        </p:nvSpPr>
        <p:spPr>
          <a:xfrm>
            <a:off x="952500" y="38576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923925" y="392430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7" name=""/>
          <p:cNvSpPr txBox="1"/>
          <p:nvPr/>
        </p:nvSpPr>
        <p:spPr>
          <a:xfrm>
            <a:off x="1581150" y="3857625"/>
            <a:ext cx="24669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前置詞 ＋ 名詞</a:t>
            </a:r>
          </a:p>
        </p:txBody>
      </p:sp>
      <p:sp>
        <p:nvSpPr>
          <p:cNvPr id="18" name=""/>
          <p:cNvSpPr txBox="1"/>
          <p:nvPr/>
        </p:nvSpPr>
        <p:spPr>
          <a:xfrm>
            <a:off x="5219700" y="3924300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文を長くする</a:t>
            </a:r>
          </a:p>
        </p:txBody>
      </p:sp>
      <p:sp>
        <p:nvSpPr>
          <p:cNvPr id="19" name=""/>
          <p:cNvSpPr/>
          <p:nvPr/>
        </p:nvSpPr>
        <p:spPr>
          <a:xfrm>
            <a:off x="952500" y="453390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0" name=""/>
          <p:cNvSpPr/>
          <p:nvPr/>
        </p:nvSpPr>
        <p:spPr>
          <a:xfrm>
            <a:off x="952500" y="47910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914400" y="486727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2" name=""/>
          <p:cNvSpPr txBox="1"/>
          <p:nvPr/>
        </p:nvSpPr>
        <p:spPr>
          <a:xfrm>
            <a:off x="1581150" y="4791075"/>
            <a:ext cx="3200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主語 ＋ can ＋ 動詞</a:t>
            </a:r>
          </a:p>
        </p:txBody>
      </p:sp>
      <p:sp>
        <p:nvSpPr>
          <p:cNvPr id="23" name=""/>
          <p:cNvSpPr txBox="1"/>
          <p:nvPr/>
        </p:nvSpPr>
        <p:spPr>
          <a:xfrm>
            <a:off x="5219700" y="4867275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will との違い</a:t>
            </a:r>
          </a:p>
        </p:txBody>
      </p:sp>
      <p:sp>
        <p:nvSpPr>
          <p:cNvPr id="24" name=""/>
          <p:cNvSpPr/>
          <p:nvPr/>
        </p:nvSpPr>
        <p:spPr>
          <a:xfrm>
            <a:off x="952500" y="5476875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5" name=""/>
          <p:cNvSpPr/>
          <p:nvPr/>
        </p:nvSpPr>
        <p:spPr>
          <a:xfrm>
            <a:off x="952500" y="5734050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914400" y="5800725"/>
            <a:ext cx="4953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27" name=""/>
          <p:cNvSpPr txBox="1"/>
          <p:nvPr/>
        </p:nvSpPr>
        <p:spPr>
          <a:xfrm>
            <a:off x="1581150" y="5734050"/>
            <a:ext cx="1990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28" name=""/>
          <p:cNvSpPr txBox="1"/>
          <p:nvPr/>
        </p:nvSpPr>
        <p:spPr>
          <a:xfrm>
            <a:off x="5219700" y="5800725"/>
            <a:ext cx="2143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will と can で練習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10220325" y="390525"/>
            <a:ext cx="13620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103536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563225" y="466725"/>
            <a:ext cx="914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5" name=""/>
          <p:cNvSpPr txBox="1"/>
          <p:nvPr/>
        </p:nvSpPr>
        <p:spPr>
          <a:xfrm>
            <a:off x="111537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GRAMMAR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73342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未来のことは </a:t>
            </a:r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 ひとつでOK！</a:t>
            </a:r>
          </a:p>
        </p:txBody>
      </p:sp>
      <p:sp>
        <p:nvSpPr>
          <p:cNvPr id="8" name=""/>
          <p:cNvSpPr/>
          <p:nvPr/>
        </p:nvSpPr>
        <p:spPr>
          <a:xfrm>
            <a:off x="609600" y="2505075"/>
            <a:ext cx="190500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1238250" y="2657475"/>
            <a:ext cx="10858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主語</a:t>
            </a:r>
          </a:p>
        </p:txBody>
      </p:sp>
      <p:sp>
        <p:nvSpPr>
          <p:cNvPr id="10" name=""/>
          <p:cNvSpPr txBox="1"/>
          <p:nvPr/>
        </p:nvSpPr>
        <p:spPr>
          <a:xfrm>
            <a:off x="1028700" y="3162300"/>
            <a:ext cx="15811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I / You / We など</a:t>
            </a:r>
          </a:p>
        </p:txBody>
      </p:sp>
      <p:sp>
        <p:nvSpPr>
          <p:cNvPr id="11" name=""/>
          <p:cNvSpPr txBox="1"/>
          <p:nvPr/>
        </p:nvSpPr>
        <p:spPr>
          <a:xfrm>
            <a:off x="2686050" y="284797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2" name=""/>
          <p:cNvSpPr/>
          <p:nvPr/>
        </p:nvSpPr>
        <p:spPr>
          <a:xfrm>
            <a:off x="3105150" y="2505075"/>
            <a:ext cx="1905000" cy="1038225"/>
          </a:xfrm>
          <a:prstGeom prst="roundRect">
            <a:avLst>
              <a:gd name="adj" fmla="val 2018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3762375" y="2657475"/>
            <a:ext cx="10191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FFFFFF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4" name=""/>
          <p:cNvSpPr txBox="1"/>
          <p:nvPr/>
        </p:nvSpPr>
        <p:spPr>
          <a:xfrm>
            <a:off x="3705225" y="317182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未来・意志</a:t>
            </a:r>
          </a:p>
        </p:txBody>
      </p:sp>
      <p:sp>
        <p:nvSpPr>
          <p:cNvPr id="15" name=""/>
          <p:cNvSpPr txBox="1"/>
          <p:nvPr/>
        </p:nvSpPr>
        <p:spPr>
          <a:xfrm>
            <a:off x="5181600" y="284797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6" name=""/>
          <p:cNvSpPr/>
          <p:nvPr/>
        </p:nvSpPr>
        <p:spPr>
          <a:xfrm>
            <a:off x="5600700" y="2505075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5886450" y="2657475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8" name=""/>
          <p:cNvSpPr txBox="1"/>
          <p:nvPr/>
        </p:nvSpPr>
        <p:spPr>
          <a:xfrm>
            <a:off x="6210300" y="3162300"/>
            <a:ext cx="1457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ing はつけない</a:t>
            </a:r>
          </a:p>
        </p:txBody>
      </p:sp>
      <p:sp>
        <p:nvSpPr>
          <p:cNvPr id="19" name=""/>
          <p:cNvSpPr txBox="1"/>
          <p:nvPr/>
        </p:nvSpPr>
        <p:spPr>
          <a:xfrm>
            <a:off x="7962900" y="284797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20" name=""/>
          <p:cNvSpPr/>
          <p:nvPr/>
        </p:nvSpPr>
        <p:spPr>
          <a:xfrm>
            <a:off x="8382000" y="2505075"/>
            <a:ext cx="190500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 txBox="1"/>
          <p:nvPr/>
        </p:nvSpPr>
        <p:spPr>
          <a:xfrm>
            <a:off x="8848725" y="2657475"/>
            <a:ext cx="14573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目的語</a:t>
            </a:r>
          </a:p>
        </p:txBody>
      </p:sp>
      <p:sp>
        <p:nvSpPr>
          <p:cNvPr id="22" name=""/>
          <p:cNvSpPr txBox="1"/>
          <p:nvPr/>
        </p:nvSpPr>
        <p:spPr>
          <a:xfrm>
            <a:off x="9124950" y="3162300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なにを</a:t>
            </a:r>
          </a:p>
        </p:txBody>
      </p:sp>
      <p:sp>
        <p:nvSpPr>
          <p:cNvPr id="23" name=""/>
          <p:cNvSpPr/>
          <p:nvPr/>
        </p:nvSpPr>
        <p:spPr>
          <a:xfrm>
            <a:off x="609600" y="3752850"/>
            <a:ext cx="5391150" cy="1990725"/>
          </a:xfrm>
          <a:prstGeom prst="roundRect">
            <a:avLst>
              <a:gd name="adj" fmla="val 11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1295400" y="4019550"/>
            <a:ext cx="36290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未来（これからすること・予定）</a:t>
            </a:r>
          </a:p>
        </p:txBody>
      </p:sp>
      <p:sp>
        <p:nvSpPr>
          <p:cNvPr id="25" name=""/>
          <p:cNvSpPr/>
          <p:nvPr/>
        </p:nvSpPr>
        <p:spPr>
          <a:xfrm>
            <a:off x="914400" y="403860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857250" y="4076700"/>
            <a:ext cx="4095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914400" y="4400550"/>
            <a:ext cx="3857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明日も来週も来年も、will ひとつで言える</a:t>
            </a:r>
          </a:p>
        </p:txBody>
      </p:sp>
      <p:sp>
        <p:nvSpPr>
          <p:cNvPr id="28" name=""/>
          <p:cNvSpPr txBox="1"/>
          <p:nvPr/>
        </p:nvSpPr>
        <p:spPr>
          <a:xfrm>
            <a:off x="914400" y="4772025"/>
            <a:ext cx="56292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study English tomorrow.</a:t>
            </a:r>
          </a:p>
        </p:txBody>
      </p:sp>
      <p:sp>
        <p:nvSpPr>
          <p:cNvPr id="29" name=""/>
          <p:cNvSpPr txBox="1"/>
          <p:nvPr/>
        </p:nvSpPr>
        <p:spPr>
          <a:xfrm>
            <a:off x="914400" y="5238750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明日、英語を勉強する</a:t>
            </a:r>
          </a:p>
        </p:txBody>
      </p:sp>
      <p:sp>
        <p:nvSpPr>
          <p:cNvPr id="30" name=""/>
          <p:cNvSpPr/>
          <p:nvPr/>
        </p:nvSpPr>
        <p:spPr>
          <a:xfrm>
            <a:off x="6191250" y="3752850"/>
            <a:ext cx="5391150" cy="1990725"/>
          </a:xfrm>
          <a:prstGeom prst="roundRect">
            <a:avLst>
              <a:gd name="adj" fmla="val 11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1" name=""/>
          <p:cNvSpPr txBox="1"/>
          <p:nvPr/>
        </p:nvSpPr>
        <p:spPr>
          <a:xfrm>
            <a:off x="6877050" y="4019550"/>
            <a:ext cx="35242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意志（「やります！」の気持ち）</a:t>
            </a:r>
          </a:p>
        </p:txBody>
      </p:sp>
      <p:sp>
        <p:nvSpPr>
          <p:cNvPr id="32" name=""/>
          <p:cNvSpPr/>
          <p:nvPr/>
        </p:nvSpPr>
        <p:spPr>
          <a:xfrm>
            <a:off x="6496050" y="403860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3" name=""/>
          <p:cNvSpPr txBox="1"/>
          <p:nvPr/>
        </p:nvSpPr>
        <p:spPr>
          <a:xfrm>
            <a:off x="6419850" y="4076700"/>
            <a:ext cx="447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6496050" y="4400550"/>
            <a:ext cx="38766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その場で「やる！」と決めたときにも使う</a:t>
            </a:r>
          </a:p>
        </p:txBody>
      </p:sp>
      <p:sp>
        <p:nvSpPr>
          <p:cNvPr id="35" name=""/>
          <p:cNvSpPr txBox="1"/>
          <p:nvPr/>
        </p:nvSpPr>
        <p:spPr>
          <a:xfrm>
            <a:off x="6496050" y="4772025"/>
            <a:ext cx="21621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do it!</a:t>
            </a:r>
          </a:p>
        </p:txBody>
      </p:sp>
      <p:sp>
        <p:nvSpPr>
          <p:cNvPr id="36" name=""/>
          <p:cNvSpPr txBox="1"/>
          <p:nvPr/>
        </p:nvSpPr>
        <p:spPr>
          <a:xfrm>
            <a:off x="6496050" y="5238750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やります！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10220325" y="390525"/>
            <a:ext cx="13620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103536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563225" y="466725"/>
            <a:ext cx="914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5" name=""/>
          <p:cNvSpPr txBox="1"/>
          <p:nvPr/>
        </p:nvSpPr>
        <p:spPr>
          <a:xfrm>
            <a:off x="111537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047750"/>
            <a:ext cx="75723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 spc="-60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750" b="1" spc="-60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750" b="1" spc="-60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7" name=""/>
          <p:cNvSpPr txBox="1"/>
          <p:nvPr/>
        </p:nvSpPr>
        <p:spPr>
          <a:xfrm>
            <a:off x="7105650" y="1276350"/>
            <a:ext cx="2276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B5569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8" name=""/>
          <p:cNvSpPr/>
          <p:nvPr/>
        </p:nvSpPr>
        <p:spPr>
          <a:xfrm>
            <a:off x="609600" y="1905000"/>
            <a:ext cx="10972800" cy="4533900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952500" y="223837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914400" y="229552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1" name=""/>
          <p:cNvSpPr txBox="1"/>
          <p:nvPr/>
        </p:nvSpPr>
        <p:spPr>
          <a:xfrm>
            <a:off x="1504950" y="2209800"/>
            <a:ext cx="34861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study English.</a:t>
            </a:r>
          </a:p>
        </p:txBody>
      </p:sp>
      <p:sp>
        <p:nvSpPr>
          <p:cNvPr id="12" name=""/>
          <p:cNvSpPr txBox="1"/>
          <p:nvPr/>
        </p:nvSpPr>
        <p:spPr>
          <a:xfrm>
            <a:off x="10039350" y="228600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英語を勉強する</a:t>
            </a:r>
          </a:p>
        </p:txBody>
      </p:sp>
      <p:sp>
        <p:nvSpPr>
          <p:cNvPr id="13" name=""/>
          <p:cNvSpPr/>
          <p:nvPr/>
        </p:nvSpPr>
        <p:spPr>
          <a:xfrm>
            <a:off x="952500" y="2847975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/>
          <p:nvPr/>
        </p:nvSpPr>
        <p:spPr>
          <a:xfrm>
            <a:off x="952500" y="31242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95350" y="318135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6" name=""/>
          <p:cNvSpPr txBox="1"/>
          <p:nvPr/>
        </p:nvSpPr>
        <p:spPr>
          <a:xfrm>
            <a:off x="1504950" y="3095625"/>
            <a:ext cx="30861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play tennis.</a:t>
            </a:r>
          </a:p>
        </p:txBody>
      </p:sp>
      <p:sp>
        <p:nvSpPr>
          <p:cNvPr id="17" name=""/>
          <p:cNvSpPr txBox="1"/>
          <p:nvPr/>
        </p:nvSpPr>
        <p:spPr>
          <a:xfrm>
            <a:off x="10210800" y="3171825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テニスをする</a:t>
            </a:r>
          </a:p>
        </p:txBody>
      </p:sp>
      <p:sp>
        <p:nvSpPr>
          <p:cNvPr id="18" name=""/>
          <p:cNvSpPr/>
          <p:nvPr/>
        </p:nvSpPr>
        <p:spPr>
          <a:xfrm>
            <a:off x="952500" y="373380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9" name=""/>
          <p:cNvSpPr/>
          <p:nvPr/>
        </p:nvSpPr>
        <p:spPr>
          <a:xfrm>
            <a:off x="952500" y="40005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95350" y="405765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1" name=""/>
          <p:cNvSpPr txBox="1"/>
          <p:nvPr/>
        </p:nvSpPr>
        <p:spPr>
          <a:xfrm>
            <a:off x="1504950" y="3971925"/>
            <a:ext cx="3657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watch a movie.</a:t>
            </a:r>
          </a:p>
        </p:txBody>
      </p:sp>
      <p:sp>
        <p:nvSpPr>
          <p:cNvPr id="22" name=""/>
          <p:cNvSpPr txBox="1"/>
          <p:nvPr/>
        </p:nvSpPr>
        <p:spPr>
          <a:xfrm>
            <a:off x="10382250" y="40481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映画を見る</a:t>
            </a:r>
          </a:p>
        </p:txBody>
      </p:sp>
      <p:sp>
        <p:nvSpPr>
          <p:cNvPr id="23" name=""/>
          <p:cNvSpPr/>
          <p:nvPr/>
        </p:nvSpPr>
        <p:spPr>
          <a:xfrm>
            <a:off x="952500" y="4610100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4" name=""/>
          <p:cNvSpPr/>
          <p:nvPr/>
        </p:nvSpPr>
        <p:spPr>
          <a:xfrm>
            <a:off x="952500" y="48768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85825" y="4933950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26" name=""/>
          <p:cNvSpPr txBox="1"/>
          <p:nvPr/>
        </p:nvSpPr>
        <p:spPr>
          <a:xfrm>
            <a:off x="1504950" y="4848225"/>
            <a:ext cx="38195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meet my friend.</a:t>
            </a:r>
          </a:p>
        </p:txBody>
      </p:sp>
      <p:sp>
        <p:nvSpPr>
          <p:cNvPr id="27" name=""/>
          <p:cNvSpPr txBox="1"/>
          <p:nvPr/>
        </p:nvSpPr>
        <p:spPr>
          <a:xfrm>
            <a:off x="10382250" y="4924425"/>
            <a:ext cx="1333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友達に会う</a:t>
            </a:r>
          </a:p>
        </p:txBody>
      </p:sp>
      <p:sp>
        <p:nvSpPr>
          <p:cNvPr id="28" name=""/>
          <p:cNvSpPr/>
          <p:nvPr/>
        </p:nvSpPr>
        <p:spPr>
          <a:xfrm>
            <a:off x="952500" y="5495925"/>
            <a:ext cx="102870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9" name=""/>
          <p:cNvSpPr/>
          <p:nvPr/>
        </p:nvSpPr>
        <p:spPr>
          <a:xfrm>
            <a:off x="952500" y="576262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0" name=""/>
          <p:cNvSpPr txBox="1"/>
          <p:nvPr/>
        </p:nvSpPr>
        <p:spPr>
          <a:xfrm>
            <a:off x="895350" y="5819775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5</a:t>
            </a:r>
          </a:p>
        </p:txBody>
      </p:sp>
      <p:sp>
        <p:nvSpPr>
          <p:cNvPr id="31" name=""/>
          <p:cNvSpPr txBox="1"/>
          <p:nvPr/>
        </p:nvSpPr>
        <p:spPr>
          <a:xfrm>
            <a:off x="1504950" y="5734050"/>
            <a:ext cx="2809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 spc="-22" kern="0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 spc="-22" kern="0">
                <a:solidFill>
                  <a:srgbClr val="1A2238"/>
                </a:solidFill>
                <a:latin typeface="DM Sans"/>
                <a:ea typeface="DM Sans"/>
              </a:rPr>
              <a:t> eat lunch.</a:t>
            </a:r>
          </a:p>
        </p:txBody>
      </p:sp>
      <p:sp>
        <p:nvSpPr>
          <p:cNvPr id="32" name=""/>
          <p:cNvSpPr txBox="1"/>
          <p:nvPr/>
        </p:nvSpPr>
        <p:spPr>
          <a:xfrm>
            <a:off x="10039350" y="581025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5E6780"/>
                </a:solidFill>
                <a:latin typeface="Noto Sans JP"/>
                <a:ea typeface="Noto Sans JP"/>
              </a:rPr>
              <a:t>ランチを食べる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8401050" y="390525"/>
            <a:ext cx="31813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85344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43950" y="466725"/>
            <a:ext cx="20478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STAGE</a:t>
            </a:r>
          </a:p>
        </p:txBody>
      </p:sp>
      <p:sp>
        <p:nvSpPr>
          <p:cNvPr id="6" name=""/>
          <p:cNvSpPr txBox="1"/>
          <p:nvPr/>
        </p:nvSpPr>
        <p:spPr>
          <a:xfrm>
            <a:off x="10325100" y="447675"/>
            <a:ext cx="1590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1分間チャレンジ</a:t>
            </a:r>
          </a:p>
        </p:txBody>
      </p:sp>
      <p:sp>
        <p:nvSpPr>
          <p:cNvPr id="7" name=""/>
          <p:cNvSpPr/>
          <p:nvPr/>
        </p:nvSpPr>
        <p:spPr>
          <a:xfrm>
            <a:off x="609600" y="914400"/>
            <a:ext cx="2581275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00100" y="971550"/>
            <a:ext cx="28765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1分間で、いくつ書ける？</a:t>
            </a:r>
          </a:p>
        </p:txBody>
      </p:sp>
      <p:sp>
        <p:nvSpPr>
          <p:cNvPr id="9" name=""/>
          <p:cNvSpPr txBox="1"/>
          <p:nvPr/>
        </p:nvSpPr>
        <p:spPr>
          <a:xfrm>
            <a:off x="676275" y="1390650"/>
            <a:ext cx="8791575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A3300B"/>
                </a:solidFill>
                <a:latin typeface="Dela Gothic One"/>
                <a:ea typeface="Dela Gothic One"/>
              </a:rPr>
              <a:t>チャレンジステージ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323975"/>
            <a:ext cx="8791575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FFFFFF"/>
                </a:solidFill>
                <a:latin typeface="Dela Gothic One"/>
                <a:ea typeface="Dela Gothic One"/>
              </a:rPr>
              <a:t>チャレンジステージ</a:t>
            </a:r>
          </a:p>
        </p:txBody>
      </p:sp>
      <p:sp>
        <p:nvSpPr>
          <p:cNvPr id="11" name=""/>
          <p:cNvSpPr/>
          <p:nvPr/>
        </p:nvSpPr>
        <p:spPr>
          <a:xfrm>
            <a:off x="609600" y="3038475"/>
            <a:ext cx="7658100" cy="2114550"/>
          </a:xfrm>
          <a:prstGeom prst="roundRect">
            <a:avLst>
              <a:gd name="adj" fmla="val 126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248025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476625"/>
            <a:ext cx="6438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019550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15" name=""/>
          <p:cNvSpPr txBox="1"/>
          <p:nvPr/>
        </p:nvSpPr>
        <p:spPr>
          <a:xfrm>
            <a:off x="933450" y="4476750"/>
            <a:ext cx="3181350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5E6780"/>
                </a:solidFill>
                <a:latin typeface="DM Sans"/>
                <a:ea typeface="DM Sans"/>
              </a:rPr>
              <a:t>I will </a:t>
            </a:r>
            <a:pPr/>
            <a:r>
              <a:rPr sz="2550" b="1">
                <a:solidFill>
                  <a:srgbClr val="5E6780"/>
                </a:solidFill>
                <a:latin typeface="Noto Sans JP"/>
                <a:ea typeface="Noto Sans JP"/>
              </a:rPr>
              <a:t>＿＿＿＿＿</a:t>
            </a:r>
            <a:pPr/>
            <a:r>
              <a:rPr sz="2550" b="1">
                <a:solidFill>
                  <a:srgbClr val="5E678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6" name=""/>
          <p:cNvSpPr/>
          <p:nvPr/>
        </p:nvSpPr>
        <p:spPr>
          <a:xfrm>
            <a:off x="8867775" y="2809875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9382125" y="3429000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18" name=""/>
          <p:cNvSpPr txBox="1"/>
          <p:nvPr/>
        </p:nvSpPr>
        <p:spPr>
          <a:xfrm>
            <a:off x="9725025" y="4448175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19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2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3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6" name=""/>
          <p:cNvSpPr txBox="1"/>
          <p:nvPr/>
        </p:nvSpPr>
        <p:spPr>
          <a:xfrm>
            <a:off x="4924425" y="6029325"/>
            <a:ext cx="2724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I will 〜 をどんどん書く</a:t>
            </a:r>
          </a:p>
        </p:txBody>
      </p:sp>
      <p:sp>
        <p:nvSpPr>
          <p:cNvPr id="27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8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9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0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391650" y="390525"/>
            <a:ext cx="21907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525000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4" name=""/>
          <p:cNvSpPr txBox="1"/>
          <p:nvPr/>
        </p:nvSpPr>
        <p:spPr>
          <a:xfrm>
            <a:off x="9734550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553700" y="4476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長く話すコツ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2763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80200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ネイティブっぽく、長く話すには？</a:t>
            </a:r>
          </a:p>
        </p:txBody>
      </p:sp>
      <p:sp>
        <p:nvSpPr>
          <p:cNvPr id="8" name=""/>
          <p:cNvSpPr/>
          <p:nvPr/>
        </p:nvSpPr>
        <p:spPr>
          <a:xfrm>
            <a:off x="609600" y="2486025"/>
            <a:ext cx="4381500" cy="1552575"/>
          </a:xfrm>
          <a:prstGeom prst="roundRect">
            <a:avLst>
              <a:gd name="adj" fmla="val 171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952500" y="2695575"/>
            <a:ext cx="8096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 spc="144" kern="0">
                <a:solidFill>
                  <a:srgbClr val="C23B12"/>
                </a:solidFill>
                <a:latin typeface="DM Sans"/>
                <a:ea typeface="DM Sans"/>
              </a:rPr>
              <a:t>Hina</a:t>
            </a:r>
          </a:p>
        </p:txBody>
      </p:sp>
      <p:sp>
        <p:nvSpPr>
          <p:cNvPr id="10" name=""/>
          <p:cNvSpPr txBox="1"/>
          <p:nvPr/>
        </p:nvSpPr>
        <p:spPr>
          <a:xfrm>
            <a:off x="952500" y="2933700"/>
            <a:ext cx="4276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どうやったら長い文章で、</a:t>
            </a:r>
          </a:p>
        </p:txBody>
      </p:sp>
      <p:sp>
        <p:nvSpPr>
          <p:cNvPr id="11" name=""/>
          <p:cNvSpPr txBox="1"/>
          <p:nvPr/>
        </p:nvSpPr>
        <p:spPr>
          <a:xfrm>
            <a:off x="952500" y="3362325"/>
            <a:ext cx="45910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ネイティブっぽく話せるの？</a:t>
            </a:r>
          </a:p>
        </p:txBody>
      </p:sp>
      <p:sp>
        <p:nvSpPr>
          <p:cNvPr id="12" name=""/>
          <p:cNvSpPr/>
          <p:nvPr/>
        </p:nvSpPr>
        <p:spPr>
          <a:xfrm>
            <a:off x="7715250" y="4286250"/>
            <a:ext cx="3867150" cy="1438275"/>
          </a:xfrm>
          <a:prstGeom prst="roundRect">
            <a:avLst>
              <a:gd name="adj" fmla="val 1854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8058150" y="4495800"/>
            <a:ext cx="9144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 spc="144" kern="0">
                <a:solidFill>
                  <a:srgbClr val="FFE6DC"/>
                </a:solidFill>
                <a:latin typeface="DM Sans"/>
                <a:ea typeface="DM Sans"/>
              </a:rPr>
              <a:t>Scott</a:t>
            </a:r>
          </a:p>
        </p:txBody>
      </p:sp>
      <p:sp>
        <p:nvSpPr>
          <p:cNvPr id="14" name=""/>
          <p:cNvSpPr txBox="1"/>
          <p:nvPr/>
        </p:nvSpPr>
        <p:spPr>
          <a:xfrm>
            <a:off x="8058150" y="4781550"/>
            <a:ext cx="4010025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前置詞</a:t>
            </a:r>
            <a:pPr/>
            <a:r>
              <a:rPr sz="3900" b="1" spc="-450" kern="0">
                <a:solidFill>
                  <a:srgbClr val="FFFFFF"/>
                </a:solidFill>
                <a:latin typeface="DM Sans"/>
                <a:ea typeface="DM Sans"/>
              </a:rPr>
              <a:t> </a:t>
            </a:r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＋</a:t>
            </a:r>
            <a:pPr/>
            <a:r>
              <a:rPr sz="3900" b="1" spc="-450" kern="0">
                <a:solidFill>
                  <a:srgbClr val="FFFFFF"/>
                </a:solidFill>
                <a:latin typeface="DM Sans"/>
                <a:ea typeface="DM Sans"/>
              </a:rPr>
              <a:t> </a:t>
            </a:r>
            <a:pPr/>
            <a:r>
              <a:rPr sz="3900" b="1" spc="-450" kern="0">
                <a:solidFill>
                  <a:srgbClr val="FFFFFF"/>
                </a:solidFill>
                <a:latin typeface="Noto Sans JP"/>
                <a:ea typeface="Noto Sans JP"/>
              </a:rPr>
              <a:t>名詞！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820275" y="390525"/>
            <a:ext cx="17621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95362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163175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982325" y="447675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前置詞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6764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PREPOSITION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32385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前置詞とは？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1838325"/>
            <a:ext cx="612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名詞の前において、「どこで・いつ・だれと」を足すことば</a:t>
            </a:r>
          </a:p>
        </p:txBody>
      </p:sp>
      <p:sp>
        <p:nvSpPr>
          <p:cNvPr id="9" name=""/>
          <p:cNvSpPr/>
          <p:nvPr/>
        </p:nvSpPr>
        <p:spPr>
          <a:xfrm>
            <a:off x="609600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895350" y="2838450"/>
            <a:ext cx="1495425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047750" y="2895600"/>
            <a:ext cx="1714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どこで（場所）</a:t>
            </a:r>
          </a:p>
        </p:txBody>
      </p:sp>
      <p:sp>
        <p:nvSpPr>
          <p:cNvPr id="12" name=""/>
          <p:cNvSpPr txBox="1"/>
          <p:nvPr/>
        </p:nvSpPr>
        <p:spPr>
          <a:xfrm>
            <a:off x="895350" y="334327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3" name=""/>
          <p:cNvSpPr txBox="1"/>
          <p:nvPr/>
        </p:nvSpPr>
        <p:spPr>
          <a:xfrm>
            <a:off x="895350" y="4095750"/>
            <a:ext cx="1933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14" name=""/>
          <p:cNvSpPr txBox="1"/>
          <p:nvPr/>
        </p:nvSpPr>
        <p:spPr>
          <a:xfrm>
            <a:off x="3371850" y="41624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公園で</a:t>
            </a:r>
          </a:p>
        </p:txBody>
      </p:sp>
      <p:sp>
        <p:nvSpPr>
          <p:cNvPr id="15" name=""/>
          <p:cNvSpPr/>
          <p:nvPr/>
        </p:nvSpPr>
        <p:spPr>
          <a:xfrm>
            <a:off x="895350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6" name=""/>
          <p:cNvSpPr txBox="1"/>
          <p:nvPr/>
        </p:nvSpPr>
        <p:spPr>
          <a:xfrm>
            <a:off x="895350" y="4714875"/>
            <a:ext cx="15335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home</a:t>
            </a:r>
          </a:p>
        </p:txBody>
      </p:sp>
      <p:sp>
        <p:nvSpPr>
          <p:cNvPr id="17" name=""/>
          <p:cNvSpPr txBox="1"/>
          <p:nvPr/>
        </p:nvSpPr>
        <p:spPr>
          <a:xfrm>
            <a:off x="3533775" y="47815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家で</a:t>
            </a:r>
          </a:p>
        </p:txBody>
      </p:sp>
      <p:sp>
        <p:nvSpPr>
          <p:cNvPr id="18" name=""/>
          <p:cNvSpPr/>
          <p:nvPr/>
        </p:nvSpPr>
        <p:spPr>
          <a:xfrm>
            <a:off x="895350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9" name=""/>
          <p:cNvSpPr txBox="1"/>
          <p:nvPr/>
        </p:nvSpPr>
        <p:spPr>
          <a:xfrm>
            <a:off x="895350" y="5334000"/>
            <a:ext cx="22955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the station</a:t>
            </a:r>
          </a:p>
        </p:txBody>
      </p:sp>
      <p:sp>
        <p:nvSpPr>
          <p:cNvPr id="20" name=""/>
          <p:cNvSpPr txBox="1"/>
          <p:nvPr/>
        </p:nvSpPr>
        <p:spPr>
          <a:xfrm>
            <a:off x="3533775" y="54006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駅で</a:t>
            </a:r>
          </a:p>
        </p:txBody>
      </p:sp>
      <p:sp>
        <p:nvSpPr>
          <p:cNvPr id="21" name=""/>
          <p:cNvSpPr/>
          <p:nvPr/>
        </p:nvSpPr>
        <p:spPr>
          <a:xfrm>
            <a:off x="4333875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/>
          <p:nvPr/>
        </p:nvSpPr>
        <p:spPr>
          <a:xfrm>
            <a:off x="4619625" y="2838450"/>
            <a:ext cx="13335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23" name=""/>
          <p:cNvSpPr txBox="1"/>
          <p:nvPr/>
        </p:nvSpPr>
        <p:spPr>
          <a:xfrm>
            <a:off x="4772025" y="28956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いつ（時間）</a:t>
            </a:r>
          </a:p>
        </p:txBody>
      </p:sp>
      <p:sp>
        <p:nvSpPr>
          <p:cNvPr id="24" name=""/>
          <p:cNvSpPr txBox="1"/>
          <p:nvPr/>
        </p:nvSpPr>
        <p:spPr>
          <a:xfrm>
            <a:off x="4619625" y="334327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25" name=""/>
          <p:cNvSpPr txBox="1"/>
          <p:nvPr/>
        </p:nvSpPr>
        <p:spPr>
          <a:xfrm>
            <a:off x="4619625" y="4095750"/>
            <a:ext cx="1371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26" name=""/>
          <p:cNvSpPr txBox="1"/>
          <p:nvPr/>
        </p:nvSpPr>
        <p:spPr>
          <a:xfrm>
            <a:off x="6991350" y="4162425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夜8時に</a:t>
            </a:r>
          </a:p>
        </p:txBody>
      </p:sp>
      <p:sp>
        <p:nvSpPr>
          <p:cNvPr id="27" name=""/>
          <p:cNvSpPr/>
          <p:nvPr/>
        </p:nvSpPr>
        <p:spPr>
          <a:xfrm>
            <a:off x="4619625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8" name=""/>
          <p:cNvSpPr txBox="1"/>
          <p:nvPr/>
        </p:nvSpPr>
        <p:spPr>
          <a:xfrm>
            <a:off x="4619625" y="4714875"/>
            <a:ext cx="1438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noon</a:t>
            </a:r>
          </a:p>
        </p:txBody>
      </p:sp>
      <p:sp>
        <p:nvSpPr>
          <p:cNvPr id="29" name=""/>
          <p:cNvSpPr txBox="1"/>
          <p:nvPr/>
        </p:nvSpPr>
        <p:spPr>
          <a:xfrm>
            <a:off x="7086600" y="478155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お昼に</a:t>
            </a:r>
          </a:p>
        </p:txBody>
      </p:sp>
      <p:sp>
        <p:nvSpPr>
          <p:cNvPr id="30" name=""/>
          <p:cNvSpPr/>
          <p:nvPr/>
        </p:nvSpPr>
        <p:spPr>
          <a:xfrm>
            <a:off x="4619625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 txBox="1"/>
          <p:nvPr/>
        </p:nvSpPr>
        <p:spPr>
          <a:xfrm>
            <a:off x="4619625" y="5334000"/>
            <a:ext cx="1333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at 7:30</a:t>
            </a:r>
          </a:p>
        </p:txBody>
      </p:sp>
      <p:sp>
        <p:nvSpPr>
          <p:cNvPr id="32" name=""/>
          <p:cNvSpPr txBox="1"/>
          <p:nvPr/>
        </p:nvSpPr>
        <p:spPr>
          <a:xfrm>
            <a:off x="6991350" y="5400675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7時半に</a:t>
            </a:r>
          </a:p>
        </p:txBody>
      </p:sp>
      <p:sp>
        <p:nvSpPr>
          <p:cNvPr id="33" name=""/>
          <p:cNvSpPr/>
          <p:nvPr/>
        </p:nvSpPr>
        <p:spPr>
          <a:xfrm>
            <a:off x="8048625" y="2571750"/>
            <a:ext cx="3533775" cy="3419475"/>
          </a:xfrm>
          <a:prstGeom prst="roundRect">
            <a:avLst>
              <a:gd name="adj" fmla="val 6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4" name=""/>
          <p:cNvSpPr/>
          <p:nvPr/>
        </p:nvSpPr>
        <p:spPr>
          <a:xfrm>
            <a:off x="8334375" y="2838450"/>
            <a:ext cx="81915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35" name=""/>
          <p:cNvSpPr txBox="1"/>
          <p:nvPr/>
        </p:nvSpPr>
        <p:spPr>
          <a:xfrm>
            <a:off x="8486775" y="289560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だれと</a:t>
            </a:r>
          </a:p>
        </p:txBody>
      </p:sp>
      <p:sp>
        <p:nvSpPr>
          <p:cNvPr id="36" name=""/>
          <p:cNvSpPr txBox="1"/>
          <p:nvPr/>
        </p:nvSpPr>
        <p:spPr>
          <a:xfrm>
            <a:off x="8334375" y="3343275"/>
            <a:ext cx="23336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A2238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37" name=""/>
          <p:cNvSpPr txBox="1"/>
          <p:nvPr/>
        </p:nvSpPr>
        <p:spPr>
          <a:xfrm>
            <a:off x="8334375" y="4095750"/>
            <a:ext cx="2590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my friends</a:t>
            </a:r>
          </a:p>
        </p:txBody>
      </p:sp>
      <p:sp>
        <p:nvSpPr>
          <p:cNvPr id="38" name=""/>
          <p:cNvSpPr txBox="1"/>
          <p:nvPr/>
        </p:nvSpPr>
        <p:spPr>
          <a:xfrm>
            <a:off x="10810875" y="41624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友達と</a:t>
            </a:r>
          </a:p>
        </p:txBody>
      </p:sp>
      <p:sp>
        <p:nvSpPr>
          <p:cNvPr id="39" name=""/>
          <p:cNvSpPr/>
          <p:nvPr/>
        </p:nvSpPr>
        <p:spPr>
          <a:xfrm>
            <a:off x="8334375" y="4572000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40" name=""/>
          <p:cNvSpPr txBox="1"/>
          <p:nvPr/>
        </p:nvSpPr>
        <p:spPr>
          <a:xfrm>
            <a:off x="8334375" y="4714875"/>
            <a:ext cx="24574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my family</a:t>
            </a:r>
          </a:p>
        </p:txBody>
      </p:sp>
      <p:sp>
        <p:nvSpPr>
          <p:cNvPr id="41" name=""/>
          <p:cNvSpPr txBox="1"/>
          <p:nvPr/>
        </p:nvSpPr>
        <p:spPr>
          <a:xfrm>
            <a:off x="10810875" y="4781550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家族と</a:t>
            </a:r>
          </a:p>
        </p:txBody>
      </p:sp>
      <p:sp>
        <p:nvSpPr>
          <p:cNvPr id="42" name=""/>
          <p:cNvSpPr/>
          <p:nvPr/>
        </p:nvSpPr>
        <p:spPr>
          <a:xfrm>
            <a:off x="8334375" y="5191125"/>
            <a:ext cx="2962275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43" name=""/>
          <p:cNvSpPr txBox="1"/>
          <p:nvPr/>
        </p:nvSpPr>
        <p:spPr>
          <a:xfrm>
            <a:off x="8334375" y="5334000"/>
            <a:ext cx="1838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050" b="1">
                <a:solidFill>
                  <a:srgbClr val="1A2238"/>
                </a:solidFill>
                <a:latin typeface="DM Sans"/>
                <a:ea typeface="DM Sans"/>
              </a:rPr>
              <a:t>with Scott</a:t>
            </a:r>
          </a:p>
        </p:txBody>
      </p:sp>
      <p:sp>
        <p:nvSpPr>
          <p:cNvPr id="44" name=""/>
          <p:cNvSpPr txBox="1"/>
          <p:nvPr/>
        </p:nvSpPr>
        <p:spPr>
          <a:xfrm>
            <a:off x="10163175" y="54006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スコット先生と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324975" y="390525"/>
            <a:ext cx="22574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45832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4" name=""/>
          <p:cNvSpPr txBox="1"/>
          <p:nvPr/>
        </p:nvSpPr>
        <p:spPr>
          <a:xfrm>
            <a:off x="9667875" y="466725"/>
            <a:ext cx="11715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LESSON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487025" y="447675"/>
            <a:ext cx="1400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前置詞 ＋ 名詞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2668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7534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つなげると、どんどん長くなる！</a:t>
            </a:r>
          </a:p>
        </p:txBody>
      </p:sp>
      <p:sp>
        <p:nvSpPr>
          <p:cNvPr id="8" name=""/>
          <p:cNvSpPr/>
          <p:nvPr/>
        </p:nvSpPr>
        <p:spPr>
          <a:xfrm>
            <a:off x="609600" y="1971675"/>
            <a:ext cx="10972800" cy="89535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857250" y="224790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19150" y="230505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1" name=""/>
          <p:cNvSpPr txBox="1"/>
          <p:nvPr/>
        </p:nvSpPr>
        <p:spPr>
          <a:xfrm>
            <a:off x="1390650" y="2085975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12" name=""/>
          <p:cNvSpPr txBox="1"/>
          <p:nvPr/>
        </p:nvSpPr>
        <p:spPr>
          <a:xfrm>
            <a:off x="1390650" y="2524125"/>
            <a:ext cx="8667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食べる</a:t>
            </a:r>
          </a:p>
        </p:txBody>
      </p:sp>
      <p:sp>
        <p:nvSpPr>
          <p:cNvPr id="13" name=""/>
          <p:cNvSpPr/>
          <p:nvPr/>
        </p:nvSpPr>
        <p:spPr>
          <a:xfrm>
            <a:off x="609600" y="3152775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857250" y="343852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00100" y="34956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6" name=""/>
          <p:cNvSpPr txBox="1"/>
          <p:nvPr/>
        </p:nvSpPr>
        <p:spPr>
          <a:xfrm>
            <a:off x="1390650" y="3276600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17" name=""/>
          <p:cNvSpPr txBox="1"/>
          <p:nvPr/>
        </p:nvSpPr>
        <p:spPr>
          <a:xfrm>
            <a:off x="2705100" y="332422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8" name=""/>
          <p:cNvSpPr/>
          <p:nvPr/>
        </p:nvSpPr>
        <p:spPr>
          <a:xfrm>
            <a:off x="3009900" y="3267075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162300" y="330517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20" name=""/>
          <p:cNvSpPr txBox="1"/>
          <p:nvPr/>
        </p:nvSpPr>
        <p:spPr>
          <a:xfrm>
            <a:off x="1390650" y="3714750"/>
            <a:ext cx="13906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公園で食べる</a:t>
            </a:r>
          </a:p>
        </p:txBody>
      </p:sp>
      <p:sp>
        <p:nvSpPr>
          <p:cNvPr id="21" name=""/>
          <p:cNvSpPr/>
          <p:nvPr/>
        </p:nvSpPr>
        <p:spPr>
          <a:xfrm>
            <a:off x="609600" y="4343400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/>
          <p:nvPr/>
        </p:nvSpPr>
        <p:spPr>
          <a:xfrm>
            <a:off x="857250" y="4629150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3" name=""/>
          <p:cNvSpPr txBox="1"/>
          <p:nvPr/>
        </p:nvSpPr>
        <p:spPr>
          <a:xfrm>
            <a:off x="800100" y="46863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4" name=""/>
          <p:cNvSpPr txBox="1"/>
          <p:nvPr/>
        </p:nvSpPr>
        <p:spPr>
          <a:xfrm>
            <a:off x="1390650" y="4467225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25" name=""/>
          <p:cNvSpPr txBox="1"/>
          <p:nvPr/>
        </p:nvSpPr>
        <p:spPr>
          <a:xfrm>
            <a:off x="270510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26" name=""/>
          <p:cNvSpPr/>
          <p:nvPr/>
        </p:nvSpPr>
        <p:spPr>
          <a:xfrm>
            <a:off x="3009900" y="4457700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27" name=""/>
          <p:cNvSpPr txBox="1"/>
          <p:nvPr/>
        </p:nvSpPr>
        <p:spPr>
          <a:xfrm>
            <a:off x="3162300" y="4495800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28" name=""/>
          <p:cNvSpPr txBox="1"/>
          <p:nvPr/>
        </p:nvSpPr>
        <p:spPr>
          <a:xfrm>
            <a:off x="4686300" y="4514850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29" name=""/>
          <p:cNvSpPr/>
          <p:nvPr/>
        </p:nvSpPr>
        <p:spPr>
          <a:xfrm>
            <a:off x="4991100" y="4457700"/>
            <a:ext cx="1133475" cy="4095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30" name=""/>
          <p:cNvSpPr txBox="1"/>
          <p:nvPr/>
        </p:nvSpPr>
        <p:spPr>
          <a:xfrm>
            <a:off x="5143500" y="4495800"/>
            <a:ext cx="12954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8A5A00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31" name=""/>
          <p:cNvSpPr txBox="1"/>
          <p:nvPr/>
        </p:nvSpPr>
        <p:spPr>
          <a:xfrm>
            <a:off x="1390650" y="4905375"/>
            <a:ext cx="21907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夜8時に、公園で食べる</a:t>
            </a:r>
          </a:p>
        </p:txBody>
      </p:sp>
      <p:sp>
        <p:nvSpPr>
          <p:cNvPr id="32" name=""/>
          <p:cNvSpPr/>
          <p:nvPr/>
        </p:nvSpPr>
        <p:spPr>
          <a:xfrm>
            <a:off x="609600" y="5534025"/>
            <a:ext cx="10972800" cy="904875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3" name=""/>
          <p:cNvSpPr/>
          <p:nvPr/>
        </p:nvSpPr>
        <p:spPr>
          <a:xfrm>
            <a:off x="857250" y="5819775"/>
            <a:ext cx="342900" cy="3429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4" name=""/>
          <p:cNvSpPr txBox="1"/>
          <p:nvPr/>
        </p:nvSpPr>
        <p:spPr>
          <a:xfrm>
            <a:off x="790575" y="5876925"/>
            <a:ext cx="46672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35" name=""/>
          <p:cNvSpPr txBox="1"/>
          <p:nvPr/>
        </p:nvSpPr>
        <p:spPr>
          <a:xfrm>
            <a:off x="1390650" y="5657850"/>
            <a:ext cx="17430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400" b="1">
                <a:solidFill>
                  <a:srgbClr val="1A2238"/>
                </a:solidFill>
                <a:latin typeface="DM Sans"/>
                <a:ea typeface="DM Sans"/>
              </a:rPr>
              <a:t> eat</a:t>
            </a:r>
          </a:p>
        </p:txBody>
      </p:sp>
      <p:sp>
        <p:nvSpPr>
          <p:cNvPr id="36" name=""/>
          <p:cNvSpPr txBox="1"/>
          <p:nvPr/>
        </p:nvSpPr>
        <p:spPr>
          <a:xfrm>
            <a:off x="2705100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37" name=""/>
          <p:cNvSpPr/>
          <p:nvPr/>
        </p:nvSpPr>
        <p:spPr>
          <a:xfrm>
            <a:off x="3009900" y="5648325"/>
            <a:ext cx="1581150" cy="4095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38" name=""/>
          <p:cNvSpPr txBox="1"/>
          <p:nvPr/>
        </p:nvSpPr>
        <p:spPr>
          <a:xfrm>
            <a:off x="3162300" y="5686425"/>
            <a:ext cx="18097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</a:p>
        </p:txBody>
      </p:sp>
      <p:sp>
        <p:nvSpPr>
          <p:cNvPr id="39" name=""/>
          <p:cNvSpPr txBox="1"/>
          <p:nvPr/>
        </p:nvSpPr>
        <p:spPr>
          <a:xfrm>
            <a:off x="4686300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40" name=""/>
          <p:cNvSpPr/>
          <p:nvPr/>
        </p:nvSpPr>
        <p:spPr>
          <a:xfrm>
            <a:off x="4991100" y="5648325"/>
            <a:ext cx="1133475" cy="4095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41" name=""/>
          <p:cNvSpPr txBox="1"/>
          <p:nvPr/>
        </p:nvSpPr>
        <p:spPr>
          <a:xfrm>
            <a:off x="5143500" y="5686425"/>
            <a:ext cx="12954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8A5A00"/>
                </a:solidFill>
                <a:latin typeface="DM Sans"/>
                <a:ea typeface="DM Sans"/>
              </a:rPr>
              <a:t>at 8pm</a:t>
            </a:r>
          </a:p>
        </p:txBody>
      </p:sp>
      <p:sp>
        <p:nvSpPr>
          <p:cNvPr id="42" name=""/>
          <p:cNvSpPr txBox="1"/>
          <p:nvPr/>
        </p:nvSpPr>
        <p:spPr>
          <a:xfrm>
            <a:off x="6219825" y="5705475"/>
            <a:ext cx="581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43" name=""/>
          <p:cNvSpPr/>
          <p:nvPr/>
        </p:nvSpPr>
        <p:spPr>
          <a:xfrm>
            <a:off x="6524625" y="5648325"/>
            <a:ext cx="2114550" cy="4095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44" name=""/>
          <p:cNvSpPr txBox="1"/>
          <p:nvPr/>
        </p:nvSpPr>
        <p:spPr>
          <a:xfrm>
            <a:off x="6677025" y="568642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</a:p>
        </p:txBody>
      </p:sp>
      <p:sp>
        <p:nvSpPr>
          <p:cNvPr id="45" name=""/>
          <p:cNvSpPr txBox="1"/>
          <p:nvPr/>
        </p:nvSpPr>
        <p:spPr>
          <a:xfrm>
            <a:off x="1390650" y="6096000"/>
            <a:ext cx="27241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夜8時に、友達と公園で食べる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8763000" y="390525"/>
            <a:ext cx="28194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889635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4" name=""/>
          <p:cNvSpPr txBox="1"/>
          <p:nvPr/>
        </p:nvSpPr>
        <p:spPr>
          <a:xfrm>
            <a:off x="910590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5" name=""/>
          <p:cNvSpPr txBox="1"/>
          <p:nvPr/>
        </p:nvSpPr>
        <p:spPr>
          <a:xfrm>
            <a:off x="10563225" y="447675"/>
            <a:ext cx="13144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ネイティブ版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20764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82391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前置詞 ＋ 名詞をつけて、もう一回！</a:t>
            </a:r>
          </a:p>
        </p:txBody>
      </p:sp>
      <p:sp>
        <p:nvSpPr>
          <p:cNvPr id="8" name=""/>
          <p:cNvSpPr/>
          <p:nvPr/>
        </p:nvSpPr>
        <p:spPr>
          <a:xfrm>
            <a:off x="609600" y="1952625"/>
            <a:ext cx="7867650" cy="723900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57250" y="2152650"/>
            <a:ext cx="3162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主語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＋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＋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動詞</a:t>
            </a:r>
          </a:p>
        </p:txBody>
      </p:sp>
      <p:sp>
        <p:nvSpPr>
          <p:cNvPr id="10" name=""/>
          <p:cNvSpPr txBox="1"/>
          <p:nvPr/>
        </p:nvSpPr>
        <p:spPr>
          <a:xfrm>
            <a:off x="3419475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1" name=""/>
          <p:cNvSpPr/>
          <p:nvPr/>
        </p:nvSpPr>
        <p:spPr>
          <a:xfrm>
            <a:off x="3781425" y="2114550"/>
            <a:ext cx="1152525" cy="400050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933825" y="2171700"/>
            <a:ext cx="13144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3" name=""/>
          <p:cNvSpPr txBox="1"/>
          <p:nvPr/>
        </p:nvSpPr>
        <p:spPr>
          <a:xfrm>
            <a:off x="5048250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4" name=""/>
          <p:cNvSpPr/>
          <p:nvPr/>
        </p:nvSpPr>
        <p:spPr>
          <a:xfrm>
            <a:off x="5410200" y="2114550"/>
            <a:ext cx="1152525" cy="400050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5" name=""/>
          <p:cNvSpPr txBox="1"/>
          <p:nvPr/>
        </p:nvSpPr>
        <p:spPr>
          <a:xfrm>
            <a:off x="5562600" y="2171700"/>
            <a:ext cx="13144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6" name=""/>
          <p:cNvSpPr txBox="1"/>
          <p:nvPr/>
        </p:nvSpPr>
        <p:spPr>
          <a:xfrm>
            <a:off x="6677025" y="21431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7" name=""/>
          <p:cNvSpPr/>
          <p:nvPr/>
        </p:nvSpPr>
        <p:spPr>
          <a:xfrm>
            <a:off x="7038975" y="2114550"/>
            <a:ext cx="1200150" cy="400050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18" name=""/>
          <p:cNvSpPr txBox="1"/>
          <p:nvPr/>
        </p:nvSpPr>
        <p:spPr>
          <a:xfrm>
            <a:off x="7191375" y="2171700"/>
            <a:ext cx="1371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19" name=""/>
          <p:cNvSpPr/>
          <p:nvPr/>
        </p:nvSpPr>
        <p:spPr>
          <a:xfrm>
            <a:off x="609600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 txBox="1"/>
          <p:nvPr/>
        </p:nvSpPr>
        <p:spPr>
          <a:xfrm>
            <a:off x="933450" y="3867150"/>
            <a:ext cx="11906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21" name=""/>
          <p:cNvSpPr txBox="1"/>
          <p:nvPr/>
        </p:nvSpPr>
        <p:spPr>
          <a:xfrm>
            <a:off x="933450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22" name=""/>
          <p:cNvSpPr txBox="1"/>
          <p:nvPr/>
        </p:nvSpPr>
        <p:spPr>
          <a:xfrm>
            <a:off x="933450" y="4524375"/>
            <a:ext cx="20955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tomorrow?</a:t>
            </a:r>
          </a:p>
        </p:txBody>
      </p:sp>
      <p:sp>
        <p:nvSpPr>
          <p:cNvPr id="23" name=""/>
          <p:cNvSpPr txBox="1"/>
          <p:nvPr/>
        </p:nvSpPr>
        <p:spPr>
          <a:xfrm>
            <a:off x="933450" y="4991100"/>
            <a:ext cx="20097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24" name=""/>
          <p:cNvSpPr/>
          <p:nvPr/>
        </p:nvSpPr>
        <p:spPr>
          <a:xfrm>
            <a:off x="4333875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 txBox="1"/>
          <p:nvPr/>
        </p:nvSpPr>
        <p:spPr>
          <a:xfrm>
            <a:off x="4657725" y="3867150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26" name=""/>
          <p:cNvSpPr txBox="1"/>
          <p:nvPr/>
        </p:nvSpPr>
        <p:spPr>
          <a:xfrm>
            <a:off x="4657725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27" name=""/>
          <p:cNvSpPr txBox="1"/>
          <p:nvPr/>
        </p:nvSpPr>
        <p:spPr>
          <a:xfrm>
            <a:off x="4657725" y="4524375"/>
            <a:ext cx="27717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next weekend?</a:t>
            </a:r>
          </a:p>
        </p:txBody>
      </p:sp>
      <p:sp>
        <p:nvSpPr>
          <p:cNvPr id="28" name=""/>
          <p:cNvSpPr txBox="1"/>
          <p:nvPr/>
        </p:nvSpPr>
        <p:spPr>
          <a:xfrm>
            <a:off x="4657725" y="4991100"/>
            <a:ext cx="2219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来週末なにするの？</a:t>
            </a:r>
          </a:p>
        </p:txBody>
      </p:sp>
      <p:sp>
        <p:nvSpPr>
          <p:cNvPr id="29" name=""/>
          <p:cNvSpPr/>
          <p:nvPr/>
        </p:nvSpPr>
        <p:spPr>
          <a:xfrm>
            <a:off x="8048625" y="341947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0" name=""/>
          <p:cNvSpPr txBox="1"/>
          <p:nvPr/>
        </p:nvSpPr>
        <p:spPr>
          <a:xfrm>
            <a:off x="8372475" y="3867150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31" name=""/>
          <p:cNvSpPr txBox="1"/>
          <p:nvPr/>
        </p:nvSpPr>
        <p:spPr>
          <a:xfrm>
            <a:off x="8372475" y="4152900"/>
            <a:ext cx="29813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What will you do</a:t>
            </a:r>
          </a:p>
        </p:txBody>
      </p:sp>
      <p:sp>
        <p:nvSpPr>
          <p:cNvPr id="32" name=""/>
          <p:cNvSpPr txBox="1"/>
          <p:nvPr/>
        </p:nvSpPr>
        <p:spPr>
          <a:xfrm>
            <a:off x="8372475" y="4524375"/>
            <a:ext cx="26955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for Christmas?</a:t>
            </a:r>
          </a:p>
        </p:txBody>
      </p:sp>
      <p:sp>
        <p:nvSpPr>
          <p:cNvPr id="33" name=""/>
          <p:cNvSpPr txBox="1"/>
          <p:nvPr/>
        </p:nvSpPr>
        <p:spPr>
          <a:xfrm>
            <a:off x="8372475" y="4991100"/>
            <a:ext cx="28384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クリスマスはなにするの？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5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6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1</a:t>
            </a:r>
          </a:p>
        </p:txBody>
      </p:sp>
      <p:sp>
        <p:nvSpPr>
          <p:cNvPr id="7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ROUND 1 前置詞＋名詞で長く！</a:t>
            </a:r>
          </a:p>
        </p:txBody>
      </p:sp>
      <p:sp>
        <p:nvSpPr>
          <p:cNvPr id="9" name=""/>
          <p:cNvSpPr txBox="1"/>
          <p:nvPr/>
        </p:nvSpPr>
        <p:spPr>
          <a:xfrm>
            <a:off x="676275" y="1390650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A3300B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323975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FFFFFF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1" name=""/>
          <p:cNvSpPr/>
          <p:nvPr/>
        </p:nvSpPr>
        <p:spPr>
          <a:xfrm>
            <a:off x="609600" y="3086100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29565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524250"/>
            <a:ext cx="6438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tomorrow?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067175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明日なにするの？</a:t>
            </a:r>
          </a:p>
        </p:txBody>
      </p:sp>
      <p:sp>
        <p:nvSpPr>
          <p:cNvPr id="15" name=""/>
          <p:cNvSpPr/>
          <p:nvPr/>
        </p:nvSpPr>
        <p:spPr>
          <a:xfrm>
            <a:off x="93345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8585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7" name=""/>
          <p:cNvSpPr/>
          <p:nvPr/>
        </p:nvSpPr>
        <p:spPr>
          <a:xfrm>
            <a:off x="209550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24790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9" name=""/>
          <p:cNvSpPr/>
          <p:nvPr/>
        </p:nvSpPr>
        <p:spPr>
          <a:xfrm>
            <a:off x="3257550" y="4495800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409950" y="4552950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1" name=""/>
          <p:cNvSpPr/>
          <p:nvPr/>
        </p:nvSpPr>
        <p:spPr>
          <a:xfrm>
            <a:off x="8867775" y="2809875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82125" y="3429000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3" name=""/>
          <p:cNvSpPr txBox="1"/>
          <p:nvPr/>
        </p:nvSpPr>
        <p:spPr>
          <a:xfrm>
            <a:off x="9725025" y="4448175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4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8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0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2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5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5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6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2</a:t>
            </a:r>
          </a:p>
        </p:txBody>
      </p:sp>
      <p:sp>
        <p:nvSpPr>
          <p:cNvPr id="7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ROUND 2 前置詞＋名詞で長く！</a:t>
            </a:r>
          </a:p>
        </p:txBody>
      </p:sp>
      <p:sp>
        <p:nvSpPr>
          <p:cNvPr id="9" name=""/>
          <p:cNvSpPr txBox="1"/>
          <p:nvPr/>
        </p:nvSpPr>
        <p:spPr>
          <a:xfrm>
            <a:off x="676275" y="1390650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A3300B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323975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FFFFFF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1" name=""/>
          <p:cNvSpPr/>
          <p:nvPr/>
        </p:nvSpPr>
        <p:spPr>
          <a:xfrm>
            <a:off x="609600" y="3086100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29565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524250"/>
            <a:ext cx="73437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next weekend?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067175"/>
            <a:ext cx="231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来週末なにするの？</a:t>
            </a:r>
          </a:p>
        </p:txBody>
      </p:sp>
      <p:sp>
        <p:nvSpPr>
          <p:cNvPr id="15" name=""/>
          <p:cNvSpPr/>
          <p:nvPr/>
        </p:nvSpPr>
        <p:spPr>
          <a:xfrm>
            <a:off x="93345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8585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7" name=""/>
          <p:cNvSpPr/>
          <p:nvPr/>
        </p:nvSpPr>
        <p:spPr>
          <a:xfrm>
            <a:off x="209550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24790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9" name=""/>
          <p:cNvSpPr/>
          <p:nvPr/>
        </p:nvSpPr>
        <p:spPr>
          <a:xfrm>
            <a:off x="3257550" y="4495800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409950" y="4552950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1" name=""/>
          <p:cNvSpPr/>
          <p:nvPr/>
        </p:nvSpPr>
        <p:spPr>
          <a:xfrm>
            <a:off x="8867775" y="2809875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82125" y="3429000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3" name=""/>
          <p:cNvSpPr txBox="1"/>
          <p:nvPr/>
        </p:nvSpPr>
        <p:spPr>
          <a:xfrm>
            <a:off x="9725025" y="4448175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4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8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0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2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5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5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4311967"/>
                </a:moveTo>
                <a:lnTo>
                  <a:pt x="10153650" y="3952875"/>
                </a:lnTo>
                <a:lnTo>
                  <a:pt x="12192000" y="3952875"/>
                </a:lnTo>
                <a:close/>
                <a:moveTo>
                  <a:pt x="12192000" y="5130165"/>
                </a:moveTo>
                <a:lnTo>
                  <a:pt x="10153650" y="3952875"/>
                </a:lnTo>
                <a:lnTo>
                  <a:pt x="12192000" y="4694872"/>
                </a:lnTo>
                <a:close/>
                <a:moveTo>
                  <a:pt x="12192000" y="6381750"/>
                </a:moveTo>
                <a:lnTo>
                  <a:pt x="10153650" y="3952875"/>
                </a:lnTo>
                <a:lnTo>
                  <a:pt x="12192000" y="5663565"/>
                </a:lnTo>
                <a:close/>
                <a:moveTo>
                  <a:pt x="11210925" y="6858000"/>
                </a:moveTo>
                <a:lnTo>
                  <a:pt x="10153650" y="3952875"/>
                </a:lnTo>
                <a:lnTo>
                  <a:pt x="11831003" y="6858000"/>
                </a:lnTo>
                <a:close/>
                <a:moveTo>
                  <a:pt x="10153650" y="6858000"/>
                </a:moveTo>
                <a:lnTo>
                  <a:pt x="10153650" y="3952875"/>
                </a:lnTo>
                <a:lnTo>
                  <a:pt x="10666095" y="6858000"/>
                </a:lnTo>
                <a:close/>
                <a:moveTo>
                  <a:pt x="9096375" y="6858000"/>
                </a:moveTo>
                <a:lnTo>
                  <a:pt x="10153650" y="3952875"/>
                </a:lnTo>
                <a:lnTo>
                  <a:pt x="9641205" y="6858000"/>
                </a:lnTo>
                <a:close/>
                <a:moveTo>
                  <a:pt x="7716202" y="6858000"/>
                </a:moveTo>
                <a:lnTo>
                  <a:pt x="10153650" y="3952875"/>
                </a:lnTo>
                <a:lnTo>
                  <a:pt x="8476298" y="6858000"/>
                </a:lnTo>
                <a:close/>
                <a:moveTo>
                  <a:pt x="5121593" y="6858000"/>
                </a:moveTo>
                <a:lnTo>
                  <a:pt x="10153650" y="3952875"/>
                </a:lnTo>
                <a:lnTo>
                  <a:pt x="6691313" y="6858000"/>
                </a:lnTo>
                <a:close/>
                <a:moveTo>
                  <a:pt x="0" y="6858000"/>
                </a:moveTo>
                <a:lnTo>
                  <a:pt x="0" y="5743575"/>
                </a:lnTo>
                <a:lnTo>
                  <a:pt x="10153650" y="3952875"/>
                </a:lnTo>
                <a:lnTo>
                  <a:pt x="2171700" y="6858000"/>
                </a:lnTo>
                <a:close/>
                <a:moveTo>
                  <a:pt x="0" y="2162175"/>
                </a:moveTo>
                <a:lnTo>
                  <a:pt x="10153650" y="3952875"/>
                </a:lnTo>
                <a:lnTo>
                  <a:pt x="0" y="3952875"/>
                </a:lnTo>
                <a:close/>
                <a:moveTo>
                  <a:pt x="0" y="0"/>
                </a:moveTo>
                <a:lnTo>
                  <a:pt x="3307080" y="0"/>
                </a:lnTo>
                <a:lnTo>
                  <a:pt x="10153650" y="3952875"/>
                </a:lnTo>
                <a:lnTo>
                  <a:pt x="0" y="257175"/>
                </a:lnTo>
                <a:close/>
                <a:moveTo>
                  <a:pt x="6837045" y="0"/>
                </a:moveTo>
                <a:lnTo>
                  <a:pt x="10153650" y="3952875"/>
                </a:lnTo>
                <a:lnTo>
                  <a:pt x="5442585" y="0"/>
                </a:lnTo>
                <a:close/>
                <a:moveTo>
                  <a:pt x="8715375" y="0"/>
                </a:moveTo>
                <a:lnTo>
                  <a:pt x="10153650" y="3952875"/>
                </a:lnTo>
                <a:lnTo>
                  <a:pt x="7871460" y="0"/>
                </a:lnTo>
                <a:close/>
                <a:moveTo>
                  <a:pt x="10153650" y="0"/>
                </a:moveTo>
                <a:lnTo>
                  <a:pt x="10153650" y="3952875"/>
                </a:lnTo>
                <a:lnTo>
                  <a:pt x="9456420" y="0"/>
                </a:lnTo>
                <a:close/>
                <a:moveTo>
                  <a:pt x="11591925" y="0"/>
                </a:moveTo>
                <a:lnTo>
                  <a:pt x="10153650" y="3952875"/>
                </a:lnTo>
                <a:lnTo>
                  <a:pt x="10850880" y="0"/>
                </a:lnTo>
                <a:close/>
                <a:moveTo>
                  <a:pt x="12192000" y="1524000"/>
                </a:moveTo>
                <a:lnTo>
                  <a:pt x="10153650" y="3952875"/>
                </a:lnTo>
                <a:lnTo>
                  <a:pt x="12192000" y="421958"/>
                </a:lnTo>
                <a:close/>
                <a:moveTo>
                  <a:pt x="12192000" y="2775585"/>
                </a:moveTo>
                <a:lnTo>
                  <a:pt x="10153650" y="3952875"/>
                </a:lnTo>
                <a:lnTo>
                  <a:pt x="12192000" y="2242185"/>
                </a:lnTo>
                <a:close/>
                <a:moveTo>
                  <a:pt x="12192000" y="3593783"/>
                </a:moveTo>
                <a:lnTo>
                  <a:pt x="10153650" y="3952875"/>
                </a:lnTo>
                <a:lnTo>
                  <a:pt x="12192000" y="3210878"/>
                </a:lnTo>
                <a:close/>
              </a:path>
            </a:pathLst>
          </a:custGeom>
          <a:solidFill>
            <a:srgbClr val="F25F2D"/>
          </a:solidFill>
          <a:ln/>
        </p:spPr>
      </p:sp>
      <p:sp>
        <p:nvSpPr>
          <p:cNvPr id="3" name=""/>
          <p:cNvSpPr/>
          <p:nvPr/>
        </p:nvSpPr>
        <p:spPr>
          <a:xfrm>
            <a:off x="8972550" y="390525"/>
            <a:ext cx="2609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91059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5" name=""/>
          <p:cNvSpPr txBox="1"/>
          <p:nvPr/>
        </p:nvSpPr>
        <p:spPr>
          <a:xfrm>
            <a:off x="9315450" y="466725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CHALLENGE TIME</a:t>
            </a:r>
          </a:p>
        </p:txBody>
      </p:sp>
      <p:sp>
        <p:nvSpPr>
          <p:cNvPr id="6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3</a:t>
            </a:r>
          </a:p>
        </p:txBody>
      </p:sp>
      <p:sp>
        <p:nvSpPr>
          <p:cNvPr id="7" name=""/>
          <p:cNvSpPr/>
          <p:nvPr/>
        </p:nvSpPr>
        <p:spPr>
          <a:xfrm>
            <a:off x="609600" y="914400"/>
            <a:ext cx="3352800" cy="4095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00100" y="971550"/>
            <a:ext cx="37623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23B12"/>
                </a:solidFill>
                <a:latin typeface="Noto Sans JP"/>
                <a:ea typeface="Noto Sans JP"/>
              </a:rPr>
              <a:t>ROUND 3 前置詞＋名詞で長く！</a:t>
            </a:r>
          </a:p>
        </p:txBody>
      </p:sp>
      <p:sp>
        <p:nvSpPr>
          <p:cNvPr id="9" name=""/>
          <p:cNvSpPr txBox="1"/>
          <p:nvPr/>
        </p:nvSpPr>
        <p:spPr>
          <a:xfrm>
            <a:off x="676275" y="1390650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A3300B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1323975"/>
            <a:ext cx="7848600" cy="1152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spc="126" kern="0">
                <a:solidFill>
                  <a:srgbClr val="FFFFFF"/>
                </a:solidFill>
                <a:latin typeface="Dela Gothic One"/>
                <a:ea typeface="Dela Gothic One"/>
              </a:rPr>
              <a:t>チャレンジタイム</a:t>
            </a:r>
          </a:p>
        </p:txBody>
      </p:sp>
      <p:sp>
        <p:nvSpPr>
          <p:cNvPr id="11" name=""/>
          <p:cNvSpPr/>
          <p:nvPr/>
        </p:nvSpPr>
        <p:spPr>
          <a:xfrm>
            <a:off x="609600" y="3086100"/>
            <a:ext cx="7658100" cy="202882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 txBox="1"/>
          <p:nvPr/>
        </p:nvSpPr>
        <p:spPr>
          <a:xfrm>
            <a:off x="933450" y="329565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QUESTION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933450" y="3524250"/>
            <a:ext cx="72390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What </a:t>
            </a:r>
            <a:pPr/>
            <a:r>
              <a:rPr sz="315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150" b="1" spc="-45" kern="0">
                <a:solidFill>
                  <a:srgbClr val="1A2238"/>
                </a:solidFill>
                <a:latin typeface="DM Sans"/>
                <a:ea typeface="DM Sans"/>
              </a:rPr>
              <a:t> you do for Christmas?</a:t>
            </a:r>
          </a:p>
        </p:txBody>
      </p:sp>
      <p:sp>
        <p:nvSpPr>
          <p:cNvPr id="14" name=""/>
          <p:cNvSpPr txBox="1"/>
          <p:nvPr/>
        </p:nvSpPr>
        <p:spPr>
          <a:xfrm>
            <a:off x="933450" y="4067175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クリスマスはなにするの？</a:t>
            </a:r>
          </a:p>
        </p:txBody>
      </p:sp>
      <p:sp>
        <p:nvSpPr>
          <p:cNvPr id="15" name=""/>
          <p:cNvSpPr/>
          <p:nvPr/>
        </p:nvSpPr>
        <p:spPr>
          <a:xfrm>
            <a:off x="93345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8585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2C6496"/>
                </a:solidFill>
                <a:latin typeface="Noto Sans JP"/>
                <a:ea typeface="Noto Sans JP"/>
              </a:rPr>
              <a:t>at ＋ 場所</a:t>
            </a:r>
          </a:p>
        </p:txBody>
      </p:sp>
      <p:sp>
        <p:nvSpPr>
          <p:cNvPr id="17" name=""/>
          <p:cNvSpPr/>
          <p:nvPr/>
        </p:nvSpPr>
        <p:spPr>
          <a:xfrm>
            <a:off x="2095500" y="4495800"/>
            <a:ext cx="1066800" cy="371475"/>
          </a:xfrm>
          <a:prstGeom prst="roundRect">
            <a:avLst>
              <a:gd name="adj" fmla="val 50000"/>
            </a:avLst>
          </a:prstGeom>
          <a:solidFill>
            <a:srgbClr val="FFF0C4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247900" y="4552950"/>
            <a:ext cx="1219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8A5A00"/>
                </a:solidFill>
                <a:latin typeface="Noto Sans JP"/>
                <a:ea typeface="Noto Sans JP"/>
              </a:rPr>
              <a:t>at ＋ 時間</a:t>
            </a:r>
          </a:p>
        </p:txBody>
      </p:sp>
      <p:sp>
        <p:nvSpPr>
          <p:cNvPr id="19" name=""/>
          <p:cNvSpPr/>
          <p:nvPr/>
        </p:nvSpPr>
        <p:spPr>
          <a:xfrm>
            <a:off x="3257550" y="4495800"/>
            <a:ext cx="1104900" cy="371475"/>
          </a:xfrm>
          <a:prstGeom prst="roundRect">
            <a:avLst>
              <a:gd name="adj" fmla="val 50000"/>
            </a:avLst>
          </a:prstGeom>
          <a:solidFill>
            <a:srgbClr val="FFE3E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409950" y="4552950"/>
            <a:ext cx="1266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B0284F"/>
                </a:solidFill>
                <a:latin typeface="Noto Sans JP"/>
                <a:ea typeface="Noto Sans JP"/>
              </a:rPr>
              <a:t>with ＋ 人</a:t>
            </a:r>
          </a:p>
        </p:txBody>
      </p:sp>
      <p:sp>
        <p:nvSpPr>
          <p:cNvPr id="21" name=""/>
          <p:cNvSpPr/>
          <p:nvPr/>
        </p:nvSpPr>
        <p:spPr>
          <a:xfrm>
            <a:off x="8867775" y="2809875"/>
            <a:ext cx="2571750" cy="2571750"/>
          </a:xfrm>
          <a:prstGeom prst="ellipse">
            <a:avLst/>
          </a:prstGeom>
          <a:solidFill>
            <a:srgbClr val="FFFFFF"/>
          </a:solidFill>
          <a:ln w="171450">
            <a:solidFill>
              <a:srgbClr val="FFD3C2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82125" y="3429000"/>
            <a:ext cx="2124075" cy="1038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6300" b="1" spc="-150" kern="0">
                <a:solidFill>
                  <a:srgbClr val="F0521E"/>
                </a:solidFill>
                <a:latin typeface="DM Sans"/>
                <a:ea typeface="DM Sans"/>
              </a:rPr>
              <a:t>1:00</a:t>
            </a:r>
          </a:p>
        </p:txBody>
      </p:sp>
      <p:sp>
        <p:nvSpPr>
          <p:cNvPr id="23" name=""/>
          <p:cNvSpPr txBox="1"/>
          <p:nvPr/>
        </p:nvSpPr>
        <p:spPr>
          <a:xfrm>
            <a:off x="9725025" y="4448175"/>
            <a:ext cx="132397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225" kern="0">
                <a:solidFill>
                  <a:srgbClr val="C23B12"/>
                </a:solidFill>
                <a:latin typeface="DM Sans"/>
                <a:ea typeface="DM Sans"/>
              </a:rPr>
              <a:t>1 MINUTE</a:t>
            </a:r>
          </a:p>
        </p:txBody>
      </p:sp>
      <p:sp>
        <p:nvSpPr>
          <p:cNvPr id="24" name=""/>
          <p:cNvSpPr/>
          <p:nvPr/>
        </p:nvSpPr>
        <p:spPr>
          <a:xfrm>
            <a:off x="609600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781050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733425" y="6048375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1219200" y="60293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チャットを開く</a:t>
            </a:r>
          </a:p>
        </p:txBody>
      </p:sp>
      <p:sp>
        <p:nvSpPr>
          <p:cNvPr id="28" name=""/>
          <p:cNvSpPr/>
          <p:nvPr/>
        </p:nvSpPr>
        <p:spPr>
          <a:xfrm>
            <a:off x="43148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44862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0" name=""/>
          <p:cNvSpPr txBox="1"/>
          <p:nvPr/>
        </p:nvSpPr>
        <p:spPr>
          <a:xfrm>
            <a:off x="44196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4924425" y="6029325"/>
            <a:ext cx="2752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前置詞＋名詞で長く書く</a:t>
            </a:r>
          </a:p>
        </p:txBody>
      </p:sp>
      <p:sp>
        <p:nvSpPr>
          <p:cNvPr id="32" name=""/>
          <p:cNvSpPr/>
          <p:nvPr/>
        </p:nvSpPr>
        <p:spPr>
          <a:xfrm>
            <a:off x="8010525" y="5886450"/>
            <a:ext cx="3571875" cy="552450"/>
          </a:xfrm>
          <a:prstGeom prst="roundRect">
            <a:avLst>
              <a:gd name="adj" fmla="val 31034"/>
            </a:avLst>
          </a:prstGeom>
          <a:solidFill>
            <a:srgbClr val="FFFFFF"/>
          </a:solidFill>
          <a:ln/>
        </p:spPr>
      </p:sp>
      <p:sp>
        <p:nvSpPr>
          <p:cNvPr id="33" name=""/>
          <p:cNvSpPr/>
          <p:nvPr/>
        </p:nvSpPr>
        <p:spPr>
          <a:xfrm>
            <a:off x="8181975" y="6000750"/>
            <a:ext cx="323850" cy="3238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8115300" y="6048375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35" name=""/>
          <p:cNvSpPr txBox="1"/>
          <p:nvPr/>
        </p:nvSpPr>
        <p:spPr>
          <a:xfrm>
            <a:off x="8620125" y="6029325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1分で何個書けるかな？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020175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1535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4" name=""/>
          <p:cNvSpPr txBox="1"/>
          <p:nvPr/>
        </p:nvSpPr>
        <p:spPr>
          <a:xfrm>
            <a:off x="9363075" y="466725"/>
            <a:ext cx="12763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TALK TIME</a:t>
            </a:r>
          </a:p>
        </p:txBody>
      </p:sp>
      <p:sp>
        <p:nvSpPr>
          <p:cNvPr id="5" name=""/>
          <p:cNvSpPr txBox="1"/>
          <p:nvPr/>
        </p:nvSpPr>
        <p:spPr>
          <a:xfrm>
            <a:off x="10267950" y="447675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クリスマスの雑談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04875"/>
            <a:ext cx="18097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Let's talk!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371600"/>
            <a:ext cx="61150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クリスマス、どう過ごす？</a:t>
            </a:r>
          </a:p>
        </p:txBody>
      </p:sp>
      <p:sp>
        <p:nvSpPr>
          <p:cNvPr id="8" name=""/>
          <p:cNvSpPr/>
          <p:nvPr/>
        </p:nvSpPr>
        <p:spPr>
          <a:xfrm>
            <a:off x="609600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/>
          <p:nvPr/>
        </p:nvSpPr>
        <p:spPr>
          <a:xfrm>
            <a:off x="933450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9DB4"/>
          </a:solidFill>
          <a:ln/>
        </p:spPr>
      </p:sp>
      <p:sp>
        <p:nvSpPr>
          <p:cNvPr id="10" name=""/>
          <p:cNvSpPr txBox="1"/>
          <p:nvPr/>
        </p:nvSpPr>
        <p:spPr>
          <a:xfrm>
            <a:off x="933450" y="3695700"/>
            <a:ext cx="34766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アメリカ・カナダの</a:t>
            </a:r>
          </a:p>
        </p:txBody>
      </p:sp>
      <p:sp>
        <p:nvSpPr>
          <p:cNvPr id="11" name=""/>
          <p:cNvSpPr txBox="1"/>
          <p:nvPr/>
        </p:nvSpPr>
        <p:spPr>
          <a:xfrm>
            <a:off x="933450" y="4133850"/>
            <a:ext cx="208597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クリスマス</a:t>
            </a:r>
          </a:p>
        </p:txBody>
      </p:sp>
      <p:sp>
        <p:nvSpPr>
          <p:cNvPr id="12" name=""/>
          <p:cNvSpPr txBox="1"/>
          <p:nvPr/>
        </p:nvSpPr>
        <p:spPr>
          <a:xfrm>
            <a:off x="933450" y="4705350"/>
            <a:ext cx="3486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Christmas in the U.S. &amp; Canada</a:t>
            </a:r>
          </a:p>
        </p:txBody>
      </p:sp>
      <p:sp>
        <p:nvSpPr>
          <p:cNvPr id="13" name=""/>
          <p:cNvSpPr/>
          <p:nvPr/>
        </p:nvSpPr>
        <p:spPr>
          <a:xfrm>
            <a:off x="4333875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4657725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8A57"/>
          </a:solidFill>
          <a:ln/>
        </p:spPr>
      </p:sp>
      <p:sp>
        <p:nvSpPr>
          <p:cNvPr id="15" name=""/>
          <p:cNvSpPr txBox="1"/>
          <p:nvPr/>
        </p:nvSpPr>
        <p:spPr>
          <a:xfrm>
            <a:off x="4657725" y="3695700"/>
            <a:ext cx="13906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日本の</a:t>
            </a:r>
          </a:p>
        </p:txBody>
      </p:sp>
      <p:sp>
        <p:nvSpPr>
          <p:cNvPr id="16" name=""/>
          <p:cNvSpPr txBox="1"/>
          <p:nvPr/>
        </p:nvSpPr>
        <p:spPr>
          <a:xfrm>
            <a:off x="4657725" y="4133850"/>
            <a:ext cx="13906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お正月</a:t>
            </a:r>
          </a:p>
        </p:txBody>
      </p:sp>
      <p:sp>
        <p:nvSpPr>
          <p:cNvPr id="17" name=""/>
          <p:cNvSpPr txBox="1"/>
          <p:nvPr/>
        </p:nvSpPr>
        <p:spPr>
          <a:xfrm>
            <a:off x="4657725" y="4705350"/>
            <a:ext cx="2333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New Year's in Japan</a:t>
            </a:r>
          </a:p>
        </p:txBody>
      </p:sp>
      <p:sp>
        <p:nvSpPr>
          <p:cNvPr id="18" name=""/>
          <p:cNvSpPr/>
          <p:nvPr/>
        </p:nvSpPr>
        <p:spPr>
          <a:xfrm>
            <a:off x="8067675" y="2867025"/>
            <a:ext cx="3514725" cy="266700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8391525" y="3448050"/>
            <a:ext cx="533400" cy="762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391525" y="3695700"/>
            <a:ext cx="31337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サンクスギビング</a:t>
            </a:r>
          </a:p>
        </p:txBody>
      </p:sp>
      <p:sp>
        <p:nvSpPr>
          <p:cNvPr id="21" name=""/>
          <p:cNvSpPr txBox="1"/>
          <p:nvPr/>
        </p:nvSpPr>
        <p:spPr>
          <a:xfrm>
            <a:off x="8391525" y="4133850"/>
            <a:ext cx="2095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（感謝祭）</a:t>
            </a:r>
          </a:p>
        </p:txBody>
      </p:sp>
      <p:sp>
        <p:nvSpPr>
          <p:cNvPr id="22" name=""/>
          <p:cNvSpPr txBox="1"/>
          <p:nvPr/>
        </p:nvSpPr>
        <p:spPr>
          <a:xfrm>
            <a:off x="8391525" y="4705350"/>
            <a:ext cx="1676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DM Sans"/>
                <a:ea typeface="DM Sans"/>
              </a:rPr>
              <a:t>Thanksgiving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10201275" y="390525"/>
            <a:ext cx="13811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103346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544175" y="466725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5" name=""/>
          <p:cNvSpPr txBox="1"/>
          <p:nvPr/>
        </p:nvSpPr>
        <p:spPr>
          <a:xfrm>
            <a:off x="111633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362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GRAMMAR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38385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 ＝ 〜できる</a:t>
            </a:r>
          </a:p>
        </p:txBody>
      </p:sp>
      <p:sp>
        <p:nvSpPr>
          <p:cNvPr id="8" name=""/>
          <p:cNvSpPr/>
          <p:nvPr/>
        </p:nvSpPr>
        <p:spPr>
          <a:xfrm>
            <a:off x="609600" y="2419350"/>
            <a:ext cx="190500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1238250" y="2571750"/>
            <a:ext cx="10858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主語</a:t>
            </a:r>
          </a:p>
        </p:txBody>
      </p:sp>
      <p:sp>
        <p:nvSpPr>
          <p:cNvPr id="10" name=""/>
          <p:cNvSpPr txBox="1"/>
          <p:nvPr/>
        </p:nvSpPr>
        <p:spPr>
          <a:xfrm>
            <a:off x="1028700" y="3076575"/>
            <a:ext cx="15811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I / You / We など</a:t>
            </a:r>
          </a:p>
        </p:txBody>
      </p:sp>
      <p:sp>
        <p:nvSpPr>
          <p:cNvPr id="11" name=""/>
          <p:cNvSpPr txBox="1"/>
          <p:nvPr/>
        </p:nvSpPr>
        <p:spPr>
          <a:xfrm>
            <a:off x="2686050" y="27527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2" name=""/>
          <p:cNvSpPr/>
          <p:nvPr/>
        </p:nvSpPr>
        <p:spPr>
          <a:xfrm>
            <a:off x="3105150" y="2409825"/>
            <a:ext cx="1905000" cy="1038225"/>
          </a:xfrm>
          <a:prstGeom prst="roundRect">
            <a:avLst>
              <a:gd name="adj" fmla="val 20183"/>
            </a:avLst>
          </a:prstGeom>
          <a:solidFill>
            <a:srgbClr val="F0521E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3733800" y="2562225"/>
            <a:ext cx="10953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FFFFFF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14" name=""/>
          <p:cNvSpPr txBox="1"/>
          <p:nvPr/>
        </p:nvSpPr>
        <p:spPr>
          <a:xfrm>
            <a:off x="3705225" y="30765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可能・能力</a:t>
            </a:r>
          </a:p>
        </p:txBody>
      </p:sp>
      <p:sp>
        <p:nvSpPr>
          <p:cNvPr id="15" name=""/>
          <p:cNvSpPr txBox="1"/>
          <p:nvPr/>
        </p:nvSpPr>
        <p:spPr>
          <a:xfrm>
            <a:off x="5181600" y="27527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5E6780"/>
                </a:solidFill>
                <a:latin typeface="Noto Sans JP"/>
                <a:ea typeface="Noto Sans JP"/>
              </a:rPr>
              <a:t>＋</a:t>
            </a:r>
          </a:p>
        </p:txBody>
      </p:sp>
      <p:sp>
        <p:nvSpPr>
          <p:cNvPr id="16" name=""/>
          <p:cNvSpPr/>
          <p:nvPr/>
        </p:nvSpPr>
        <p:spPr>
          <a:xfrm>
            <a:off x="5600700" y="2419350"/>
            <a:ext cx="2190750" cy="1028700"/>
          </a:xfrm>
          <a:prstGeom prst="roundRect">
            <a:avLst>
              <a:gd name="adj" fmla="val 203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 txBox="1"/>
          <p:nvPr/>
        </p:nvSpPr>
        <p:spPr>
          <a:xfrm>
            <a:off x="5886450" y="2571750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8" name=""/>
          <p:cNvSpPr txBox="1"/>
          <p:nvPr/>
        </p:nvSpPr>
        <p:spPr>
          <a:xfrm>
            <a:off x="6267450" y="30765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will と同じ形</a:t>
            </a:r>
          </a:p>
        </p:txBody>
      </p:sp>
      <p:sp>
        <p:nvSpPr>
          <p:cNvPr id="19" name=""/>
          <p:cNvSpPr/>
          <p:nvPr/>
        </p:nvSpPr>
        <p:spPr>
          <a:xfrm>
            <a:off x="609600" y="3657600"/>
            <a:ext cx="5391150" cy="16764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0" name=""/>
          <p:cNvSpPr txBox="1"/>
          <p:nvPr/>
        </p:nvSpPr>
        <p:spPr>
          <a:xfrm>
            <a:off x="1295400" y="3924300"/>
            <a:ext cx="36290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可能（都合がつく・時間がある）</a:t>
            </a:r>
          </a:p>
        </p:txBody>
      </p:sp>
      <p:sp>
        <p:nvSpPr>
          <p:cNvPr id="21" name=""/>
          <p:cNvSpPr/>
          <p:nvPr/>
        </p:nvSpPr>
        <p:spPr>
          <a:xfrm>
            <a:off x="914400" y="394335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857250" y="3981450"/>
            <a:ext cx="4095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3" name=""/>
          <p:cNvSpPr txBox="1"/>
          <p:nvPr/>
        </p:nvSpPr>
        <p:spPr>
          <a:xfrm>
            <a:off x="914400" y="4362450"/>
            <a:ext cx="29241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talk now.</a:t>
            </a:r>
          </a:p>
        </p:txBody>
      </p:sp>
      <p:sp>
        <p:nvSpPr>
          <p:cNvPr id="24" name=""/>
          <p:cNvSpPr txBox="1"/>
          <p:nvPr/>
        </p:nvSpPr>
        <p:spPr>
          <a:xfrm>
            <a:off x="914400" y="48291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今なら話せるよ</a:t>
            </a:r>
          </a:p>
        </p:txBody>
      </p:sp>
      <p:sp>
        <p:nvSpPr>
          <p:cNvPr id="25" name=""/>
          <p:cNvSpPr/>
          <p:nvPr/>
        </p:nvSpPr>
        <p:spPr>
          <a:xfrm>
            <a:off x="6191250" y="3657600"/>
            <a:ext cx="5391150" cy="16764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6" name=""/>
          <p:cNvSpPr txBox="1"/>
          <p:nvPr/>
        </p:nvSpPr>
        <p:spPr>
          <a:xfrm>
            <a:off x="6877050" y="392430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能力（自分ができること）</a:t>
            </a:r>
          </a:p>
        </p:txBody>
      </p:sp>
      <p:sp>
        <p:nvSpPr>
          <p:cNvPr id="27" name=""/>
          <p:cNvSpPr/>
          <p:nvPr/>
        </p:nvSpPr>
        <p:spPr>
          <a:xfrm>
            <a:off x="6496050" y="3943350"/>
            <a:ext cx="285750" cy="28575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8" name=""/>
          <p:cNvSpPr txBox="1"/>
          <p:nvPr/>
        </p:nvSpPr>
        <p:spPr>
          <a:xfrm>
            <a:off x="6419850" y="3981450"/>
            <a:ext cx="4476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29" name=""/>
          <p:cNvSpPr txBox="1"/>
          <p:nvPr/>
        </p:nvSpPr>
        <p:spPr>
          <a:xfrm>
            <a:off x="6496050" y="4362450"/>
            <a:ext cx="233362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550" b="1">
                <a:solidFill>
                  <a:srgbClr val="1A2238"/>
                </a:solidFill>
                <a:latin typeface="DM Sans"/>
                <a:ea typeface="DM Sans"/>
              </a:rPr>
              <a:t> swim.</a:t>
            </a:r>
          </a:p>
        </p:txBody>
      </p:sp>
      <p:sp>
        <p:nvSpPr>
          <p:cNvPr id="30" name=""/>
          <p:cNvSpPr txBox="1"/>
          <p:nvPr/>
        </p:nvSpPr>
        <p:spPr>
          <a:xfrm>
            <a:off x="6496050" y="482917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泳げるよ</a:t>
            </a:r>
          </a:p>
        </p:txBody>
      </p:sp>
      <p:sp>
        <p:nvSpPr>
          <p:cNvPr id="31" name=""/>
          <p:cNvSpPr txBox="1"/>
          <p:nvPr/>
        </p:nvSpPr>
        <p:spPr>
          <a:xfrm>
            <a:off x="1543050" y="5543550"/>
            <a:ext cx="50387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Scott先生のあとについて、声に出してみよう！</a:t>
            </a:r>
          </a:p>
        </p:txBody>
      </p:sp>
      <p:sp>
        <p:nvSpPr>
          <p:cNvPr id="32" name=""/>
          <p:cNvSpPr/>
          <p:nvPr/>
        </p:nvSpPr>
        <p:spPr>
          <a:xfrm>
            <a:off x="609600" y="5524500"/>
            <a:ext cx="80010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3" name=""/>
          <p:cNvSpPr txBox="1"/>
          <p:nvPr/>
        </p:nvSpPr>
        <p:spPr>
          <a:xfrm>
            <a:off x="742950" y="5572125"/>
            <a:ext cx="9620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REPEAT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734550" y="390525"/>
            <a:ext cx="18478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8679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4" name=""/>
          <p:cNvSpPr txBox="1"/>
          <p:nvPr/>
        </p:nvSpPr>
        <p:spPr>
          <a:xfrm>
            <a:off x="10077450" y="466725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696575" y="4476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 と can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WILL vs CAN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61722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can、なにが違う？</a:t>
            </a:r>
          </a:p>
        </p:txBody>
      </p:sp>
      <p:sp>
        <p:nvSpPr>
          <p:cNvPr id="8" name=""/>
          <p:cNvSpPr/>
          <p:nvPr/>
        </p:nvSpPr>
        <p:spPr>
          <a:xfrm>
            <a:off x="609600" y="2505075"/>
            <a:ext cx="4972050" cy="2552700"/>
          </a:xfrm>
          <a:prstGeom prst="roundRect">
            <a:avLst>
              <a:gd name="adj" fmla="val 9701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9" name=""/>
          <p:cNvSpPr txBox="1"/>
          <p:nvPr/>
        </p:nvSpPr>
        <p:spPr>
          <a:xfrm>
            <a:off x="942975" y="2762250"/>
            <a:ext cx="11239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0" name=""/>
          <p:cNvSpPr/>
          <p:nvPr/>
        </p:nvSpPr>
        <p:spPr>
          <a:xfrm>
            <a:off x="1743075" y="2876550"/>
            <a:ext cx="590550" cy="32385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876425" y="29146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意志</a:t>
            </a:r>
          </a:p>
        </p:txBody>
      </p:sp>
      <p:sp>
        <p:nvSpPr>
          <p:cNvPr id="12" name=""/>
          <p:cNvSpPr txBox="1"/>
          <p:nvPr/>
        </p:nvSpPr>
        <p:spPr>
          <a:xfrm>
            <a:off x="942975" y="3409950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「やります！！」</a:t>
            </a:r>
          </a:p>
        </p:txBody>
      </p:sp>
      <p:sp>
        <p:nvSpPr>
          <p:cNvPr id="13" name=""/>
          <p:cNvSpPr/>
          <p:nvPr/>
        </p:nvSpPr>
        <p:spPr>
          <a:xfrm>
            <a:off x="942975" y="3981450"/>
            <a:ext cx="43053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14" name=""/>
          <p:cNvSpPr txBox="1"/>
          <p:nvPr/>
        </p:nvSpPr>
        <p:spPr>
          <a:xfrm>
            <a:off x="942975" y="4152900"/>
            <a:ext cx="37623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will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come tomorrow.</a:t>
            </a:r>
          </a:p>
        </p:txBody>
      </p:sp>
      <p:sp>
        <p:nvSpPr>
          <p:cNvPr id="15" name=""/>
          <p:cNvSpPr txBox="1"/>
          <p:nvPr/>
        </p:nvSpPr>
        <p:spPr>
          <a:xfrm>
            <a:off x="942975" y="45624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明日行きます！</a:t>
            </a:r>
          </a:p>
        </p:txBody>
      </p:sp>
      <p:sp>
        <p:nvSpPr>
          <p:cNvPr id="16" name=""/>
          <p:cNvSpPr/>
          <p:nvPr/>
        </p:nvSpPr>
        <p:spPr>
          <a:xfrm>
            <a:off x="5753100" y="3438525"/>
            <a:ext cx="685800" cy="6858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5772150" y="3648075"/>
            <a:ext cx="647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VS</a:t>
            </a:r>
          </a:p>
        </p:txBody>
      </p:sp>
      <p:sp>
        <p:nvSpPr>
          <p:cNvPr id="18" name=""/>
          <p:cNvSpPr/>
          <p:nvPr/>
        </p:nvSpPr>
        <p:spPr>
          <a:xfrm>
            <a:off x="6610350" y="2505075"/>
            <a:ext cx="4972050" cy="2552700"/>
          </a:xfrm>
          <a:prstGeom prst="roundRect">
            <a:avLst>
              <a:gd name="adj" fmla="val 9701"/>
            </a:avLst>
          </a:prstGeom>
          <a:solidFill>
            <a:srgbClr val="FFFFFF"/>
          </a:solidFill>
          <a:ln w="28575">
            <a:solidFill>
              <a:srgbClr val="7DBDEB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 txBox="1"/>
          <p:nvPr/>
        </p:nvSpPr>
        <p:spPr>
          <a:xfrm>
            <a:off x="6943725" y="2762250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C6496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20" name=""/>
          <p:cNvSpPr/>
          <p:nvPr/>
        </p:nvSpPr>
        <p:spPr>
          <a:xfrm>
            <a:off x="7820025" y="2876550"/>
            <a:ext cx="590550" cy="323850"/>
          </a:xfrm>
          <a:prstGeom prst="roundRect">
            <a:avLst>
              <a:gd name="adj" fmla="val 50000"/>
            </a:avLst>
          </a:prstGeom>
          <a:solidFill>
            <a:srgbClr val="DCEEFB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953375" y="2914650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2C6496"/>
                </a:solidFill>
                <a:latin typeface="Noto Sans JP"/>
                <a:ea typeface="Noto Sans JP"/>
              </a:rPr>
              <a:t>可能</a:t>
            </a:r>
          </a:p>
        </p:txBody>
      </p:sp>
      <p:sp>
        <p:nvSpPr>
          <p:cNvPr id="22" name=""/>
          <p:cNvSpPr txBox="1"/>
          <p:nvPr/>
        </p:nvSpPr>
        <p:spPr>
          <a:xfrm>
            <a:off x="6943725" y="3409950"/>
            <a:ext cx="3619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「時間空いてるよ〜」</a:t>
            </a:r>
          </a:p>
        </p:txBody>
      </p:sp>
      <p:sp>
        <p:nvSpPr>
          <p:cNvPr id="23" name=""/>
          <p:cNvSpPr/>
          <p:nvPr/>
        </p:nvSpPr>
        <p:spPr>
          <a:xfrm>
            <a:off x="6943725" y="3981450"/>
            <a:ext cx="43053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24" name=""/>
          <p:cNvSpPr txBox="1"/>
          <p:nvPr/>
        </p:nvSpPr>
        <p:spPr>
          <a:xfrm>
            <a:off x="6943725" y="4152900"/>
            <a:ext cx="3819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F0521E"/>
                </a:solidFill>
                <a:latin typeface="DM Sans"/>
                <a:ea typeface="DM Sans"/>
              </a:rPr>
              <a:t>I can</a:t>
            </a:r>
            <a:pPr/>
            <a:r>
              <a:rPr sz="2250" b="1">
                <a:solidFill>
                  <a:srgbClr val="1A2238"/>
                </a:solidFill>
                <a:latin typeface="DM Sans"/>
                <a:ea typeface="DM Sans"/>
              </a:rPr>
              <a:t> come tomorrow.</a:t>
            </a:r>
          </a:p>
        </p:txBody>
      </p:sp>
      <p:sp>
        <p:nvSpPr>
          <p:cNvPr id="25" name=""/>
          <p:cNvSpPr txBox="1"/>
          <p:nvPr/>
        </p:nvSpPr>
        <p:spPr>
          <a:xfrm>
            <a:off x="6943725" y="456247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明日行けるよ〜</a:t>
            </a:r>
          </a:p>
        </p:txBody>
      </p:sp>
      <p:sp>
        <p:nvSpPr>
          <p:cNvPr id="26" name=""/>
          <p:cNvSpPr/>
          <p:nvPr/>
        </p:nvSpPr>
        <p:spPr>
          <a:xfrm>
            <a:off x="609600" y="5819775"/>
            <a:ext cx="10972800" cy="619125"/>
          </a:xfrm>
          <a:prstGeom prst="roundRect">
            <a:avLst>
              <a:gd name="adj" fmla="val 30769"/>
            </a:avLst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914650" y="5953125"/>
            <a:ext cx="6362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950" b="1">
                <a:solidFill>
                  <a:srgbClr val="FFFFFF"/>
                </a:solidFill>
                <a:latin typeface="Noto Sans JP"/>
                <a:ea typeface="Noto Sans JP"/>
              </a:rPr>
              <a:t>意味はほぼ同じ！ ニュアンスが少し変わるだけ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515475" y="390525"/>
            <a:ext cx="20669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6488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858375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5" name=""/>
          <p:cNvSpPr txBox="1"/>
          <p:nvPr/>
        </p:nvSpPr>
        <p:spPr>
          <a:xfrm>
            <a:off x="10696575" y="4476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 ＆ can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990600"/>
            <a:ext cx="21240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INSTANT ENGLISH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181100"/>
            <a:ext cx="6762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 で、瞬間英作文！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1838325"/>
            <a:ext cx="44100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日本語を見たら、5秒で英語にしてみよう</a:t>
            </a:r>
          </a:p>
        </p:txBody>
      </p:sp>
      <p:sp>
        <p:nvSpPr>
          <p:cNvPr id="9" name=""/>
          <p:cNvSpPr/>
          <p:nvPr/>
        </p:nvSpPr>
        <p:spPr>
          <a:xfrm>
            <a:off x="609600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933450" y="3581400"/>
            <a:ext cx="11906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11" name=""/>
          <p:cNvSpPr txBox="1"/>
          <p:nvPr/>
        </p:nvSpPr>
        <p:spPr>
          <a:xfrm>
            <a:off x="933450" y="3752850"/>
            <a:ext cx="184785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12" name=""/>
          <p:cNvSpPr txBox="1"/>
          <p:nvPr/>
        </p:nvSpPr>
        <p:spPr>
          <a:xfrm>
            <a:off x="933450" y="4714875"/>
            <a:ext cx="22002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can で言ってみよう</a:t>
            </a:r>
          </a:p>
        </p:txBody>
      </p:sp>
      <p:sp>
        <p:nvSpPr>
          <p:cNvPr id="13" name=""/>
          <p:cNvSpPr/>
          <p:nvPr/>
        </p:nvSpPr>
        <p:spPr>
          <a:xfrm>
            <a:off x="4333875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4657725" y="3581400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15" name=""/>
          <p:cNvSpPr txBox="1"/>
          <p:nvPr/>
        </p:nvSpPr>
        <p:spPr>
          <a:xfrm>
            <a:off x="4657725" y="3752850"/>
            <a:ext cx="169545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16" name=""/>
          <p:cNvSpPr txBox="1"/>
          <p:nvPr/>
        </p:nvSpPr>
        <p:spPr>
          <a:xfrm>
            <a:off x="4657725" y="4714875"/>
            <a:ext cx="22098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will で言ってみよう</a:t>
            </a:r>
          </a:p>
        </p:txBody>
      </p:sp>
      <p:sp>
        <p:nvSpPr>
          <p:cNvPr id="17" name=""/>
          <p:cNvSpPr/>
          <p:nvPr/>
        </p:nvSpPr>
        <p:spPr>
          <a:xfrm>
            <a:off x="8048625" y="3133725"/>
            <a:ext cx="3533775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 txBox="1"/>
          <p:nvPr/>
        </p:nvSpPr>
        <p:spPr>
          <a:xfrm>
            <a:off x="8372475" y="3581400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 spc="169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19" name=""/>
          <p:cNvSpPr txBox="1"/>
          <p:nvPr/>
        </p:nvSpPr>
        <p:spPr>
          <a:xfrm>
            <a:off x="8372475" y="3752850"/>
            <a:ext cx="1866900" cy="942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5700" b="1">
                <a:solidFill>
                  <a:srgbClr val="F0521E"/>
                </a:solidFill>
                <a:latin typeface="DM Sans"/>
                <a:ea typeface="DM Sans"/>
              </a:rPr>
              <a:t>MIX</a:t>
            </a:r>
          </a:p>
        </p:txBody>
      </p:sp>
      <p:sp>
        <p:nvSpPr>
          <p:cNvPr id="20" name=""/>
          <p:cNvSpPr txBox="1"/>
          <p:nvPr/>
        </p:nvSpPr>
        <p:spPr>
          <a:xfrm>
            <a:off x="8372475" y="4714875"/>
            <a:ext cx="22574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5E6780"/>
                </a:solidFill>
                <a:latin typeface="Noto Sans JP"/>
                <a:ea typeface="Noto Sans JP"/>
              </a:rPr>
              <a:t>will と can をまぜる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5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1</a:t>
            </a:r>
          </a:p>
        </p:txBody>
      </p:sp>
      <p:sp>
        <p:nvSpPr>
          <p:cNvPr id="6" name=""/>
          <p:cNvSpPr txBox="1"/>
          <p:nvPr/>
        </p:nvSpPr>
        <p:spPr>
          <a:xfrm>
            <a:off x="5619750" y="2114550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4848225" y="2238375"/>
            <a:ext cx="3219450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</a:p>
        </p:txBody>
      </p:sp>
      <p:sp>
        <p:nvSpPr>
          <p:cNvPr id="8" name=""/>
          <p:cNvSpPr txBox="1"/>
          <p:nvPr/>
        </p:nvSpPr>
        <p:spPr>
          <a:xfrm>
            <a:off x="4219575" y="4057650"/>
            <a:ext cx="4657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can で言ってみよう</a:t>
            </a:r>
          </a:p>
        </p:txBody>
      </p:sp>
      <p:sp>
        <p:nvSpPr>
          <p:cNvPr id="9" name=""/>
          <p:cNvSpPr txBox="1"/>
          <p:nvPr/>
        </p:nvSpPr>
        <p:spPr>
          <a:xfrm>
            <a:off x="4800600" y="4781550"/>
            <a:ext cx="33147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〜できる・〜行けるよ 全5問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773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410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6202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727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明日ランチ行けるよ〜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773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410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6202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727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48250" y="34766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明日ランチ行けるよ〜</a:t>
            </a:r>
          </a:p>
        </p:txBody>
      </p:sp>
      <p:sp>
        <p:nvSpPr>
          <p:cNvPr id="10" name=""/>
          <p:cNvSpPr txBox="1"/>
          <p:nvPr/>
        </p:nvSpPr>
        <p:spPr>
          <a:xfrm>
            <a:off x="3067050" y="3886200"/>
            <a:ext cx="72961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for lunch tomorrow.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2020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535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631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251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648075" y="3581400"/>
            <a:ext cx="59817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8時に駅で会えるよ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2020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535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631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2510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200650" y="34766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8時に駅で会えるよ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457450" y="3886200"/>
            <a:ext cx="87058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meet you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station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8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10675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440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535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533525" y="3581400"/>
            <a:ext cx="108394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週末なら家族とキャンプに行けるよ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10675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440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535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419600" y="3476625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週末なら家族とキャンプに行けるよ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1047750" y="3886200"/>
            <a:ext cx="119538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camping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family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this weekend.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524250" y="3581400"/>
            <a:ext cx="625792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英語、少し話せるよ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153025" y="3476625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英語、少し話せるよ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3248025" y="3886200"/>
            <a:ext cx="68865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speak a little English.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公園で一緒に走れるよ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01150" y="390525"/>
            <a:ext cx="15240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34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440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28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can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48250" y="3476625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公園で一緒に走れるよ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886075" y="3886200"/>
            <a:ext cx="77343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run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you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park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5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2</a:t>
            </a:r>
          </a:p>
        </p:txBody>
      </p:sp>
      <p:sp>
        <p:nvSpPr>
          <p:cNvPr id="6" name=""/>
          <p:cNvSpPr txBox="1"/>
          <p:nvPr/>
        </p:nvSpPr>
        <p:spPr>
          <a:xfrm>
            <a:off x="5600700" y="2114550"/>
            <a:ext cx="14763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4991100" y="2238375"/>
            <a:ext cx="2886075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</a:p>
        </p:txBody>
      </p:sp>
      <p:sp>
        <p:nvSpPr>
          <p:cNvPr id="8" name=""/>
          <p:cNvSpPr txBox="1"/>
          <p:nvPr/>
        </p:nvSpPr>
        <p:spPr>
          <a:xfrm>
            <a:off x="4200525" y="4057650"/>
            <a:ext cx="4705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で言ってみよう</a:t>
            </a:r>
          </a:p>
        </p:txBody>
      </p:sp>
      <p:sp>
        <p:nvSpPr>
          <p:cNvPr id="9" name=""/>
          <p:cNvSpPr txBox="1"/>
          <p:nvPr/>
        </p:nvSpPr>
        <p:spPr>
          <a:xfrm>
            <a:off x="4895850" y="4781550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〜するよ・〜します 全5問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392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726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821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727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952750" y="3581400"/>
            <a:ext cx="75723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明日は家で映画を見るよ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392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726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821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727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943475" y="347662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明日は家で映画を見るよ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1876425" y="3886200"/>
            <a:ext cx="100584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watch a movie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home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tomorrow.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924050" y="3581400"/>
            <a:ext cx="99441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7時に友達と夜ごはんを食べるよ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572000" y="34766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7時に友達と夜ごはんを食べるよ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219325" y="3886200"/>
            <a:ext cx="92583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eat dinner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7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238500" y="35814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週末は妹と海に行くよ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48250" y="3181350"/>
            <a:ext cx="2752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週末は妹と海に行くよ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286000" y="3590925"/>
            <a:ext cx="91154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beach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sister</a:t>
            </a:r>
          </a:p>
        </p:txBody>
      </p:sp>
      <p:sp>
        <p:nvSpPr>
          <p:cNvPr id="11" name=""/>
          <p:cNvSpPr txBox="1"/>
          <p:nvPr/>
        </p:nvSpPr>
        <p:spPr>
          <a:xfrm>
            <a:off x="4191000" y="4181475"/>
            <a:ext cx="38100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this weekend.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809750" y="3581400"/>
            <a:ext cx="102012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今夜はカフェで英語を勉強するよ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524375" y="3476625"/>
            <a:ext cx="3962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今夜はカフェで英語を勉強するよ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228850" y="3886200"/>
            <a:ext cx="92487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study English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a cafe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tonight.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390775" y="3581400"/>
            <a:ext cx="887730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クリスマスは家族と過ごすよ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will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733925" y="34766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クリスマスは家族と過ごすよ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019300" y="3886200"/>
            <a:ext cx="97059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spend Christmas </a:t>
            </a:r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family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582150" y="390525"/>
            <a:ext cx="20002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7155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925050" y="476250"/>
            <a:ext cx="12001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5" name=""/>
          <p:cNvSpPr txBox="1"/>
          <p:nvPr/>
        </p:nvSpPr>
        <p:spPr>
          <a:xfrm>
            <a:off x="10772775" y="447675"/>
            <a:ext cx="10763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ROUND 3</a:t>
            </a:r>
          </a:p>
        </p:txBody>
      </p:sp>
      <p:sp>
        <p:nvSpPr>
          <p:cNvPr id="6" name=""/>
          <p:cNvSpPr txBox="1"/>
          <p:nvPr/>
        </p:nvSpPr>
        <p:spPr>
          <a:xfrm>
            <a:off x="5600700" y="2114550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4829175" y="2238375"/>
            <a:ext cx="3248025" cy="1866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250" b="1" spc="-225" kern="0">
                <a:solidFill>
                  <a:srgbClr val="F0521E"/>
                </a:solidFill>
                <a:latin typeface="DM Sans"/>
                <a:ea typeface="DM Sans"/>
              </a:rPr>
              <a:t>MIX</a:t>
            </a:r>
          </a:p>
        </p:txBody>
      </p:sp>
      <p:sp>
        <p:nvSpPr>
          <p:cNvPr id="8" name=""/>
          <p:cNvSpPr txBox="1"/>
          <p:nvPr/>
        </p:nvSpPr>
        <p:spPr>
          <a:xfrm>
            <a:off x="4143375" y="4057650"/>
            <a:ext cx="48387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A2238"/>
                </a:solidFill>
                <a:latin typeface="Noto Sans JP"/>
                <a:ea typeface="Noto Sans JP"/>
              </a:rPr>
              <a:t>will と can をまぜる</a:t>
            </a:r>
          </a:p>
        </p:txBody>
      </p:sp>
      <p:sp>
        <p:nvSpPr>
          <p:cNvPr id="9" name=""/>
          <p:cNvSpPr txBox="1"/>
          <p:nvPr/>
        </p:nvSpPr>
        <p:spPr>
          <a:xfrm>
            <a:off x="5086350" y="4781550"/>
            <a:ext cx="26670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5E6780"/>
                </a:solidFill>
                <a:latin typeface="Noto Sans JP"/>
                <a:ea typeface="Noto Sans JP"/>
              </a:rPr>
              <a:t>どっちを使う？ 全5問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297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630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726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632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352800" y="3581400"/>
            <a:ext cx="66579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3時なら駅に行けるよ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2297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630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726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632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72800" y="381000"/>
            <a:ext cx="1047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95875" y="3476625"/>
            <a:ext cx="26574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3時なら駅に行けるよ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3219450" y="3886200"/>
            <a:ext cx="69532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station </a:t>
            </a:r>
            <a:pPr/>
            <a:r>
              <a:rPr sz="3600" b="1" spc="-45" kern="0">
                <a:solidFill>
                  <a:srgbClr val="8A5A00"/>
                </a:solidFill>
                <a:latin typeface="DM Sans"/>
                <a:ea typeface="DM Sans"/>
              </a:rPr>
              <a:t>at 3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952750" y="3581400"/>
            <a:ext cx="75723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明日の朝、ジムに行くよ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8210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154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250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1557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943475" y="3476625"/>
            <a:ext cx="29908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明日の朝、ジムに行くよ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1933575" y="3886200"/>
            <a:ext cx="99155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go to the gym tomorrow morning.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3248025" y="3581400"/>
            <a:ext cx="690562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今夜なら電話できるよ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7257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3059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154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30605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895600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5048250" y="3476625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今夜なら電話できるよ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3790950" y="3886200"/>
            <a:ext cx="56388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can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call you tonight.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535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868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4964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2870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1762125" y="3581400"/>
            <a:ext cx="10315575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週末は友達とビーチでBBQするよ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53525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8687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4964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287000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33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514850" y="3181350"/>
            <a:ext cx="39909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週末は友達とビーチでBBQするよ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276475" y="3590925"/>
            <a:ext cx="76390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 algn="ctr"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have a BBQ </a:t>
            </a:r>
            <a:pPr algn="ctr"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the beach</a:t>
            </a:r>
          </a:p>
        </p:txBody>
      </p:sp>
      <p:sp>
        <p:nvSpPr>
          <p:cNvPr id="11" name=""/>
          <p:cNvSpPr txBox="1"/>
          <p:nvPr/>
        </p:nvSpPr>
        <p:spPr>
          <a:xfrm>
            <a:off x="2838450" y="4181475"/>
            <a:ext cx="782955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B0284F"/>
                </a:solidFill>
                <a:latin typeface="DM Sans"/>
                <a:ea typeface="DM Sans"/>
              </a:rPr>
              <a:t>with my friends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this weekend.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543550" y="2981325"/>
            <a:ext cx="160972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Question</a:t>
            </a:r>
          </a:p>
        </p:txBody>
      </p:sp>
      <p:sp>
        <p:nvSpPr>
          <p:cNvPr id="9" name=""/>
          <p:cNvSpPr txBox="1"/>
          <p:nvPr/>
        </p:nvSpPr>
        <p:spPr>
          <a:xfrm>
            <a:off x="2095500" y="3581400"/>
            <a:ext cx="95440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お正月は実家でのんびりするよ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9163050" y="390525"/>
            <a:ext cx="15621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" name=""/>
          <p:cNvSpPr/>
          <p:nvPr/>
        </p:nvSpPr>
        <p:spPr>
          <a:xfrm>
            <a:off x="92964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4" name=""/>
          <p:cNvSpPr txBox="1"/>
          <p:nvPr/>
        </p:nvSpPr>
        <p:spPr>
          <a:xfrm>
            <a:off x="95059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5" name=""/>
          <p:cNvSpPr txBox="1"/>
          <p:nvPr/>
        </p:nvSpPr>
        <p:spPr>
          <a:xfrm>
            <a:off x="10296525" y="447675"/>
            <a:ext cx="6381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MIX</a:t>
            </a:r>
          </a:p>
        </p:txBody>
      </p:sp>
      <p:sp>
        <p:nvSpPr>
          <p:cNvPr id="6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05</a:t>
            </a:r>
          </a:p>
        </p:txBody>
      </p:sp>
      <p:sp>
        <p:nvSpPr>
          <p:cNvPr id="7" name=""/>
          <p:cNvSpPr/>
          <p:nvPr/>
        </p:nvSpPr>
        <p:spPr>
          <a:xfrm>
            <a:off x="609600" y="971550"/>
            <a:ext cx="10972800" cy="5467350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5619750" y="2600325"/>
            <a:ext cx="144780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9" name=""/>
          <p:cNvSpPr txBox="1"/>
          <p:nvPr/>
        </p:nvSpPr>
        <p:spPr>
          <a:xfrm>
            <a:off x="4629150" y="3181350"/>
            <a:ext cx="371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5E6780"/>
                </a:solidFill>
                <a:latin typeface="Noto Sans JP"/>
                <a:ea typeface="Noto Sans JP"/>
              </a:rPr>
              <a:t>お正月は実家でのんびりするよ</a:t>
            </a:r>
          </a:p>
        </p:txBody>
      </p:sp>
      <p:sp>
        <p:nvSpPr>
          <p:cNvPr id="10" name=""/>
          <p:cNvSpPr txBox="1"/>
          <p:nvPr/>
        </p:nvSpPr>
        <p:spPr>
          <a:xfrm>
            <a:off x="2695575" y="3590925"/>
            <a:ext cx="81629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I </a:t>
            </a:r>
            <a:pPr/>
            <a:r>
              <a:rPr sz="3600" b="1" spc="-45" kern="0">
                <a:solidFill>
                  <a:srgbClr val="F0521E"/>
                </a:solidFill>
                <a:latin typeface="DM Sans"/>
                <a:ea typeface="DM Sans"/>
              </a:rPr>
              <a:t>will</a:t>
            </a:r>
            <a:pPr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 relax </a:t>
            </a:r>
            <a:pPr/>
            <a:r>
              <a:rPr sz="3600" b="1" spc="-45" kern="0">
                <a:solidFill>
                  <a:srgbClr val="2C6496"/>
                </a:solidFill>
                <a:latin typeface="DM Sans"/>
                <a:ea typeface="DM Sans"/>
              </a:rPr>
              <a:t>at my parents' house</a:t>
            </a:r>
          </a:p>
        </p:txBody>
      </p:sp>
      <p:sp>
        <p:nvSpPr>
          <p:cNvPr id="11" name=""/>
          <p:cNvSpPr txBox="1"/>
          <p:nvPr/>
        </p:nvSpPr>
        <p:spPr>
          <a:xfrm>
            <a:off x="3905250" y="4181475"/>
            <a:ext cx="437197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600" b="1" spc="-45" kern="0">
                <a:solidFill>
                  <a:srgbClr val="1A2238"/>
                </a:solidFill>
                <a:latin typeface="DM Sans"/>
                <a:ea typeface="DM Sans"/>
              </a:rPr>
              <a:t>over New Year's.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09600" y="2171700"/>
            <a:ext cx="4781550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C23B12"/>
                </a:solidFill>
                <a:latin typeface="Caveat"/>
                <a:ea typeface="Caveat"/>
              </a:rPr>
              <a:t>Thank you for joining!</a:t>
            </a:r>
          </a:p>
        </p:txBody>
      </p:sp>
      <p:sp>
        <p:nvSpPr>
          <p:cNvPr id="3" name=""/>
          <p:cNvSpPr txBox="1"/>
          <p:nvPr/>
        </p:nvSpPr>
        <p:spPr>
          <a:xfrm>
            <a:off x="609600" y="27813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おつかれさまでした！</a:t>
            </a:r>
          </a:p>
        </p:txBody>
      </p:sp>
      <p:sp>
        <p:nvSpPr>
          <p:cNvPr id="4" name=""/>
          <p:cNvSpPr txBox="1"/>
          <p:nvPr/>
        </p:nvSpPr>
        <p:spPr>
          <a:xfrm>
            <a:off x="609600" y="3743325"/>
            <a:ext cx="24193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will と can、今日から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4057650"/>
            <a:ext cx="26193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どんどん使ってみてね！</a:t>
            </a:r>
          </a:p>
        </p:txBody>
      </p:sp>
      <p:sp>
        <p:nvSpPr>
          <p:cNvPr id="6" name=""/>
          <p:cNvSpPr/>
          <p:nvPr/>
        </p:nvSpPr>
        <p:spPr>
          <a:xfrm>
            <a:off x="609600" y="4619625"/>
            <a:ext cx="15144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7" name=""/>
          <p:cNvSpPr txBox="1"/>
          <p:nvPr/>
        </p:nvSpPr>
        <p:spPr>
          <a:xfrm>
            <a:off x="800100" y="46958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チャンネル登録</a:t>
            </a:r>
          </a:p>
        </p:txBody>
      </p:sp>
      <p:sp>
        <p:nvSpPr>
          <p:cNvPr id="8" name=""/>
          <p:cNvSpPr/>
          <p:nvPr/>
        </p:nvSpPr>
        <p:spPr>
          <a:xfrm>
            <a:off x="2219325" y="4619625"/>
            <a:ext cx="8667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"/>
          <p:cNvSpPr txBox="1"/>
          <p:nvPr/>
        </p:nvSpPr>
        <p:spPr>
          <a:xfrm>
            <a:off x="2409825" y="46958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高評価</a:t>
            </a:r>
          </a:p>
        </p:txBody>
      </p:sp>
      <p:sp>
        <p:nvSpPr>
          <p:cNvPr id="10" name=""/>
          <p:cNvSpPr/>
          <p:nvPr/>
        </p:nvSpPr>
        <p:spPr>
          <a:xfrm>
            <a:off x="3181350" y="4619625"/>
            <a:ext cx="20002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3371850" y="4695825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感想をコメントしてね</a:t>
            </a:r>
          </a:p>
        </p:txBody>
      </p:sp>
      <p:sp>
        <p:nvSpPr>
          <p:cNvPr id="12" name=""/>
          <p:cNvSpPr/>
          <p:nvPr/>
        </p:nvSpPr>
        <p:spPr>
          <a:xfrm>
            <a:off x="7524750" y="1143000"/>
            <a:ext cx="3810000" cy="3810000"/>
          </a:xfrm>
          <a:prstGeom prst="roundRect">
            <a:avLst>
              <a:gd name="adj" fmla="val 24000"/>
            </a:avLst>
          </a:prstGeom>
          <a:solidFill>
            <a:srgbClr val="F0521E"/>
          </a:solidFill>
          <a:ln/>
        </p:spPr>
      </p:sp>
      <p:sp>
        <p:nvSpPr>
          <p:cNvPr id="13" name=""/>
          <p:cNvSpPr/>
          <p:nvPr/>
        </p:nvSpPr>
        <p:spPr>
          <a:xfrm>
            <a:off x="6572250" y="3143250"/>
            <a:ext cx="43815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 txBox="1"/>
          <p:nvPr/>
        </p:nvSpPr>
        <p:spPr>
          <a:xfrm>
            <a:off x="6877050" y="3390900"/>
            <a:ext cx="13716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NEXT LIVE</a:t>
            </a:r>
          </a:p>
        </p:txBody>
      </p:sp>
      <p:sp>
        <p:nvSpPr>
          <p:cNvPr id="15" name=""/>
          <p:cNvSpPr txBox="1"/>
          <p:nvPr/>
        </p:nvSpPr>
        <p:spPr>
          <a:xfrm>
            <a:off x="6877050" y="3695700"/>
            <a:ext cx="2486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次回のライブも</a:t>
            </a:r>
          </a:p>
        </p:txBody>
      </p:sp>
      <p:sp>
        <p:nvSpPr>
          <p:cNvPr id="16" name=""/>
          <p:cNvSpPr txBox="1"/>
          <p:nvPr/>
        </p:nvSpPr>
        <p:spPr>
          <a:xfrm>
            <a:off x="6877050" y="4086225"/>
            <a:ext cx="21812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お楽しみに！</a:t>
            </a:r>
          </a:p>
        </p:txBody>
      </p:sp>
      <p:sp>
        <p:nvSpPr>
          <p:cNvPr id="17" name=""/>
          <p:cNvSpPr/>
          <p:nvPr/>
        </p:nvSpPr>
        <p:spPr>
          <a:xfrm>
            <a:off x="6877050" y="4619625"/>
            <a:ext cx="37719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18" name=""/>
          <p:cNvSpPr txBox="1"/>
          <p:nvPr/>
        </p:nvSpPr>
        <p:spPr>
          <a:xfrm>
            <a:off x="6877050" y="4733925"/>
            <a:ext cx="27241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See you next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