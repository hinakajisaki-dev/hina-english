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9" Type="http://schemas.openxmlformats.org/officeDocument/2006/relationships/presProps" Target="presProps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238250" y="66675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2286000" y="1143000"/>
                </a:moveTo>
                <a:cubicBezTo>
                  <a:pt x="2286000" y="1774508"/>
                  <a:pt x="1774508" y="2286000"/>
                  <a:pt x="1143000" y="2286000"/>
                </a:cubicBezTo>
                <a:cubicBezTo>
                  <a:pt x="511492" y="2286000"/>
                  <a:pt x="0" y="1774508"/>
                  <a:pt x="0" y="1143000"/>
                </a:cubicBezTo>
                <a:cubicBezTo>
                  <a:pt x="0" y="511492"/>
                  <a:pt x="511492" y="0"/>
                  <a:pt x="1143000" y="0"/>
                </a:cubicBezTo>
                <a:cubicBezTo>
                  <a:pt x="1774508" y="0"/>
                  <a:pt x="2286000" y="511492"/>
                  <a:pt x="2286000" y="1143000"/>
                </a:cubicBezTo>
                <a:close/>
              </a:path>
            </a:pathLst>
          </a:custGeom>
          <a:solidFill>
            <a:srgbClr val="A9D3F3"/>
          </a:solidFill>
          <a:ln/>
        </p:spPr>
      </p:sp>
      <p:sp>
        <p:nvSpPr>
          <p:cNvPr id="3" name=""/>
          <p:cNvSpPr/>
          <p:nvPr/>
        </p:nvSpPr>
        <p:spPr>
          <a:xfrm>
            <a:off x="9144000" y="4191000"/>
            <a:ext cx="1809750" cy="1809750"/>
          </a:xfrm>
          <a:custGeom>
            <a:avLst/>
            <a:gdLst/>
            <a:ahLst/>
            <a:cxnLst/>
            <a:rect l="l" t="t" r="r" b="b"/>
            <a:pathLst>
              <a:path w="1809750" h="1809750">
                <a:moveTo>
                  <a:pt x="457200" y="0"/>
                </a:moveTo>
                <a:lnTo>
                  <a:pt x="1352550" y="0"/>
                </a:lnTo>
                <a:cubicBezTo>
                  <a:pt x="1604963" y="0"/>
                  <a:pt x="1809750" y="204787"/>
                  <a:pt x="1809750" y="457200"/>
                </a:cubicBezTo>
                <a:lnTo>
                  <a:pt x="1809750" y="1352550"/>
                </a:lnTo>
                <a:cubicBezTo>
                  <a:pt x="1809750" y="1604963"/>
                  <a:pt x="1604963" y="1809750"/>
                  <a:pt x="1352550" y="1809750"/>
                </a:cubicBezTo>
                <a:lnTo>
                  <a:pt x="457200" y="1809750"/>
                </a:lnTo>
                <a:cubicBezTo>
                  <a:pt x="204787" y="1809750"/>
                  <a:pt x="0" y="1604963"/>
                  <a:pt x="0" y="1352550"/>
                </a:cubicBezTo>
                <a:lnTo>
                  <a:pt x="0" y="457200"/>
                </a:lnTo>
                <a:cubicBezTo>
                  <a:pt x="0" y="204787"/>
                  <a:pt x="204787" y="0"/>
                  <a:pt x="457200" y="0"/>
                </a:cubicBezTo>
                <a:close/>
              </a:path>
            </a:pathLst>
          </a:custGeom>
          <a:solidFill>
            <a:srgbClr val="FFD3DD"/>
          </a:solidFill>
          <a:ln/>
        </p:spPr>
      </p:sp>
      <p:sp>
        <p:nvSpPr>
          <p:cNvPr id="4" name=""/>
          <p:cNvSpPr/>
          <p:nvPr/>
        </p:nvSpPr>
        <p:spPr>
          <a:xfrm>
            <a:off x="10039350" y="89535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1066800" y="533400"/>
                </a:moveTo>
                <a:cubicBezTo>
                  <a:pt x="1066800" y="827723"/>
                  <a:pt x="827723" y="1066800"/>
                  <a:pt x="533400" y="1066800"/>
                </a:cubicBezTo>
                <a:cubicBezTo>
                  <a:pt x="239077" y="1066800"/>
                  <a:pt x="0" y="827723"/>
                  <a:pt x="0" y="533400"/>
                </a:cubicBezTo>
                <a:cubicBezTo>
                  <a:pt x="0" y="239077"/>
                  <a:pt x="239077" y="0"/>
                  <a:pt x="533400" y="0"/>
                </a:cubicBezTo>
                <a:cubicBezTo>
                  <a:pt x="827723" y="0"/>
                  <a:pt x="1066800" y="239077"/>
                  <a:pt x="1066800" y="533400"/>
                </a:cubicBezTo>
                <a:close/>
              </a:path>
            </a:pathLst>
          </a:custGeom>
          <a:solidFill>
            <a:srgbClr val="FFD966"/>
          </a:solidFill>
          <a:ln/>
        </p:spPr>
      </p:sp>
      <p:sp>
        <p:nvSpPr>
          <p:cNvPr id="5" name=""/>
          <p:cNvSpPr/>
          <p:nvPr/>
        </p:nvSpPr>
        <p:spPr>
          <a:xfrm>
            <a:off x="1247775" y="4772025"/>
            <a:ext cx="838200" cy="838200"/>
          </a:xfrm>
          <a:custGeom>
            <a:avLst/>
            <a:gdLst/>
            <a:ahLst/>
            <a:cxnLst/>
            <a:rect l="l" t="t" r="r" b="b"/>
            <a:pathLst>
              <a:path w="838200" h="838200">
                <a:moveTo>
                  <a:pt x="838200" y="419100"/>
                </a:moveTo>
                <a:cubicBezTo>
                  <a:pt x="838200" y="650557"/>
                  <a:pt x="650558" y="838200"/>
                  <a:pt x="419100" y="838200"/>
                </a:cubicBezTo>
                <a:cubicBezTo>
                  <a:pt x="187642" y="838200"/>
                  <a:pt x="0" y="650557"/>
                  <a:pt x="0" y="419100"/>
                </a:cubicBezTo>
                <a:cubicBezTo>
                  <a:pt x="0" y="187643"/>
                  <a:pt x="187642" y="0"/>
                  <a:pt x="419100" y="0"/>
                </a:cubicBezTo>
                <a:cubicBezTo>
                  <a:pt x="650558" y="0"/>
                  <a:pt x="838200" y="187643"/>
                  <a:pt x="838200" y="419100"/>
                </a:cubicBezTo>
                <a:close/>
              </a:path>
            </a:pathLst>
          </a:custGeom>
          <a:solidFill>
            <a:srgbClr val="FF9C6E"/>
          </a:solidFill>
          <a:ln/>
        </p:spPr>
      </p:sp>
      <p:sp>
        <p:nvSpPr>
          <p:cNvPr id="6" name=""/>
          <p:cNvSpPr/>
          <p:nvPr/>
        </p:nvSpPr>
        <p:spPr>
          <a:xfrm>
            <a:off x="771525" y="32956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133350"/>
                </a:moveTo>
                <a:cubicBezTo>
                  <a:pt x="266700" y="206692"/>
                  <a:pt x="206693" y="266700"/>
                  <a:pt x="133350" y="266700"/>
                </a:cubicBezTo>
                <a:cubicBezTo>
                  <a:pt x="60007" y="266700"/>
                  <a:pt x="0" y="206692"/>
                  <a:pt x="0" y="133350"/>
                </a:cubicBezTo>
                <a:cubicBezTo>
                  <a:pt x="0" y="60008"/>
                  <a:pt x="60007" y="0"/>
                  <a:pt x="133350" y="0"/>
                </a:cubicBezTo>
                <a:cubicBezTo>
                  <a:pt x="206693" y="0"/>
                  <a:pt x="266700" y="60008"/>
                  <a:pt x="266700" y="133350"/>
                </a:cubicBezTo>
                <a:close/>
              </a:path>
            </a:pathLst>
          </a:custGeom>
          <a:solidFill>
            <a:srgbClr val="FF9DB4"/>
          </a:solidFill>
          <a:ln/>
        </p:spPr>
      </p:sp>
      <p:sp>
        <p:nvSpPr>
          <p:cNvPr id="7" name=""/>
          <p:cNvSpPr/>
          <p:nvPr/>
        </p:nvSpPr>
        <p:spPr>
          <a:xfrm>
            <a:off x="11268075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77165"/>
                  <a:pt x="177165" y="228600"/>
                  <a:pt x="114300" y="228600"/>
                </a:cubicBezTo>
                <a:cubicBezTo>
                  <a:pt x="51435" y="228600"/>
                  <a:pt x="0" y="177165"/>
                  <a:pt x="0" y="114300"/>
                </a:cubicBezTo>
                <a:cubicBezTo>
                  <a:pt x="0" y="51435"/>
                  <a:pt x="51435" y="0"/>
                  <a:pt x="114300" y="0"/>
                </a:cubicBezTo>
                <a:cubicBezTo>
                  <a:pt x="177165" y="0"/>
                  <a:pt x="228600" y="51435"/>
                  <a:pt x="228600" y="114300"/>
                </a:cubicBezTo>
                <a:close/>
              </a:path>
            </a:pathLst>
          </a:custGeom>
          <a:solidFill>
            <a:srgbClr val="7DBDEB"/>
          </a:solidFill>
          <a:ln/>
        </p:spPr>
      </p:sp>
      <p:sp>
        <p:nvSpPr>
          <p:cNvPr id="8" name=""/>
          <p:cNvSpPr/>
          <p:nvPr/>
        </p:nvSpPr>
        <p:spPr>
          <a:xfrm>
            <a:off x="5619750" y="809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95250"/>
                </a:moveTo>
                <a:cubicBezTo>
                  <a:pt x="190500" y="147637"/>
                  <a:pt x="147637" y="190500"/>
                  <a:pt x="95250" y="190500"/>
                </a:cubicBezTo>
                <a:cubicBezTo>
                  <a:pt x="42863" y="190500"/>
                  <a:pt x="0" y="147637"/>
                  <a:pt x="0" y="95250"/>
                </a:cubicBezTo>
                <a:cubicBezTo>
                  <a:pt x="0" y="42863"/>
                  <a:pt x="42863" y="0"/>
                  <a:pt x="95250" y="0"/>
                </a:cubicBezTo>
                <a:cubicBezTo>
                  <a:pt x="147637" y="0"/>
                  <a:pt x="190500" y="42863"/>
                  <a:pt x="190500" y="95250"/>
                </a:cubicBezTo>
                <a:close/>
              </a:path>
            </a:pathLst>
          </a:custGeom>
          <a:solidFill>
            <a:srgbClr val="FFC94A"/>
          </a:solidFill>
          <a:ln/>
        </p:spPr>
      </p:sp>
      <p:sp>
        <p:nvSpPr>
          <p:cNvPr id="9" name=""/>
          <p:cNvSpPr/>
          <p:nvPr/>
        </p:nvSpPr>
        <p:spPr>
          <a:xfrm>
            <a:off x="9448800" y="781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118110"/>
                  <a:pt x="118110" y="152400"/>
                  <a:pt x="76200" y="152400"/>
                </a:cubicBezTo>
                <a:cubicBezTo>
                  <a:pt x="34290" y="152400"/>
                  <a:pt x="0" y="118110"/>
                  <a:pt x="0" y="76200"/>
                </a:cubicBezTo>
                <a:cubicBezTo>
                  <a:pt x="0" y="34290"/>
                  <a:pt x="34290" y="0"/>
                  <a:pt x="76200" y="0"/>
                </a:cubicBezTo>
                <a:cubicBezTo>
                  <a:pt x="118110" y="0"/>
                  <a:pt x="152400" y="34290"/>
                  <a:pt x="152400" y="76200"/>
                </a:cubicBezTo>
                <a:close/>
              </a:path>
            </a:pathLst>
          </a:custGeom>
          <a:solidFill>
            <a:srgbClr val="FF8A57"/>
          </a:solidFill>
          <a:ln/>
        </p:spPr>
      </p:sp>
      <p:sp>
        <p:nvSpPr>
          <p:cNvPr id="10" name=""/>
          <p:cNvSpPr/>
          <p:nvPr/>
        </p:nvSpPr>
        <p:spPr>
          <a:xfrm>
            <a:off x="7124700" y="598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77165"/>
                  <a:pt x="177165" y="228600"/>
                  <a:pt x="114300" y="228600"/>
                </a:cubicBezTo>
                <a:cubicBezTo>
                  <a:pt x="51435" y="228600"/>
                  <a:pt x="0" y="177165"/>
                  <a:pt x="0" y="114300"/>
                </a:cubicBezTo>
                <a:cubicBezTo>
                  <a:pt x="0" y="51435"/>
                  <a:pt x="51435" y="0"/>
                  <a:pt x="114300" y="0"/>
                </a:cubicBezTo>
                <a:cubicBezTo>
                  <a:pt x="177165" y="0"/>
                  <a:pt x="228600" y="51435"/>
                  <a:pt x="228600" y="114300"/>
                </a:cubicBezTo>
                <a:close/>
              </a:path>
            </a:pathLst>
          </a:custGeom>
          <a:solidFill>
            <a:srgbClr val="FF9DB4"/>
          </a:solidFill>
          <a:ln/>
        </p:spPr>
      </p:sp>
      <p:sp>
        <p:nvSpPr>
          <p:cNvPr id="11" name=""/>
          <p:cNvSpPr/>
          <p:nvPr/>
        </p:nvSpPr>
        <p:spPr>
          <a:xfrm>
            <a:off x="3914775" y="6124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133350"/>
                  <a:pt x="133350" y="171450"/>
                  <a:pt x="85725" y="171450"/>
                </a:cubicBezTo>
                <a:cubicBezTo>
                  <a:pt x="38100" y="171450"/>
                  <a:pt x="0" y="133350"/>
                  <a:pt x="0" y="85725"/>
                </a:cubicBezTo>
                <a:cubicBezTo>
                  <a:pt x="0" y="38100"/>
                  <a:pt x="38100" y="0"/>
                  <a:pt x="85725" y="0"/>
                </a:cubicBezTo>
                <a:cubicBezTo>
                  <a:pt x="133350" y="0"/>
                  <a:pt x="171450" y="38100"/>
                  <a:pt x="171450" y="85725"/>
                </a:cubicBezTo>
                <a:close/>
              </a:path>
            </a:pathLst>
          </a:custGeom>
          <a:solidFill>
            <a:srgbClr val="7DBDEB"/>
          </a:solidFill>
          <a:ln/>
        </p:spPr>
      </p:sp>
      <p:sp>
        <p:nvSpPr>
          <p:cNvPr id="12" name=""/>
          <p:cNvSpPr/>
          <p:nvPr/>
        </p:nvSpPr>
        <p:spPr>
          <a:xfrm>
            <a:off x="2000250" y="1504950"/>
            <a:ext cx="8191500" cy="38100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3" name=""/>
          <p:cNvSpPr/>
          <p:nvPr/>
        </p:nvSpPr>
        <p:spPr>
          <a:xfrm>
            <a:off x="3009900" y="3133725"/>
            <a:ext cx="6172200" cy="381000"/>
          </a:xfrm>
          <a:prstGeom prst="roundRect">
            <a:avLst>
              <a:gd name="adj" fmla="val 30000"/>
            </a:avLst>
          </a:prstGeom>
          <a:solidFill>
            <a:srgbClr val="FFD966"/>
          </a:solidFill>
          <a:ln/>
        </p:spPr>
      </p:sp>
      <p:sp>
        <p:nvSpPr>
          <p:cNvPr id="14" name=""/>
          <p:cNvSpPr txBox="1"/>
          <p:nvPr/>
        </p:nvSpPr>
        <p:spPr>
          <a:xfrm>
            <a:off x="3143250" y="2076450"/>
            <a:ext cx="7134225" cy="16573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9000" b="1" spc="360" kern="0">
                <a:solidFill>
                  <a:srgbClr val="1A2238"/>
                </a:solidFill>
                <a:latin typeface="Noto Sans JP"/>
                <a:ea typeface="Noto Sans JP"/>
              </a:rPr>
              <a:t>塊で覚える</a:t>
            </a:r>
          </a:p>
        </p:txBody>
      </p:sp>
      <p:sp>
        <p:nvSpPr>
          <p:cNvPr id="15" name=""/>
          <p:cNvSpPr/>
          <p:nvPr/>
        </p:nvSpPr>
        <p:spPr>
          <a:xfrm>
            <a:off x="3838575" y="3800475"/>
            <a:ext cx="4524375" cy="800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16" name=""/>
          <p:cNvSpPr txBox="1"/>
          <p:nvPr/>
        </p:nvSpPr>
        <p:spPr>
          <a:xfrm>
            <a:off x="4257675" y="3914775"/>
            <a:ext cx="45815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 spc="240" kern="0">
                <a:solidFill>
                  <a:srgbClr val="FFFFFF"/>
                </a:solidFill>
                <a:latin typeface="Noto Sans JP"/>
                <a:ea typeface="Noto Sans JP"/>
              </a:rPr>
              <a:t>日常英会話フレーズ</a:t>
            </a:r>
          </a:p>
        </p:txBody>
      </p:sp>
      <p:sp>
        <p:nvSpPr>
          <p:cNvPr id="17" name=""/>
          <p:cNvSpPr/>
          <p:nvPr/>
        </p:nvSpPr>
        <p:spPr>
          <a:xfrm>
            <a:off x="9696450" y="1352550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cubicBezTo>
                  <a:pt x="369570" y="278130"/>
                  <a:pt x="369570" y="278130"/>
                  <a:pt x="647700" y="323850"/>
                </a:cubicBezTo>
                <a:cubicBezTo>
                  <a:pt x="369570" y="369570"/>
                  <a:pt x="369570" y="369570"/>
                  <a:pt x="323850" y="647700"/>
                </a:cubicBezTo>
                <a:cubicBezTo>
                  <a:pt x="278130" y="369570"/>
                  <a:pt x="278130" y="369570"/>
                  <a:pt x="0" y="323850"/>
                </a:cubicBezTo>
                <a:cubicBezTo>
                  <a:pt x="278130" y="278130"/>
                  <a:pt x="278130" y="278130"/>
                  <a:pt x="323850" y="0"/>
                </a:cubicBezTo>
                <a:close/>
              </a:path>
            </a:pathLst>
          </a:custGeom>
          <a:solidFill>
            <a:srgbClr val="F0521E"/>
          </a:solidFill>
          <a:ln/>
        </p:spPr>
      </p:sp>
      <p:sp>
        <p:nvSpPr>
          <p:cNvPr id="18" name=""/>
          <p:cNvSpPr/>
          <p:nvPr/>
        </p:nvSpPr>
        <p:spPr>
          <a:xfrm>
            <a:off x="2000250" y="5086350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247650" y="0"/>
                </a:moveTo>
                <a:cubicBezTo>
                  <a:pt x="281940" y="213360"/>
                  <a:pt x="281940" y="213360"/>
                  <a:pt x="495300" y="247650"/>
                </a:cubicBezTo>
                <a:cubicBezTo>
                  <a:pt x="281940" y="281940"/>
                  <a:pt x="281940" y="281940"/>
                  <a:pt x="247650" y="495300"/>
                </a:cubicBezTo>
                <a:cubicBezTo>
                  <a:pt x="213360" y="281940"/>
                  <a:pt x="213360" y="281940"/>
                  <a:pt x="0" y="247650"/>
                </a:cubicBezTo>
                <a:cubicBezTo>
                  <a:pt x="213360" y="213360"/>
                  <a:pt x="213360" y="213360"/>
                  <a:pt x="247650" y="0"/>
                </a:cubicBezTo>
                <a:close/>
              </a:path>
            </a:pathLst>
          </a:custGeom>
          <a:solidFill>
            <a:srgbClr val="FFC94A"/>
          </a:solidFill>
          <a:ln/>
        </p:spPr>
      </p:sp>
      <p:sp>
        <p:nvSpPr>
          <p:cNvPr id="19" name=""/>
          <p:cNvSpPr/>
          <p:nvPr/>
        </p:nvSpPr>
        <p:spPr>
          <a:xfrm>
            <a:off x="11144250" y="5238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73355" y="131445"/>
                  <a:pt x="173355" y="131445"/>
                  <a:pt x="304800" y="152400"/>
                </a:cubicBezTo>
                <a:cubicBezTo>
                  <a:pt x="173355" y="173355"/>
                  <a:pt x="173355" y="173355"/>
                  <a:pt x="152400" y="304800"/>
                </a:cubicBezTo>
                <a:cubicBezTo>
                  <a:pt x="131445" y="173355"/>
                  <a:pt x="131445" y="173355"/>
                  <a:pt x="0" y="152400"/>
                </a:cubicBezTo>
                <a:cubicBezTo>
                  <a:pt x="131445" y="131445"/>
                  <a:pt x="131445" y="131445"/>
                  <a:pt x="152400" y="0"/>
                </a:cubicBezTo>
                <a:close/>
              </a:path>
            </a:pathLst>
          </a:custGeom>
          <a:solidFill>
            <a:srgbClr val="7DBDEB"/>
          </a:solidFill>
          <a:ln/>
        </p:spPr>
      </p:sp>
      <p:sp>
        <p:nvSpPr>
          <p:cNvPr id="20" name=""/>
          <p:cNvSpPr/>
          <p:nvPr/>
        </p:nvSpPr>
        <p:spPr>
          <a:xfrm>
            <a:off x="1009650" y="209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73355" y="131445"/>
                  <a:pt x="173355" y="131445"/>
                  <a:pt x="304800" y="152400"/>
                </a:cubicBezTo>
                <a:cubicBezTo>
                  <a:pt x="173355" y="173355"/>
                  <a:pt x="173355" y="173355"/>
                  <a:pt x="152400" y="304800"/>
                </a:cubicBezTo>
                <a:cubicBezTo>
                  <a:pt x="131445" y="173355"/>
                  <a:pt x="131445" y="173355"/>
                  <a:pt x="0" y="152400"/>
                </a:cubicBezTo>
                <a:cubicBezTo>
                  <a:pt x="131445" y="131445"/>
                  <a:pt x="131445" y="131445"/>
                  <a:pt x="152400" y="0"/>
                </a:cubicBezTo>
                <a:close/>
              </a:path>
            </a:pathLst>
          </a:custGeom>
          <a:solidFill>
            <a:srgbClr val="FF9DB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 txBox="1"/>
          <p:nvPr/>
        </p:nvSpPr>
        <p:spPr>
          <a:xfrm>
            <a:off x="10877550" y="457200"/>
            <a:ext cx="11525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No.01</a:t>
            </a:r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–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05</a:t>
            </a:r>
          </a:p>
        </p:txBody>
      </p:sp>
      <p:sp>
        <p:nvSpPr>
          <p:cNvPr id="5" name=""/>
          <p:cNvSpPr txBox="1"/>
          <p:nvPr/>
        </p:nvSpPr>
        <p:spPr>
          <a:xfrm>
            <a:off x="609600" y="19431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</a:t>
            </a:r>
          </a:p>
        </p:txBody>
      </p:sp>
      <p:sp>
        <p:nvSpPr>
          <p:cNvPr id="6" name=""/>
          <p:cNvSpPr txBox="1"/>
          <p:nvPr/>
        </p:nvSpPr>
        <p:spPr>
          <a:xfrm>
            <a:off x="609600" y="1847850"/>
            <a:ext cx="1152525" cy="2724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0" b="1" spc="-450" kern="0">
                <a:solidFill>
                  <a:srgbClr val="F0521E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7" name=""/>
          <p:cNvSpPr/>
          <p:nvPr/>
        </p:nvSpPr>
        <p:spPr>
          <a:xfrm>
            <a:off x="609600" y="44196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9DB4"/>
          </a:solidFill>
          <a:ln/>
        </p:spPr>
      </p:sp>
      <p:sp>
        <p:nvSpPr>
          <p:cNvPr id="8" name=""/>
          <p:cNvSpPr txBox="1"/>
          <p:nvPr/>
        </p:nvSpPr>
        <p:spPr>
          <a:xfrm>
            <a:off x="609600" y="4667250"/>
            <a:ext cx="4486275" cy="581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9" name=""/>
          <p:cNvSpPr/>
          <p:nvPr/>
        </p:nvSpPr>
        <p:spPr>
          <a:xfrm>
            <a:off x="5029200" y="1447800"/>
            <a:ext cx="6553200" cy="4267200"/>
          </a:xfrm>
          <a:prstGeom prst="roundRect">
            <a:avLst>
              <a:gd name="adj" fmla="val 5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353050" y="1790700"/>
            <a:ext cx="581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01</a:t>
            </a:r>
          </a:p>
        </p:txBody>
      </p:sp>
      <p:sp>
        <p:nvSpPr>
          <p:cNvPr id="11" name=""/>
          <p:cNvSpPr txBox="1"/>
          <p:nvPr/>
        </p:nvSpPr>
        <p:spPr>
          <a:xfrm>
            <a:off x="5905500" y="1619250"/>
            <a:ext cx="34956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I'm thinking of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2100" b="1" spc="-3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2" name=""/>
          <p:cNvSpPr txBox="1"/>
          <p:nvPr/>
        </p:nvSpPr>
        <p:spPr>
          <a:xfrm>
            <a:off x="5905500" y="1990725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〜しようかなと思ってる</a:t>
            </a:r>
          </a:p>
        </p:txBody>
      </p:sp>
      <p:sp>
        <p:nvSpPr>
          <p:cNvPr id="13" name=""/>
          <p:cNvSpPr/>
          <p:nvPr/>
        </p:nvSpPr>
        <p:spPr>
          <a:xfrm>
            <a:off x="5353050" y="233362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5353050" y="2619375"/>
            <a:ext cx="6191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02</a:t>
            </a:r>
          </a:p>
        </p:txBody>
      </p:sp>
      <p:sp>
        <p:nvSpPr>
          <p:cNvPr id="15" name=""/>
          <p:cNvSpPr txBox="1"/>
          <p:nvPr/>
        </p:nvSpPr>
        <p:spPr>
          <a:xfrm>
            <a:off x="5905500" y="2457450"/>
            <a:ext cx="29337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 can't wait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6" name=""/>
          <p:cNvSpPr txBox="1"/>
          <p:nvPr/>
        </p:nvSpPr>
        <p:spPr>
          <a:xfrm>
            <a:off x="5905500" y="2819400"/>
            <a:ext cx="2152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〜するのが楽しみすぎる</a:t>
            </a:r>
          </a:p>
        </p:txBody>
      </p:sp>
      <p:sp>
        <p:nvSpPr>
          <p:cNvPr id="17" name=""/>
          <p:cNvSpPr/>
          <p:nvPr/>
        </p:nvSpPr>
        <p:spPr>
          <a:xfrm>
            <a:off x="5353050" y="31623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5353050" y="3457575"/>
            <a:ext cx="6286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03</a:t>
            </a:r>
          </a:p>
        </p:txBody>
      </p:sp>
      <p:sp>
        <p:nvSpPr>
          <p:cNvPr id="19" name=""/>
          <p:cNvSpPr txBox="1"/>
          <p:nvPr/>
        </p:nvSpPr>
        <p:spPr>
          <a:xfrm>
            <a:off x="5905500" y="3286125"/>
            <a:ext cx="3714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I'm in the mood for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0" name=""/>
          <p:cNvSpPr txBox="1"/>
          <p:nvPr/>
        </p:nvSpPr>
        <p:spPr>
          <a:xfrm>
            <a:off x="5905500" y="365760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〜の気分</a:t>
            </a:r>
          </a:p>
        </p:txBody>
      </p:sp>
      <p:sp>
        <p:nvSpPr>
          <p:cNvPr id="21" name=""/>
          <p:cNvSpPr/>
          <p:nvPr/>
        </p:nvSpPr>
        <p:spPr>
          <a:xfrm>
            <a:off x="5353050" y="40005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5353050" y="4295775"/>
            <a:ext cx="638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04</a:t>
            </a:r>
          </a:p>
        </p:txBody>
      </p:sp>
      <p:sp>
        <p:nvSpPr>
          <p:cNvPr id="23" name=""/>
          <p:cNvSpPr txBox="1"/>
          <p:nvPr/>
        </p:nvSpPr>
        <p:spPr>
          <a:xfrm>
            <a:off x="5905500" y="4124325"/>
            <a:ext cx="40100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I've been meaning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4" name=""/>
          <p:cNvSpPr txBox="1"/>
          <p:nvPr/>
        </p:nvSpPr>
        <p:spPr>
          <a:xfrm>
            <a:off x="5905500" y="4486275"/>
            <a:ext cx="2305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ずっと〜しようと思ってた</a:t>
            </a:r>
          </a:p>
        </p:txBody>
      </p:sp>
      <p:sp>
        <p:nvSpPr>
          <p:cNvPr id="25" name=""/>
          <p:cNvSpPr/>
          <p:nvPr/>
        </p:nvSpPr>
        <p:spPr>
          <a:xfrm>
            <a:off x="5353050" y="482917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5353050" y="5124450"/>
            <a:ext cx="638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05</a:t>
            </a:r>
          </a:p>
        </p:txBody>
      </p:sp>
      <p:sp>
        <p:nvSpPr>
          <p:cNvPr id="27" name=""/>
          <p:cNvSpPr txBox="1"/>
          <p:nvPr/>
        </p:nvSpPr>
        <p:spPr>
          <a:xfrm>
            <a:off x="5905500" y="4953000"/>
            <a:ext cx="41814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It's been a while since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8" name=""/>
          <p:cNvSpPr txBox="1"/>
          <p:nvPr/>
        </p:nvSpPr>
        <p:spPr>
          <a:xfrm>
            <a:off x="5905500" y="5324475"/>
            <a:ext cx="16573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〜するの久しぶり</a:t>
            </a:r>
          </a:p>
        </p:txBody>
      </p:sp>
      <p:sp>
        <p:nvSpPr>
          <p:cNvPr id="29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24865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820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915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34402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38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7913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thinking of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</a:t>
            </a:r>
          </a:p>
        </p:txBody>
      </p:sp>
      <p:sp>
        <p:nvSpPr>
          <p:cNvPr id="13" name=""/>
          <p:cNvSpPr txBox="1"/>
          <p:nvPr/>
        </p:nvSpPr>
        <p:spPr>
          <a:xfrm>
            <a:off x="2038350" y="1733550"/>
            <a:ext cx="39433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〜しようかなと思ってる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2861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thinking of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moving.</a:t>
            </a:r>
          </a:p>
        </p:txBody>
      </p:sp>
      <p:sp>
        <p:nvSpPr>
          <p:cNvPr id="17" name=""/>
          <p:cNvSpPr txBox="1"/>
          <p:nvPr/>
        </p:nvSpPr>
        <p:spPr>
          <a:xfrm>
            <a:off x="4695825" y="2524125"/>
            <a:ext cx="2571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引っ越そうかなと思ってる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4387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of の後ろは「~ing」。まだ迷い中の「〜しようかな」に！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62674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新しいスマホ買おうかなと思ってる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55340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来年留学しようかなと思ってる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24865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820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915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34402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38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7913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thinking of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</a:t>
            </a:r>
          </a:p>
        </p:txBody>
      </p:sp>
      <p:sp>
        <p:nvSpPr>
          <p:cNvPr id="13" name=""/>
          <p:cNvSpPr txBox="1"/>
          <p:nvPr/>
        </p:nvSpPr>
        <p:spPr>
          <a:xfrm>
            <a:off x="2038350" y="1733550"/>
            <a:ext cx="39433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〜しようかなと思ってる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2861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thinking of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moving.</a:t>
            </a:r>
          </a:p>
        </p:txBody>
      </p:sp>
      <p:sp>
        <p:nvSpPr>
          <p:cNvPr id="17" name=""/>
          <p:cNvSpPr txBox="1"/>
          <p:nvPr/>
        </p:nvSpPr>
        <p:spPr>
          <a:xfrm>
            <a:off x="4695825" y="2524125"/>
            <a:ext cx="2571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引っ越そうかなと思ってる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4387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of の後ろは「~ing」。まだ迷い中の「〜しようかな」に！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3305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新しいスマホ買おうかなと思ってる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58578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thinking of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buying a new phone.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来年留学しようかなと思ってる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68294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thinking of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studying abroad next year.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9150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2485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3440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8687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04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6483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can't wait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39624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〜するのが楽しみすぎる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2289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can't wait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see you.</a:t>
            </a:r>
          </a:p>
        </p:txBody>
      </p:sp>
      <p:sp>
        <p:nvSpPr>
          <p:cNvPr id="17" name=""/>
          <p:cNvSpPr txBox="1"/>
          <p:nvPr/>
        </p:nvSpPr>
        <p:spPr>
          <a:xfrm>
            <a:off x="4638675" y="2524125"/>
            <a:ext cx="1828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会えるの楽しみ！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600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の後ろは「動詞の原形」。ワクワクが止まらない「早く〜したい！」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29527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早く食べたい！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70485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週末に新しいカフェ行くの楽しみすぎる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9150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2485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3440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8687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04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6483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can't wait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39624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〜するのが楽しみすぎる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2289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can't wait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see you.</a:t>
            </a:r>
          </a:p>
        </p:txBody>
      </p:sp>
      <p:sp>
        <p:nvSpPr>
          <p:cNvPr id="17" name=""/>
          <p:cNvSpPr txBox="1"/>
          <p:nvPr/>
        </p:nvSpPr>
        <p:spPr>
          <a:xfrm>
            <a:off x="4638675" y="2524125"/>
            <a:ext cx="1828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会えるの楽しみ！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600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の後ろは「動詞の原形」。ワクワクが止まらない「早く〜したい！」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早く食べたい！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31146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can't wait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eat!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695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週末に新しいカフェ行くの楽しみすぎる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3152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can't wait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try the new cafe this weekend.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81975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15325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24875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8687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in the mood for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019300" y="1733550"/>
            <a:ext cx="16573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〜の気分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9433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in the mood for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a movie.</a:t>
            </a:r>
          </a:p>
        </p:txBody>
      </p:sp>
      <p:sp>
        <p:nvSpPr>
          <p:cNvPr id="17" name=""/>
          <p:cNvSpPr txBox="1"/>
          <p:nvPr/>
        </p:nvSpPr>
        <p:spPr>
          <a:xfrm>
            <a:off x="5257800" y="2524125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映画見たい気分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for の後ろは「名詞」。食べたいもの・したいことの「〜な気分」！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40481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今日はラーメンの気分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51816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今夜はなんか甘いものの気分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81975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15325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24875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8687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14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in the mood for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019300" y="1733550"/>
            <a:ext cx="16573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〜の気分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9433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in the mood for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a movie.</a:t>
            </a:r>
          </a:p>
        </p:txBody>
      </p:sp>
      <p:sp>
        <p:nvSpPr>
          <p:cNvPr id="17" name=""/>
          <p:cNvSpPr txBox="1"/>
          <p:nvPr/>
        </p:nvSpPr>
        <p:spPr>
          <a:xfrm>
            <a:off x="5257800" y="2524125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映画見たい気分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for の後ろは「名詞」。食べたいもの・したいことの「〜な気分」！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200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今日はラーメンの気分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54102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in the mood for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ramen today.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2762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今夜はなんか甘いものの気分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3533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in the mood for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something sweet tonight.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7245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058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153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6782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78486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I've been meaning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42672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ずっと〜しようと思ってた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1910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I've been meaning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call you.</a:t>
            </a:r>
          </a:p>
        </p:txBody>
      </p:sp>
      <p:sp>
        <p:nvSpPr>
          <p:cNvPr id="17" name=""/>
          <p:cNvSpPr txBox="1"/>
          <p:nvPr/>
        </p:nvSpPr>
        <p:spPr>
          <a:xfrm>
            <a:off x="5476875" y="2524125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ずっと電話しようと思ってたの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5819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の後ろは「動詞の原形」。思ってるのにまだできてない「ずっと〜しようと」！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58959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ずっとその映画見ようと思ってた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96012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ずっと部屋を片付けようと思ってるけど、時間がなくて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7245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058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153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67825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896600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78486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I've been meaning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42672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ずっと〜しようと思ってた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1910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I've been meaning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call you.</a:t>
            </a:r>
          </a:p>
        </p:txBody>
      </p:sp>
      <p:sp>
        <p:nvSpPr>
          <p:cNvPr id="17" name=""/>
          <p:cNvSpPr txBox="1"/>
          <p:nvPr/>
        </p:nvSpPr>
        <p:spPr>
          <a:xfrm>
            <a:off x="5476875" y="2524125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ずっと電話しようと思ってたの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5819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の後ろは「動詞の原形」。思ってるのにまだできてない「ずっと〜しようと」！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3124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ずっとその映画見ようと思ってた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64865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I've been meaning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watch that movie.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49720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ずっと部屋を片付けようと思ってるけど、時間がなくて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9620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I've been meaning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clean my room, but I haven't had time.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7245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058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153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77350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81915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It's been a while since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過去形の文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〜するの久しぶり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6101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It's been a while since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we talked.</a:t>
            </a:r>
          </a:p>
        </p:txBody>
      </p:sp>
      <p:sp>
        <p:nvSpPr>
          <p:cNvPr id="17" name=""/>
          <p:cNvSpPr txBox="1"/>
          <p:nvPr/>
        </p:nvSpPr>
        <p:spPr>
          <a:xfrm>
            <a:off x="5848350" y="2524125"/>
            <a:ext cx="2019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話すの久しぶりだね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0104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since の後ろは「過去形の文」。It's been a while! だけでも「久しぶり！」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22098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久しぶり！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59340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映画館に行くの、すごく久しぶり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172450" y="390525"/>
            <a:ext cx="256222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305800" y="495300"/>
            <a:ext cx="114300" cy="114300"/>
          </a:xfrm>
          <a:prstGeom prst="ellipse">
            <a:avLst/>
          </a:prstGeom>
          <a:solidFill>
            <a:srgbClr val="FF9DB4"/>
          </a:solidFill>
          <a:ln/>
        </p:spPr>
      </p:sp>
      <p:sp>
        <p:nvSpPr>
          <p:cNvPr id="6" name=""/>
          <p:cNvSpPr txBox="1"/>
          <p:nvPr/>
        </p:nvSpPr>
        <p:spPr>
          <a:xfrm>
            <a:off x="8515350" y="466725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1</a:t>
            </a:r>
          </a:p>
        </p:txBody>
      </p:sp>
      <p:sp>
        <p:nvSpPr>
          <p:cNvPr id="7" name=""/>
          <p:cNvSpPr txBox="1"/>
          <p:nvPr/>
        </p:nvSpPr>
        <p:spPr>
          <a:xfrm>
            <a:off x="9277350" y="4476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気持ち・予定を話す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81915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It's been a while since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過去形の文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〜するの久しぶり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6101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It's been a while since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we talked.</a:t>
            </a:r>
          </a:p>
        </p:txBody>
      </p:sp>
      <p:sp>
        <p:nvSpPr>
          <p:cNvPr id="17" name=""/>
          <p:cNvSpPr txBox="1"/>
          <p:nvPr/>
        </p:nvSpPr>
        <p:spPr>
          <a:xfrm>
            <a:off x="5848350" y="2524125"/>
            <a:ext cx="2019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話すの久しぶりだね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0104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since の後ろは「過去形の文」。It's been a while! だけでも「久しぶり！」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久しぶり！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29432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It's been a while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!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映画館に行くの、すごく久しぶり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0961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It's been a while since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 went to the movies.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 txBox="1"/>
          <p:nvPr/>
        </p:nvSpPr>
        <p:spPr>
          <a:xfrm>
            <a:off x="10877550" y="457200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No.06</a:t>
            </a:r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–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10</a:t>
            </a:r>
          </a:p>
        </p:txBody>
      </p:sp>
      <p:sp>
        <p:nvSpPr>
          <p:cNvPr id="5" name=""/>
          <p:cNvSpPr txBox="1"/>
          <p:nvPr/>
        </p:nvSpPr>
        <p:spPr>
          <a:xfrm>
            <a:off x="609600" y="19431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</a:t>
            </a:r>
          </a:p>
        </p:txBody>
      </p:sp>
      <p:sp>
        <p:nvSpPr>
          <p:cNvPr id="6" name=""/>
          <p:cNvSpPr txBox="1"/>
          <p:nvPr/>
        </p:nvSpPr>
        <p:spPr>
          <a:xfrm>
            <a:off x="609600" y="1847850"/>
            <a:ext cx="1666875" cy="2724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0" b="1" spc="-450" kern="0">
                <a:solidFill>
                  <a:srgbClr val="F0521E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7" name=""/>
          <p:cNvSpPr/>
          <p:nvPr/>
        </p:nvSpPr>
        <p:spPr>
          <a:xfrm>
            <a:off x="609600" y="44196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7DBDEB"/>
          </a:solidFill>
          <a:ln/>
        </p:spPr>
      </p:sp>
      <p:sp>
        <p:nvSpPr>
          <p:cNvPr id="8" name=""/>
          <p:cNvSpPr txBox="1"/>
          <p:nvPr/>
        </p:nvSpPr>
        <p:spPr>
          <a:xfrm>
            <a:off x="609600" y="4667250"/>
            <a:ext cx="3562350" cy="581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9" name=""/>
          <p:cNvSpPr/>
          <p:nvPr/>
        </p:nvSpPr>
        <p:spPr>
          <a:xfrm>
            <a:off x="5029200" y="1447800"/>
            <a:ext cx="6553200" cy="4267200"/>
          </a:xfrm>
          <a:prstGeom prst="roundRect">
            <a:avLst>
              <a:gd name="adj" fmla="val 5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353050" y="1790700"/>
            <a:ext cx="638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06</a:t>
            </a:r>
          </a:p>
        </p:txBody>
      </p:sp>
      <p:sp>
        <p:nvSpPr>
          <p:cNvPr id="11" name=""/>
          <p:cNvSpPr txBox="1"/>
          <p:nvPr/>
        </p:nvSpPr>
        <p:spPr>
          <a:xfrm>
            <a:off x="5905500" y="1619250"/>
            <a:ext cx="31337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Why don't we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2" name=""/>
          <p:cNvSpPr txBox="1"/>
          <p:nvPr/>
        </p:nvSpPr>
        <p:spPr>
          <a:xfrm>
            <a:off x="5905500" y="1990725"/>
            <a:ext cx="19907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〜しない？（お誘い）</a:t>
            </a:r>
          </a:p>
        </p:txBody>
      </p:sp>
      <p:sp>
        <p:nvSpPr>
          <p:cNvPr id="13" name=""/>
          <p:cNvSpPr/>
          <p:nvPr/>
        </p:nvSpPr>
        <p:spPr>
          <a:xfrm>
            <a:off x="5353050" y="233362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5353050" y="2619375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07</a:t>
            </a:r>
          </a:p>
        </p:txBody>
      </p:sp>
      <p:sp>
        <p:nvSpPr>
          <p:cNvPr id="15" name=""/>
          <p:cNvSpPr txBox="1"/>
          <p:nvPr/>
        </p:nvSpPr>
        <p:spPr>
          <a:xfrm>
            <a:off x="5905500" y="2457450"/>
            <a:ext cx="2638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Feel free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6" name=""/>
          <p:cNvSpPr txBox="1"/>
          <p:nvPr/>
        </p:nvSpPr>
        <p:spPr>
          <a:xfrm>
            <a:off x="5905500" y="2819400"/>
            <a:ext cx="16478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遠慮なく〜してね</a:t>
            </a:r>
          </a:p>
        </p:txBody>
      </p:sp>
      <p:sp>
        <p:nvSpPr>
          <p:cNvPr id="17" name=""/>
          <p:cNvSpPr/>
          <p:nvPr/>
        </p:nvSpPr>
        <p:spPr>
          <a:xfrm>
            <a:off x="5353050" y="31623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5353050" y="3457575"/>
            <a:ext cx="638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08</a:t>
            </a:r>
          </a:p>
        </p:txBody>
      </p:sp>
      <p:sp>
        <p:nvSpPr>
          <p:cNvPr id="19" name=""/>
          <p:cNvSpPr txBox="1"/>
          <p:nvPr/>
        </p:nvSpPr>
        <p:spPr>
          <a:xfrm>
            <a:off x="5905500" y="3286125"/>
            <a:ext cx="34861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You don't have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0" name=""/>
          <p:cNvSpPr txBox="1"/>
          <p:nvPr/>
        </p:nvSpPr>
        <p:spPr>
          <a:xfrm>
            <a:off x="5905500" y="3657600"/>
            <a:ext cx="16478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〜しなくていいよ</a:t>
            </a:r>
          </a:p>
        </p:txBody>
      </p:sp>
      <p:sp>
        <p:nvSpPr>
          <p:cNvPr id="21" name=""/>
          <p:cNvSpPr/>
          <p:nvPr/>
        </p:nvSpPr>
        <p:spPr>
          <a:xfrm>
            <a:off x="5353050" y="40005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5353050" y="4295775"/>
            <a:ext cx="638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09</a:t>
            </a:r>
          </a:p>
        </p:txBody>
      </p:sp>
      <p:sp>
        <p:nvSpPr>
          <p:cNvPr id="23" name=""/>
          <p:cNvSpPr txBox="1"/>
          <p:nvPr/>
        </p:nvSpPr>
        <p:spPr>
          <a:xfrm>
            <a:off x="5905500" y="4124325"/>
            <a:ext cx="30194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It depends on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4" name=""/>
          <p:cNvSpPr txBox="1"/>
          <p:nvPr/>
        </p:nvSpPr>
        <p:spPr>
          <a:xfrm>
            <a:off x="5905500" y="4486275"/>
            <a:ext cx="8382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〜次第</a:t>
            </a:r>
          </a:p>
        </p:txBody>
      </p:sp>
      <p:sp>
        <p:nvSpPr>
          <p:cNvPr id="25" name=""/>
          <p:cNvSpPr/>
          <p:nvPr/>
        </p:nvSpPr>
        <p:spPr>
          <a:xfrm>
            <a:off x="5353050" y="482917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5353050" y="5124450"/>
            <a:ext cx="581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10</a:t>
            </a:r>
          </a:p>
        </p:txBody>
      </p:sp>
      <p:sp>
        <p:nvSpPr>
          <p:cNvPr id="27" name=""/>
          <p:cNvSpPr txBox="1"/>
          <p:nvPr/>
        </p:nvSpPr>
        <p:spPr>
          <a:xfrm>
            <a:off x="5905500" y="4953000"/>
            <a:ext cx="29622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I'm not sure if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8" name=""/>
          <p:cNvSpPr txBox="1"/>
          <p:nvPr/>
        </p:nvSpPr>
        <p:spPr>
          <a:xfrm>
            <a:off x="5905500" y="5324475"/>
            <a:ext cx="19907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〜かどうか分からない</a:t>
            </a:r>
          </a:p>
        </p:txBody>
      </p:sp>
      <p:sp>
        <p:nvSpPr>
          <p:cNvPr id="29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296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629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725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631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06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0579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Why don't we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36290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〜しない？（お誘い）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9433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Why don't we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take a break?</a:t>
            </a:r>
          </a:p>
        </p:txBody>
      </p:sp>
      <p:sp>
        <p:nvSpPr>
          <p:cNvPr id="17" name=""/>
          <p:cNvSpPr txBox="1"/>
          <p:nvPr/>
        </p:nvSpPr>
        <p:spPr>
          <a:xfrm>
            <a:off x="5267325" y="2524125"/>
            <a:ext cx="2209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ちょっと休憩しない？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1534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we の後ろは「動詞の原形」。「なんで〜しないの？」じゃなく「〜しようよ」のお誘い！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44386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一緒にランチ行かない？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59340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雨だし、今日は家で映画見ない？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296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629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725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631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06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0579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Why don't we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36290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〜しない？（お誘い）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9433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Why don't we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take a break?</a:t>
            </a:r>
          </a:p>
        </p:txBody>
      </p:sp>
      <p:sp>
        <p:nvSpPr>
          <p:cNvPr id="17" name=""/>
          <p:cNvSpPr txBox="1"/>
          <p:nvPr/>
        </p:nvSpPr>
        <p:spPr>
          <a:xfrm>
            <a:off x="5267325" y="2524125"/>
            <a:ext cx="2209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ちょっと休憩しない？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1534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we の後ろは「動詞の原形」。「なんで〜しないの？」じゃなく「〜しようよ」のお誘い！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390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一緒にランチ行かない？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58483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Why don't we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have lunch together?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雨だし、今日は家で映画見ない？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94964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It's raining, so </a:t>
            </a:r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why don't we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watch a movie at home today?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5820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91550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011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9167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34700" y="381000"/>
            <a:ext cx="10953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07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0482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Feel free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2962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遠慮なく〜してね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2400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Feel free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ask.</a:t>
            </a:r>
          </a:p>
        </p:txBody>
      </p:sp>
      <p:sp>
        <p:nvSpPr>
          <p:cNvPr id="17" name=""/>
          <p:cNvSpPr txBox="1"/>
          <p:nvPr/>
        </p:nvSpPr>
        <p:spPr>
          <a:xfrm>
            <a:off x="3924300" y="2524125"/>
            <a:ext cx="1638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気軽に聞いてね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5819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の後ろは「動詞の原形」。相手が遠慮しないように「どうぞ気軽に〜してね」！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44196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好きなところに座ってね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85248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質問があったら、いつでも気軽にコメントしてね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5820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91550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011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9167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34700" y="381000"/>
            <a:ext cx="10953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07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0482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Feel free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2962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遠慮なく〜してね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24003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Feel free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ask.</a:t>
            </a:r>
          </a:p>
        </p:txBody>
      </p:sp>
      <p:sp>
        <p:nvSpPr>
          <p:cNvPr id="17" name=""/>
          <p:cNvSpPr txBox="1"/>
          <p:nvPr/>
        </p:nvSpPr>
        <p:spPr>
          <a:xfrm>
            <a:off x="3924300" y="2524125"/>
            <a:ext cx="1638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気軽に聞いてね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5819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の後ろは「動詞の原形」。相手が遠慮しないように「どうぞ気軽に〜してね」！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381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好きなところに座ってね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286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Feel free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sit anywhere.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44386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質問があったら、いつでも気軽にコメントしてね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92202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Feel free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comment anytime if you have any questions.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296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629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725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631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08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77227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You don't have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29527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〜しなくていいよ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1813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You don't have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pay.</a:t>
            </a:r>
          </a:p>
        </p:txBody>
      </p:sp>
      <p:sp>
        <p:nvSpPr>
          <p:cNvPr id="17" name=""/>
          <p:cNvSpPr txBox="1"/>
          <p:nvPr/>
        </p:nvSpPr>
        <p:spPr>
          <a:xfrm>
            <a:off x="4600575" y="2524125"/>
            <a:ext cx="1819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払わなくていいよ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496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have to の後ろは「動詞の原形」。「〜するな」じゃなく「しなくてOK」の意味！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33051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謝らなくていいよ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70294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お腹いっぱいなら全部食べなくていいよ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296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629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725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631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08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77227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You don't have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29527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〜しなくていいよ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1813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You don't have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pay.</a:t>
            </a:r>
          </a:p>
        </p:txBody>
      </p:sp>
      <p:sp>
        <p:nvSpPr>
          <p:cNvPr id="17" name=""/>
          <p:cNvSpPr txBox="1"/>
          <p:nvPr/>
        </p:nvSpPr>
        <p:spPr>
          <a:xfrm>
            <a:off x="4600575" y="2524125"/>
            <a:ext cx="1819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払わなくていいよ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496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have to の後ろは「動詞の原形」。「〜するな」じゃなく「しなくてOK」の意味！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1819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謝らなくていいよ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5910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You don't have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say sorry.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6861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お腹いっぱいなら全部食べなくていいよ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62960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You don't have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eat it all if you're full.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296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629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725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631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09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81977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It depends on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019300" y="173355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〜次第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8766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It depends on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the weather.</a:t>
            </a:r>
          </a:p>
        </p:txBody>
      </p:sp>
      <p:sp>
        <p:nvSpPr>
          <p:cNvPr id="17" name=""/>
          <p:cNvSpPr txBox="1"/>
          <p:nvPr/>
        </p:nvSpPr>
        <p:spPr>
          <a:xfrm>
            <a:off x="5200650" y="2524125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天気次第かな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0102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on の後ろは「名詞」。It depends. だけでも「場合によるね」！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25812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気分次第かな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62865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値段次第だけど、たぶん買うと思う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296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629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725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5631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06125" y="381000"/>
            <a:ext cx="11239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09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81977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It depends on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143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019300" y="1733550"/>
            <a:ext cx="13335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〜次第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8766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It depends on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the weather.</a:t>
            </a:r>
          </a:p>
        </p:txBody>
      </p:sp>
      <p:sp>
        <p:nvSpPr>
          <p:cNvPr id="17" name=""/>
          <p:cNvSpPr txBox="1"/>
          <p:nvPr/>
        </p:nvSpPr>
        <p:spPr>
          <a:xfrm>
            <a:off x="5200650" y="2524125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天気次第かな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0102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on の後ろは「名詞」。It depends. だけでも「場合によるね」！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気分次第かな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1433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It depends on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my mood.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314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値段次第だけど、たぶん買うと思う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6676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It depends on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the price, but I'll probably buy it.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058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391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487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62977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38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10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6864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not sure if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0763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1857375" y="1733550"/>
            <a:ext cx="36290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〜かどうか分からない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7909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not sure if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he's coming.</a:t>
            </a:r>
          </a:p>
        </p:txBody>
      </p:sp>
      <p:sp>
        <p:nvSpPr>
          <p:cNvPr id="17" name=""/>
          <p:cNvSpPr txBox="1"/>
          <p:nvPr/>
        </p:nvSpPr>
        <p:spPr>
          <a:xfrm>
            <a:off x="5133975" y="2524125"/>
            <a:ext cx="2209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彼が来るか分からない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972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if の後ろは「文」。この if は「もし」じゃなく「〜かどうか」！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51530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それで合ってるか分からない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70485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明日の飲み会、行けるかまだ分からない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0582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39175" y="495300"/>
            <a:ext cx="114300" cy="114300"/>
          </a:xfrm>
          <a:prstGeom prst="ellipse">
            <a:avLst/>
          </a:prstGeom>
          <a:solidFill>
            <a:srgbClr val="7DBDEB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4872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2</a:t>
            </a:r>
          </a:p>
        </p:txBody>
      </p:sp>
      <p:sp>
        <p:nvSpPr>
          <p:cNvPr id="7" name=""/>
          <p:cNvSpPr txBox="1"/>
          <p:nvPr/>
        </p:nvSpPr>
        <p:spPr>
          <a:xfrm>
            <a:off x="962977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誘う・返事する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72800" y="381000"/>
            <a:ext cx="1038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10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6864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not sure if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0763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1857375" y="1733550"/>
            <a:ext cx="36290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〜かどうか分からない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7909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not sure if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he's coming.</a:t>
            </a:r>
          </a:p>
        </p:txBody>
      </p:sp>
      <p:sp>
        <p:nvSpPr>
          <p:cNvPr id="17" name=""/>
          <p:cNvSpPr txBox="1"/>
          <p:nvPr/>
        </p:nvSpPr>
        <p:spPr>
          <a:xfrm>
            <a:off x="5133975" y="2524125"/>
            <a:ext cx="2209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彼が来るか分からない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9721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if の後ろは「文」。この if は「もし」じゃなく「〜かどうか」！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752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それで合ってるか分からない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3243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not sure if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that's right.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695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明日の飲み会、行けるかまだ分からない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83439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not sure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yet </a:t>
            </a:r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if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 can make it to tomorrow's party.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 txBox="1"/>
          <p:nvPr/>
        </p:nvSpPr>
        <p:spPr>
          <a:xfrm>
            <a:off x="10982325" y="4572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No.11</a:t>
            </a:r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–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15</a:t>
            </a:r>
          </a:p>
        </p:txBody>
      </p:sp>
      <p:sp>
        <p:nvSpPr>
          <p:cNvPr id="5" name=""/>
          <p:cNvSpPr txBox="1"/>
          <p:nvPr/>
        </p:nvSpPr>
        <p:spPr>
          <a:xfrm>
            <a:off x="609600" y="19431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</a:t>
            </a:r>
          </a:p>
        </p:txBody>
      </p:sp>
      <p:sp>
        <p:nvSpPr>
          <p:cNvPr id="6" name=""/>
          <p:cNvSpPr txBox="1"/>
          <p:nvPr/>
        </p:nvSpPr>
        <p:spPr>
          <a:xfrm>
            <a:off x="609600" y="1847850"/>
            <a:ext cx="1733550" cy="2724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0" b="1" spc="-450" kern="0">
                <a:solidFill>
                  <a:srgbClr val="F0521E"/>
                </a:solidFill>
                <a:latin typeface="DM Sans"/>
                <a:ea typeface="DM Sans"/>
              </a:rPr>
              <a:t>3</a:t>
            </a:r>
          </a:p>
        </p:txBody>
      </p:sp>
      <p:sp>
        <p:nvSpPr>
          <p:cNvPr id="7" name=""/>
          <p:cNvSpPr/>
          <p:nvPr/>
        </p:nvSpPr>
        <p:spPr>
          <a:xfrm>
            <a:off x="609600" y="44196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8A57"/>
          </a:solidFill>
          <a:ln/>
        </p:spPr>
      </p:sp>
      <p:sp>
        <p:nvSpPr>
          <p:cNvPr id="8" name=""/>
          <p:cNvSpPr txBox="1"/>
          <p:nvPr/>
        </p:nvSpPr>
        <p:spPr>
          <a:xfrm>
            <a:off x="609600" y="4667250"/>
            <a:ext cx="3562350" cy="581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9" name=""/>
          <p:cNvSpPr/>
          <p:nvPr/>
        </p:nvSpPr>
        <p:spPr>
          <a:xfrm>
            <a:off x="5029200" y="1447800"/>
            <a:ext cx="6553200" cy="4267200"/>
          </a:xfrm>
          <a:prstGeom prst="roundRect">
            <a:avLst>
              <a:gd name="adj" fmla="val 5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353050" y="1790700"/>
            <a:ext cx="5048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11</a:t>
            </a:r>
          </a:p>
        </p:txBody>
      </p:sp>
      <p:sp>
        <p:nvSpPr>
          <p:cNvPr id="11" name=""/>
          <p:cNvSpPr txBox="1"/>
          <p:nvPr/>
        </p:nvSpPr>
        <p:spPr>
          <a:xfrm>
            <a:off x="5905500" y="1619250"/>
            <a:ext cx="32575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 didn't mean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2" name=""/>
          <p:cNvSpPr txBox="1"/>
          <p:nvPr/>
        </p:nvSpPr>
        <p:spPr>
          <a:xfrm>
            <a:off x="5905500" y="1990725"/>
            <a:ext cx="23050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〜するつもりじゃなかった</a:t>
            </a:r>
          </a:p>
        </p:txBody>
      </p:sp>
      <p:sp>
        <p:nvSpPr>
          <p:cNvPr id="13" name=""/>
          <p:cNvSpPr/>
          <p:nvPr/>
        </p:nvSpPr>
        <p:spPr>
          <a:xfrm>
            <a:off x="5353050" y="233362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5353050" y="261937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12</a:t>
            </a:r>
          </a:p>
        </p:txBody>
      </p:sp>
      <p:sp>
        <p:nvSpPr>
          <p:cNvPr id="15" name=""/>
          <p:cNvSpPr txBox="1"/>
          <p:nvPr/>
        </p:nvSpPr>
        <p:spPr>
          <a:xfrm>
            <a:off x="5905500" y="2457450"/>
            <a:ext cx="29908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 ended up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2100" b="1" spc="-3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6" name=""/>
          <p:cNvSpPr txBox="1"/>
          <p:nvPr/>
        </p:nvSpPr>
        <p:spPr>
          <a:xfrm>
            <a:off x="5905500" y="2819400"/>
            <a:ext cx="2152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結局〜することになった</a:t>
            </a:r>
          </a:p>
        </p:txBody>
      </p:sp>
      <p:sp>
        <p:nvSpPr>
          <p:cNvPr id="17" name=""/>
          <p:cNvSpPr/>
          <p:nvPr/>
        </p:nvSpPr>
        <p:spPr>
          <a:xfrm>
            <a:off x="5353050" y="31623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5353050" y="345757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13</a:t>
            </a:r>
          </a:p>
        </p:txBody>
      </p:sp>
      <p:sp>
        <p:nvSpPr>
          <p:cNvPr id="19" name=""/>
          <p:cNvSpPr txBox="1"/>
          <p:nvPr/>
        </p:nvSpPr>
        <p:spPr>
          <a:xfrm>
            <a:off x="5905500" y="3286125"/>
            <a:ext cx="33337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I'm supposed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0" name=""/>
          <p:cNvSpPr txBox="1"/>
          <p:nvPr/>
        </p:nvSpPr>
        <p:spPr>
          <a:xfrm>
            <a:off x="5905500" y="3657600"/>
            <a:ext cx="32956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〜することになってる／本当は〜のはず</a:t>
            </a:r>
          </a:p>
        </p:txBody>
      </p:sp>
      <p:sp>
        <p:nvSpPr>
          <p:cNvPr id="21" name=""/>
          <p:cNvSpPr/>
          <p:nvPr/>
        </p:nvSpPr>
        <p:spPr>
          <a:xfrm>
            <a:off x="5353050" y="40005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5353050" y="4295775"/>
            <a:ext cx="5619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14</a:t>
            </a:r>
          </a:p>
        </p:txBody>
      </p:sp>
      <p:sp>
        <p:nvSpPr>
          <p:cNvPr id="23" name=""/>
          <p:cNvSpPr txBox="1"/>
          <p:nvPr/>
        </p:nvSpPr>
        <p:spPr>
          <a:xfrm>
            <a:off x="5905500" y="4124325"/>
            <a:ext cx="26003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I'm used to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4" name=""/>
          <p:cNvSpPr txBox="1"/>
          <p:nvPr/>
        </p:nvSpPr>
        <p:spPr>
          <a:xfrm>
            <a:off x="5905500" y="4486275"/>
            <a:ext cx="13239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〜に慣れてる</a:t>
            </a:r>
          </a:p>
        </p:txBody>
      </p:sp>
      <p:sp>
        <p:nvSpPr>
          <p:cNvPr id="25" name=""/>
          <p:cNvSpPr/>
          <p:nvPr/>
        </p:nvSpPr>
        <p:spPr>
          <a:xfrm>
            <a:off x="5353050" y="482917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5353050" y="5124450"/>
            <a:ext cx="5619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15</a:t>
            </a:r>
          </a:p>
        </p:txBody>
      </p:sp>
      <p:sp>
        <p:nvSpPr>
          <p:cNvPr id="27" name=""/>
          <p:cNvSpPr txBox="1"/>
          <p:nvPr/>
        </p:nvSpPr>
        <p:spPr>
          <a:xfrm>
            <a:off x="5905500" y="4953000"/>
            <a:ext cx="40290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 have a hard time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2100" b="1" spc="-3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28" name=""/>
          <p:cNvSpPr txBox="1"/>
          <p:nvPr/>
        </p:nvSpPr>
        <p:spPr>
          <a:xfrm>
            <a:off x="5905500" y="5324475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〜するのに苦労する</a:t>
            </a:r>
          </a:p>
        </p:txBody>
      </p:sp>
      <p:sp>
        <p:nvSpPr>
          <p:cNvPr id="29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9155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7249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9344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7250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68050" y="381000"/>
            <a:ext cx="9334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2960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didn't mean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42767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〜するつもりじゃなかった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7814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didn't mean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scare you.</a:t>
            </a:r>
          </a:p>
        </p:txBody>
      </p:sp>
      <p:sp>
        <p:nvSpPr>
          <p:cNvPr id="17" name=""/>
          <p:cNvSpPr txBox="1"/>
          <p:nvPr/>
        </p:nvSpPr>
        <p:spPr>
          <a:xfrm>
            <a:off x="5124450" y="2524125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驚かせるつもりじゃなかったの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1913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の後ろは「動詞の原形」。わざとじゃないときの「そんなつもりじゃ…」！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55530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起こすつもりじゃなかったんだ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85153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傷つけるつもりじゃなかったの、本当にごめんね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9155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7249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9344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7250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68050" y="381000"/>
            <a:ext cx="9334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11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2960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didn't mean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42767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〜するつもりじゃなかった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7814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didn't mean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scare you.</a:t>
            </a:r>
          </a:p>
        </p:txBody>
      </p:sp>
      <p:sp>
        <p:nvSpPr>
          <p:cNvPr id="17" name=""/>
          <p:cNvSpPr txBox="1"/>
          <p:nvPr/>
        </p:nvSpPr>
        <p:spPr>
          <a:xfrm>
            <a:off x="5124450" y="2524125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驚かせるつもりじゃなかったの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1913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の後ろは「動詞の原形」。わざとじゃないときの「そんなつもりじゃ…」！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起こすつもりじゃなかったんだ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8672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didn't mean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wake you up.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44291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傷つけるつもりじゃなかったの、本当にごめんね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6104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didn't mean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hurt your feelings. I'm so sorry.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3440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677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773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6787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10900" y="381000"/>
            <a:ext cx="10001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7626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ended up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</a:t>
            </a:r>
          </a:p>
        </p:txBody>
      </p:sp>
      <p:sp>
        <p:nvSpPr>
          <p:cNvPr id="13" name=""/>
          <p:cNvSpPr txBox="1"/>
          <p:nvPr/>
        </p:nvSpPr>
        <p:spPr>
          <a:xfrm>
            <a:off x="2038350" y="1733550"/>
            <a:ext cx="39624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結局〜することになった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6480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ended up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staying home.</a:t>
            </a:r>
          </a:p>
        </p:txBody>
      </p:sp>
      <p:sp>
        <p:nvSpPr>
          <p:cNvPr id="17" name=""/>
          <p:cNvSpPr txBox="1"/>
          <p:nvPr/>
        </p:nvSpPr>
        <p:spPr>
          <a:xfrm>
            <a:off x="5000625" y="2524125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結局家にいた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876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up の後ろは「~ing」。予定とちがって「結局〜しちゃった」！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29527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結局寝ちゃった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80010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見るだけのつもりが、結局3つも買っちゃった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3440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6775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7730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6787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10900" y="381000"/>
            <a:ext cx="10001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12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7626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ended up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</a:t>
            </a:r>
          </a:p>
        </p:txBody>
      </p:sp>
      <p:sp>
        <p:nvSpPr>
          <p:cNvPr id="13" name=""/>
          <p:cNvSpPr txBox="1"/>
          <p:nvPr/>
        </p:nvSpPr>
        <p:spPr>
          <a:xfrm>
            <a:off x="2038350" y="1733550"/>
            <a:ext cx="39624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結局〜することになった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6480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ended up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staying home.</a:t>
            </a:r>
          </a:p>
        </p:txBody>
      </p:sp>
      <p:sp>
        <p:nvSpPr>
          <p:cNvPr id="17" name=""/>
          <p:cNvSpPr txBox="1"/>
          <p:nvPr/>
        </p:nvSpPr>
        <p:spPr>
          <a:xfrm>
            <a:off x="5000625" y="2524125"/>
            <a:ext cx="14573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結局家にいた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876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up の後ろは「~ing」。予定とちがって「結局〜しちゃった」！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16478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結局寝ちゃった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2195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ended up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falling asleep.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4171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見るだけのつもりが、結局3つも買っちゃった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8858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I only went to look, but </a:t>
            </a:r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ended up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buying three things.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2487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582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677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5835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01375" y="381000"/>
            <a:ext cx="1009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4579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supposed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62388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〜することになってる／本当は〜のはず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3815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supposed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meet him at 6.</a:t>
            </a:r>
          </a:p>
        </p:txBody>
      </p:sp>
      <p:sp>
        <p:nvSpPr>
          <p:cNvPr id="17" name=""/>
          <p:cNvSpPr txBox="1"/>
          <p:nvPr/>
        </p:nvSpPr>
        <p:spPr>
          <a:xfrm>
            <a:off x="5638800" y="2524125"/>
            <a:ext cx="28670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6時に彼と会うことになってる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963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の後ろは「動詞の原形」。予定や決まりの「〜することになってる」。「本当は〜のはず」にも！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55340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今日は早く帰ることになってる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59245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本当はダイエット中なんだけど…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2487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582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677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5835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01375" y="381000"/>
            <a:ext cx="10096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13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4579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supposed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62388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〜することになってる／本当は〜のはず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3815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supposed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meet him at 6.</a:t>
            </a:r>
          </a:p>
        </p:txBody>
      </p:sp>
      <p:sp>
        <p:nvSpPr>
          <p:cNvPr id="17" name=""/>
          <p:cNvSpPr txBox="1"/>
          <p:nvPr/>
        </p:nvSpPr>
        <p:spPr>
          <a:xfrm>
            <a:off x="5638800" y="2524125"/>
            <a:ext cx="28670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6時に彼と会うことになってる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963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の後ろは「動詞の原形」。予定や決まりの「〜することになってる」。「本当は〜のはず」にも！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9432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今日は早く帰ることになってる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6191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supposed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go home early today.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133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本当はダイエット中なんだけど…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57150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supposed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be on a diet, but...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287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9530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used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430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95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~ing／名詞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524125" y="1733550"/>
            <a:ext cx="23050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〜に慣れてる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20955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used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it.</a:t>
            </a:r>
          </a:p>
        </p:txBody>
      </p:sp>
      <p:sp>
        <p:nvSpPr>
          <p:cNvPr id="17" name=""/>
          <p:cNvSpPr txBox="1"/>
          <p:nvPr/>
        </p:nvSpPr>
        <p:spPr>
          <a:xfrm>
            <a:off x="3657600" y="2524125"/>
            <a:ext cx="1447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もう慣れてる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5248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の後ろは「~ing／名詞」。to なのに原形じゃない！ I used to（昔は〜）とまちがえないで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36861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早起きには慣れてる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48101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満員電車にはまだ慣れない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287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14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9530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used to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430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95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~ing／名詞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524125" y="1733550"/>
            <a:ext cx="23050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〜に慣れてる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20955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used to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it.</a:t>
            </a:r>
          </a:p>
        </p:txBody>
      </p:sp>
      <p:sp>
        <p:nvSpPr>
          <p:cNvPr id="17" name=""/>
          <p:cNvSpPr txBox="1"/>
          <p:nvPr/>
        </p:nvSpPr>
        <p:spPr>
          <a:xfrm>
            <a:off x="3657600" y="2524125"/>
            <a:ext cx="1447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もう慣れてる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5248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to の後ろは「~ing／名詞」。to なのに原形じゃない！ I used to（昔は〜）とまちがえないで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009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早起きには慣れてる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6672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used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getting up early.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2581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満員電車にはまだ慣れない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58293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still not </a:t>
            </a:r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used to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crowded trains.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2487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582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677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5835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01375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78867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have a hard time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</a:t>
            </a:r>
          </a:p>
        </p:txBody>
      </p:sp>
      <p:sp>
        <p:nvSpPr>
          <p:cNvPr id="13" name=""/>
          <p:cNvSpPr txBox="1"/>
          <p:nvPr/>
        </p:nvSpPr>
        <p:spPr>
          <a:xfrm>
            <a:off x="2038350" y="17335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〜するのに苦労する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1338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have a hard time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waking up.</a:t>
            </a:r>
          </a:p>
        </p:txBody>
      </p:sp>
      <p:sp>
        <p:nvSpPr>
          <p:cNvPr id="17" name=""/>
          <p:cNvSpPr txBox="1"/>
          <p:nvPr/>
        </p:nvSpPr>
        <p:spPr>
          <a:xfrm>
            <a:off x="5429250" y="2524125"/>
            <a:ext cx="1828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朝起きるのが苦手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2675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time の後ろは「~ing」。to＋原形にしないよう注意！「〜するのにひと苦労」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40671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なかなか決められない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70485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速い英語を聞き取るのにいつも苦労する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24875" y="390525"/>
            <a:ext cx="23050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58225" y="495300"/>
            <a:ext cx="114300" cy="114300"/>
          </a:xfrm>
          <a:prstGeom prst="ellipse">
            <a:avLst/>
          </a:prstGeom>
          <a:solidFill>
            <a:srgbClr val="FF8A57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67775" y="466725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3</a:t>
            </a:r>
          </a:p>
        </p:txBody>
      </p:sp>
      <p:sp>
        <p:nvSpPr>
          <p:cNvPr id="7" name=""/>
          <p:cNvSpPr txBox="1"/>
          <p:nvPr/>
        </p:nvSpPr>
        <p:spPr>
          <a:xfrm>
            <a:off x="965835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状況を説明する</a:t>
            </a:r>
          </a:p>
        </p:txBody>
      </p:sp>
      <p:sp>
        <p:nvSpPr>
          <p:cNvPr id="8" name=""/>
          <p:cNvSpPr txBox="1"/>
          <p:nvPr/>
        </p:nvSpPr>
        <p:spPr>
          <a:xfrm>
            <a:off x="11001375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15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78867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have a hard time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F0521E"/>
                </a:solidFill>
                <a:latin typeface="DM Sans"/>
                <a:ea typeface="DM Sans"/>
              </a:rPr>
              <a:t>ing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25730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7429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</a:t>
            </a:r>
          </a:p>
        </p:txBody>
      </p:sp>
      <p:sp>
        <p:nvSpPr>
          <p:cNvPr id="13" name=""/>
          <p:cNvSpPr txBox="1"/>
          <p:nvPr/>
        </p:nvSpPr>
        <p:spPr>
          <a:xfrm>
            <a:off x="2038350" y="17335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〜するのに苦労する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1338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have a hard time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waking up.</a:t>
            </a:r>
          </a:p>
        </p:txBody>
      </p:sp>
      <p:sp>
        <p:nvSpPr>
          <p:cNvPr id="17" name=""/>
          <p:cNvSpPr txBox="1"/>
          <p:nvPr/>
        </p:nvSpPr>
        <p:spPr>
          <a:xfrm>
            <a:off x="5429250" y="2524125"/>
            <a:ext cx="1828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朝起きるのが苦手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72675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time の後ろは「~ing」。to＋原形にしないよう注意！「〜するのにひと苦労」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2098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なかなか決められない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46577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have a hard time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deciding.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695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速い英語を聞き取るのにいつも苦労する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86201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always </a:t>
            </a:r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have a hard time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understanding fast English.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 txBox="1"/>
          <p:nvPr/>
        </p:nvSpPr>
        <p:spPr>
          <a:xfrm>
            <a:off x="10896600" y="457200"/>
            <a:ext cx="11334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No.16</a:t>
            </a:r>
            <a:pPr/>
            <a:r>
              <a:rPr sz="1200" b="1">
                <a:solidFill>
                  <a:srgbClr val="5E6780"/>
                </a:solidFill>
                <a:latin typeface="Noto Sans JP"/>
                <a:ea typeface="Noto Sans JP"/>
              </a:rPr>
              <a:t>–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20</a:t>
            </a:r>
          </a:p>
        </p:txBody>
      </p:sp>
      <p:sp>
        <p:nvSpPr>
          <p:cNvPr id="5" name=""/>
          <p:cNvSpPr txBox="1"/>
          <p:nvPr/>
        </p:nvSpPr>
        <p:spPr>
          <a:xfrm>
            <a:off x="609600" y="19431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 spc="270" kern="0">
                <a:solidFill>
                  <a:srgbClr val="C23B12"/>
                </a:solidFill>
                <a:latin typeface="DM Sans"/>
                <a:ea typeface="DM Sans"/>
              </a:rPr>
              <a:t>ROUND</a:t>
            </a:r>
          </a:p>
        </p:txBody>
      </p:sp>
      <p:sp>
        <p:nvSpPr>
          <p:cNvPr id="6" name=""/>
          <p:cNvSpPr txBox="1"/>
          <p:nvPr/>
        </p:nvSpPr>
        <p:spPr>
          <a:xfrm>
            <a:off x="609600" y="1847850"/>
            <a:ext cx="1847850" cy="2724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500" b="1" spc="-450" kern="0">
                <a:solidFill>
                  <a:srgbClr val="F0521E"/>
                </a:solidFill>
                <a:latin typeface="DM Sans"/>
                <a:ea typeface="DM Sans"/>
              </a:rPr>
              <a:t>4</a:t>
            </a:r>
          </a:p>
        </p:txBody>
      </p:sp>
      <p:sp>
        <p:nvSpPr>
          <p:cNvPr id="7" name=""/>
          <p:cNvSpPr/>
          <p:nvPr/>
        </p:nvSpPr>
        <p:spPr>
          <a:xfrm>
            <a:off x="609600" y="4419600"/>
            <a:ext cx="1143000" cy="114300"/>
          </a:xfrm>
          <a:prstGeom prst="roundRect">
            <a:avLst>
              <a:gd name="adj" fmla="val 50000"/>
            </a:avLst>
          </a:prstGeom>
          <a:solidFill>
            <a:srgbClr val="FFC94A"/>
          </a:solidFill>
          <a:ln/>
        </p:spPr>
      </p:sp>
      <p:sp>
        <p:nvSpPr>
          <p:cNvPr id="8" name=""/>
          <p:cNvSpPr txBox="1"/>
          <p:nvPr/>
        </p:nvSpPr>
        <p:spPr>
          <a:xfrm>
            <a:off x="609600" y="4667250"/>
            <a:ext cx="3562350" cy="581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9" name=""/>
          <p:cNvSpPr/>
          <p:nvPr/>
        </p:nvSpPr>
        <p:spPr>
          <a:xfrm>
            <a:off x="5029200" y="1447800"/>
            <a:ext cx="6553200" cy="4267200"/>
          </a:xfrm>
          <a:prstGeom prst="roundRect">
            <a:avLst>
              <a:gd name="adj" fmla="val 5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10" name=""/>
          <p:cNvSpPr txBox="1"/>
          <p:nvPr/>
        </p:nvSpPr>
        <p:spPr>
          <a:xfrm>
            <a:off x="5353050" y="1790700"/>
            <a:ext cx="5619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16</a:t>
            </a:r>
          </a:p>
        </p:txBody>
      </p:sp>
      <p:sp>
        <p:nvSpPr>
          <p:cNvPr id="11" name=""/>
          <p:cNvSpPr txBox="1"/>
          <p:nvPr/>
        </p:nvSpPr>
        <p:spPr>
          <a:xfrm>
            <a:off x="5905500" y="1619250"/>
            <a:ext cx="25622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It's not like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2" name=""/>
          <p:cNvSpPr txBox="1"/>
          <p:nvPr/>
        </p:nvSpPr>
        <p:spPr>
          <a:xfrm>
            <a:off x="5905500" y="1990725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別に〜ってわけじゃない</a:t>
            </a:r>
          </a:p>
        </p:txBody>
      </p:sp>
      <p:sp>
        <p:nvSpPr>
          <p:cNvPr id="13" name=""/>
          <p:cNvSpPr/>
          <p:nvPr/>
        </p:nvSpPr>
        <p:spPr>
          <a:xfrm>
            <a:off x="5353050" y="233362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4" name=""/>
          <p:cNvSpPr txBox="1"/>
          <p:nvPr/>
        </p:nvSpPr>
        <p:spPr>
          <a:xfrm>
            <a:off x="5353050" y="2619375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17</a:t>
            </a:r>
          </a:p>
        </p:txBody>
      </p:sp>
      <p:sp>
        <p:nvSpPr>
          <p:cNvPr id="15" name=""/>
          <p:cNvSpPr txBox="1"/>
          <p:nvPr/>
        </p:nvSpPr>
        <p:spPr>
          <a:xfrm>
            <a:off x="5905500" y="2457450"/>
            <a:ext cx="25908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No wonder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6" name=""/>
          <p:cNvSpPr txBox="1"/>
          <p:nvPr/>
        </p:nvSpPr>
        <p:spPr>
          <a:xfrm>
            <a:off x="5905500" y="2819400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どうりで〜なわけだ</a:t>
            </a:r>
          </a:p>
        </p:txBody>
      </p:sp>
      <p:sp>
        <p:nvSpPr>
          <p:cNvPr id="17" name=""/>
          <p:cNvSpPr/>
          <p:nvPr/>
        </p:nvSpPr>
        <p:spPr>
          <a:xfrm>
            <a:off x="5353050" y="31623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18" name=""/>
          <p:cNvSpPr txBox="1"/>
          <p:nvPr/>
        </p:nvSpPr>
        <p:spPr>
          <a:xfrm>
            <a:off x="5353050" y="3457575"/>
            <a:ext cx="5619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18</a:t>
            </a:r>
          </a:p>
        </p:txBody>
      </p:sp>
      <p:sp>
        <p:nvSpPr>
          <p:cNvPr id="19" name=""/>
          <p:cNvSpPr txBox="1"/>
          <p:nvPr/>
        </p:nvSpPr>
        <p:spPr>
          <a:xfrm>
            <a:off x="5905500" y="3286125"/>
            <a:ext cx="28670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 wish I could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0" name=""/>
          <p:cNvSpPr txBox="1"/>
          <p:nvPr/>
        </p:nvSpPr>
        <p:spPr>
          <a:xfrm>
            <a:off x="5905500" y="3657600"/>
            <a:ext cx="1819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〜できたらいいのに</a:t>
            </a:r>
          </a:p>
        </p:txBody>
      </p:sp>
      <p:sp>
        <p:nvSpPr>
          <p:cNvPr id="21" name=""/>
          <p:cNvSpPr/>
          <p:nvPr/>
        </p:nvSpPr>
        <p:spPr>
          <a:xfrm>
            <a:off x="5353050" y="4000500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2" name=""/>
          <p:cNvSpPr txBox="1"/>
          <p:nvPr/>
        </p:nvSpPr>
        <p:spPr>
          <a:xfrm>
            <a:off x="5353050" y="4295775"/>
            <a:ext cx="5619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19</a:t>
            </a:r>
          </a:p>
        </p:txBody>
      </p:sp>
      <p:sp>
        <p:nvSpPr>
          <p:cNvPr id="23" name=""/>
          <p:cNvSpPr txBox="1"/>
          <p:nvPr/>
        </p:nvSpPr>
        <p:spPr>
          <a:xfrm>
            <a:off x="5905500" y="4124325"/>
            <a:ext cx="245745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I'm sick of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24" name=""/>
          <p:cNvSpPr txBox="1"/>
          <p:nvPr/>
        </p:nvSpPr>
        <p:spPr>
          <a:xfrm>
            <a:off x="5905500" y="4486275"/>
            <a:ext cx="16478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〜にもううんざり</a:t>
            </a:r>
          </a:p>
        </p:txBody>
      </p:sp>
      <p:sp>
        <p:nvSpPr>
          <p:cNvPr id="25" name=""/>
          <p:cNvSpPr/>
          <p:nvPr/>
        </p:nvSpPr>
        <p:spPr>
          <a:xfrm>
            <a:off x="5353050" y="4829175"/>
            <a:ext cx="590550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26" name=""/>
          <p:cNvSpPr txBox="1"/>
          <p:nvPr/>
        </p:nvSpPr>
        <p:spPr>
          <a:xfrm>
            <a:off x="5353050" y="5124450"/>
            <a:ext cx="6191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500" b="1">
                <a:solidFill>
                  <a:srgbClr val="F0521E"/>
                </a:solidFill>
                <a:latin typeface="DM Sans"/>
                <a:ea typeface="DM Sans"/>
              </a:rPr>
              <a:t>20</a:t>
            </a:r>
          </a:p>
        </p:txBody>
      </p:sp>
      <p:sp>
        <p:nvSpPr>
          <p:cNvPr id="27" name=""/>
          <p:cNvSpPr txBox="1"/>
          <p:nvPr/>
        </p:nvSpPr>
        <p:spPr>
          <a:xfrm>
            <a:off x="5905500" y="4953000"/>
            <a:ext cx="32766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Is it just me, or </a:t>
            </a:r>
            <a:pPr/>
            <a:r>
              <a:rPr sz="2100" b="1" spc="-3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2100" b="1" spc="-30" kern="0">
                <a:solidFill>
                  <a:srgbClr val="1A2238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28" name=""/>
          <p:cNvSpPr txBox="1"/>
          <p:nvPr/>
        </p:nvSpPr>
        <p:spPr>
          <a:xfrm>
            <a:off x="5905500" y="5324475"/>
            <a:ext cx="19907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5E6780"/>
                </a:solidFill>
                <a:latin typeface="Noto Sans JP"/>
                <a:ea typeface="Noto Sans JP"/>
              </a:rPr>
              <a:t>私だけ？〜じゃない？</a:t>
            </a:r>
          </a:p>
        </p:txBody>
      </p:sp>
      <p:sp>
        <p:nvSpPr>
          <p:cNvPr id="29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16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86727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It's not like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0763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1857375" y="1733550"/>
            <a:ext cx="39433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別に〜ってわけじゃない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0575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It's not like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I'm angry.</a:t>
            </a:r>
          </a:p>
        </p:txBody>
      </p:sp>
      <p:sp>
        <p:nvSpPr>
          <p:cNvPr id="17" name=""/>
          <p:cNvSpPr txBox="1"/>
          <p:nvPr/>
        </p:nvSpPr>
        <p:spPr>
          <a:xfrm>
            <a:off x="4495800" y="2524125"/>
            <a:ext cx="2752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別に怒ってるわけじゃないよ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1436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like の後ろは「文」。誤解をといて「別に〜ってわけじゃない」！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48006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別に嫌いなわけじゃないよ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88868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別に忙しいわけじゃないけど、今日は気が乗らない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16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86727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It's not like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0763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1857375" y="1733550"/>
            <a:ext cx="394335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別に〜ってわけじゃない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0575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It's not like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I'm angry.</a:t>
            </a:r>
          </a:p>
        </p:txBody>
      </p:sp>
      <p:sp>
        <p:nvSpPr>
          <p:cNvPr id="17" name=""/>
          <p:cNvSpPr txBox="1"/>
          <p:nvPr/>
        </p:nvSpPr>
        <p:spPr>
          <a:xfrm>
            <a:off x="4495800" y="2524125"/>
            <a:ext cx="2752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別に怒ってるわけじゃないよ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1436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like の後ろは「文」。誤解をといて「別に〜ってわけじゃない」！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5717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別に嫌いなわけじゃないよ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33432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It's not like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 hate it.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46196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別に忙しいわけじゃないけど、今日は気が乗らない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82391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It's not like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I'm busy. I'm just not in the mood today.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3440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6775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7730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774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1020425" y="381000"/>
            <a:ext cx="9906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17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9530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No wonder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0763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1857375" y="17335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どうりで〜なわけだ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4004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No wonder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you're tired.</a:t>
            </a:r>
          </a:p>
        </p:txBody>
      </p:sp>
      <p:sp>
        <p:nvSpPr>
          <p:cNvPr id="17" name=""/>
          <p:cNvSpPr txBox="1"/>
          <p:nvPr/>
        </p:nvSpPr>
        <p:spPr>
          <a:xfrm>
            <a:off x="4791075" y="2524125"/>
            <a:ext cx="2381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どうりで疲れてるわけだ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467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No wonder の後ろは「文」。理由が分かって「どうりで！」と納得！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36957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どうりで寒いわけだ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82105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10年住んでたの？どうりで英語が上手なわけだ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3440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6775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7730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77400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1020425" y="381000"/>
            <a:ext cx="9906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17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95300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No wonder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0763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533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1857375" y="17335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どうりで〜なわけだ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4004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No wonder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you're tired.</a:t>
            </a:r>
          </a:p>
        </p:txBody>
      </p:sp>
      <p:sp>
        <p:nvSpPr>
          <p:cNvPr id="17" name=""/>
          <p:cNvSpPr txBox="1"/>
          <p:nvPr/>
        </p:nvSpPr>
        <p:spPr>
          <a:xfrm>
            <a:off x="4791075" y="2524125"/>
            <a:ext cx="2381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どうりで疲れてるわけだ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467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No wonder の後ろは「文」。理由が分かって「どうりで！」と納得！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019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どうりで寒いわけだ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34194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No wonder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it's cold.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286375"/>
            <a:ext cx="42767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10年住んでたの？どうりで英語が上手なわけだ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543550"/>
            <a:ext cx="471487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You lived there for 10 years?</a:t>
            </a:r>
          </a:p>
        </p:txBody>
      </p:sp>
      <p:sp>
        <p:nvSpPr>
          <p:cNvPr id="37" name=""/>
          <p:cNvSpPr txBox="1"/>
          <p:nvPr/>
        </p:nvSpPr>
        <p:spPr>
          <a:xfrm>
            <a:off x="2600325" y="5915025"/>
            <a:ext cx="57626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No wonder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your English is so good!</a:t>
            </a:r>
          </a:p>
        </p:txBody>
      </p:sp>
      <p:sp>
        <p:nvSpPr>
          <p:cNvPr id="38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18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5054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wish I could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〜できたらいいのに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6099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wish I could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stay longer.</a:t>
            </a:r>
          </a:p>
        </p:txBody>
      </p:sp>
      <p:sp>
        <p:nvSpPr>
          <p:cNvPr id="17" name=""/>
          <p:cNvSpPr txBox="1"/>
          <p:nvPr/>
        </p:nvSpPr>
        <p:spPr>
          <a:xfrm>
            <a:off x="4972050" y="2524125"/>
            <a:ext cx="2581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もっといられたらいいのに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6106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could の後ろは「動詞の原形」。叶わない願いの「〜できたらなぁ」。やんわり断るときにも！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51816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英語がペラペラ話せたらなぁ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88868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一緒に行けたらいいんだけど、その日は仕事なんだ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18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55054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 wish I could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2402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763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動詞の原形</a:t>
            </a:r>
          </a:p>
        </p:txBody>
      </p:sp>
      <p:sp>
        <p:nvSpPr>
          <p:cNvPr id="13" name=""/>
          <p:cNvSpPr txBox="1"/>
          <p:nvPr/>
        </p:nvSpPr>
        <p:spPr>
          <a:xfrm>
            <a:off x="2505075" y="1733550"/>
            <a:ext cx="33051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〜できたらいいのに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36099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 wish I could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stay longer.</a:t>
            </a:r>
          </a:p>
        </p:txBody>
      </p:sp>
      <p:sp>
        <p:nvSpPr>
          <p:cNvPr id="17" name=""/>
          <p:cNvSpPr txBox="1"/>
          <p:nvPr/>
        </p:nvSpPr>
        <p:spPr>
          <a:xfrm>
            <a:off x="4972050" y="2524125"/>
            <a:ext cx="2581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もっといられたらいいのに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861060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could の後ろは「動詞の原形」。叶わない願いの「〜できたらなぁ」。やんわり断るときにも！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76225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英語がペラペラ話せたらなぁ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59150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wish I could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speak English fluently.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46196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一緒に行けたらいいんだけど、その日は仕事なんだ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86296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 wish I could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go with you, but I have to work that day.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19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6577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sick of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430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95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~ing／名詞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524125" y="1733550"/>
            <a:ext cx="2962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〜にもううんざり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27908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sick of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the rain.</a:t>
            </a:r>
          </a:p>
        </p:txBody>
      </p:sp>
      <p:sp>
        <p:nvSpPr>
          <p:cNvPr id="17" name=""/>
          <p:cNvSpPr txBox="1"/>
          <p:nvPr/>
        </p:nvSpPr>
        <p:spPr>
          <a:xfrm>
            <a:off x="4267200" y="2524125"/>
            <a:ext cx="2009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雨にはもううんざり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848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of の後ろは「~ing／名詞」。sick は「病気」じゃなく「もう飽き飽き！」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405765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待つのはもううんざり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66675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毎日同じものを食べるのはもう飽きた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5153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6487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8582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6488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91850" y="381000"/>
            <a:ext cx="101917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19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4657725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I'm sick of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7430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12954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~ing／名詞</a:t>
            </a:r>
          </a:p>
        </p:txBody>
      </p:sp>
      <p:sp>
        <p:nvSpPr>
          <p:cNvPr id="13" name=""/>
          <p:cNvSpPr txBox="1"/>
          <p:nvPr/>
        </p:nvSpPr>
        <p:spPr>
          <a:xfrm>
            <a:off x="2524125" y="1733550"/>
            <a:ext cx="296227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〜にもううんざり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27908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I'm sick of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the rain.</a:t>
            </a:r>
          </a:p>
        </p:txBody>
      </p:sp>
      <p:sp>
        <p:nvSpPr>
          <p:cNvPr id="17" name=""/>
          <p:cNvSpPr txBox="1"/>
          <p:nvPr/>
        </p:nvSpPr>
        <p:spPr>
          <a:xfrm>
            <a:off x="4267200" y="2524125"/>
            <a:ext cx="2009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雨にはもううんざり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684847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of の後ろは「~ing／名詞」。sick は「病気」じゃなく「もう飽き飽き！」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2200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待つのはもううんざり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32099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sick of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waiting.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505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毎日同じものを食べるのはもう飽きた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08660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I'm sick of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eating the same thing every day.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391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725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820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5726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04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20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3436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Is it just me, or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4001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疑問文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2181225" y="1733550"/>
            <a:ext cx="36290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私だけ？〜じゃない？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3910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Is it just me, or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is it hot in here?</a:t>
            </a:r>
          </a:p>
        </p:txBody>
      </p:sp>
      <p:sp>
        <p:nvSpPr>
          <p:cNvPr id="17" name=""/>
          <p:cNvSpPr txBox="1"/>
          <p:nvPr/>
        </p:nvSpPr>
        <p:spPr>
          <a:xfrm>
            <a:off x="5648325" y="2524125"/>
            <a:ext cx="2390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私だけ？ここ暑くない？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9245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or の後ろは「疑問文」。「私だけ？」と軽く共感を求める一言！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Questions</a:t>
            </a:r>
          </a:p>
        </p:txBody>
      </p:sp>
      <p:sp>
        <p:nvSpPr>
          <p:cNvPr id="23" name=""/>
          <p:cNvSpPr txBox="1"/>
          <p:nvPr/>
        </p:nvSpPr>
        <p:spPr>
          <a:xfrm>
            <a:off x="2171700" y="3829050"/>
            <a:ext cx="21050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英語で言ってみよう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429125"/>
            <a:ext cx="667702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私だけ？これめっちゃおいしくない？</a:t>
            </a:r>
          </a:p>
        </p:txBody>
      </p:sp>
      <p:sp>
        <p:nvSpPr>
          <p:cNvPr id="29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0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2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1A223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4" name=""/>
          <p:cNvSpPr txBox="1"/>
          <p:nvPr/>
        </p:nvSpPr>
        <p:spPr>
          <a:xfrm>
            <a:off x="2600325" y="5553075"/>
            <a:ext cx="7048500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550" b="1">
                <a:solidFill>
                  <a:srgbClr val="1A2238"/>
                </a:solidFill>
                <a:latin typeface="Noto Sans JP"/>
                <a:ea typeface="Noto Sans JP"/>
              </a:rPr>
              <a:t>気のせい？最近時間たつの早すぎない？</a:t>
            </a:r>
          </a:p>
        </p:txBody>
      </p:sp>
      <p:sp>
        <p:nvSpPr>
          <p:cNvPr id="3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/>
          <p:nvPr/>
        </p:nvSpPr>
        <p:spPr>
          <a:xfrm>
            <a:off x="8439150" y="390525"/>
            <a:ext cx="2314575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"/>
          <p:cNvSpPr/>
          <p:nvPr/>
        </p:nvSpPr>
        <p:spPr>
          <a:xfrm>
            <a:off x="8572500" y="495300"/>
            <a:ext cx="114300" cy="114300"/>
          </a:xfrm>
          <a:prstGeom prst="ellipse">
            <a:avLst/>
          </a:prstGeom>
          <a:solidFill>
            <a:srgbClr val="FFC94A"/>
          </a:solidFill>
          <a:ln/>
        </p:spPr>
      </p:sp>
      <p:sp>
        <p:nvSpPr>
          <p:cNvPr id="6" name=""/>
          <p:cNvSpPr txBox="1"/>
          <p:nvPr/>
        </p:nvSpPr>
        <p:spPr>
          <a:xfrm>
            <a:off x="8782050" y="466725"/>
            <a:ext cx="1152525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126" kern="0">
                <a:solidFill>
                  <a:srgbClr val="C23B12"/>
                </a:solidFill>
                <a:latin typeface="DM Sans"/>
                <a:ea typeface="DM Sans"/>
              </a:rPr>
              <a:t>ROUND 4</a:t>
            </a:r>
          </a:p>
        </p:txBody>
      </p:sp>
      <p:sp>
        <p:nvSpPr>
          <p:cNvPr id="7" name=""/>
          <p:cNvSpPr txBox="1"/>
          <p:nvPr/>
        </p:nvSpPr>
        <p:spPr>
          <a:xfrm>
            <a:off x="9572625" y="447675"/>
            <a:ext cx="14954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1A2238"/>
                </a:solidFill>
                <a:latin typeface="Noto Sans JP"/>
                <a:ea typeface="Noto Sans JP"/>
              </a:rPr>
              <a:t>本音・ツッコミ</a:t>
            </a:r>
          </a:p>
        </p:txBody>
      </p:sp>
      <p:sp>
        <p:nvSpPr>
          <p:cNvPr id="8" name=""/>
          <p:cNvSpPr txBox="1"/>
          <p:nvPr/>
        </p:nvSpPr>
        <p:spPr>
          <a:xfrm>
            <a:off x="10915650" y="381000"/>
            <a:ext cx="1104900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 spc="-37" kern="0">
                <a:solidFill>
                  <a:srgbClr val="F0521E"/>
                </a:solidFill>
                <a:latin typeface="DM Sans"/>
                <a:ea typeface="DM Sans"/>
              </a:rPr>
              <a:t>20</a:t>
            </a:r>
            <a:pPr/>
            <a:r>
              <a:rPr sz="1200" b="1">
                <a:solidFill>
                  <a:srgbClr val="5E6780"/>
                </a:solidFill>
                <a:latin typeface="DM Sans"/>
                <a:ea typeface="DM Sans"/>
              </a:rPr>
              <a:t> / 20</a:t>
            </a:r>
          </a:p>
        </p:txBody>
      </p:sp>
      <p:sp>
        <p:nvSpPr>
          <p:cNvPr id="9" name=""/>
          <p:cNvSpPr txBox="1"/>
          <p:nvPr/>
        </p:nvSpPr>
        <p:spPr>
          <a:xfrm>
            <a:off x="609600" y="923925"/>
            <a:ext cx="6343650" cy="723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Is it just me, or </a:t>
            </a:r>
            <a:pPr/>
            <a:r>
              <a:rPr sz="4350" b="1" spc="-90" kern="0">
                <a:solidFill>
                  <a:srgbClr val="F0521E"/>
                </a:solidFill>
                <a:latin typeface="Noto Sans JP"/>
                <a:ea typeface="Noto Sans JP"/>
              </a:rPr>
              <a:t>〇〇</a:t>
            </a:r>
            <a:pPr/>
            <a:r>
              <a:rPr sz="4350" b="1" spc="-90" kern="0">
                <a:solidFill>
                  <a:srgbClr val="1A2238"/>
                </a:solidFill>
                <a:latin typeface="DM Sans"/>
                <a:ea typeface="DM Sans"/>
              </a:rPr>
              <a:t>?</a:t>
            </a:r>
          </a:p>
        </p:txBody>
      </p:sp>
      <p:sp>
        <p:nvSpPr>
          <p:cNvPr id="10" name=""/>
          <p:cNvSpPr/>
          <p:nvPr/>
        </p:nvSpPr>
        <p:spPr>
          <a:xfrm>
            <a:off x="609600" y="1762125"/>
            <a:ext cx="1400175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781050" y="18669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>
                <a:solidFill>
                  <a:srgbClr val="5E6780"/>
                </a:solidFill>
                <a:latin typeface="Noto Sans JP"/>
                <a:ea typeface="Noto Sans JP"/>
              </a:rPr>
              <a:t>後ろの形</a:t>
            </a:r>
          </a:p>
        </p:txBody>
      </p:sp>
      <p:sp>
        <p:nvSpPr>
          <p:cNvPr id="12" name=""/>
          <p:cNvSpPr txBox="1"/>
          <p:nvPr/>
        </p:nvSpPr>
        <p:spPr>
          <a:xfrm>
            <a:off x="1352550" y="181927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C23B12"/>
                </a:solidFill>
                <a:latin typeface="Noto Sans JP"/>
                <a:ea typeface="Noto Sans JP"/>
              </a:rPr>
              <a:t>疑問文</a:t>
            </a:r>
          </a:p>
        </p:txBody>
      </p:sp>
      <p:sp>
        <p:nvSpPr>
          <p:cNvPr id="13" name=""/>
          <p:cNvSpPr txBox="1"/>
          <p:nvPr/>
        </p:nvSpPr>
        <p:spPr>
          <a:xfrm>
            <a:off x="2181225" y="1733550"/>
            <a:ext cx="3629025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Noto Sans JP"/>
                <a:ea typeface="Noto Sans JP"/>
              </a:rPr>
              <a:t>私だけ？〜じゃない？</a:t>
            </a:r>
          </a:p>
        </p:txBody>
      </p:sp>
      <p:sp>
        <p:nvSpPr>
          <p:cNvPr id="14" name=""/>
          <p:cNvSpPr/>
          <p:nvPr/>
        </p:nvSpPr>
        <p:spPr>
          <a:xfrm>
            <a:off x="609600" y="2343150"/>
            <a:ext cx="10972800" cy="1076325"/>
          </a:xfrm>
          <a:prstGeom prst="roundRect">
            <a:avLst>
              <a:gd name="adj" fmla="val 17699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"/>
          <p:cNvSpPr txBox="1"/>
          <p:nvPr/>
        </p:nvSpPr>
        <p:spPr>
          <a:xfrm>
            <a:off x="876300" y="2552700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EXAMPLE</a:t>
            </a:r>
          </a:p>
        </p:txBody>
      </p:sp>
      <p:sp>
        <p:nvSpPr>
          <p:cNvPr id="16" name=""/>
          <p:cNvSpPr txBox="1"/>
          <p:nvPr/>
        </p:nvSpPr>
        <p:spPr>
          <a:xfrm>
            <a:off x="1943100" y="2476500"/>
            <a:ext cx="439102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00" b="1" spc="-15" kern="0">
                <a:solidFill>
                  <a:srgbClr val="F0521E"/>
                </a:solidFill>
                <a:latin typeface="DM Sans"/>
                <a:ea typeface="DM Sans"/>
              </a:rPr>
              <a:t>Is it just me, or</a:t>
            </a:r>
            <a:pPr/>
            <a:r>
              <a:rPr sz="1900" b="1" spc="-15" kern="0">
                <a:solidFill>
                  <a:srgbClr val="1A2238"/>
                </a:solidFill>
                <a:latin typeface="DM Sans"/>
                <a:ea typeface="DM Sans"/>
              </a:rPr>
              <a:t> is it hot in here?</a:t>
            </a:r>
          </a:p>
        </p:txBody>
      </p:sp>
      <p:sp>
        <p:nvSpPr>
          <p:cNvPr id="17" name=""/>
          <p:cNvSpPr txBox="1"/>
          <p:nvPr/>
        </p:nvSpPr>
        <p:spPr>
          <a:xfrm>
            <a:off x="5648325" y="2524125"/>
            <a:ext cx="23907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4B5569"/>
                </a:solidFill>
                <a:latin typeface="Noto Sans JP"/>
                <a:ea typeface="Noto Sans JP"/>
              </a:rPr>
              <a:t>私だけ？ここ暑くない？</a:t>
            </a:r>
          </a:p>
        </p:txBody>
      </p:sp>
      <p:sp>
        <p:nvSpPr>
          <p:cNvPr id="18" name=""/>
          <p:cNvSpPr/>
          <p:nvPr/>
        </p:nvSpPr>
        <p:spPr>
          <a:xfrm>
            <a:off x="876300" y="2914650"/>
            <a:ext cx="10439400" cy="0"/>
          </a:xfrm>
          <a:prstGeom prst="line">
            <a:avLst/>
          </a:prstGeom>
          <a:noFill/>
          <a:ln w="19050">
            <a:solidFill>
              <a:srgbClr val="D6E2F0"/>
            </a:solidFill>
            <a:prstDash val="dash"/>
          </a:ln>
        </p:spPr>
      </p:sp>
      <p:sp>
        <p:nvSpPr>
          <p:cNvPr id="19" name=""/>
          <p:cNvSpPr txBox="1"/>
          <p:nvPr/>
        </p:nvSpPr>
        <p:spPr>
          <a:xfrm>
            <a:off x="876300" y="3076575"/>
            <a:ext cx="914400" cy="1619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00" b="1" spc="195" kern="0">
                <a:solidFill>
                  <a:srgbClr val="C23B12"/>
                </a:solidFill>
                <a:latin typeface="DM Sans"/>
                <a:ea typeface="DM Sans"/>
              </a:rPr>
              <a:t>POINT</a:t>
            </a:r>
          </a:p>
        </p:txBody>
      </p:sp>
      <p:sp>
        <p:nvSpPr>
          <p:cNvPr id="20" name=""/>
          <p:cNvSpPr txBox="1"/>
          <p:nvPr/>
        </p:nvSpPr>
        <p:spPr>
          <a:xfrm>
            <a:off x="1943100" y="3038475"/>
            <a:ext cx="59245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or の後ろは「疑問文」。「私だけ？」と軽く共感を求める一言！</a:t>
            </a:r>
          </a:p>
        </p:txBody>
      </p:sp>
      <p:sp>
        <p:nvSpPr>
          <p:cNvPr id="21" name=""/>
          <p:cNvSpPr/>
          <p:nvPr/>
        </p:nvSpPr>
        <p:spPr>
          <a:xfrm>
            <a:off x="609600" y="3590925"/>
            <a:ext cx="10972800" cy="284797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8575">
            <a:solidFill>
              <a:srgbClr val="F0521E"/>
            </a:solidFill>
            <a:prstDash val="solid"/>
          </a:ln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2" name=""/>
          <p:cNvSpPr txBox="1"/>
          <p:nvPr/>
        </p:nvSpPr>
        <p:spPr>
          <a:xfrm>
            <a:off x="923925" y="3695700"/>
            <a:ext cx="133350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Answer</a:t>
            </a:r>
          </a:p>
        </p:txBody>
      </p:sp>
      <p:sp>
        <p:nvSpPr>
          <p:cNvPr id="23" name=""/>
          <p:cNvSpPr txBox="1"/>
          <p:nvPr/>
        </p:nvSpPr>
        <p:spPr>
          <a:xfrm>
            <a:off x="1924050" y="382905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4B5569"/>
                </a:solidFill>
                <a:latin typeface="Noto Sans JP"/>
                <a:ea typeface="Noto Sans JP"/>
              </a:rPr>
              <a:t>こたえ</a:t>
            </a:r>
          </a:p>
        </p:txBody>
      </p:sp>
      <p:sp>
        <p:nvSpPr>
          <p:cNvPr id="24" name=""/>
          <p:cNvSpPr/>
          <p:nvPr/>
        </p:nvSpPr>
        <p:spPr>
          <a:xfrm>
            <a:off x="923925" y="4505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1EFFB"/>
          </a:solidFill>
          <a:ln/>
        </p:spPr>
      </p:sp>
      <p:sp>
        <p:nvSpPr>
          <p:cNvPr id="25" name=""/>
          <p:cNvSpPr txBox="1"/>
          <p:nvPr/>
        </p:nvSpPr>
        <p:spPr>
          <a:xfrm>
            <a:off x="1057275" y="4552950"/>
            <a:ext cx="10001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2C6496"/>
                </a:solidFill>
                <a:latin typeface="Noto Sans JP"/>
                <a:ea typeface="Noto Sans JP"/>
              </a:rPr>
              <a:t>かんたん</a:t>
            </a:r>
          </a:p>
        </p:txBody>
      </p:sp>
      <p:sp>
        <p:nvSpPr>
          <p:cNvPr id="26" name=""/>
          <p:cNvSpPr/>
          <p:nvPr/>
        </p:nvSpPr>
        <p:spPr>
          <a:xfrm>
            <a:off x="2009775" y="444817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2000250" y="4524375"/>
            <a:ext cx="42862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1</a:t>
            </a:r>
          </a:p>
        </p:txBody>
      </p:sp>
      <p:sp>
        <p:nvSpPr>
          <p:cNvPr id="28" name=""/>
          <p:cNvSpPr txBox="1"/>
          <p:nvPr/>
        </p:nvSpPr>
        <p:spPr>
          <a:xfrm>
            <a:off x="2600325" y="4343400"/>
            <a:ext cx="35052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私だけ？これめっちゃおいしくない？</a:t>
            </a:r>
          </a:p>
        </p:txBody>
      </p:sp>
      <p:sp>
        <p:nvSpPr>
          <p:cNvPr id="29" name=""/>
          <p:cNvSpPr txBox="1"/>
          <p:nvPr/>
        </p:nvSpPr>
        <p:spPr>
          <a:xfrm>
            <a:off x="2600325" y="4600575"/>
            <a:ext cx="5610225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Is it just me, or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is this really good?</a:t>
            </a:r>
          </a:p>
        </p:txBody>
      </p:sp>
      <p:sp>
        <p:nvSpPr>
          <p:cNvPr id="30" name=""/>
          <p:cNvSpPr/>
          <p:nvPr/>
        </p:nvSpPr>
        <p:spPr>
          <a:xfrm>
            <a:off x="923925" y="5219700"/>
            <a:ext cx="10344150" cy="0"/>
          </a:xfrm>
          <a:prstGeom prst="line">
            <a:avLst/>
          </a:prstGeom>
          <a:noFill/>
          <a:ln w="19050">
            <a:solidFill>
              <a:srgbClr val="EFE3DA"/>
            </a:solidFill>
            <a:prstDash val="solid"/>
          </a:ln>
        </p:spPr>
      </p:sp>
      <p:sp>
        <p:nvSpPr>
          <p:cNvPr id="31" name=""/>
          <p:cNvSpPr/>
          <p:nvPr/>
        </p:nvSpPr>
        <p:spPr>
          <a:xfrm>
            <a:off x="923925" y="5629275"/>
            <a:ext cx="552450" cy="304800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32" name=""/>
          <p:cNvSpPr txBox="1"/>
          <p:nvPr/>
        </p:nvSpPr>
        <p:spPr>
          <a:xfrm>
            <a:off x="1057275" y="5676900"/>
            <a:ext cx="67627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150" b="1">
                <a:solidFill>
                  <a:srgbClr val="C23B12"/>
                </a:solidFill>
                <a:latin typeface="Noto Sans JP"/>
                <a:ea typeface="Noto Sans JP"/>
              </a:rPr>
              <a:t>中級</a:t>
            </a:r>
          </a:p>
        </p:txBody>
      </p:sp>
      <p:sp>
        <p:nvSpPr>
          <p:cNvPr id="33" name=""/>
          <p:cNvSpPr/>
          <p:nvPr/>
        </p:nvSpPr>
        <p:spPr>
          <a:xfrm>
            <a:off x="2009775" y="5572125"/>
            <a:ext cx="419100" cy="419100"/>
          </a:xfrm>
          <a:prstGeom prst="ellipse">
            <a:avLst/>
          </a:prstGeom>
          <a:solidFill>
            <a:srgbClr val="F0521E"/>
          </a:solidFill>
          <a:ln/>
        </p:spPr>
      </p:sp>
      <p:sp>
        <p:nvSpPr>
          <p:cNvPr id="34" name=""/>
          <p:cNvSpPr txBox="1"/>
          <p:nvPr/>
        </p:nvSpPr>
        <p:spPr>
          <a:xfrm>
            <a:off x="1981200" y="5648325"/>
            <a:ext cx="485775" cy="2762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DM Sans"/>
                <a:ea typeface="DM Sans"/>
              </a:rPr>
              <a:t>2</a:t>
            </a:r>
          </a:p>
        </p:txBody>
      </p:sp>
      <p:sp>
        <p:nvSpPr>
          <p:cNvPr id="35" name=""/>
          <p:cNvSpPr txBox="1"/>
          <p:nvPr/>
        </p:nvSpPr>
        <p:spPr>
          <a:xfrm>
            <a:off x="2600325" y="5467350"/>
            <a:ext cx="36957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5E6780"/>
                </a:solidFill>
                <a:latin typeface="Noto Sans JP"/>
                <a:ea typeface="Noto Sans JP"/>
              </a:rPr>
              <a:t>気のせい？最近時間たつの早すぎない？</a:t>
            </a:r>
          </a:p>
        </p:txBody>
      </p:sp>
      <p:sp>
        <p:nvSpPr>
          <p:cNvPr id="36" name=""/>
          <p:cNvSpPr txBox="1"/>
          <p:nvPr/>
        </p:nvSpPr>
        <p:spPr>
          <a:xfrm>
            <a:off x="2600325" y="5724525"/>
            <a:ext cx="7410450" cy="3714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 spc="-22" kern="0">
                <a:solidFill>
                  <a:srgbClr val="F0521E"/>
                </a:solidFill>
                <a:latin typeface="DM Sans"/>
                <a:ea typeface="DM Sans"/>
              </a:rPr>
              <a:t>Is it just me, or</a:t>
            </a:r>
            <a:pPr/>
            <a:r>
              <a:rPr sz="2250" b="1" spc="-22" kern="0">
                <a:solidFill>
                  <a:srgbClr val="1A2238"/>
                </a:solidFill>
                <a:latin typeface="DM Sans"/>
                <a:ea typeface="DM Sans"/>
              </a:rPr>
              <a:t> is time going by so fast lately?</a:t>
            </a:r>
          </a:p>
        </p:txBody>
      </p:sp>
      <p:sp>
        <p:nvSpPr>
          <p:cNvPr id="37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09600" y="381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66800" y="438150"/>
            <a:ext cx="153352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 spc="-22" kern="0">
                <a:solidFill>
                  <a:srgbClr val="1A2238"/>
                </a:solidFill>
                <a:latin typeface="DM Sans"/>
                <a:ea typeface="DM Sans"/>
              </a:rPr>
              <a:t>Hina English</a:t>
            </a:r>
          </a:p>
        </p:txBody>
      </p:sp>
      <p:sp>
        <p:nvSpPr>
          <p:cNvPr id="4" name=""/>
          <p:cNvSpPr txBox="1"/>
          <p:nvPr/>
        </p:nvSpPr>
        <p:spPr>
          <a:xfrm>
            <a:off x="609600" y="2171700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050" b="1">
                <a:solidFill>
                  <a:srgbClr val="C23B12"/>
                </a:solidFill>
                <a:latin typeface="Caveat"/>
                <a:ea typeface="Caveat"/>
              </a:rPr>
              <a:t>Thank you for joining!</a:t>
            </a:r>
          </a:p>
        </p:txBody>
      </p:sp>
      <p:sp>
        <p:nvSpPr>
          <p:cNvPr id="5" name=""/>
          <p:cNvSpPr txBox="1"/>
          <p:nvPr/>
        </p:nvSpPr>
        <p:spPr>
          <a:xfrm>
            <a:off x="609600" y="2781300"/>
            <a:ext cx="6915150" cy="8286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500" b="1">
                <a:solidFill>
                  <a:srgbClr val="1A2238"/>
                </a:solidFill>
                <a:latin typeface="Noto Sans JP"/>
                <a:ea typeface="Noto Sans JP"/>
              </a:rPr>
              <a:t>おつかれさまでした！</a:t>
            </a:r>
          </a:p>
        </p:txBody>
      </p:sp>
      <p:sp>
        <p:nvSpPr>
          <p:cNvPr id="6" name=""/>
          <p:cNvSpPr txBox="1"/>
          <p:nvPr/>
        </p:nvSpPr>
        <p:spPr>
          <a:xfrm>
            <a:off x="609600" y="3743325"/>
            <a:ext cx="29527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4B5569"/>
                </a:solidFill>
                <a:latin typeface="Noto Sans JP"/>
                <a:ea typeface="Noto Sans JP"/>
              </a:rPr>
              <a:t>今日のフレーズ、まずは1つ</a:t>
            </a:r>
          </a:p>
        </p:txBody>
      </p:sp>
      <p:sp>
        <p:nvSpPr>
          <p:cNvPr id="7" name=""/>
          <p:cNvSpPr txBox="1"/>
          <p:nvPr/>
        </p:nvSpPr>
        <p:spPr>
          <a:xfrm>
            <a:off x="609600" y="4057650"/>
            <a:ext cx="30384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450" b="1">
                <a:solidFill>
                  <a:srgbClr val="4B5569"/>
                </a:solidFill>
                <a:latin typeface="Noto Sans JP"/>
                <a:ea typeface="Noto Sans JP"/>
              </a:rPr>
              <a:t>実際の会話で使ってみてね。</a:t>
            </a:r>
          </a:p>
        </p:txBody>
      </p:sp>
      <p:sp>
        <p:nvSpPr>
          <p:cNvPr id="8" name=""/>
          <p:cNvSpPr/>
          <p:nvPr/>
        </p:nvSpPr>
        <p:spPr>
          <a:xfrm>
            <a:off x="609600" y="4619625"/>
            <a:ext cx="1514475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"/>
          <p:cNvSpPr txBox="1"/>
          <p:nvPr/>
        </p:nvSpPr>
        <p:spPr>
          <a:xfrm>
            <a:off x="800100" y="4695825"/>
            <a:ext cx="1638300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A2238"/>
                </a:solidFill>
                <a:latin typeface="Noto Sans JP"/>
                <a:ea typeface="Noto Sans JP"/>
              </a:rPr>
              <a:t>チャンネル登録</a:t>
            </a:r>
          </a:p>
        </p:txBody>
      </p:sp>
      <p:sp>
        <p:nvSpPr>
          <p:cNvPr id="10" name=""/>
          <p:cNvSpPr/>
          <p:nvPr/>
        </p:nvSpPr>
        <p:spPr>
          <a:xfrm>
            <a:off x="2219325" y="4619625"/>
            <a:ext cx="866775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"/>
          <p:cNvSpPr txBox="1"/>
          <p:nvPr/>
        </p:nvSpPr>
        <p:spPr>
          <a:xfrm>
            <a:off x="2409825" y="4695825"/>
            <a:ext cx="9048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A2238"/>
                </a:solidFill>
                <a:latin typeface="Noto Sans JP"/>
                <a:ea typeface="Noto Sans JP"/>
              </a:rPr>
              <a:t>高評価</a:t>
            </a:r>
          </a:p>
        </p:txBody>
      </p:sp>
      <p:sp>
        <p:nvSpPr>
          <p:cNvPr id="12" name=""/>
          <p:cNvSpPr/>
          <p:nvPr/>
        </p:nvSpPr>
        <p:spPr>
          <a:xfrm>
            <a:off x="3181350" y="4619625"/>
            <a:ext cx="20002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"/>
          <p:cNvSpPr txBox="1"/>
          <p:nvPr/>
        </p:nvSpPr>
        <p:spPr>
          <a:xfrm>
            <a:off x="3371850" y="4695825"/>
            <a:ext cx="2200275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00" b="1">
                <a:solidFill>
                  <a:srgbClr val="1A2238"/>
                </a:solidFill>
                <a:latin typeface="Noto Sans JP"/>
                <a:ea typeface="Noto Sans JP"/>
              </a:rPr>
              <a:t>感想をコメントしてね</a:t>
            </a:r>
          </a:p>
        </p:txBody>
      </p:sp>
      <p:sp>
        <p:nvSpPr>
          <p:cNvPr id="14" name=""/>
          <p:cNvSpPr/>
          <p:nvPr/>
        </p:nvSpPr>
        <p:spPr>
          <a:xfrm>
            <a:off x="7524750" y="1143000"/>
            <a:ext cx="3810000" cy="3810000"/>
          </a:xfrm>
          <a:prstGeom prst="roundRect">
            <a:avLst>
              <a:gd name="adj" fmla="val 24000"/>
            </a:avLst>
          </a:prstGeom>
          <a:solidFill>
            <a:srgbClr val="F0521E"/>
          </a:solidFill>
          <a:ln/>
        </p:spPr>
      </p:sp>
      <p:sp>
        <p:nvSpPr>
          <p:cNvPr id="15" name=""/>
          <p:cNvSpPr/>
          <p:nvPr/>
        </p:nvSpPr>
        <p:spPr>
          <a:xfrm>
            <a:off x="685800" y="533400"/>
            <a:ext cx="200025" cy="38100"/>
          </a:xfrm>
          <a:custGeom>
            <a:avLst/>
            <a:gdLst/>
            <a:ahLst/>
            <a:cxnLst/>
            <a:rect l="l" t="t" r="r" b="b"/>
            <a:pathLst>
              <a:path w="200025" h="38100">
                <a:moveTo>
                  <a:pt x="0" y="34290"/>
                </a:moveTo>
                <a:lnTo>
                  <a:pt x="200025" y="34290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23812"/>
                </a:moveTo>
                <a:lnTo>
                  <a:pt x="141923" y="165735"/>
                </a:lnTo>
                <a:lnTo>
                  <a:pt x="165735" y="141923"/>
                </a:lnTo>
                <a:lnTo>
                  <a:pt x="2381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"/>
          <p:cNvSpPr/>
          <p:nvPr/>
        </p:nvSpPr>
        <p:spPr>
          <a:xfrm>
            <a:off x="762000" y="457200"/>
            <a:ext cx="38100" cy="200025"/>
          </a:xfrm>
          <a:custGeom>
            <a:avLst/>
            <a:gdLst/>
            <a:ahLst/>
            <a:cxnLst/>
            <a:rect l="l" t="t" r="r" b="b"/>
            <a:pathLst>
              <a:path w="38100" h="200025">
                <a:moveTo>
                  <a:pt x="0" y="0"/>
                </a:moveTo>
                <a:lnTo>
                  <a:pt x="0" y="200025"/>
                </a:lnTo>
                <a:lnTo>
                  <a:pt x="34290" y="200025"/>
                </a:lnTo>
                <a:lnTo>
                  <a:pt x="3429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"/>
          <p:cNvSpPr/>
          <p:nvPr/>
        </p:nvSpPr>
        <p:spPr>
          <a:xfrm>
            <a:off x="695325" y="46672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141923" y="0"/>
                </a:moveTo>
                <a:lnTo>
                  <a:pt x="0" y="141923"/>
                </a:lnTo>
                <a:lnTo>
                  <a:pt x="23812" y="165735"/>
                </a:lnTo>
                <a:lnTo>
                  <a:pt x="165735" y="23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"/>
          <p:cNvSpPr/>
          <p:nvPr/>
        </p:nvSpPr>
        <p:spPr>
          <a:xfrm>
            <a:off x="10248900" y="1828800"/>
            <a:ext cx="685800" cy="114300"/>
          </a:xfrm>
          <a:custGeom>
            <a:avLst/>
            <a:gdLst/>
            <a:ahLst/>
            <a:cxnLst/>
            <a:rect l="l" t="t" r="r" b="b"/>
            <a:pathLst>
              <a:path w="685800" h="114300">
                <a:moveTo>
                  <a:pt x="0" y="114300"/>
                </a:moveTo>
                <a:lnTo>
                  <a:pt x="685800" y="114300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"/>
          <p:cNvSpPr/>
          <p:nvPr/>
        </p:nvSpPr>
        <p:spPr>
          <a:xfrm>
            <a:off x="10306050" y="160020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561975" h="561975">
                <a:moveTo>
                  <a:pt x="0" y="80962"/>
                </a:moveTo>
                <a:lnTo>
                  <a:pt x="484823" y="565785"/>
                </a:lnTo>
                <a:lnTo>
                  <a:pt x="565785" y="484822"/>
                </a:lnTo>
                <a:lnTo>
                  <a:pt x="80962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"/>
          <p:cNvSpPr/>
          <p:nvPr/>
        </p:nvSpPr>
        <p:spPr>
          <a:xfrm>
            <a:off x="10534650" y="1543050"/>
            <a:ext cx="114300" cy="685800"/>
          </a:xfrm>
          <a:custGeom>
            <a:avLst/>
            <a:gdLst/>
            <a:ahLst/>
            <a:cxnLst/>
            <a:rect l="l" t="t" r="r" b="b"/>
            <a:pathLst>
              <a:path w="114300" h="685800">
                <a:moveTo>
                  <a:pt x="0" y="0"/>
                </a:moveTo>
                <a:lnTo>
                  <a:pt x="0" y="685800"/>
                </a:lnTo>
                <a:lnTo>
                  <a:pt x="114300" y="68580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"/>
          <p:cNvSpPr/>
          <p:nvPr/>
        </p:nvSpPr>
        <p:spPr>
          <a:xfrm>
            <a:off x="10306050" y="1600200"/>
            <a:ext cx="561975" cy="561975"/>
          </a:xfrm>
          <a:custGeom>
            <a:avLst/>
            <a:gdLst/>
            <a:ahLst/>
            <a:cxnLst/>
            <a:rect l="l" t="t" r="r" b="b"/>
            <a:pathLst>
              <a:path w="561975" h="561975">
                <a:moveTo>
                  <a:pt x="484823" y="0"/>
                </a:moveTo>
                <a:lnTo>
                  <a:pt x="0" y="484822"/>
                </a:lnTo>
                <a:lnTo>
                  <a:pt x="80962" y="565785"/>
                </a:lnTo>
                <a:lnTo>
                  <a:pt x="565785" y="809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"/>
          <p:cNvSpPr/>
          <p:nvPr/>
        </p:nvSpPr>
        <p:spPr>
          <a:xfrm>
            <a:off x="6572250" y="3143250"/>
            <a:ext cx="4381500" cy="2276475"/>
          </a:xfrm>
          <a:prstGeom prst="roundRect">
            <a:avLst>
              <a:gd name="adj" fmla="val 11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22304A">
                <a:alpha val="10000"/>
              </a:srgbClr>
            </a:outerShdw>
          </a:effectLst>
        </p:spPr>
      </p:sp>
      <p:sp>
        <p:nvSpPr>
          <p:cNvPr id="24" name=""/>
          <p:cNvSpPr txBox="1"/>
          <p:nvPr/>
        </p:nvSpPr>
        <p:spPr>
          <a:xfrm>
            <a:off x="6877050" y="3390900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050" b="1" spc="210" kern="0">
                <a:solidFill>
                  <a:srgbClr val="C23B12"/>
                </a:solidFill>
                <a:latin typeface="DM Sans"/>
                <a:ea typeface="DM Sans"/>
              </a:rPr>
              <a:t>NEXT LIVE</a:t>
            </a:r>
          </a:p>
        </p:txBody>
      </p:sp>
      <p:sp>
        <p:nvSpPr>
          <p:cNvPr id="25" name=""/>
          <p:cNvSpPr txBox="1"/>
          <p:nvPr/>
        </p:nvSpPr>
        <p:spPr>
          <a:xfrm>
            <a:off x="6877050" y="3695700"/>
            <a:ext cx="24860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A2238"/>
                </a:solidFill>
                <a:latin typeface="Noto Sans JP"/>
                <a:ea typeface="Noto Sans JP"/>
              </a:rPr>
              <a:t>次回のライブも</a:t>
            </a:r>
          </a:p>
        </p:txBody>
      </p:sp>
      <p:sp>
        <p:nvSpPr>
          <p:cNvPr id="26" name=""/>
          <p:cNvSpPr txBox="1"/>
          <p:nvPr/>
        </p:nvSpPr>
        <p:spPr>
          <a:xfrm>
            <a:off x="6877050" y="4086225"/>
            <a:ext cx="2181225" cy="381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100" b="1">
                <a:solidFill>
                  <a:srgbClr val="1A2238"/>
                </a:solidFill>
                <a:latin typeface="Noto Sans JP"/>
                <a:ea typeface="Noto Sans JP"/>
              </a:rPr>
              <a:t>お楽しみに！</a:t>
            </a:r>
          </a:p>
        </p:txBody>
      </p:sp>
      <p:sp>
        <p:nvSpPr>
          <p:cNvPr id="27" name=""/>
          <p:cNvSpPr/>
          <p:nvPr/>
        </p:nvSpPr>
        <p:spPr>
          <a:xfrm>
            <a:off x="6877050" y="4619625"/>
            <a:ext cx="3771900" cy="19050"/>
          </a:xfrm>
          <a:prstGeom prst="rect">
            <a:avLst/>
          </a:prstGeom>
          <a:solidFill>
            <a:srgbClr val="EFE3DA"/>
          </a:solidFill>
          <a:ln/>
        </p:spPr>
      </p:sp>
      <p:sp>
        <p:nvSpPr>
          <p:cNvPr id="28" name=""/>
          <p:cNvSpPr txBox="1"/>
          <p:nvPr/>
        </p:nvSpPr>
        <p:spPr>
          <a:xfrm>
            <a:off x="6877050" y="4733925"/>
            <a:ext cx="27241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700" b="1">
                <a:solidFill>
                  <a:srgbClr val="C23B12"/>
                </a:solidFill>
                <a:latin typeface="Caveat"/>
                <a:ea typeface="Caveat"/>
              </a:rPr>
              <a:t>See you next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