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0100" y="1714500"/>
            <a:ext cx="1638300" cy="390525"/>
          </a:xfrm>
          <a:prstGeom prst="roundRect">
            <a:avLst>
              <a:gd name="adj" fmla="val 50000"/>
            </a:avLst>
          </a:prstGeom>
          <a:solidFill>
            <a:srgbClr val="FCE4D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71550" y="1781175"/>
            <a:ext cx="16097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E8603C"/>
                </a:solidFill>
                <a:latin typeface="Zen Maru Gothic"/>
                <a:ea typeface="Zen Maru Gothic"/>
              </a:rPr>
              <a:t>動画のおさらい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800100" y="2276475"/>
            <a:ext cx="6686550" cy="9144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4950" b="1">
                <a:solidFill>
                  <a:srgbClr val="22304A"/>
                </a:solidFill>
                <a:latin typeface="Zen Maru Gothic"/>
                <a:ea typeface="Zen Maru Gothic"/>
              </a:rPr>
              <a:t>日常英会話フレーズ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800100" y="2895600"/>
            <a:ext cx="1828800" cy="1609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9300" b="1">
                <a:solidFill>
                  <a:srgbClr val="E8603C"/>
                </a:solidFill>
                <a:latin typeface="Nunito"/>
                <a:ea typeface="Nunito"/>
              </a:rPr>
              <a:t>9</a:t>
            </a:r>
            <a:pPr algn="l"/>
            <a:r>
              <a:rPr sz="4950" b="1">
                <a:solidFill>
                  <a:srgbClr val="22304A"/>
                </a:solidFill>
                <a:latin typeface="Zen Maru Gothic"/>
                <a:ea typeface="Zen Maru Gothic"/>
              </a:rPr>
              <a:t>選</a:t>
            </a:r>
          </a:p>
        </p:txBody>
      </p:sp>
      <p:sp>
        <p:nvSpPr>
          <p:cNvPr id="6" name="Text 4"/>
          <p:cNvSpPr txBox="1"/>
          <p:nvPr/>
        </p:nvSpPr>
        <p:spPr>
          <a:xfrm>
            <a:off x="2419350" y="3352800"/>
            <a:ext cx="2305050" cy="9144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4950" b="1">
                <a:solidFill>
                  <a:srgbClr val="22304A"/>
                </a:solidFill>
                <a:highlight>
                  <a:srgbClr val="FFE17A"/>
                </a:highlight>
                <a:latin typeface="Zen Maru Gothic"/>
                <a:ea typeface="Zen Maru Gothic"/>
              </a:rPr>
              <a:t>まとめ</a:t>
            </a:r>
          </a:p>
        </p:txBody>
      </p:sp>
      <p:sp>
        <p:nvSpPr>
          <p:cNvPr id="7" name="Text 5"/>
          <p:cNvSpPr txBox="1"/>
          <p:nvPr/>
        </p:nvSpPr>
        <p:spPr>
          <a:xfrm>
            <a:off x="800100" y="4562475"/>
            <a:ext cx="35623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4A5568"/>
                </a:solidFill>
                <a:latin typeface="Zen Maru Gothic"/>
                <a:ea typeface="Zen Maru Gothic"/>
              </a:rPr>
              <a:t>動画で紹介したフレーズと例文を</a:t>
            </a:r>
          </a:p>
        </p:txBody>
      </p:sp>
      <p:sp>
        <p:nvSpPr>
          <p:cNvPr id="8" name="Text 6"/>
          <p:cNvSpPr txBox="1"/>
          <p:nvPr/>
        </p:nvSpPr>
        <p:spPr>
          <a:xfrm>
            <a:off x="800100" y="4905375"/>
            <a:ext cx="402907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4A5568"/>
                </a:solidFill>
                <a:latin typeface="Zen Maru Gothic"/>
                <a:ea typeface="Zen Maru Gothic"/>
              </a:rPr>
              <a:t>このスライドでまとめて復習しよう！</a:t>
            </a:r>
          </a:p>
        </p:txBody>
      </p:sp>
      <p:sp>
        <p:nvSpPr>
          <p:cNvPr id="9" name="Shape 7"/>
          <p:cNvSpPr/>
          <p:nvPr/>
        </p:nvSpPr>
        <p:spPr>
          <a:xfrm>
            <a:off x="7239000" y="0"/>
            <a:ext cx="4953000" cy="6858000"/>
          </a:xfrm>
          <a:prstGeom prst="rect">
            <a:avLst/>
          </a:prstGeom>
          <a:solidFill>
            <a:srgbClr val="2230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15250" y="762000"/>
            <a:ext cx="12668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9AA5BC"/>
                </a:solidFill>
                <a:latin typeface="Zen Maru Gothic"/>
                <a:ea typeface="Zen Maru Gothic"/>
              </a:rPr>
              <a:t>CONTENTS</a:t>
            </a:r>
          </a:p>
        </p:txBody>
      </p:sp>
      <p:sp>
        <p:nvSpPr>
          <p:cNvPr id="11" name="Shape 9"/>
          <p:cNvSpPr/>
          <p:nvPr/>
        </p:nvSpPr>
        <p:spPr>
          <a:xfrm>
            <a:off x="7715250" y="1123950"/>
            <a:ext cx="4000500" cy="476250"/>
          </a:xfrm>
          <a:prstGeom prst="roundRect">
            <a:avLst>
              <a:gd name="adj" fmla="val 24000"/>
            </a:avLst>
          </a:prstGeom>
          <a:solidFill>
            <a:srgbClr val="FFFFFF">
              <a:alpha val="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67700" y="1219200"/>
            <a:ext cx="17240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Nunito"/>
                <a:ea typeface="Nunito"/>
              </a:rPr>
              <a:t>I feel like ~ing</a:t>
            </a:r>
          </a:p>
        </p:txBody>
      </p:sp>
      <p:sp>
        <p:nvSpPr>
          <p:cNvPr id="13" name="Text 11"/>
          <p:cNvSpPr txBox="1"/>
          <p:nvPr/>
        </p:nvSpPr>
        <p:spPr>
          <a:xfrm>
            <a:off x="7886700" y="1257300"/>
            <a:ext cx="333375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9A7A"/>
                </a:solidFill>
                <a:latin typeface="Nunito"/>
                <a:ea typeface="Nunito"/>
              </a:rPr>
              <a:t>01</a:t>
            </a:r>
          </a:p>
        </p:txBody>
      </p:sp>
      <p:sp>
        <p:nvSpPr>
          <p:cNvPr id="14" name="Shape 12"/>
          <p:cNvSpPr/>
          <p:nvPr/>
        </p:nvSpPr>
        <p:spPr>
          <a:xfrm>
            <a:off x="7715250" y="1685925"/>
            <a:ext cx="4000500" cy="476250"/>
          </a:xfrm>
          <a:prstGeom prst="roundRect">
            <a:avLst>
              <a:gd name="adj" fmla="val 24000"/>
            </a:avLst>
          </a:prstGeom>
          <a:solidFill>
            <a:srgbClr val="FFFFFF">
              <a:alpha val="6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67700" y="1781175"/>
            <a:ext cx="13049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Nunito"/>
                <a:ea typeface="Nunito"/>
              </a:rPr>
              <a:t>I used to ~</a:t>
            </a:r>
          </a:p>
        </p:txBody>
      </p:sp>
      <p:sp>
        <p:nvSpPr>
          <p:cNvPr id="16" name="Text 14"/>
          <p:cNvSpPr txBox="1"/>
          <p:nvPr/>
        </p:nvSpPr>
        <p:spPr>
          <a:xfrm>
            <a:off x="7886700" y="1819275"/>
            <a:ext cx="333375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9A7A"/>
                </a:solidFill>
                <a:latin typeface="Nunito"/>
                <a:ea typeface="Nunito"/>
              </a:rPr>
              <a:t>02</a:t>
            </a:r>
          </a:p>
        </p:txBody>
      </p:sp>
      <p:sp>
        <p:nvSpPr>
          <p:cNvPr id="17" name="Shape 15"/>
          <p:cNvSpPr/>
          <p:nvPr/>
        </p:nvSpPr>
        <p:spPr>
          <a:xfrm>
            <a:off x="7715250" y="2247900"/>
            <a:ext cx="4000500" cy="476250"/>
          </a:xfrm>
          <a:prstGeom prst="roundRect">
            <a:avLst>
              <a:gd name="adj" fmla="val 24000"/>
            </a:avLst>
          </a:prstGeom>
          <a:solidFill>
            <a:srgbClr val="FFFFFF">
              <a:alpha val="6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67700" y="2343150"/>
            <a:ext cx="18383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Nunito"/>
                <a:ea typeface="Nunito"/>
              </a:rPr>
              <a:t>I should have ~</a:t>
            </a:r>
          </a:p>
        </p:txBody>
      </p:sp>
      <p:sp>
        <p:nvSpPr>
          <p:cNvPr id="19" name="Text 17"/>
          <p:cNvSpPr txBox="1"/>
          <p:nvPr/>
        </p:nvSpPr>
        <p:spPr>
          <a:xfrm>
            <a:off x="7886700" y="2381250"/>
            <a:ext cx="333375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9A7A"/>
                </a:solidFill>
                <a:latin typeface="Nunito"/>
                <a:ea typeface="Nunito"/>
              </a:rPr>
              <a:t>03</a:t>
            </a:r>
          </a:p>
        </p:txBody>
      </p:sp>
      <p:sp>
        <p:nvSpPr>
          <p:cNvPr id="20" name="Shape 18"/>
          <p:cNvSpPr/>
          <p:nvPr/>
        </p:nvSpPr>
        <p:spPr>
          <a:xfrm>
            <a:off x="7715250" y="2809875"/>
            <a:ext cx="4000500" cy="476250"/>
          </a:xfrm>
          <a:prstGeom prst="roundRect">
            <a:avLst>
              <a:gd name="adj" fmla="val 24000"/>
            </a:avLst>
          </a:prstGeom>
          <a:solidFill>
            <a:srgbClr val="FFFFFF">
              <a:alpha val="6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267700" y="2905125"/>
            <a:ext cx="20669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Nunito"/>
                <a:ea typeface="Nunito"/>
              </a:rPr>
              <a:t>Do you wanna ~?</a:t>
            </a:r>
          </a:p>
        </p:txBody>
      </p:sp>
      <p:sp>
        <p:nvSpPr>
          <p:cNvPr id="22" name="Text 20"/>
          <p:cNvSpPr txBox="1"/>
          <p:nvPr/>
        </p:nvSpPr>
        <p:spPr>
          <a:xfrm>
            <a:off x="7886700" y="2943225"/>
            <a:ext cx="333375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9A7A"/>
                </a:solidFill>
                <a:latin typeface="Nunito"/>
                <a:ea typeface="Nunito"/>
              </a:rPr>
              <a:t>04</a:t>
            </a:r>
          </a:p>
        </p:txBody>
      </p:sp>
      <p:sp>
        <p:nvSpPr>
          <p:cNvPr id="23" name="Shape 21"/>
          <p:cNvSpPr/>
          <p:nvPr/>
        </p:nvSpPr>
        <p:spPr>
          <a:xfrm>
            <a:off x="7715250" y="3371850"/>
            <a:ext cx="4000500" cy="476250"/>
          </a:xfrm>
          <a:prstGeom prst="roundRect">
            <a:avLst>
              <a:gd name="adj" fmla="val 24000"/>
            </a:avLst>
          </a:prstGeom>
          <a:solidFill>
            <a:srgbClr val="FFFFFF">
              <a:alpha val="600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267700" y="3467100"/>
            <a:ext cx="20002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Nunito"/>
                <a:ea typeface="Nunito"/>
              </a:rPr>
              <a:t>I'm looking for ~</a:t>
            </a:r>
          </a:p>
        </p:txBody>
      </p:sp>
      <p:sp>
        <p:nvSpPr>
          <p:cNvPr id="25" name="Text 23"/>
          <p:cNvSpPr txBox="1"/>
          <p:nvPr/>
        </p:nvSpPr>
        <p:spPr>
          <a:xfrm>
            <a:off x="7886700" y="3505200"/>
            <a:ext cx="333375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9A7A"/>
                </a:solidFill>
                <a:latin typeface="Nunito"/>
                <a:ea typeface="Nunito"/>
              </a:rPr>
              <a:t>05</a:t>
            </a:r>
          </a:p>
        </p:txBody>
      </p:sp>
      <p:sp>
        <p:nvSpPr>
          <p:cNvPr id="26" name="Shape 24"/>
          <p:cNvSpPr/>
          <p:nvPr/>
        </p:nvSpPr>
        <p:spPr>
          <a:xfrm>
            <a:off x="7715250" y="3933825"/>
            <a:ext cx="4000500" cy="476250"/>
          </a:xfrm>
          <a:prstGeom prst="roundRect">
            <a:avLst>
              <a:gd name="adj" fmla="val 24000"/>
            </a:avLst>
          </a:prstGeom>
          <a:solidFill>
            <a:srgbClr val="FFFFFF">
              <a:alpha val="600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267700" y="4029075"/>
            <a:ext cx="11430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Nunito"/>
                <a:ea typeface="Nunito"/>
              </a:rPr>
              <a:t>I might ~</a:t>
            </a:r>
          </a:p>
        </p:txBody>
      </p:sp>
      <p:sp>
        <p:nvSpPr>
          <p:cNvPr id="28" name="Text 26"/>
          <p:cNvSpPr txBox="1"/>
          <p:nvPr/>
        </p:nvSpPr>
        <p:spPr>
          <a:xfrm>
            <a:off x="7886700" y="4067175"/>
            <a:ext cx="333375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9A7A"/>
                </a:solidFill>
                <a:latin typeface="Nunito"/>
                <a:ea typeface="Nunito"/>
              </a:rPr>
              <a:t>06</a:t>
            </a:r>
          </a:p>
        </p:txBody>
      </p:sp>
      <p:sp>
        <p:nvSpPr>
          <p:cNvPr id="29" name="Shape 27"/>
          <p:cNvSpPr/>
          <p:nvPr/>
        </p:nvSpPr>
        <p:spPr>
          <a:xfrm>
            <a:off x="7715250" y="4495800"/>
            <a:ext cx="4000500" cy="476250"/>
          </a:xfrm>
          <a:prstGeom prst="roundRect">
            <a:avLst>
              <a:gd name="adj" fmla="val 24000"/>
            </a:avLst>
          </a:prstGeom>
          <a:solidFill>
            <a:srgbClr val="FFFFFF">
              <a:alpha val="600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67700" y="4591050"/>
            <a:ext cx="223837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Nunito"/>
                <a:ea typeface="Nunito"/>
              </a:rPr>
              <a:t>Do you mind if I ~?</a:t>
            </a:r>
          </a:p>
        </p:txBody>
      </p:sp>
      <p:sp>
        <p:nvSpPr>
          <p:cNvPr id="31" name="Text 29"/>
          <p:cNvSpPr txBox="1"/>
          <p:nvPr/>
        </p:nvSpPr>
        <p:spPr>
          <a:xfrm>
            <a:off x="7886700" y="4629150"/>
            <a:ext cx="333375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9A7A"/>
                </a:solidFill>
                <a:latin typeface="Nunito"/>
                <a:ea typeface="Nunito"/>
              </a:rPr>
              <a:t>07</a:t>
            </a:r>
          </a:p>
        </p:txBody>
      </p:sp>
      <p:sp>
        <p:nvSpPr>
          <p:cNvPr id="32" name="Shape 30"/>
          <p:cNvSpPr/>
          <p:nvPr/>
        </p:nvSpPr>
        <p:spPr>
          <a:xfrm>
            <a:off x="7715250" y="5057775"/>
            <a:ext cx="4000500" cy="476250"/>
          </a:xfrm>
          <a:prstGeom prst="roundRect">
            <a:avLst>
              <a:gd name="adj" fmla="val 24000"/>
            </a:avLst>
          </a:prstGeom>
          <a:solidFill>
            <a:srgbClr val="FFFFFF">
              <a:alpha val="600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267700" y="5153025"/>
            <a:ext cx="8382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Nunito"/>
                <a:ea typeface="Nunito"/>
              </a:rPr>
              <a:t>I bet ~</a:t>
            </a:r>
          </a:p>
        </p:txBody>
      </p:sp>
      <p:sp>
        <p:nvSpPr>
          <p:cNvPr id="34" name="Text 32"/>
          <p:cNvSpPr txBox="1"/>
          <p:nvPr/>
        </p:nvSpPr>
        <p:spPr>
          <a:xfrm>
            <a:off x="7886700" y="5191125"/>
            <a:ext cx="333375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9A7A"/>
                </a:solidFill>
                <a:latin typeface="Nunito"/>
                <a:ea typeface="Nunito"/>
              </a:rPr>
              <a:t>08</a:t>
            </a:r>
          </a:p>
        </p:txBody>
      </p:sp>
      <p:sp>
        <p:nvSpPr>
          <p:cNvPr id="35" name="Shape 33"/>
          <p:cNvSpPr/>
          <p:nvPr/>
        </p:nvSpPr>
        <p:spPr>
          <a:xfrm>
            <a:off x="7715250" y="5619750"/>
            <a:ext cx="4000500" cy="476250"/>
          </a:xfrm>
          <a:prstGeom prst="roundRect">
            <a:avLst>
              <a:gd name="adj" fmla="val 24000"/>
            </a:avLst>
          </a:prstGeom>
          <a:solidFill>
            <a:srgbClr val="FFFFFF">
              <a:alpha val="600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267700" y="5715000"/>
            <a:ext cx="17621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Nunito"/>
                <a:ea typeface="Nunito"/>
              </a:rPr>
              <a:t>I'm trying to ~</a:t>
            </a:r>
          </a:p>
        </p:txBody>
      </p:sp>
      <p:sp>
        <p:nvSpPr>
          <p:cNvPr id="37" name="Text 35"/>
          <p:cNvSpPr txBox="1"/>
          <p:nvPr/>
        </p:nvSpPr>
        <p:spPr>
          <a:xfrm>
            <a:off x="7886700" y="5753100"/>
            <a:ext cx="333375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9A7A"/>
                </a:solidFill>
                <a:latin typeface="Nunito"/>
                <a:ea typeface="Nunito"/>
              </a:rPr>
              <a:t>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2581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8A8F9C"/>
                </a:solidFill>
                <a:latin typeface="Zen Maru Gothic"/>
                <a:ea typeface="Zen Maru Gothic"/>
              </a:rPr>
              <a:t>日常英会話フレーズ 9選 まとめ</a:t>
            </a:r>
          </a:p>
        </p:txBody>
      </p:sp>
      <p:sp>
        <p:nvSpPr>
          <p:cNvPr id="3" name="Shape 1"/>
          <p:cNvSpPr/>
          <p:nvPr/>
        </p:nvSpPr>
        <p:spPr>
          <a:xfrm>
            <a:off x="10001250" y="476250"/>
            <a:ext cx="285750" cy="85725"/>
          </a:xfrm>
          <a:prstGeom prst="roundRect">
            <a:avLst>
              <a:gd name="adj" fmla="val 50000"/>
            </a:avLst>
          </a:prstGeom>
          <a:solidFill>
            <a:srgbClr val="E8603C"/>
          </a:solidFill>
          <a:ln/>
        </p:spPr>
      </p:sp>
      <p:sp>
        <p:nvSpPr>
          <p:cNvPr id="4" name="Shape 2"/>
          <p:cNvSpPr/>
          <p:nvPr/>
        </p:nvSpPr>
        <p:spPr>
          <a:xfrm>
            <a:off x="103536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5" name="Shape 3"/>
          <p:cNvSpPr/>
          <p:nvPr/>
        </p:nvSpPr>
        <p:spPr>
          <a:xfrm>
            <a:off x="105060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6" name="Shape 4"/>
          <p:cNvSpPr/>
          <p:nvPr/>
        </p:nvSpPr>
        <p:spPr>
          <a:xfrm>
            <a:off x="106584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7" name="Shape 5"/>
          <p:cNvSpPr/>
          <p:nvPr/>
        </p:nvSpPr>
        <p:spPr>
          <a:xfrm>
            <a:off x="108108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8" name="Shape 6"/>
          <p:cNvSpPr/>
          <p:nvPr/>
        </p:nvSpPr>
        <p:spPr>
          <a:xfrm>
            <a:off x="109632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9" name="Shape 7"/>
          <p:cNvSpPr/>
          <p:nvPr/>
        </p:nvSpPr>
        <p:spPr>
          <a:xfrm>
            <a:off x="111156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10" name="Shape 8"/>
          <p:cNvSpPr/>
          <p:nvPr/>
        </p:nvSpPr>
        <p:spPr>
          <a:xfrm>
            <a:off x="112680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11" name="Shape 9"/>
          <p:cNvSpPr/>
          <p:nvPr/>
        </p:nvSpPr>
        <p:spPr>
          <a:xfrm>
            <a:off x="114204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85800" y="561975"/>
            <a:ext cx="1476375" cy="1400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8100" b="1">
                <a:solidFill>
                  <a:srgbClr val="E8603C"/>
                </a:solidFill>
                <a:latin typeface="Nunito"/>
                <a:ea typeface="Nunito"/>
              </a:rPr>
              <a:t>01</a:t>
            </a:r>
          </a:p>
        </p:txBody>
      </p:sp>
      <p:sp>
        <p:nvSpPr>
          <p:cNvPr id="13" name="Text 11"/>
          <p:cNvSpPr txBox="1"/>
          <p:nvPr/>
        </p:nvSpPr>
        <p:spPr>
          <a:xfrm>
            <a:off x="2228850" y="742950"/>
            <a:ext cx="4086225" cy="704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4050" b="1">
                <a:solidFill>
                  <a:srgbClr val="22304A"/>
                </a:solidFill>
                <a:latin typeface="Nunito"/>
                <a:ea typeface="Nunito"/>
              </a:rPr>
              <a:t>I feel like </a:t>
            </a:r>
            <a:pPr algn="l"/>
            <a:r>
              <a:rPr sz="4050" b="1">
                <a:solidFill>
                  <a:srgbClr val="E8603C"/>
                </a:solidFill>
                <a:latin typeface="Nunito"/>
                <a:ea typeface="Nunito"/>
              </a:rPr>
              <a:t>~ing</a:t>
            </a:r>
          </a:p>
        </p:txBody>
      </p:sp>
      <p:sp>
        <p:nvSpPr>
          <p:cNvPr id="14" name="Text 12"/>
          <p:cNvSpPr txBox="1"/>
          <p:nvPr/>
        </p:nvSpPr>
        <p:spPr>
          <a:xfrm>
            <a:off x="2228850" y="1485900"/>
            <a:ext cx="1647825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2100" b="1">
                <a:solidFill>
                  <a:srgbClr val="22304A"/>
                </a:solidFill>
                <a:latin typeface="Zen Maru Gothic"/>
                <a:ea typeface="Zen Maru Gothic"/>
              </a:rPr>
              <a:t>〇〇な気分</a:t>
            </a:r>
          </a:p>
        </p:txBody>
      </p:sp>
      <p:sp>
        <p:nvSpPr>
          <p:cNvPr id="15" name="Shape 13"/>
          <p:cNvSpPr/>
          <p:nvPr/>
        </p:nvSpPr>
        <p:spPr>
          <a:xfrm>
            <a:off x="3714750" y="1504950"/>
            <a:ext cx="1295400" cy="342900"/>
          </a:xfrm>
          <a:prstGeom prst="roundRect">
            <a:avLst>
              <a:gd name="adj" fmla="val 50000"/>
            </a:avLst>
          </a:prstGeom>
          <a:solidFill>
            <a:srgbClr val="FCE4D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848100" y="1552575"/>
            <a:ext cx="12954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E8603C"/>
                </a:solidFill>
                <a:latin typeface="Zen Maru Gothic"/>
                <a:ea typeface="Zen Maru Gothic"/>
              </a:rPr>
              <a:t>＋動詞のing形</a:t>
            </a:r>
          </a:p>
        </p:txBody>
      </p:sp>
      <p:sp>
        <p:nvSpPr>
          <p:cNvPr id="17" name="Shape 15"/>
          <p:cNvSpPr/>
          <p:nvPr/>
        </p:nvSpPr>
        <p:spPr>
          <a:xfrm>
            <a:off x="2228850" y="2019300"/>
            <a:ext cx="476250" cy="276225"/>
          </a:xfrm>
          <a:prstGeom prst="roundRect">
            <a:avLst>
              <a:gd name="adj" fmla="val 20690"/>
            </a:avLst>
          </a:prstGeom>
          <a:solidFill>
            <a:srgbClr val="22304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333625" y="2057400"/>
            <a:ext cx="4191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FFFFFF"/>
                </a:solidFill>
                <a:latin typeface="Zen Maru Gothic"/>
                <a:ea typeface="Zen Maru Gothic"/>
              </a:rPr>
              <a:t>否定</a:t>
            </a:r>
          </a:p>
        </p:txBody>
      </p:sp>
      <p:sp>
        <p:nvSpPr>
          <p:cNvPr id="19" name="Text 17"/>
          <p:cNvSpPr txBox="1"/>
          <p:nvPr/>
        </p:nvSpPr>
        <p:spPr>
          <a:xfrm>
            <a:off x="2838450" y="2000250"/>
            <a:ext cx="2714625" cy="323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900" b="1">
                <a:solidFill>
                  <a:srgbClr val="22304A"/>
                </a:solidFill>
                <a:latin typeface="Nunito"/>
                <a:ea typeface="Nunito"/>
              </a:rPr>
              <a:t>I don't feel like ~ing</a:t>
            </a:r>
          </a:p>
        </p:txBody>
      </p:sp>
      <p:sp>
        <p:nvSpPr>
          <p:cNvPr id="20" name="Text 18"/>
          <p:cNvSpPr txBox="1"/>
          <p:nvPr/>
        </p:nvSpPr>
        <p:spPr>
          <a:xfrm>
            <a:off x="5229225" y="2019300"/>
            <a:ext cx="38385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4A5568"/>
                </a:solidFill>
                <a:latin typeface="Zen Maru Gothic"/>
                <a:ea typeface="Zen Maru Gothic"/>
              </a:rPr>
              <a:t>〇〇な気分ではない・〇〇したくない</a:t>
            </a:r>
          </a:p>
        </p:txBody>
      </p:sp>
      <p:sp>
        <p:nvSpPr>
          <p:cNvPr id="21" name="Text 19"/>
          <p:cNvSpPr txBox="1"/>
          <p:nvPr/>
        </p:nvSpPr>
        <p:spPr>
          <a:xfrm>
            <a:off x="685800" y="2571750"/>
            <a:ext cx="5048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8A8F9C"/>
                </a:solidFill>
                <a:latin typeface="Zen Maru Gothic"/>
                <a:ea typeface="Zen Maru Gothic"/>
              </a:rPr>
              <a:t>例文</a:t>
            </a:r>
          </a:p>
        </p:txBody>
      </p:sp>
      <p:sp>
        <p:nvSpPr>
          <p:cNvPr id="22" name="Shape 20"/>
          <p:cNvSpPr/>
          <p:nvPr/>
        </p:nvSpPr>
        <p:spPr>
          <a:xfrm>
            <a:off x="1143000" y="2667000"/>
            <a:ext cx="10363200" cy="0"/>
          </a:xfrm>
          <a:prstGeom prst="line">
            <a:avLst/>
          </a:prstGeom>
          <a:noFill/>
          <a:ln w="19050">
            <a:solidFill>
              <a:srgbClr val="EBE1D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5800" y="2886075"/>
            <a:ext cx="10820400" cy="1104900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52500" y="3276600"/>
            <a:ext cx="323850" cy="323850"/>
          </a:xfrm>
          <a:prstGeom prst="ellipse">
            <a:avLst/>
          </a:prstGeom>
          <a:solidFill>
            <a:srgbClr val="FCE4D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00125" y="3324225"/>
            <a:ext cx="2286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E8603C"/>
                </a:solidFill>
                <a:latin typeface="Nunito"/>
                <a:ea typeface="Nunito"/>
              </a:rPr>
              <a:t>1</a:t>
            </a:r>
          </a:p>
        </p:txBody>
      </p:sp>
      <p:sp>
        <p:nvSpPr>
          <p:cNvPr id="26" name="Text 24"/>
          <p:cNvSpPr txBox="1"/>
          <p:nvPr/>
        </p:nvSpPr>
        <p:spPr>
          <a:xfrm>
            <a:off x="1466850" y="3238500"/>
            <a:ext cx="46386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23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I feel like</a:t>
            </a:r>
            <a:pPr algn="l"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</a:t>
            </a:r>
            <a:pPr algn="l"/>
            <a:r>
              <a:rPr sz="2350" b="1">
                <a:solidFill>
                  <a:srgbClr val="E8603C"/>
                </a:solidFill>
                <a:latin typeface="Nunito"/>
                <a:ea typeface="Nunito"/>
              </a:rPr>
              <a:t>eating</a:t>
            </a:r>
            <a:pPr algn="l"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pizza today.</a:t>
            </a:r>
          </a:p>
        </p:txBody>
      </p:sp>
      <p:sp>
        <p:nvSpPr>
          <p:cNvPr id="27" name="Text 25"/>
          <p:cNvSpPr txBox="1"/>
          <p:nvPr/>
        </p:nvSpPr>
        <p:spPr>
          <a:xfrm>
            <a:off x="7524750" y="3276600"/>
            <a:ext cx="3248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4A5568"/>
                </a:solidFill>
                <a:latin typeface="Zen Maru Gothic"/>
                <a:ea typeface="Zen Maru Gothic"/>
              </a:rPr>
              <a:t>今日ピザを食べたい気分やわ</a:t>
            </a:r>
          </a:p>
        </p:txBody>
      </p:sp>
      <p:sp>
        <p:nvSpPr>
          <p:cNvPr id="28" name="Shape 26"/>
          <p:cNvSpPr/>
          <p:nvPr/>
        </p:nvSpPr>
        <p:spPr>
          <a:xfrm>
            <a:off x="685800" y="4124325"/>
            <a:ext cx="10820400" cy="1104900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52500" y="4514850"/>
            <a:ext cx="323850" cy="323850"/>
          </a:xfrm>
          <a:prstGeom prst="ellipse">
            <a:avLst/>
          </a:prstGeom>
          <a:solidFill>
            <a:srgbClr val="FCE4D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00125" y="4572000"/>
            <a:ext cx="2286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E8603C"/>
                </a:solidFill>
                <a:latin typeface="Nunito"/>
                <a:ea typeface="Nunito"/>
              </a:rPr>
              <a:t>2</a:t>
            </a:r>
          </a:p>
        </p:txBody>
      </p:sp>
      <p:sp>
        <p:nvSpPr>
          <p:cNvPr id="31" name="Text 29"/>
          <p:cNvSpPr txBox="1"/>
          <p:nvPr/>
        </p:nvSpPr>
        <p:spPr>
          <a:xfrm>
            <a:off x="1466850" y="4476750"/>
            <a:ext cx="51816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23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I don't feel like</a:t>
            </a:r>
            <a:pPr algn="l"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</a:t>
            </a:r>
            <a:pPr algn="l"/>
            <a:r>
              <a:rPr sz="2350" b="1">
                <a:solidFill>
                  <a:srgbClr val="E8603C"/>
                </a:solidFill>
                <a:latin typeface="Nunito"/>
                <a:ea typeface="Nunito"/>
              </a:rPr>
              <a:t>going</a:t>
            </a:r>
            <a:pPr algn="l"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out today.</a:t>
            </a:r>
          </a:p>
        </p:txBody>
      </p:sp>
      <p:sp>
        <p:nvSpPr>
          <p:cNvPr id="32" name="Text 30"/>
          <p:cNvSpPr txBox="1"/>
          <p:nvPr/>
        </p:nvSpPr>
        <p:spPr>
          <a:xfrm>
            <a:off x="7524750" y="4514850"/>
            <a:ext cx="27622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4A5568"/>
                </a:solidFill>
                <a:latin typeface="Zen Maru Gothic"/>
                <a:ea typeface="Zen Maru Gothic"/>
              </a:rPr>
              <a:t>外に出る気にならないわ</a:t>
            </a:r>
          </a:p>
        </p:txBody>
      </p:sp>
      <p:sp>
        <p:nvSpPr>
          <p:cNvPr id="33" name="Shape 31"/>
          <p:cNvSpPr/>
          <p:nvPr/>
        </p:nvSpPr>
        <p:spPr>
          <a:xfrm>
            <a:off x="685800" y="5372100"/>
            <a:ext cx="10820400" cy="1104900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52500" y="5762625"/>
            <a:ext cx="323850" cy="323850"/>
          </a:xfrm>
          <a:prstGeom prst="ellipse">
            <a:avLst/>
          </a:prstGeom>
          <a:solidFill>
            <a:srgbClr val="FCE4D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000125" y="5810250"/>
            <a:ext cx="2286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E8603C"/>
                </a:solidFill>
                <a:latin typeface="Nunito"/>
                <a:ea typeface="Nunito"/>
              </a:rPr>
              <a:t>3</a:t>
            </a:r>
          </a:p>
        </p:txBody>
      </p:sp>
      <p:sp>
        <p:nvSpPr>
          <p:cNvPr id="36" name="Text 34"/>
          <p:cNvSpPr txBox="1"/>
          <p:nvPr/>
        </p:nvSpPr>
        <p:spPr>
          <a:xfrm>
            <a:off x="1466850" y="5724525"/>
            <a:ext cx="37623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23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I feel like</a:t>
            </a:r>
            <a:pPr algn="l"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</a:t>
            </a:r>
            <a:pPr algn="l"/>
            <a:r>
              <a:rPr sz="2350" b="1">
                <a:solidFill>
                  <a:srgbClr val="E8603C"/>
                </a:solidFill>
                <a:latin typeface="Nunito"/>
                <a:ea typeface="Nunito"/>
              </a:rPr>
              <a:t>watching</a:t>
            </a:r>
            <a:pPr algn="l"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TV.</a:t>
            </a:r>
          </a:p>
        </p:txBody>
      </p:sp>
      <p:sp>
        <p:nvSpPr>
          <p:cNvPr id="37" name="Text 35"/>
          <p:cNvSpPr txBox="1"/>
          <p:nvPr/>
        </p:nvSpPr>
        <p:spPr>
          <a:xfrm>
            <a:off x="7524750" y="5762625"/>
            <a:ext cx="30099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4A5568"/>
                </a:solidFill>
                <a:latin typeface="Zen Maru Gothic"/>
                <a:ea typeface="Zen Maru Gothic"/>
              </a:rPr>
              <a:t>今日はテレビを見たい気分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2581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8A8F9C"/>
                </a:solidFill>
                <a:latin typeface="Zen Maru Gothic"/>
                <a:ea typeface="Zen Maru Gothic"/>
              </a:rPr>
              <a:t>日常英会話フレーズ 9選 まとめ</a:t>
            </a:r>
          </a:p>
        </p:txBody>
      </p:sp>
      <p:sp>
        <p:nvSpPr>
          <p:cNvPr id="3" name="Shape 1"/>
          <p:cNvSpPr/>
          <p:nvPr/>
        </p:nvSpPr>
        <p:spPr>
          <a:xfrm>
            <a:off x="100012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4" name="Shape 2"/>
          <p:cNvSpPr/>
          <p:nvPr/>
        </p:nvSpPr>
        <p:spPr>
          <a:xfrm>
            <a:off x="10153650" y="476250"/>
            <a:ext cx="285750" cy="85725"/>
          </a:xfrm>
          <a:prstGeom prst="roundRect">
            <a:avLst>
              <a:gd name="adj" fmla="val 50000"/>
            </a:avLst>
          </a:prstGeom>
          <a:solidFill>
            <a:srgbClr val="E8603C"/>
          </a:solidFill>
          <a:ln/>
        </p:spPr>
      </p:sp>
      <p:sp>
        <p:nvSpPr>
          <p:cNvPr id="5" name="Shape 3"/>
          <p:cNvSpPr/>
          <p:nvPr/>
        </p:nvSpPr>
        <p:spPr>
          <a:xfrm>
            <a:off x="105060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6" name="Shape 4"/>
          <p:cNvSpPr/>
          <p:nvPr/>
        </p:nvSpPr>
        <p:spPr>
          <a:xfrm>
            <a:off x="106584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7" name="Shape 5"/>
          <p:cNvSpPr/>
          <p:nvPr/>
        </p:nvSpPr>
        <p:spPr>
          <a:xfrm>
            <a:off x="108108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8" name="Shape 6"/>
          <p:cNvSpPr/>
          <p:nvPr/>
        </p:nvSpPr>
        <p:spPr>
          <a:xfrm>
            <a:off x="109632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9" name="Shape 7"/>
          <p:cNvSpPr/>
          <p:nvPr/>
        </p:nvSpPr>
        <p:spPr>
          <a:xfrm>
            <a:off x="111156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10" name="Shape 8"/>
          <p:cNvSpPr/>
          <p:nvPr/>
        </p:nvSpPr>
        <p:spPr>
          <a:xfrm>
            <a:off x="112680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11" name="Shape 9"/>
          <p:cNvSpPr/>
          <p:nvPr/>
        </p:nvSpPr>
        <p:spPr>
          <a:xfrm>
            <a:off x="114204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85800" y="561975"/>
            <a:ext cx="1476375" cy="1400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8100" b="1">
                <a:solidFill>
                  <a:srgbClr val="E8603C"/>
                </a:solidFill>
                <a:latin typeface="Nunito"/>
                <a:ea typeface="Nunito"/>
              </a:rPr>
              <a:t>02</a:t>
            </a:r>
          </a:p>
        </p:txBody>
      </p:sp>
      <p:sp>
        <p:nvSpPr>
          <p:cNvPr id="13" name="Text 11"/>
          <p:cNvSpPr txBox="1"/>
          <p:nvPr/>
        </p:nvSpPr>
        <p:spPr>
          <a:xfrm>
            <a:off x="2228850" y="742950"/>
            <a:ext cx="3028950" cy="704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4050" b="1">
                <a:solidFill>
                  <a:srgbClr val="22304A"/>
                </a:solidFill>
                <a:latin typeface="Nunito"/>
                <a:ea typeface="Nunito"/>
              </a:rPr>
              <a:t>I used to </a:t>
            </a:r>
            <a:pPr algn="l"/>
            <a:r>
              <a:rPr sz="4050" b="1">
                <a:solidFill>
                  <a:srgbClr val="E8603C"/>
                </a:solidFill>
                <a:latin typeface="Nunito"/>
                <a:ea typeface="Nunito"/>
              </a:rPr>
              <a:t>~</a:t>
            </a:r>
          </a:p>
        </p:txBody>
      </p:sp>
      <p:sp>
        <p:nvSpPr>
          <p:cNvPr id="14" name="Text 12"/>
          <p:cNvSpPr txBox="1"/>
          <p:nvPr/>
        </p:nvSpPr>
        <p:spPr>
          <a:xfrm>
            <a:off x="2228850" y="1485900"/>
            <a:ext cx="2257425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2100" b="1">
                <a:solidFill>
                  <a:srgbClr val="22304A"/>
                </a:solidFill>
                <a:latin typeface="Zen Maru Gothic"/>
                <a:ea typeface="Zen Maru Gothic"/>
              </a:rPr>
              <a:t>昔は〇〇してた</a:t>
            </a:r>
          </a:p>
        </p:txBody>
      </p:sp>
      <p:sp>
        <p:nvSpPr>
          <p:cNvPr id="15" name="Shape 13"/>
          <p:cNvSpPr/>
          <p:nvPr/>
        </p:nvSpPr>
        <p:spPr>
          <a:xfrm>
            <a:off x="4248150" y="1504950"/>
            <a:ext cx="1238250" cy="342900"/>
          </a:xfrm>
          <a:prstGeom prst="roundRect">
            <a:avLst>
              <a:gd name="adj" fmla="val 50000"/>
            </a:avLst>
          </a:prstGeom>
          <a:solidFill>
            <a:srgbClr val="FCE4D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381500" y="1552575"/>
            <a:ext cx="12287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E8603C"/>
                </a:solidFill>
                <a:latin typeface="Zen Maru Gothic"/>
                <a:ea typeface="Zen Maru Gothic"/>
              </a:rPr>
              <a:t>＋動詞の原形</a:t>
            </a:r>
          </a:p>
        </p:txBody>
      </p:sp>
      <p:sp>
        <p:nvSpPr>
          <p:cNvPr id="17" name="Text 15"/>
          <p:cNvSpPr txBox="1"/>
          <p:nvPr/>
        </p:nvSpPr>
        <p:spPr>
          <a:xfrm>
            <a:off x="685800" y="2114550"/>
            <a:ext cx="5048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8A8F9C"/>
                </a:solidFill>
                <a:latin typeface="Zen Maru Gothic"/>
                <a:ea typeface="Zen Maru Gothic"/>
              </a:rPr>
              <a:t>例文</a:t>
            </a:r>
          </a:p>
        </p:txBody>
      </p:sp>
      <p:sp>
        <p:nvSpPr>
          <p:cNvPr id="18" name="Shape 16"/>
          <p:cNvSpPr/>
          <p:nvPr/>
        </p:nvSpPr>
        <p:spPr>
          <a:xfrm>
            <a:off x="1143000" y="2209800"/>
            <a:ext cx="10363200" cy="0"/>
          </a:xfrm>
          <a:prstGeom prst="line">
            <a:avLst/>
          </a:prstGeom>
          <a:noFill/>
          <a:ln w="19050">
            <a:solidFill>
              <a:srgbClr val="EBE1D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5800" y="2428875"/>
            <a:ext cx="10820400" cy="12573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52500" y="2895600"/>
            <a:ext cx="323850" cy="323850"/>
          </a:xfrm>
          <a:prstGeom prst="ellipse">
            <a:avLst/>
          </a:prstGeom>
          <a:solidFill>
            <a:srgbClr val="FCE4D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00125" y="2943225"/>
            <a:ext cx="2286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E8603C"/>
                </a:solidFill>
                <a:latin typeface="Nunito"/>
                <a:ea typeface="Nunito"/>
              </a:rPr>
              <a:t>1</a:t>
            </a:r>
          </a:p>
        </p:txBody>
      </p:sp>
      <p:sp>
        <p:nvSpPr>
          <p:cNvPr id="22" name="Text 20"/>
          <p:cNvSpPr txBox="1"/>
          <p:nvPr/>
        </p:nvSpPr>
        <p:spPr>
          <a:xfrm>
            <a:off x="1466850" y="2857500"/>
            <a:ext cx="41148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23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I used to</a:t>
            </a:r>
            <a:pPr algn="l"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</a:t>
            </a:r>
            <a:pPr algn="l"/>
            <a:r>
              <a:rPr sz="2350" b="1">
                <a:solidFill>
                  <a:srgbClr val="E8603C"/>
                </a:solidFill>
                <a:latin typeface="Nunito"/>
                <a:ea typeface="Nunito"/>
              </a:rPr>
              <a:t>play</a:t>
            </a:r>
            <a:pPr algn="l"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basketball.</a:t>
            </a:r>
          </a:p>
        </p:txBody>
      </p:sp>
      <p:sp>
        <p:nvSpPr>
          <p:cNvPr id="23" name="Text 21"/>
          <p:cNvSpPr txBox="1"/>
          <p:nvPr/>
        </p:nvSpPr>
        <p:spPr>
          <a:xfrm>
            <a:off x="7524750" y="2895600"/>
            <a:ext cx="22860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4A5568"/>
                </a:solidFill>
                <a:latin typeface="Zen Maru Gothic"/>
                <a:ea typeface="Zen Maru Gothic"/>
              </a:rPr>
              <a:t>バスケ昔やっていた</a:t>
            </a:r>
          </a:p>
        </p:txBody>
      </p:sp>
      <p:sp>
        <p:nvSpPr>
          <p:cNvPr id="24" name="Shape 22"/>
          <p:cNvSpPr/>
          <p:nvPr/>
        </p:nvSpPr>
        <p:spPr>
          <a:xfrm>
            <a:off x="685800" y="3819525"/>
            <a:ext cx="10820400" cy="12573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52500" y="4286250"/>
            <a:ext cx="323850" cy="323850"/>
          </a:xfrm>
          <a:prstGeom prst="ellipse">
            <a:avLst/>
          </a:prstGeom>
          <a:solidFill>
            <a:srgbClr val="FCE4D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00125" y="4343400"/>
            <a:ext cx="2286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E8603C"/>
                </a:solidFill>
                <a:latin typeface="Nunito"/>
                <a:ea typeface="Nunito"/>
              </a:rPr>
              <a:t>2</a:t>
            </a:r>
          </a:p>
        </p:txBody>
      </p:sp>
      <p:sp>
        <p:nvSpPr>
          <p:cNvPr id="27" name="Text 25"/>
          <p:cNvSpPr txBox="1"/>
          <p:nvPr/>
        </p:nvSpPr>
        <p:spPr>
          <a:xfrm>
            <a:off x="1466850" y="4248150"/>
            <a:ext cx="26955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23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I used to</a:t>
            </a:r>
            <a:pPr algn="l"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</a:t>
            </a:r>
            <a:pPr algn="l"/>
            <a:r>
              <a:rPr sz="2350" b="1">
                <a:solidFill>
                  <a:srgbClr val="E8603C"/>
                </a:solidFill>
                <a:latin typeface="Nunito"/>
                <a:ea typeface="Nunito"/>
              </a:rPr>
              <a:t>smoke</a:t>
            </a:r>
            <a:pPr algn="l"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.</a:t>
            </a:r>
          </a:p>
        </p:txBody>
      </p:sp>
      <p:sp>
        <p:nvSpPr>
          <p:cNvPr id="28" name="Text 26"/>
          <p:cNvSpPr txBox="1"/>
          <p:nvPr/>
        </p:nvSpPr>
        <p:spPr>
          <a:xfrm>
            <a:off x="7524750" y="4286250"/>
            <a:ext cx="22860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4A5568"/>
                </a:solidFill>
                <a:latin typeface="Zen Maru Gothic"/>
                <a:ea typeface="Zen Maru Gothic"/>
              </a:rPr>
              <a:t>昔はタバコ吸ってた</a:t>
            </a:r>
          </a:p>
        </p:txBody>
      </p:sp>
      <p:sp>
        <p:nvSpPr>
          <p:cNvPr id="29" name="Shape 27"/>
          <p:cNvSpPr/>
          <p:nvPr/>
        </p:nvSpPr>
        <p:spPr>
          <a:xfrm>
            <a:off x="685800" y="5219700"/>
            <a:ext cx="10820400" cy="12573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52500" y="5686425"/>
            <a:ext cx="323850" cy="323850"/>
          </a:xfrm>
          <a:prstGeom prst="ellipse">
            <a:avLst/>
          </a:prstGeom>
          <a:solidFill>
            <a:srgbClr val="FCE4D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000125" y="5734050"/>
            <a:ext cx="2286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E8603C"/>
                </a:solidFill>
                <a:latin typeface="Nunito"/>
                <a:ea typeface="Nunito"/>
              </a:rPr>
              <a:t>3</a:t>
            </a:r>
          </a:p>
        </p:txBody>
      </p:sp>
      <p:sp>
        <p:nvSpPr>
          <p:cNvPr id="32" name="Text 30"/>
          <p:cNvSpPr txBox="1"/>
          <p:nvPr/>
        </p:nvSpPr>
        <p:spPr>
          <a:xfrm>
            <a:off x="1466850" y="5648325"/>
            <a:ext cx="43338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23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I used to</a:t>
            </a:r>
            <a:pPr algn="l"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</a:t>
            </a:r>
            <a:pPr algn="l"/>
            <a:r>
              <a:rPr sz="2350" b="1">
                <a:solidFill>
                  <a:srgbClr val="E8603C"/>
                </a:solidFill>
                <a:latin typeface="Nunito"/>
                <a:ea typeface="Nunito"/>
              </a:rPr>
              <a:t>work</a:t>
            </a:r>
            <a:pPr algn="l"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late </a:t>
            </a:r>
            <a:pPr algn="l"/>
            <a:r>
              <a:rPr sz="2350" b="1">
                <a:solidFill>
                  <a:srgbClr val="8A8F9C"/>
                </a:solidFill>
                <a:latin typeface="Nunito"/>
                <a:ea typeface="Nunito"/>
              </a:rPr>
              <a:t>(often)</a:t>
            </a:r>
            <a:pPr algn="l"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.</a:t>
            </a:r>
          </a:p>
        </p:txBody>
      </p:sp>
      <p:sp>
        <p:nvSpPr>
          <p:cNvPr id="33" name="Text 31"/>
          <p:cNvSpPr txBox="1"/>
          <p:nvPr/>
        </p:nvSpPr>
        <p:spPr>
          <a:xfrm>
            <a:off x="7524750" y="5686425"/>
            <a:ext cx="22860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4A5568"/>
                </a:solidFill>
                <a:latin typeface="Zen Maru Gothic"/>
                <a:ea typeface="Zen Maru Gothic"/>
              </a:rPr>
              <a:t>昔はよく残業してた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2581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8A8F9C"/>
                </a:solidFill>
                <a:latin typeface="Zen Maru Gothic"/>
                <a:ea typeface="Zen Maru Gothic"/>
              </a:rPr>
              <a:t>日常英会話フレーズ 9選 まとめ</a:t>
            </a:r>
          </a:p>
        </p:txBody>
      </p:sp>
      <p:sp>
        <p:nvSpPr>
          <p:cNvPr id="3" name="Shape 1"/>
          <p:cNvSpPr/>
          <p:nvPr/>
        </p:nvSpPr>
        <p:spPr>
          <a:xfrm>
            <a:off x="100012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4" name="Shape 2"/>
          <p:cNvSpPr/>
          <p:nvPr/>
        </p:nvSpPr>
        <p:spPr>
          <a:xfrm>
            <a:off x="101536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5" name="Shape 3"/>
          <p:cNvSpPr/>
          <p:nvPr/>
        </p:nvSpPr>
        <p:spPr>
          <a:xfrm>
            <a:off x="10306050" y="476250"/>
            <a:ext cx="285750" cy="85725"/>
          </a:xfrm>
          <a:prstGeom prst="roundRect">
            <a:avLst>
              <a:gd name="adj" fmla="val 50000"/>
            </a:avLst>
          </a:prstGeom>
          <a:solidFill>
            <a:srgbClr val="E8603C"/>
          </a:solidFill>
          <a:ln/>
        </p:spPr>
      </p:sp>
      <p:sp>
        <p:nvSpPr>
          <p:cNvPr id="6" name="Shape 4"/>
          <p:cNvSpPr/>
          <p:nvPr/>
        </p:nvSpPr>
        <p:spPr>
          <a:xfrm>
            <a:off x="106584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7" name="Shape 5"/>
          <p:cNvSpPr/>
          <p:nvPr/>
        </p:nvSpPr>
        <p:spPr>
          <a:xfrm>
            <a:off x="108108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8" name="Shape 6"/>
          <p:cNvSpPr/>
          <p:nvPr/>
        </p:nvSpPr>
        <p:spPr>
          <a:xfrm>
            <a:off x="109632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9" name="Shape 7"/>
          <p:cNvSpPr/>
          <p:nvPr/>
        </p:nvSpPr>
        <p:spPr>
          <a:xfrm>
            <a:off x="111156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10" name="Shape 8"/>
          <p:cNvSpPr/>
          <p:nvPr/>
        </p:nvSpPr>
        <p:spPr>
          <a:xfrm>
            <a:off x="112680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11" name="Shape 9"/>
          <p:cNvSpPr/>
          <p:nvPr/>
        </p:nvSpPr>
        <p:spPr>
          <a:xfrm>
            <a:off x="114204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85800" y="561975"/>
            <a:ext cx="1476375" cy="1400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8100" b="1">
                <a:solidFill>
                  <a:srgbClr val="E8603C"/>
                </a:solidFill>
                <a:latin typeface="Nunito"/>
                <a:ea typeface="Nunito"/>
              </a:rPr>
              <a:t>03</a:t>
            </a:r>
          </a:p>
        </p:txBody>
      </p:sp>
      <p:sp>
        <p:nvSpPr>
          <p:cNvPr id="13" name="Text 11"/>
          <p:cNvSpPr txBox="1"/>
          <p:nvPr/>
        </p:nvSpPr>
        <p:spPr>
          <a:xfrm>
            <a:off x="2228850" y="742950"/>
            <a:ext cx="4333875" cy="704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4050" b="1">
                <a:solidFill>
                  <a:srgbClr val="22304A"/>
                </a:solidFill>
                <a:latin typeface="Nunito"/>
                <a:ea typeface="Nunito"/>
              </a:rPr>
              <a:t>I should have </a:t>
            </a:r>
            <a:pPr algn="l"/>
            <a:r>
              <a:rPr sz="4050" b="1">
                <a:solidFill>
                  <a:srgbClr val="E8603C"/>
                </a:solidFill>
                <a:latin typeface="Nunito"/>
                <a:ea typeface="Nunito"/>
              </a:rPr>
              <a:t>~</a:t>
            </a:r>
          </a:p>
        </p:txBody>
      </p:sp>
      <p:sp>
        <p:nvSpPr>
          <p:cNvPr id="14" name="Text 12"/>
          <p:cNvSpPr txBox="1"/>
          <p:nvPr/>
        </p:nvSpPr>
        <p:spPr>
          <a:xfrm>
            <a:off x="2228850" y="1485900"/>
            <a:ext cx="31813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2100" b="1">
                <a:solidFill>
                  <a:srgbClr val="22304A"/>
                </a:solidFill>
                <a:latin typeface="Zen Maru Gothic"/>
                <a:ea typeface="Zen Maru Gothic"/>
              </a:rPr>
              <a:t>〇〇しとけばよかった</a:t>
            </a:r>
          </a:p>
        </p:txBody>
      </p:sp>
      <p:sp>
        <p:nvSpPr>
          <p:cNvPr id="15" name="Shape 13"/>
          <p:cNvSpPr/>
          <p:nvPr/>
        </p:nvSpPr>
        <p:spPr>
          <a:xfrm>
            <a:off x="5048250" y="1504950"/>
            <a:ext cx="1076325" cy="342900"/>
          </a:xfrm>
          <a:prstGeom prst="roundRect">
            <a:avLst>
              <a:gd name="adj" fmla="val 50000"/>
            </a:avLst>
          </a:prstGeom>
          <a:solidFill>
            <a:srgbClr val="FCE4D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181600" y="1552575"/>
            <a:ext cx="1047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E8603C"/>
                </a:solidFill>
                <a:latin typeface="Zen Maru Gothic"/>
                <a:ea typeface="Zen Maru Gothic"/>
              </a:rPr>
              <a:t>＋過去分詞</a:t>
            </a:r>
          </a:p>
        </p:txBody>
      </p:sp>
      <p:sp>
        <p:nvSpPr>
          <p:cNvPr id="17" name="Shape 15"/>
          <p:cNvSpPr/>
          <p:nvPr/>
        </p:nvSpPr>
        <p:spPr>
          <a:xfrm>
            <a:off x="2228850" y="2019300"/>
            <a:ext cx="476250" cy="276225"/>
          </a:xfrm>
          <a:prstGeom prst="roundRect">
            <a:avLst>
              <a:gd name="adj" fmla="val 20690"/>
            </a:avLst>
          </a:prstGeom>
          <a:solidFill>
            <a:srgbClr val="22304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333625" y="2057400"/>
            <a:ext cx="4191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FFFFFF"/>
                </a:solidFill>
                <a:latin typeface="Zen Maru Gothic"/>
                <a:ea typeface="Zen Maru Gothic"/>
              </a:rPr>
              <a:t>否定</a:t>
            </a:r>
          </a:p>
        </p:txBody>
      </p:sp>
      <p:sp>
        <p:nvSpPr>
          <p:cNvPr id="19" name="Text 17"/>
          <p:cNvSpPr txBox="1"/>
          <p:nvPr/>
        </p:nvSpPr>
        <p:spPr>
          <a:xfrm>
            <a:off x="2838450" y="2000250"/>
            <a:ext cx="2419350" cy="323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900" b="1">
                <a:solidFill>
                  <a:srgbClr val="22304A"/>
                </a:solidFill>
                <a:latin typeface="Nunito"/>
                <a:ea typeface="Nunito"/>
              </a:rPr>
              <a:t>I shouldn't have ~</a:t>
            </a:r>
          </a:p>
        </p:txBody>
      </p:sp>
      <p:sp>
        <p:nvSpPr>
          <p:cNvPr id="20" name="Text 18"/>
          <p:cNvSpPr txBox="1"/>
          <p:nvPr/>
        </p:nvSpPr>
        <p:spPr>
          <a:xfrm>
            <a:off x="4972050" y="2019300"/>
            <a:ext cx="25241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4A5568"/>
                </a:solidFill>
                <a:latin typeface="Zen Maru Gothic"/>
                <a:ea typeface="Zen Maru Gothic"/>
              </a:rPr>
              <a:t>〇〇しなければよかった</a:t>
            </a:r>
          </a:p>
        </p:txBody>
      </p:sp>
      <p:sp>
        <p:nvSpPr>
          <p:cNvPr id="21" name="Text 19"/>
          <p:cNvSpPr txBox="1"/>
          <p:nvPr/>
        </p:nvSpPr>
        <p:spPr>
          <a:xfrm>
            <a:off x="685800" y="2571750"/>
            <a:ext cx="5048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8A8F9C"/>
                </a:solidFill>
                <a:latin typeface="Zen Maru Gothic"/>
                <a:ea typeface="Zen Maru Gothic"/>
              </a:rPr>
              <a:t>例文</a:t>
            </a:r>
          </a:p>
        </p:txBody>
      </p:sp>
      <p:sp>
        <p:nvSpPr>
          <p:cNvPr id="22" name="Shape 20"/>
          <p:cNvSpPr/>
          <p:nvPr/>
        </p:nvSpPr>
        <p:spPr>
          <a:xfrm>
            <a:off x="1143000" y="2667000"/>
            <a:ext cx="5791200" cy="0"/>
          </a:xfrm>
          <a:prstGeom prst="line">
            <a:avLst/>
          </a:prstGeom>
          <a:noFill/>
          <a:ln w="19050">
            <a:solidFill>
              <a:srgbClr val="EBE1D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5800" y="2886075"/>
            <a:ext cx="6248400" cy="1104900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14400" y="3276600"/>
            <a:ext cx="323850" cy="323850"/>
          </a:xfrm>
          <a:prstGeom prst="ellipse">
            <a:avLst/>
          </a:prstGeom>
          <a:solidFill>
            <a:srgbClr val="FCE4D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62025" y="3324225"/>
            <a:ext cx="2286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E8603C"/>
                </a:solidFill>
                <a:latin typeface="Nunito"/>
                <a:ea typeface="Nunito"/>
              </a:rPr>
              <a:t>1</a:t>
            </a:r>
          </a:p>
        </p:txBody>
      </p:sp>
      <p:sp>
        <p:nvSpPr>
          <p:cNvPr id="26" name="Text 24"/>
          <p:cNvSpPr txBox="1"/>
          <p:nvPr/>
        </p:nvSpPr>
        <p:spPr>
          <a:xfrm>
            <a:off x="1428750" y="3076575"/>
            <a:ext cx="35528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20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I should have</a:t>
            </a:r>
            <a:pPr algn="l"/>
            <a:r>
              <a:rPr sz="2050" b="1">
                <a:solidFill>
                  <a:srgbClr val="22304A"/>
                </a:solidFill>
                <a:latin typeface="Nunito"/>
                <a:ea typeface="Nunito"/>
              </a:rPr>
              <a:t> </a:t>
            </a:r>
            <a:pPr algn="l"/>
            <a:r>
              <a:rPr sz="2050" b="1">
                <a:solidFill>
                  <a:srgbClr val="E8603C"/>
                </a:solidFill>
                <a:latin typeface="Nunito"/>
                <a:ea typeface="Nunito"/>
              </a:rPr>
              <a:t>left</a:t>
            </a:r>
            <a:pPr algn="l"/>
            <a:r>
              <a:rPr sz="2050" b="1">
                <a:solidFill>
                  <a:srgbClr val="22304A"/>
                </a:solidFill>
                <a:latin typeface="Nunito"/>
                <a:ea typeface="Nunito"/>
              </a:rPr>
              <a:t> earlier.</a:t>
            </a:r>
          </a:p>
        </p:txBody>
      </p:sp>
      <p:sp>
        <p:nvSpPr>
          <p:cNvPr id="27" name="Text 25"/>
          <p:cNvSpPr txBox="1"/>
          <p:nvPr/>
        </p:nvSpPr>
        <p:spPr>
          <a:xfrm>
            <a:off x="1428750" y="3543300"/>
            <a:ext cx="302895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4A5568"/>
                </a:solidFill>
                <a:latin typeface="Zen Maru Gothic"/>
                <a:ea typeface="Zen Maru Gothic"/>
              </a:rPr>
              <a:t>もっとはやく出とけばよかった</a:t>
            </a:r>
          </a:p>
        </p:txBody>
      </p:sp>
      <p:sp>
        <p:nvSpPr>
          <p:cNvPr id="28" name="Shape 26"/>
          <p:cNvSpPr/>
          <p:nvPr/>
        </p:nvSpPr>
        <p:spPr>
          <a:xfrm>
            <a:off x="685800" y="4124325"/>
            <a:ext cx="6248400" cy="1104900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14400" y="4514850"/>
            <a:ext cx="323850" cy="323850"/>
          </a:xfrm>
          <a:prstGeom prst="ellipse">
            <a:avLst/>
          </a:prstGeom>
          <a:solidFill>
            <a:srgbClr val="FCE4D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62025" y="4572000"/>
            <a:ext cx="2286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E8603C"/>
                </a:solidFill>
                <a:latin typeface="Nunito"/>
                <a:ea typeface="Nunito"/>
              </a:rPr>
              <a:t>2</a:t>
            </a:r>
          </a:p>
        </p:txBody>
      </p:sp>
      <p:sp>
        <p:nvSpPr>
          <p:cNvPr id="31" name="Text 29"/>
          <p:cNvSpPr txBox="1"/>
          <p:nvPr/>
        </p:nvSpPr>
        <p:spPr>
          <a:xfrm>
            <a:off x="1428750" y="4314825"/>
            <a:ext cx="37719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20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I should have</a:t>
            </a:r>
            <a:pPr algn="l"/>
            <a:r>
              <a:rPr sz="2050" b="1">
                <a:solidFill>
                  <a:srgbClr val="22304A"/>
                </a:solidFill>
                <a:latin typeface="Nunito"/>
                <a:ea typeface="Nunito"/>
              </a:rPr>
              <a:t> </a:t>
            </a:r>
            <a:pPr algn="l"/>
            <a:r>
              <a:rPr sz="2050" b="1">
                <a:solidFill>
                  <a:srgbClr val="E8603C"/>
                </a:solidFill>
                <a:latin typeface="Nunito"/>
                <a:ea typeface="Nunito"/>
              </a:rPr>
              <a:t>bought</a:t>
            </a:r>
            <a:pPr algn="l"/>
            <a:r>
              <a:rPr sz="2050" b="1">
                <a:solidFill>
                  <a:srgbClr val="22304A"/>
                </a:solidFill>
                <a:latin typeface="Nunito"/>
                <a:ea typeface="Nunito"/>
              </a:rPr>
              <a:t> that.</a:t>
            </a:r>
          </a:p>
        </p:txBody>
      </p:sp>
      <p:sp>
        <p:nvSpPr>
          <p:cNvPr id="32" name="Text 30"/>
          <p:cNvSpPr txBox="1"/>
          <p:nvPr/>
        </p:nvSpPr>
        <p:spPr>
          <a:xfrm>
            <a:off x="1428750" y="4781550"/>
            <a:ext cx="24003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4A5568"/>
                </a:solidFill>
                <a:latin typeface="Zen Maru Gothic"/>
                <a:ea typeface="Zen Maru Gothic"/>
              </a:rPr>
              <a:t>あれ買えばよかったのに</a:t>
            </a:r>
          </a:p>
        </p:txBody>
      </p:sp>
      <p:sp>
        <p:nvSpPr>
          <p:cNvPr id="33" name="Shape 31"/>
          <p:cNvSpPr/>
          <p:nvPr/>
        </p:nvSpPr>
        <p:spPr>
          <a:xfrm>
            <a:off x="685800" y="5372100"/>
            <a:ext cx="6248400" cy="1104900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14400" y="5762625"/>
            <a:ext cx="323850" cy="323850"/>
          </a:xfrm>
          <a:prstGeom prst="ellipse">
            <a:avLst/>
          </a:prstGeom>
          <a:solidFill>
            <a:srgbClr val="FCE4D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62025" y="5810250"/>
            <a:ext cx="2286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E8603C"/>
                </a:solidFill>
                <a:latin typeface="Nunito"/>
                <a:ea typeface="Nunito"/>
              </a:rPr>
              <a:t>3</a:t>
            </a:r>
          </a:p>
        </p:txBody>
      </p:sp>
      <p:sp>
        <p:nvSpPr>
          <p:cNvPr id="36" name="Text 34"/>
          <p:cNvSpPr txBox="1"/>
          <p:nvPr/>
        </p:nvSpPr>
        <p:spPr>
          <a:xfrm>
            <a:off x="1428750" y="5562600"/>
            <a:ext cx="36957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20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I shouldn't have</a:t>
            </a:r>
            <a:pPr algn="l"/>
            <a:r>
              <a:rPr sz="2050" b="1">
                <a:solidFill>
                  <a:srgbClr val="22304A"/>
                </a:solidFill>
                <a:latin typeface="Nunito"/>
                <a:ea typeface="Nunito"/>
              </a:rPr>
              <a:t> </a:t>
            </a:r>
            <a:pPr algn="l"/>
            <a:r>
              <a:rPr sz="2050" b="1">
                <a:solidFill>
                  <a:srgbClr val="E8603C"/>
                </a:solidFill>
                <a:latin typeface="Nunito"/>
                <a:ea typeface="Nunito"/>
              </a:rPr>
              <a:t>said</a:t>
            </a:r>
            <a:pPr algn="l"/>
            <a:r>
              <a:rPr sz="2050" b="1">
                <a:solidFill>
                  <a:srgbClr val="22304A"/>
                </a:solidFill>
                <a:latin typeface="Nunito"/>
                <a:ea typeface="Nunito"/>
              </a:rPr>
              <a:t> that.</a:t>
            </a:r>
          </a:p>
        </p:txBody>
      </p:sp>
      <p:sp>
        <p:nvSpPr>
          <p:cNvPr id="37" name="Text 35"/>
          <p:cNvSpPr txBox="1"/>
          <p:nvPr/>
        </p:nvSpPr>
        <p:spPr>
          <a:xfrm>
            <a:off x="1428750" y="6029325"/>
            <a:ext cx="28194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4A5568"/>
                </a:solidFill>
                <a:latin typeface="Zen Maru Gothic"/>
                <a:ea typeface="Zen Maru Gothic"/>
              </a:rPr>
              <a:t>言わんかったらよかったのに</a:t>
            </a:r>
          </a:p>
        </p:txBody>
      </p:sp>
      <p:sp>
        <p:nvSpPr>
          <p:cNvPr id="38" name="Text 36"/>
          <p:cNvSpPr txBox="1"/>
          <p:nvPr/>
        </p:nvSpPr>
        <p:spPr>
          <a:xfrm>
            <a:off x="7219950" y="2571750"/>
            <a:ext cx="9048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8A8F9C"/>
                </a:solidFill>
                <a:latin typeface="Zen Maru Gothic"/>
                <a:ea typeface="Zen Maru Gothic"/>
              </a:rPr>
              <a:t>ポイント</a:t>
            </a:r>
          </a:p>
        </p:txBody>
      </p:sp>
      <p:sp>
        <p:nvSpPr>
          <p:cNvPr id="39" name="Shape 37"/>
          <p:cNvSpPr/>
          <p:nvPr/>
        </p:nvSpPr>
        <p:spPr>
          <a:xfrm>
            <a:off x="8020050" y="2667000"/>
            <a:ext cx="3486150" cy="0"/>
          </a:xfrm>
          <a:prstGeom prst="line">
            <a:avLst/>
          </a:prstGeom>
          <a:noFill/>
          <a:ln w="19050">
            <a:solidFill>
              <a:srgbClr val="EBE1D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219950" y="2886075"/>
            <a:ext cx="4286250" cy="3590925"/>
          </a:xfrm>
          <a:prstGeom prst="roundRect">
            <a:avLst>
              <a:gd name="adj" fmla="val 5836"/>
            </a:avLst>
          </a:prstGeom>
          <a:solidFill>
            <a:srgbClr val="FFFFFF"/>
          </a:solidFill>
          <a:ln w="19050">
            <a:solidFill>
              <a:srgbClr val="FCE4D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077200" y="3133725"/>
            <a:ext cx="24193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22304A"/>
                </a:solidFill>
                <a:latin typeface="Zen Maru Gothic"/>
                <a:ea typeface="Zen Maru Gothic"/>
              </a:rPr>
              <a:t>ケーキで比べてみよう</a:t>
            </a:r>
          </a:p>
        </p:txBody>
      </p:sp>
      <p:sp>
        <p:nvSpPr>
          <p:cNvPr id="42" name="Shape 40"/>
          <p:cNvSpPr/>
          <p:nvPr/>
        </p:nvSpPr>
        <p:spPr>
          <a:xfrm>
            <a:off x="7505700" y="3133725"/>
            <a:ext cx="476250" cy="276225"/>
          </a:xfrm>
          <a:prstGeom prst="roundRect">
            <a:avLst>
              <a:gd name="adj" fmla="val 20690"/>
            </a:avLst>
          </a:prstGeom>
          <a:solidFill>
            <a:srgbClr val="E8603C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7610475" y="3171825"/>
            <a:ext cx="4191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FFFFFF"/>
                </a:solidFill>
                <a:latin typeface="Zen Maru Gothic"/>
                <a:ea typeface="Zen Maru Gothic"/>
              </a:rPr>
              <a:t>比較</a:t>
            </a:r>
          </a:p>
        </p:txBody>
      </p:sp>
      <p:sp>
        <p:nvSpPr>
          <p:cNvPr id="44" name="Text 42"/>
          <p:cNvSpPr txBox="1"/>
          <p:nvPr/>
        </p:nvSpPr>
        <p:spPr>
          <a:xfrm>
            <a:off x="7505700" y="3562350"/>
            <a:ext cx="360045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750" b="1">
                <a:solidFill>
                  <a:srgbClr val="22304A"/>
                </a:solidFill>
                <a:latin typeface="Nunito"/>
                <a:ea typeface="Nunito"/>
              </a:rPr>
              <a:t>I </a:t>
            </a:r>
            <a:pPr algn="l"/>
            <a:r>
              <a:rPr sz="17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should have</a:t>
            </a:r>
            <a:pPr algn="l"/>
            <a:r>
              <a:rPr sz="1750" b="1">
                <a:solidFill>
                  <a:srgbClr val="22304A"/>
                </a:solidFill>
                <a:latin typeface="Nunito"/>
                <a:ea typeface="Nunito"/>
              </a:rPr>
              <a:t> eaten the cake.</a:t>
            </a:r>
          </a:p>
        </p:txBody>
      </p:sp>
      <p:sp>
        <p:nvSpPr>
          <p:cNvPr id="45" name="Text 43"/>
          <p:cNvSpPr txBox="1"/>
          <p:nvPr/>
        </p:nvSpPr>
        <p:spPr>
          <a:xfrm>
            <a:off x="7505700" y="3876675"/>
            <a:ext cx="27241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4A5568"/>
                </a:solidFill>
                <a:latin typeface="Zen Maru Gothic"/>
                <a:ea typeface="Zen Maru Gothic"/>
              </a:rPr>
              <a:t>ケーキを食べておけばよかった</a:t>
            </a:r>
          </a:p>
        </p:txBody>
      </p:sp>
      <p:sp>
        <p:nvSpPr>
          <p:cNvPr id="46" name="Text 44"/>
          <p:cNvSpPr txBox="1"/>
          <p:nvPr/>
        </p:nvSpPr>
        <p:spPr>
          <a:xfrm>
            <a:off x="7505700" y="4229100"/>
            <a:ext cx="3914775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750" b="1">
                <a:solidFill>
                  <a:srgbClr val="22304A"/>
                </a:solidFill>
                <a:latin typeface="Nunito"/>
                <a:ea typeface="Nunito"/>
              </a:rPr>
              <a:t>I </a:t>
            </a:r>
            <a:pPr algn="l"/>
            <a:r>
              <a:rPr sz="17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shouldn't have</a:t>
            </a:r>
            <a:pPr algn="l"/>
            <a:r>
              <a:rPr sz="1750" b="1">
                <a:solidFill>
                  <a:srgbClr val="22304A"/>
                </a:solidFill>
                <a:latin typeface="Nunito"/>
                <a:ea typeface="Nunito"/>
              </a:rPr>
              <a:t> eaten the cake.</a:t>
            </a:r>
          </a:p>
        </p:txBody>
      </p:sp>
      <p:sp>
        <p:nvSpPr>
          <p:cNvPr id="47" name="Text 45"/>
          <p:cNvSpPr txBox="1"/>
          <p:nvPr/>
        </p:nvSpPr>
        <p:spPr>
          <a:xfrm>
            <a:off x="7505700" y="4543425"/>
            <a:ext cx="27241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4A5568"/>
                </a:solidFill>
                <a:latin typeface="Zen Maru Gothic"/>
                <a:ea typeface="Zen Maru Gothic"/>
              </a:rPr>
              <a:t>ケーキを食べなければよかった</a:t>
            </a:r>
          </a:p>
        </p:txBody>
      </p:sp>
      <p:sp>
        <p:nvSpPr>
          <p:cNvPr id="48" name="Shape 46"/>
          <p:cNvSpPr/>
          <p:nvPr/>
        </p:nvSpPr>
        <p:spPr>
          <a:xfrm>
            <a:off x="7505700" y="4933950"/>
            <a:ext cx="3714750" cy="0"/>
          </a:xfrm>
          <a:prstGeom prst="line">
            <a:avLst/>
          </a:prstGeom>
          <a:noFill/>
          <a:ln w="19050">
            <a:solidFill>
              <a:srgbClr val="EBE1D2"/>
            </a:solidFill>
            <a:prstDash val="dash"/>
          </a:ln>
        </p:spPr>
      </p:sp>
      <p:sp>
        <p:nvSpPr>
          <p:cNvPr id="49" name="Text 47"/>
          <p:cNvSpPr txBox="1"/>
          <p:nvPr/>
        </p:nvSpPr>
        <p:spPr>
          <a:xfrm>
            <a:off x="8077200" y="5086350"/>
            <a:ext cx="24193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22304A"/>
                </a:solidFill>
                <a:latin typeface="Zen Maru Gothic"/>
                <a:ea typeface="Zen Maru Gothic"/>
              </a:rPr>
              <a:t>ネイティブはこう言う</a:t>
            </a:r>
          </a:p>
        </p:txBody>
      </p:sp>
      <p:sp>
        <p:nvSpPr>
          <p:cNvPr id="50" name="Shape 48"/>
          <p:cNvSpPr/>
          <p:nvPr/>
        </p:nvSpPr>
        <p:spPr>
          <a:xfrm>
            <a:off x="7505700" y="5086350"/>
            <a:ext cx="476250" cy="276225"/>
          </a:xfrm>
          <a:prstGeom prst="roundRect">
            <a:avLst>
              <a:gd name="adj" fmla="val 20690"/>
            </a:avLst>
          </a:prstGeom>
          <a:solidFill>
            <a:srgbClr val="E8603C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7610475" y="5124450"/>
            <a:ext cx="4191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FFFFFF"/>
                </a:solidFill>
                <a:latin typeface="Zen Maru Gothic"/>
                <a:ea typeface="Zen Maru Gothic"/>
              </a:rPr>
              <a:t>発音</a:t>
            </a:r>
          </a:p>
        </p:txBody>
      </p:sp>
      <p:sp>
        <p:nvSpPr>
          <p:cNvPr id="52" name="Shape 50"/>
          <p:cNvSpPr/>
          <p:nvPr/>
        </p:nvSpPr>
        <p:spPr>
          <a:xfrm>
            <a:off x="7505700" y="5514975"/>
            <a:ext cx="3714750" cy="581025"/>
          </a:xfrm>
          <a:prstGeom prst="roundRect">
            <a:avLst>
              <a:gd name="adj" fmla="val 26230"/>
            </a:avLst>
          </a:prstGeom>
          <a:solidFill>
            <a:srgbClr val="FBF6EE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7800975" y="5629275"/>
            <a:ext cx="18192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2050" b="1">
                <a:solidFill>
                  <a:srgbClr val="22304A"/>
                </a:solidFill>
                <a:latin typeface="Nunito"/>
                <a:ea typeface="Nunito"/>
              </a:rPr>
              <a:t>should have</a:t>
            </a:r>
          </a:p>
        </p:txBody>
      </p:sp>
      <p:sp>
        <p:nvSpPr>
          <p:cNvPr id="54" name="Text 52"/>
          <p:cNvSpPr txBox="1"/>
          <p:nvPr/>
        </p:nvSpPr>
        <p:spPr>
          <a:xfrm>
            <a:off x="9401175" y="5667375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800" b="1">
                <a:solidFill>
                  <a:srgbClr val="E8603C"/>
                </a:solidFill>
                <a:latin typeface="Zen Maru Gothic"/>
                <a:ea typeface="Zen Maru Gothic"/>
              </a:rPr>
              <a:t>→</a:t>
            </a:r>
          </a:p>
        </p:txBody>
      </p:sp>
      <p:sp>
        <p:nvSpPr>
          <p:cNvPr id="55" name="Text 53"/>
          <p:cNvSpPr txBox="1"/>
          <p:nvPr/>
        </p:nvSpPr>
        <p:spPr>
          <a:xfrm>
            <a:off x="9744075" y="5629275"/>
            <a:ext cx="14763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2050" b="1">
                <a:solidFill>
                  <a:srgbClr val="E8603C"/>
                </a:solidFill>
                <a:latin typeface="Nunito"/>
                <a:ea typeface="Nunito"/>
              </a:rPr>
              <a:t>should've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2581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8A8F9C"/>
                </a:solidFill>
                <a:latin typeface="Zen Maru Gothic"/>
                <a:ea typeface="Zen Maru Gothic"/>
              </a:rPr>
              <a:t>日常英会話フレーズ 9選 まとめ</a:t>
            </a:r>
          </a:p>
        </p:txBody>
      </p:sp>
      <p:sp>
        <p:nvSpPr>
          <p:cNvPr id="3" name="Shape 1"/>
          <p:cNvSpPr/>
          <p:nvPr/>
        </p:nvSpPr>
        <p:spPr>
          <a:xfrm>
            <a:off x="100012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4" name="Shape 2"/>
          <p:cNvSpPr/>
          <p:nvPr/>
        </p:nvSpPr>
        <p:spPr>
          <a:xfrm>
            <a:off x="101536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5" name="Shape 3"/>
          <p:cNvSpPr/>
          <p:nvPr/>
        </p:nvSpPr>
        <p:spPr>
          <a:xfrm>
            <a:off x="103060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6" name="Shape 4"/>
          <p:cNvSpPr/>
          <p:nvPr/>
        </p:nvSpPr>
        <p:spPr>
          <a:xfrm>
            <a:off x="10458450" y="476250"/>
            <a:ext cx="285750" cy="85725"/>
          </a:xfrm>
          <a:prstGeom prst="roundRect">
            <a:avLst>
              <a:gd name="adj" fmla="val 50000"/>
            </a:avLst>
          </a:prstGeom>
          <a:solidFill>
            <a:srgbClr val="E8603C"/>
          </a:solidFill>
          <a:ln/>
        </p:spPr>
      </p:sp>
      <p:sp>
        <p:nvSpPr>
          <p:cNvPr id="7" name="Shape 5"/>
          <p:cNvSpPr/>
          <p:nvPr/>
        </p:nvSpPr>
        <p:spPr>
          <a:xfrm>
            <a:off x="108108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8" name="Shape 6"/>
          <p:cNvSpPr/>
          <p:nvPr/>
        </p:nvSpPr>
        <p:spPr>
          <a:xfrm>
            <a:off x="109632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9" name="Shape 7"/>
          <p:cNvSpPr/>
          <p:nvPr/>
        </p:nvSpPr>
        <p:spPr>
          <a:xfrm>
            <a:off x="111156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10" name="Shape 8"/>
          <p:cNvSpPr/>
          <p:nvPr/>
        </p:nvSpPr>
        <p:spPr>
          <a:xfrm>
            <a:off x="112680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11" name="Shape 9"/>
          <p:cNvSpPr/>
          <p:nvPr/>
        </p:nvSpPr>
        <p:spPr>
          <a:xfrm>
            <a:off x="114204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85800" y="561975"/>
            <a:ext cx="1476375" cy="1400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8100" b="1">
                <a:solidFill>
                  <a:srgbClr val="E8603C"/>
                </a:solidFill>
                <a:latin typeface="Nunito"/>
                <a:ea typeface="Nunito"/>
              </a:rPr>
              <a:t>04</a:t>
            </a:r>
          </a:p>
        </p:txBody>
      </p:sp>
      <p:sp>
        <p:nvSpPr>
          <p:cNvPr id="13" name="Text 11"/>
          <p:cNvSpPr txBox="1"/>
          <p:nvPr/>
        </p:nvSpPr>
        <p:spPr>
          <a:xfrm>
            <a:off x="2228850" y="742950"/>
            <a:ext cx="4905375" cy="704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4050" b="1">
                <a:solidFill>
                  <a:srgbClr val="22304A"/>
                </a:solidFill>
                <a:latin typeface="Nunito"/>
                <a:ea typeface="Nunito"/>
              </a:rPr>
              <a:t>Do you wanna </a:t>
            </a:r>
            <a:pPr algn="l"/>
            <a:r>
              <a:rPr sz="4050" b="1">
                <a:solidFill>
                  <a:srgbClr val="E8603C"/>
                </a:solidFill>
                <a:latin typeface="Nunito"/>
                <a:ea typeface="Nunito"/>
              </a:rPr>
              <a:t>~</a:t>
            </a:r>
            <a:pPr algn="l"/>
            <a:r>
              <a:rPr sz="4050" b="1">
                <a:solidFill>
                  <a:srgbClr val="22304A"/>
                </a:solidFill>
                <a:latin typeface="Nunito"/>
                <a:ea typeface="Nunito"/>
              </a:rPr>
              <a:t>?</a:t>
            </a:r>
          </a:p>
        </p:txBody>
      </p:sp>
      <p:sp>
        <p:nvSpPr>
          <p:cNvPr id="14" name="Text 12"/>
          <p:cNvSpPr txBox="1"/>
          <p:nvPr/>
        </p:nvSpPr>
        <p:spPr>
          <a:xfrm>
            <a:off x="2228850" y="1485900"/>
            <a:ext cx="1952625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2100" b="1">
                <a:solidFill>
                  <a:srgbClr val="22304A"/>
                </a:solidFill>
                <a:latin typeface="Zen Maru Gothic"/>
                <a:ea typeface="Zen Maru Gothic"/>
              </a:rPr>
              <a:t>〇〇したい？</a:t>
            </a:r>
          </a:p>
        </p:txBody>
      </p:sp>
      <p:sp>
        <p:nvSpPr>
          <p:cNvPr id="15" name="Shape 13"/>
          <p:cNvSpPr/>
          <p:nvPr/>
        </p:nvSpPr>
        <p:spPr>
          <a:xfrm>
            <a:off x="3981450" y="1504950"/>
            <a:ext cx="1238250" cy="342900"/>
          </a:xfrm>
          <a:prstGeom prst="roundRect">
            <a:avLst>
              <a:gd name="adj" fmla="val 50000"/>
            </a:avLst>
          </a:prstGeom>
          <a:solidFill>
            <a:srgbClr val="FCE4D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114800" y="1552575"/>
            <a:ext cx="12287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E8603C"/>
                </a:solidFill>
                <a:latin typeface="Zen Maru Gothic"/>
                <a:ea typeface="Zen Maru Gothic"/>
              </a:rPr>
              <a:t>＋動詞の原形</a:t>
            </a:r>
          </a:p>
        </p:txBody>
      </p:sp>
      <p:sp>
        <p:nvSpPr>
          <p:cNvPr id="17" name="Shape 15"/>
          <p:cNvSpPr/>
          <p:nvPr/>
        </p:nvSpPr>
        <p:spPr>
          <a:xfrm>
            <a:off x="2228850" y="2019300"/>
            <a:ext cx="742950" cy="276225"/>
          </a:xfrm>
          <a:prstGeom prst="roundRect">
            <a:avLst>
              <a:gd name="adj" fmla="val 20690"/>
            </a:avLst>
          </a:prstGeom>
          <a:solidFill>
            <a:srgbClr val="E8603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333625" y="2057400"/>
            <a:ext cx="7239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FFFFFF"/>
                </a:solidFill>
                <a:latin typeface="Zen Maru Gothic"/>
                <a:ea typeface="Zen Maru Gothic"/>
              </a:rPr>
              <a:t>ポイント</a:t>
            </a:r>
          </a:p>
        </p:txBody>
      </p:sp>
      <p:sp>
        <p:nvSpPr>
          <p:cNvPr id="19" name="Text 17"/>
          <p:cNvSpPr txBox="1"/>
          <p:nvPr/>
        </p:nvSpPr>
        <p:spPr>
          <a:xfrm>
            <a:off x="3105150" y="2000250"/>
            <a:ext cx="2324100" cy="323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900" b="1">
                <a:solidFill>
                  <a:srgbClr val="22304A"/>
                </a:solidFill>
                <a:latin typeface="Nunito"/>
                <a:ea typeface="Nunito"/>
              </a:rPr>
              <a:t>wanna = want to</a:t>
            </a:r>
          </a:p>
        </p:txBody>
      </p:sp>
      <p:sp>
        <p:nvSpPr>
          <p:cNvPr id="20" name="Text 18"/>
          <p:cNvSpPr txBox="1"/>
          <p:nvPr/>
        </p:nvSpPr>
        <p:spPr>
          <a:xfrm>
            <a:off x="5162550" y="2019300"/>
            <a:ext cx="27432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4A5568"/>
                </a:solidFill>
                <a:latin typeface="Zen Maru Gothic"/>
                <a:ea typeface="Zen Maru Gothic"/>
              </a:rPr>
              <a:t>くだけた話し言葉の言い方</a:t>
            </a:r>
          </a:p>
        </p:txBody>
      </p:sp>
      <p:sp>
        <p:nvSpPr>
          <p:cNvPr id="21" name="Text 19"/>
          <p:cNvSpPr txBox="1"/>
          <p:nvPr/>
        </p:nvSpPr>
        <p:spPr>
          <a:xfrm>
            <a:off x="685800" y="2571750"/>
            <a:ext cx="5048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8A8F9C"/>
                </a:solidFill>
                <a:latin typeface="Zen Maru Gothic"/>
                <a:ea typeface="Zen Maru Gothic"/>
              </a:rPr>
              <a:t>例文</a:t>
            </a:r>
          </a:p>
        </p:txBody>
      </p:sp>
      <p:sp>
        <p:nvSpPr>
          <p:cNvPr id="22" name="Shape 20"/>
          <p:cNvSpPr/>
          <p:nvPr/>
        </p:nvSpPr>
        <p:spPr>
          <a:xfrm>
            <a:off x="1143000" y="2667000"/>
            <a:ext cx="10363200" cy="0"/>
          </a:xfrm>
          <a:prstGeom prst="line">
            <a:avLst/>
          </a:prstGeom>
          <a:noFill/>
          <a:ln w="19050">
            <a:solidFill>
              <a:srgbClr val="EBE1D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5800" y="2886075"/>
            <a:ext cx="10820400" cy="1104900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52500" y="3276600"/>
            <a:ext cx="323850" cy="323850"/>
          </a:xfrm>
          <a:prstGeom prst="ellipse">
            <a:avLst/>
          </a:prstGeom>
          <a:solidFill>
            <a:srgbClr val="FCE4D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00125" y="3324225"/>
            <a:ext cx="2286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E8603C"/>
                </a:solidFill>
                <a:latin typeface="Nunito"/>
                <a:ea typeface="Nunito"/>
              </a:rPr>
              <a:t>1</a:t>
            </a:r>
          </a:p>
        </p:txBody>
      </p:sp>
      <p:sp>
        <p:nvSpPr>
          <p:cNvPr id="26" name="Text 24"/>
          <p:cNvSpPr txBox="1"/>
          <p:nvPr/>
        </p:nvSpPr>
        <p:spPr>
          <a:xfrm>
            <a:off x="1466850" y="3238500"/>
            <a:ext cx="477202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23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Do you wanna</a:t>
            </a:r>
            <a:pPr algn="l"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</a:t>
            </a:r>
            <a:pPr algn="l"/>
            <a:r>
              <a:rPr sz="2350" b="1">
                <a:solidFill>
                  <a:srgbClr val="E8603C"/>
                </a:solidFill>
                <a:latin typeface="Nunito"/>
                <a:ea typeface="Nunito"/>
              </a:rPr>
              <a:t>eat</a:t>
            </a:r>
            <a:pPr algn="l"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out today?</a:t>
            </a:r>
          </a:p>
        </p:txBody>
      </p:sp>
      <p:sp>
        <p:nvSpPr>
          <p:cNvPr id="27" name="Text 25"/>
          <p:cNvSpPr txBox="1"/>
          <p:nvPr/>
        </p:nvSpPr>
        <p:spPr>
          <a:xfrm>
            <a:off x="7524750" y="3276600"/>
            <a:ext cx="22860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4A5568"/>
                </a:solidFill>
                <a:latin typeface="Zen Maru Gothic"/>
                <a:ea typeface="Zen Maru Gothic"/>
              </a:rPr>
              <a:t>今日外食せえへん？</a:t>
            </a:r>
          </a:p>
        </p:txBody>
      </p:sp>
      <p:sp>
        <p:nvSpPr>
          <p:cNvPr id="28" name="Shape 26"/>
          <p:cNvSpPr/>
          <p:nvPr/>
        </p:nvSpPr>
        <p:spPr>
          <a:xfrm>
            <a:off x="685800" y="4124325"/>
            <a:ext cx="10820400" cy="1104900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52500" y="4514850"/>
            <a:ext cx="323850" cy="323850"/>
          </a:xfrm>
          <a:prstGeom prst="ellipse">
            <a:avLst/>
          </a:prstGeom>
          <a:solidFill>
            <a:srgbClr val="FCE4D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00125" y="4572000"/>
            <a:ext cx="2286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E8603C"/>
                </a:solidFill>
                <a:latin typeface="Nunito"/>
                <a:ea typeface="Nunito"/>
              </a:rPr>
              <a:t>2</a:t>
            </a:r>
          </a:p>
        </p:txBody>
      </p:sp>
      <p:sp>
        <p:nvSpPr>
          <p:cNvPr id="31" name="Text 29"/>
          <p:cNvSpPr txBox="1"/>
          <p:nvPr/>
        </p:nvSpPr>
        <p:spPr>
          <a:xfrm>
            <a:off x="1466850" y="4476750"/>
            <a:ext cx="54864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23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Do you wanna</a:t>
            </a:r>
            <a:pPr algn="l"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</a:t>
            </a:r>
            <a:pPr algn="l"/>
            <a:r>
              <a:rPr sz="2350" b="1">
                <a:solidFill>
                  <a:srgbClr val="E8603C"/>
                </a:solidFill>
                <a:latin typeface="Nunito"/>
                <a:ea typeface="Nunito"/>
              </a:rPr>
              <a:t>come</a:t>
            </a:r>
            <a:pPr algn="l"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to the party?</a:t>
            </a:r>
          </a:p>
        </p:txBody>
      </p:sp>
      <p:sp>
        <p:nvSpPr>
          <p:cNvPr id="32" name="Text 30"/>
          <p:cNvSpPr txBox="1"/>
          <p:nvPr/>
        </p:nvSpPr>
        <p:spPr>
          <a:xfrm>
            <a:off x="7524750" y="4514850"/>
            <a:ext cx="22860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4A5568"/>
                </a:solidFill>
                <a:latin typeface="Zen Maru Gothic"/>
                <a:ea typeface="Zen Maru Gothic"/>
              </a:rPr>
              <a:t>パーティーに来る？</a:t>
            </a:r>
          </a:p>
        </p:txBody>
      </p:sp>
      <p:sp>
        <p:nvSpPr>
          <p:cNvPr id="33" name="Shape 31"/>
          <p:cNvSpPr/>
          <p:nvPr/>
        </p:nvSpPr>
        <p:spPr>
          <a:xfrm>
            <a:off x="685800" y="5372100"/>
            <a:ext cx="10820400" cy="1104900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52500" y="5762625"/>
            <a:ext cx="323850" cy="323850"/>
          </a:xfrm>
          <a:prstGeom prst="ellipse">
            <a:avLst/>
          </a:prstGeom>
          <a:solidFill>
            <a:srgbClr val="FCE4D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000125" y="5810250"/>
            <a:ext cx="2286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E8603C"/>
                </a:solidFill>
                <a:latin typeface="Nunito"/>
                <a:ea typeface="Nunito"/>
              </a:rPr>
              <a:t>3</a:t>
            </a:r>
          </a:p>
        </p:txBody>
      </p:sp>
      <p:sp>
        <p:nvSpPr>
          <p:cNvPr id="36" name="Text 34"/>
          <p:cNvSpPr txBox="1"/>
          <p:nvPr/>
        </p:nvSpPr>
        <p:spPr>
          <a:xfrm>
            <a:off x="1466850" y="5724525"/>
            <a:ext cx="47529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23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Do you wanna</a:t>
            </a:r>
            <a:pPr algn="l"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</a:t>
            </a:r>
            <a:pPr algn="l"/>
            <a:r>
              <a:rPr sz="2350" b="1">
                <a:solidFill>
                  <a:srgbClr val="E8603C"/>
                </a:solidFill>
                <a:latin typeface="Nunito"/>
                <a:ea typeface="Nunito"/>
              </a:rPr>
              <a:t>eat</a:t>
            </a:r>
            <a:pPr algn="l"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ice cream?</a:t>
            </a:r>
          </a:p>
        </p:txBody>
      </p:sp>
      <p:sp>
        <p:nvSpPr>
          <p:cNvPr id="37" name="Text 35"/>
          <p:cNvSpPr txBox="1"/>
          <p:nvPr/>
        </p:nvSpPr>
        <p:spPr>
          <a:xfrm>
            <a:off x="7524750" y="5762625"/>
            <a:ext cx="30099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4A5568"/>
                </a:solidFill>
                <a:latin typeface="Zen Maru Gothic"/>
                <a:ea typeface="Zen Maru Gothic"/>
              </a:rPr>
              <a:t>アイスクリーム食べたい？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2581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8A8F9C"/>
                </a:solidFill>
                <a:latin typeface="Zen Maru Gothic"/>
                <a:ea typeface="Zen Maru Gothic"/>
              </a:rPr>
              <a:t>日常英会話フレーズ 9選 まとめ</a:t>
            </a:r>
          </a:p>
        </p:txBody>
      </p:sp>
      <p:sp>
        <p:nvSpPr>
          <p:cNvPr id="3" name="Shape 1"/>
          <p:cNvSpPr/>
          <p:nvPr/>
        </p:nvSpPr>
        <p:spPr>
          <a:xfrm>
            <a:off x="100012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4" name="Shape 2"/>
          <p:cNvSpPr/>
          <p:nvPr/>
        </p:nvSpPr>
        <p:spPr>
          <a:xfrm>
            <a:off x="101536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5" name="Shape 3"/>
          <p:cNvSpPr/>
          <p:nvPr/>
        </p:nvSpPr>
        <p:spPr>
          <a:xfrm>
            <a:off x="103060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6" name="Shape 4"/>
          <p:cNvSpPr/>
          <p:nvPr/>
        </p:nvSpPr>
        <p:spPr>
          <a:xfrm>
            <a:off x="104584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7" name="Shape 5"/>
          <p:cNvSpPr/>
          <p:nvPr/>
        </p:nvSpPr>
        <p:spPr>
          <a:xfrm>
            <a:off x="10610850" y="476250"/>
            <a:ext cx="285750" cy="85725"/>
          </a:xfrm>
          <a:prstGeom prst="roundRect">
            <a:avLst>
              <a:gd name="adj" fmla="val 50000"/>
            </a:avLst>
          </a:prstGeom>
          <a:solidFill>
            <a:srgbClr val="E8603C"/>
          </a:solidFill>
          <a:ln/>
        </p:spPr>
      </p:sp>
      <p:sp>
        <p:nvSpPr>
          <p:cNvPr id="8" name="Shape 6"/>
          <p:cNvSpPr/>
          <p:nvPr/>
        </p:nvSpPr>
        <p:spPr>
          <a:xfrm>
            <a:off x="109632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9" name="Shape 7"/>
          <p:cNvSpPr/>
          <p:nvPr/>
        </p:nvSpPr>
        <p:spPr>
          <a:xfrm>
            <a:off x="111156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10" name="Shape 8"/>
          <p:cNvSpPr/>
          <p:nvPr/>
        </p:nvSpPr>
        <p:spPr>
          <a:xfrm>
            <a:off x="112680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11" name="Shape 9"/>
          <p:cNvSpPr/>
          <p:nvPr/>
        </p:nvSpPr>
        <p:spPr>
          <a:xfrm>
            <a:off x="114204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85800" y="561975"/>
            <a:ext cx="1476375" cy="1400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8100" b="1">
                <a:solidFill>
                  <a:srgbClr val="E8603C"/>
                </a:solidFill>
                <a:latin typeface="Nunito"/>
                <a:ea typeface="Nunito"/>
              </a:rPr>
              <a:t>05</a:t>
            </a:r>
          </a:p>
        </p:txBody>
      </p:sp>
      <p:sp>
        <p:nvSpPr>
          <p:cNvPr id="13" name="Text 11"/>
          <p:cNvSpPr txBox="1"/>
          <p:nvPr/>
        </p:nvSpPr>
        <p:spPr>
          <a:xfrm>
            <a:off x="2228850" y="742950"/>
            <a:ext cx="4762500" cy="704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4050" b="1">
                <a:solidFill>
                  <a:srgbClr val="22304A"/>
                </a:solidFill>
                <a:latin typeface="Nunito"/>
                <a:ea typeface="Nunito"/>
              </a:rPr>
              <a:t>I'm looking for </a:t>
            </a:r>
            <a:pPr algn="l"/>
            <a:r>
              <a:rPr sz="4050" b="1">
                <a:solidFill>
                  <a:srgbClr val="E8603C"/>
                </a:solidFill>
                <a:latin typeface="Nunito"/>
                <a:ea typeface="Nunito"/>
              </a:rPr>
              <a:t>~</a:t>
            </a:r>
          </a:p>
        </p:txBody>
      </p:sp>
      <p:sp>
        <p:nvSpPr>
          <p:cNvPr id="14" name="Text 12"/>
          <p:cNvSpPr txBox="1"/>
          <p:nvPr/>
        </p:nvSpPr>
        <p:spPr>
          <a:xfrm>
            <a:off x="2228850" y="1485900"/>
            <a:ext cx="25717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2100" b="1">
                <a:solidFill>
                  <a:srgbClr val="22304A"/>
                </a:solidFill>
                <a:latin typeface="Zen Maru Gothic"/>
                <a:ea typeface="Zen Maru Gothic"/>
              </a:rPr>
              <a:t>〇〇を探してます</a:t>
            </a:r>
          </a:p>
        </p:txBody>
      </p:sp>
      <p:sp>
        <p:nvSpPr>
          <p:cNvPr id="15" name="Shape 13"/>
          <p:cNvSpPr/>
          <p:nvPr/>
        </p:nvSpPr>
        <p:spPr>
          <a:xfrm>
            <a:off x="4514850" y="1504950"/>
            <a:ext cx="752475" cy="342900"/>
          </a:xfrm>
          <a:prstGeom prst="roundRect">
            <a:avLst>
              <a:gd name="adj" fmla="val 50000"/>
            </a:avLst>
          </a:prstGeom>
          <a:solidFill>
            <a:srgbClr val="FCE4D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648200" y="1552575"/>
            <a:ext cx="6762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E8603C"/>
                </a:solidFill>
                <a:latin typeface="Zen Maru Gothic"/>
                <a:ea typeface="Zen Maru Gothic"/>
              </a:rPr>
              <a:t>＋名詞</a:t>
            </a:r>
          </a:p>
        </p:txBody>
      </p:sp>
      <p:sp>
        <p:nvSpPr>
          <p:cNvPr id="17" name="Text 15"/>
          <p:cNvSpPr txBox="1"/>
          <p:nvPr/>
        </p:nvSpPr>
        <p:spPr>
          <a:xfrm>
            <a:off x="685800" y="2114550"/>
            <a:ext cx="5048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8A8F9C"/>
                </a:solidFill>
                <a:latin typeface="Zen Maru Gothic"/>
                <a:ea typeface="Zen Maru Gothic"/>
              </a:rPr>
              <a:t>例文</a:t>
            </a:r>
          </a:p>
        </p:txBody>
      </p:sp>
      <p:sp>
        <p:nvSpPr>
          <p:cNvPr id="18" name="Shape 16"/>
          <p:cNvSpPr/>
          <p:nvPr/>
        </p:nvSpPr>
        <p:spPr>
          <a:xfrm>
            <a:off x="1143000" y="2209800"/>
            <a:ext cx="5791200" cy="0"/>
          </a:xfrm>
          <a:prstGeom prst="line">
            <a:avLst/>
          </a:prstGeom>
          <a:noFill/>
          <a:ln w="19050">
            <a:solidFill>
              <a:srgbClr val="EBE1D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5800" y="2428875"/>
            <a:ext cx="6248400" cy="12573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4400" y="2895600"/>
            <a:ext cx="323850" cy="323850"/>
          </a:xfrm>
          <a:prstGeom prst="ellipse">
            <a:avLst/>
          </a:prstGeom>
          <a:solidFill>
            <a:srgbClr val="FCE4D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62025" y="2943225"/>
            <a:ext cx="2286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E8603C"/>
                </a:solidFill>
                <a:latin typeface="Nunito"/>
                <a:ea typeface="Nunito"/>
              </a:rPr>
              <a:t>1</a:t>
            </a:r>
          </a:p>
        </p:txBody>
      </p:sp>
      <p:sp>
        <p:nvSpPr>
          <p:cNvPr id="22" name="Text 20"/>
          <p:cNvSpPr txBox="1"/>
          <p:nvPr/>
        </p:nvSpPr>
        <p:spPr>
          <a:xfrm>
            <a:off x="1428750" y="2657475"/>
            <a:ext cx="39052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20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I'm looking for</a:t>
            </a:r>
            <a:pPr algn="l"/>
            <a:r>
              <a:rPr sz="2050" b="1">
                <a:solidFill>
                  <a:srgbClr val="22304A"/>
                </a:solidFill>
                <a:latin typeface="Nunito"/>
                <a:ea typeface="Nunito"/>
              </a:rPr>
              <a:t> </a:t>
            </a:r>
            <a:pPr algn="l"/>
            <a:r>
              <a:rPr sz="2050" b="1">
                <a:solidFill>
                  <a:srgbClr val="E8603C"/>
                </a:solidFill>
                <a:latin typeface="Nunito"/>
                <a:ea typeface="Nunito"/>
              </a:rPr>
              <a:t>a</a:t>
            </a:r>
            <a:pPr algn="l"/>
            <a:r>
              <a:rPr sz="2050" b="1">
                <a:solidFill>
                  <a:srgbClr val="22304A"/>
                </a:solidFill>
                <a:latin typeface="Nunito"/>
                <a:ea typeface="Nunito"/>
              </a:rPr>
              <a:t> bathroom.</a:t>
            </a:r>
          </a:p>
        </p:txBody>
      </p:sp>
      <p:sp>
        <p:nvSpPr>
          <p:cNvPr id="23" name="Text 21"/>
          <p:cNvSpPr txBox="1"/>
          <p:nvPr/>
        </p:nvSpPr>
        <p:spPr>
          <a:xfrm>
            <a:off x="1428750" y="3200400"/>
            <a:ext cx="38576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4A5568"/>
                </a:solidFill>
                <a:latin typeface="Zen Maru Gothic"/>
                <a:ea typeface="Zen Maru Gothic"/>
              </a:rPr>
              <a:t>すいません、トイレ探してるんですけど</a:t>
            </a:r>
          </a:p>
        </p:txBody>
      </p:sp>
      <p:sp>
        <p:nvSpPr>
          <p:cNvPr id="24" name="Shape 22"/>
          <p:cNvSpPr/>
          <p:nvPr/>
        </p:nvSpPr>
        <p:spPr>
          <a:xfrm>
            <a:off x="685800" y="3819525"/>
            <a:ext cx="6248400" cy="12573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14400" y="4286250"/>
            <a:ext cx="323850" cy="323850"/>
          </a:xfrm>
          <a:prstGeom prst="ellipse">
            <a:avLst/>
          </a:prstGeom>
          <a:solidFill>
            <a:srgbClr val="FCE4D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62025" y="4343400"/>
            <a:ext cx="2286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E8603C"/>
                </a:solidFill>
                <a:latin typeface="Nunito"/>
                <a:ea typeface="Nunito"/>
              </a:rPr>
              <a:t>2</a:t>
            </a:r>
          </a:p>
        </p:txBody>
      </p:sp>
      <p:sp>
        <p:nvSpPr>
          <p:cNvPr id="27" name="Text 25"/>
          <p:cNvSpPr txBox="1"/>
          <p:nvPr/>
        </p:nvSpPr>
        <p:spPr>
          <a:xfrm>
            <a:off x="1428750" y="4048125"/>
            <a:ext cx="38004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20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I'm looking for</a:t>
            </a:r>
            <a:pPr algn="l"/>
            <a:r>
              <a:rPr sz="2050" b="1">
                <a:solidFill>
                  <a:srgbClr val="22304A"/>
                </a:solidFill>
                <a:latin typeface="Nunito"/>
                <a:ea typeface="Nunito"/>
              </a:rPr>
              <a:t> </a:t>
            </a:r>
            <a:pPr algn="l"/>
            <a:r>
              <a:rPr sz="2050" b="1">
                <a:solidFill>
                  <a:srgbClr val="E8603C"/>
                </a:solidFill>
                <a:latin typeface="Nunito"/>
                <a:ea typeface="Nunito"/>
              </a:rPr>
              <a:t>the</a:t>
            </a:r>
            <a:pPr algn="l"/>
            <a:r>
              <a:rPr sz="2050" b="1">
                <a:solidFill>
                  <a:srgbClr val="22304A"/>
                </a:solidFill>
                <a:latin typeface="Nunito"/>
                <a:ea typeface="Nunito"/>
              </a:rPr>
              <a:t> station.</a:t>
            </a:r>
          </a:p>
        </p:txBody>
      </p:sp>
      <p:sp>
        <p:nvSpPr>
          <p:cNvPr id="28" name="Text 26"/>
          <p:cNvSpPr txBox="1"/>
          <p:nvPr/>
        </p:nvSpPr>
        <p:spPr>
          <a:xfrm>
            <a:off x="1428750" y="4591050"/>
            <a:ext cx="24003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4A5568"/>
                </a:solidFill>
                <a:latin typeface="Zen Maru Gothic"/>
                <a:ea typeface="Zen Maru Gothic"/>
              </a:rPr>
              <a:t>駅を探してるんですけど</a:t>
            </a:r>
          </a:p>
        </p:txBody>
      </p:sp>
      <p:sp>
        <p:nvSpPr>
          <p:cNvPr id="29" name="Shape 27"/>
          <p:cNvSpPr/>
          <p:nvPr/>
        </p:nvSpPr>
        <p:spPr>
          <a:xfrm>
            <a:off x="685800" y="5219700"/>
            <a:ext cx="6248400" cy="12573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14400" y="5686425"/>
            <a:ext cx="323850" cy="323850"/>
          </a:xfrm>
          <a:prstGeom prst="ellipse">
            <a:avLst/>
          </a:prstGeom>
          <a:solidFill>
            <a:srgbClr val="FCE4D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62025" y="5734050"/>
            <a:ext cx="2286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E8603C"/>
                </a:solidFill>
                <a:latin typeface="Nunito"/>
                <a:ea typeface="Nunito"/>
              </a:rPr>
              <a:t>3</a:t>
            </a:r>
          </a:p>
        </p:txBody>
      </p:sp>
      <p:sp>
        <p:nvSpPr>
          <p:cNvPr id="32" name="Text 30"/>
          <p:cNvSpPr txBox="1"/>
          <p:nvPr/>
        </p:nvSpPr>
        <p:spPr>
          <a:xfrm>
            <a:off x="1428750" y="5448300"/>
            <a:ext cx="36576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20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I'm looking for</a:t>
            </a:r>
            <a:pPr algn="l"/>
            <a:r>
              <a:rPr sz="2050" b="1">
                <a:solidFill>
                  <a:srgbClr val="22304A"/>
                </a:solidFill>
                <a:latin typeface="Nunito"/>
                <a:ea typeface="Nunito"/>
              </a:rPr>
              <a:t> </a:t>
            </a:r>
            <a:pPr algn="l"/>
            <a:r>
              <a:rPr sz="2050" b="1">
                <a:solidFill>
                  <a:srgbClr val="E8603C"/>
                </a:solidFill>
                <a:latin typeface="Nunito"/>
                <a:ea typeface="Nunito"/>
              </a:rPr>
              <a:t>my</a:t>
            </a:r>
            <a:pPr algn="l"/>
            <a:r>
              <a:rPr sz="2050" b="1">
                <a:solidFill>
                  <a:srgbClr val="22304A"/>
                </a:solidFill>
                <a:latin typeface="Nunito"/>
                <a:ea typeface="Nunito"/>
              </a:rPr>
              <a:t> phone.</a:t>
            </a:r>
          </a:p>
        </p:txBody>
      </p:sp>
      <p:sp>
        <p:nvSpPr>
          <p:cNvPr id="33" name="Text 31"/>
          <p:cNvSpPr txBox="1"/>
          <p:nvPr/>
        </p:nvSpPr>
        <p:spPr>
          <a:xfrm>
            <a:off x="1428750" y="5991225"/>
            <a:ext cx="22002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4A5568"/>
                </a:solidFill>
                <a:latin typeface="Zen Maru Gothic"/>
                <a:ea typeface="Zen Maru Gothic"/>
              </a:rPr>
              <a:t>私の携帯を探してます</a:t>
            </a:r>
          </a:p>
        </p:txBody>
      </p:sp>
      <p:sp>
        <p:nvSpPr>
          <p:cNvPr id="34" name="Text 32"/>
          <p:cNvSpPr txBox="1"/>
          <p:nvPr/>
        </p:nvSpPr>
        <p:spPr>
          <a:xfrm>
            <a:off x="7219950" y="2114550"/>
            <a:ext cx="9048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8A8F9C"/>
                </a:solidFill>
                <a:latin typeface="Zen Maru Gothic"/>
                <a:ea typeface="Zen Maru Gothic"/>
              </a:rPr>
              <a:t>ポイント</a:t>
            </a:r>
          </a:p>
        </p:txBody>
      </p:sp>
      <p:sp>
        <p:nvSpPr>
          <p:cNvPr id="35" name="Shape 33"/>
          <p:cNvSpPr/>
          <p:nvPr/>
        </p:nvSpPr>
        <p:spPr>
          <a:xfrm>
            <a:off x="8020050" y="2209800"/>
            <a:ext cx="3486150" cy="0"/>
          </a:xfrm>
          <a:prstGeom prst="line">
            <a:avLst/>
          </a:prstGeom>
          <a:noFill/>
          <a:ln w="19050">
            <a:solidFill>
              <a:srgbClr val="EBE1D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219950" y="2428875"/>
            <a:ext cx="4286250" cy="4048125"/>
          </a:xfrm>
          <a:prstGeom prst="roundRect">
            <a:avLst>
              <a:gd name="adj" fmla="val 5176"/>
            </a:avLst>
          </a:prstGeom>
          <a:solidFill>
            <a:srgbClr val="FFFFFF"/>
          </a:solidFill>
          <a:ln w="19050">
            <a:solidFill>
              <a:srgbClr val="FCE4D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077200" y="2676525"/>
            <a:ext cx="22288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22304A"/>
                </a:solidFill>
                <a:latin typeface="Zen Maru Gothic"/>
                <a:ea typeface="Zen Maru Gothic"/>
              </a:rPr>
              <a:t>冠詞 the と a の違い</a:t>
            </a:r>
          </a:p>
        </p:txBody>
      </p:sp>
      <p:sp>
        <p:nvSpPr>
          <p:cNvPr id="38" name="Shape 36"/>
          <p:cNvSpPr/>
          <p:nvPr/>
        </p:nvSpPr>
        <p:spPr>
          <a:xfrm>
            <a:off x="7505700" y="2676525"/>
            <a:ext cx="476250" cy="276225"/>
          </a:xfrm>
          <a:prstGeom prst="roundRect">
            <a:avLst>
              <a:gd name="adj" fmla="val 20690"/>
            </a:avLst>
          </a:prstGeom>
          <a:solidFill>
            <a:srgbClr val="E8603C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610475" y="2714625"/>
            <a:ext cx="4191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FFFFFF"/>
                </a:solidFill>
                <a:latin typeface="Zen Maru Gothic"/>
                <a:ea typeface="Zen Maru Gothic"/>
              </a:rPr>
              <a:t>文法</a:t>
            </a:r>
          </a:p>
        </p:txBody>
      </p:sp>
      <p:sp>
        <p:nvSpPr>
          <p:cNvPr id="40" name="Shape 38"/>
          <p:cNvSpPr/>
          <p:nvPr/>
        </p:nvSpPr>
        <p:spPr>
          <a:xfrm>
            <a:off x="7505700" y="3152775"/>
            <a:ext cx="723900" cy="628650"/>
          </a:xfrm>
          <a:prstGeom prst="roundRect">
            <a:avLst>
              <a:gd name="adj" fmla="val 24242"/>
            </a:avLst>
          </a:prstGeom>
          <a:solidFill>
            <a:srgbClr val="FCE4D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7562850" y="3286125"/>
            <a:ext cx="609600" cy="3619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E8603C"/>
                </a:solidFill>
                <a:latin typeface="Nunito"/>
                <a:ea typeface="Nunito"/>
              </a:rPr>
              <a:t>the</a:t>
            </a:r>
          </a:p>
        </p:txBody>
      </p:sp>
      <p:sp>
        <p:nvSpPr>
          <p:cNvPr id="42" name="Text 40"/>
          <p:cNvSpPr txBox="1"/>
          <p:nvPr/>
        </p:nvSpPr>
        <p:spPr>
          <a:xfrm>
            <a:off x="8382000" y="3171825"/>
            <a:ext cx="12096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2304A"/>
                </a:solidFill>
                <a:latin typeface="Zen Maru Gothic"/>
                <a:ea typeface="Zen Maru Gothic"/>
              </a:rPr>
              <a:t>特定の場所</a:t>
            </a:r>
          </a:p>
        </p:txBody>
      </p:sp>
      <p:sp>
        <p:nvSpPr>
          <p:cNvPr id="43" name="Text 41"/>
          <p:cNvSpPr txBox="1"/>
          <p:nvPr/>
        </p:nvSpPr>
        <p:spPr>
          <a:xfrm>
            <a:off x="8382000" y="3505200"/>
            <a:ext cx="28956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4A5568"/>
                </a:solidFill>
                <a:latin typeface="Nunito"/>
                <a:ea typeface="Nunito"/>
              </a:rPr>
              <a:t>I'm looking for </a:t>
            </a:r>
            <a:pPr algn="l"/>
            <a:r>
              <a:rPr sz="1500" b="1">
                <a:solidFill>
                  <a:srgbClr val="E8603C"/>
                </a:solidFill>
                <a:latin typeface="Nunito"/>
                <a:ea typeface="Nunito"/>
              </a:rPr>
              <a:t>the</a:t>
            </a:r>
            <a:pPr algn="l"/>
            <a:r>
              <a:rPr sz="1500" b="1">
                <a:solidFill>
                  <a:srgbClr val="4A5568"/>
                </a:solidFill>
                <a:latin typeface="Nunito"/>
                <a:ea typeface="Nunito"/>
              </a:rPr>
              <a:t> station.</a:t>
            </a:r>
          </a:p>
        </p:txBody>
      </p:sp>
      <p:sp>
        <p:nvSpPr>
          <p:cNvPr id="44" name="Shape 42"/>
          <p:cNvSpPr/>
          <p:nvPr/>
        </p:nvSpPr>
        <p:spPr>
          <a:xfrm>
            <a:off x="7505700" y="3971925"/>
            <a:ext cx="723900" cy="628650"/>
          </a:xfrm>
          <a:prstGeom prst="roundRect">
            <a:avLst>
              <a:gd name="adj" fmla="val 24242"/>
            </a:avLst>
          </a:prstGeom>
          <a:solidFill>
            <a:srgbClr val="FCE4D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724775" y="4105275"/>
            <a:ext cx="285750" cy="3619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E8603C"/>
                </a:solidFill>
                <a:latin typeface="Nunito"/>
                <a:ea typeface="Nunito"/>
              </a:rPr>
              <a:t>a</a:t>
            </a:r>
          </a:p>
        </p:txBody>
      </p:sp>
      <p:sp>
        <p:nvSpPr>
          <p:cNvPr id="46" name="Text 44"/>
          <p:cNvSpPr txBox="1"/>
          <p:nvPr/>
        </p:nvSpPr>
        <p:spPr>
          <a:xfrm>
            <a:off x="8382000" y="3990975"/>
            <a:ext cx="14287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2304A"/>
                </a:solidFill>
                <a:latin typeface="Zen Maru Gothic"/>
                <a:ea typeface="Zen Maru Gothic"/>
              </a:rPr>
              <a:t>一般的なもの</a:t>
            </a:r>
          </a:p>
        </p:txBody>
      </p:sp>
      <p:sp>
        <p:nvSpPr>
          <p:cNvPr id="47" name="Text 45"/>
          <p:cNvSpPr txBox="1"/>
          <p:nvPr/>
        </p:nvSpPr>
        <p:spPr>
          <a:xfrm>
            <a:off x="8382000" y="4324350"/>
            <a:ext cx="29718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4A5568"/>
                </a:solidFill>
                <a:latin typeface="Nunito"/>
                <a:ea typeface="Nunito"/>
              </a:rPr>
              <a:t>I'm looking for </a:t>
            </a:r>
            <a:pPr algn="l"/>
            <a:r>
              <a:rPr sz="1500" b="1">
                <a:solidFill>
                  <a:srgbClr val="E8603C"/>
                </a:solidFill>
                <a:latin typeface="Nunito"/>
                <a:ea typeface="Nunito"/>
              </a:rPr>
              <a:t>a</a:t>
            </a:r>
            <a:pPr algn="l"/>
            <a:r>
              <a:rPr sz="1500" b="1">
                <a:solidFill>
                  <a:srgbClr val="4A5568"/>
                </a:solidFill>
                <a:latin typeface="Nunito"/>
                <a:ea typeface="Nunito"/>
              </a:rPr>
              <a:t> bathroom.</a:t>
            </a:r>
          </a:p>
        </p:txBody>
      </p:sp>
      <p:sp>
        <p:nvSpPr>
          <p:cNvPr id="48" name="Shape 46"/>
          <p:cNvSpPr/>
          <p:nvPr/>
        </p:nvSpPr>
        <p:spPr>
          <a:xfrm>
            <a:off x="7505700" y="4800600"/>
            <a:ext cx="3714750" cy="0"/>
          </a:xfrm>
          <a:prstGeom prst="line">
            <a:avLst/>
          </a:prstGeom>
          <a:noFill/>
          <a:ln w="19050">
            <a:solidFill>
              <a:srgbClr val="EBE1D2"/>
            </a:solidFill>
            <a:prstDash val="dash"/>
          </a:ln>
        </p:spPr>
      </p:sp>
      <p:sp>
        <p:nvSpPr>
          <p:cNvPr id="49" name="Text 47"/>
          <p:cNvSpPr txBox="1"/>
          <p:nvPr/>
        </p:nvSpPr>
        <p:spPr>
          <a:xfrm>
            <a:off x="7505700" y="5000625"/>
            <a:ext cx="36671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E8603C"/>
                </a:solidFill>
                <a:latin typeface="Zen Maru Gothic"/>
                <a:ea typeface="Zen Maru Gothic"/>
              </a:rPr>
              <a:t>The</a:t>
            </a:r>
            <a:pPr algn="l"/>
            <a:r>
              <a:rPr sz="1350" b="1">
                <a:solidFill>
                  <a:srgbClr val="4A5568"/>
                </a:solidFill>
                <a:latin typeface="Zen Maru Gothic"/>
                <a:ea typeface="Zen Maru Gothic"/>
              </a:rPr>
              <a:t> は世界遺産などの固有名詞にも使う</a:t>
            </a:r>
          </a:p>
        </p:txBody>
      </p:sp>
      <p:sp>
        <p:nvSpPr>
          <p:cNvPr id="50" name="Text 48"/>
          <p:cNvSpPr txBox="1"/>
          <p:nvPr/>
        </p:nvSpPr>
        <p:spPr>
          <a:xfrm>
            <a:off x="7505700" y="5400675"/>
            <a:ext cx="43053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E8603C"/>
                </a:solidFill>
                <a:latin typeface="Nunito"/>
                <a:ea typeface="Nunito"/>
              </a:rPr>
              <a:t>The</a:t>
            </a:r>
            <a:pPr algn="l"/>
            <a:r>
              <a:rPr sz="1650" b="1">
                <a:solidFill>
                  <a:srgbClr val="22304A"/>
                </a:solidFill>
                <a:latin typeface="Nunito"/>
                <a:ea typeface="Nunito"/>
              </a:rPr>
              <a:t> Eiffel Tower </a:t>
            </a:r>
            <a:pPr algn="l"/>
            <a:r>
              <a:rPr sz="1650" b="1">
                <a:solidFill>
                  <a:srgbClr val="22304A"/>
                </a:solidFill>
                <a:latin typeface="Zen Maru Gothic"/>
                <a:ea typeface="Zen Maru Gothic"/>
              </a:rPr>
              <a:t>／</a:t>
            </a:r>
            <a:pPr algn="l"/>
            <a:r>
              <a:rPr sz="1650" b="1">
                <a:solidFill>
                  <a:srgbClr val="22304A"/>
                </a:solidFill>
                <a:latin typeface="Nunito"/>
                <a:ea typeface="Nunito"/>
              </a:rPr>
              <a:t> </a:t>
            </a:r>
            <a:pPr algn="l"/>
            <a:r>
              <a:rPr sz="1650" b="1">
                <a:solidFill>
                  <a:srgbClr val="E8603C"/>
                </a:solidFill>
                <a:latin typeface="Nunito"/>
                <a:ea typeface="Nunito"/>
              </a:rPr>
              <a:t>The</a:t>
            </a:r>
            <a:pPr algn="l"/>
            <a:r>
              <a:rPr sz="1650" b="1">
                <a:solidFill>
                  <a:srgbClr val="22304A"/>
                </a:solidFill>
                <a:latin typeface="Nunito"/>
                <a:ea typeface="Nunito"/>
              </a:rPr>
              <a:t> Tokyo Tower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2581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8A8F9C"/>
                </a:solidFill>
                <a:latin typeface="Zen Maru Gothic"/>
                <a:ea typeface="Zen Maru Gothic"/>
              </a:rPr>
              <a:t>日常英会話フレーズ 9選 まとめ</a:t>
            </a:r>
          </a:p>
        </p:txBody>
      </p:sp>
      <p:sp>
        <p:nvSpPr>
          <p:cNvPr id="3" name="Shape 1"/>
          <p:cNvSpPr/>
          <p:nvPr/>
        </p:nvSpPr>
        <p:spPr>
          <a:xfrm>
            <a:off x="100012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4" name="Shape 2"/>
          <p:cNvSpPr/>
          <p:nvPr/>
        </p:nvSpPr>
        <p:spPr>
          <a:xfrm>
            <a:off x="101536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5" name="Shape 3"/>
          <p:cNvSpPr/>
          <p:nvPr/>
        </p:nvSpPr>
        <p:spPr>
          <a:xfrm>
            <a:off x="103060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6" name="Shape 4"/>
          <p:cNvSpPr/>
          <p:nvPr/>
        </p:nvSpPr>
        <p:spPr>
          <a:xfrm>
            <a:off x="104584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7" name="Shape 5"/>
          <p:cNvSpPr/>
          <p:nvPr/>
        </p:nvSpPr>
        <p:spPr>
          <a:xfrm>
            <a:off x="106108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8" name="Shape 6"/>
          <p:cNvSpPr/>
          <p:nvPr/>
        </p:nvSpPr>
        <p:spPr>
          <a:xfrm>
            <a:off x="10763250" y="476250"/>
            <a:ext cx="285750" cy="85725"/>
          </a:xfrm>
          <a:prstGeom prst="roundRect">
            <a:avLst>
              <a:gd name="adj" fmla="val 50000"/>
            </a:avLst>
          </a:prstGeom>
          <a:solidFill>
            <a:srgbClr val="E8603C"/>
          </a:solidFill>
          <a:ln/>
        </p:spPr>
      </p:sp>
      <p:sp>
        <p:nvSpPr>
          <p:cNvPr id="9" name="Shape 7"/>
          <p:cNvSpPr/>
          <p:nvPr/>
        </p:nvSpPr>
        <p:spPr>
          <a:xfrm>
            <a:off x="111156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10" name="Shape 8"/>
          <p:cNvSpPr/>
          <p:nvPr/>
        </p:nvSpPr>
        <p:spPr>
          <a:xfrm>
            <a:off x="112680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11" name="Shape 9"/>
          <p:cNvSpPr/>
          <p:nvPr/>
        </p:nvSpPr>
        <p:spPr>
          <a:xfrm>
            <a:off x="114204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85800" y="561975"/>
            <a:ext cx="1476375" cy="1400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8100" b="1">
                <a:solidFill>
                  <a:srgbClr val="E8603C"/>
                </a:solidFill>
                <a:latin typeface="Nunito"/>
                <a:ea typeface="Nunito"/>
              </a:rPr>
              <a:t>06</a:t>
            </a:r>
          </a:p>
        </p:txBody>
      </p:sp>
      <p:sp>
        <p:nvSpPr>
          <p:cNvPr id="13" name="Text 11"/>
          <p:cNvSpPr txBox="1"/>
          <p:nvPr/>
        </p:nvSpPr>
        <p:spPr>
          <a:xfrm>
            <a:off x="2228850" y="742950"/>
            <a:ext cx="2619375" cy="704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4050" b="1">
                <a:solidFill>
                  <a:srgbClr val="22304A"/>
                </a:solidFill>
                <a:latin typeface="Nunito"/>
                <a:ea typeface="Nunito"/>
              </a:rPr>
              <a:t>I might </a:t>
            </a:r>
            <a:pPr algn="l"/>
            <a:r>
              <a:rPr sz="4050" b="1">
                <a:solidFill>
                  <a:srgbClr val="E8603C"/>
                </a:solidFill>
                <a:latin typeface="Nunito"/>
                <a:ea typeface="Nunito"/>
              </a:rPr>
              <a:t>~</a:t>
            </a:r>
          </a:p>
        </p:txBody>
      </p:sp>
      <p:sp>
        <p:nvSpPr>
          <p:cNvPr id="14" name="Text 12"/>
          <p:cNvSpPr txBox="1"/>
          <p:nvPr/>
        </p:nvSpPr>
        <p:spPr>
          <a:xfrm>
            <a:off x="2228850" y="1485900"/>
            <a:ext cx="31813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2100" b="1">
                <a:solidFill>
                  <a:srgbClr val="22304A"/>
                </a:solidFill>
                <a:latin typeface="Zen Maru Gothic"/>
                <a:ea typeface="Zen Maru Gothic"/>
              </a:rPr>
              <a:t>〇〇するかもしれない</a:t>
            </a:r>
          </a:p>
        </p:txBody>
      </p:sp>
      <p:sp>
        <p:nvSpPr>
          <p:cNvPr id="15" name="Shape 13"/>
          <p:cNvSpPr/>
          <p:nvPr/>
        </p:nvSpPr>
        <p:spPr>
          <a:xfrm>
            <a:off x="5048250" y="1504950"/>
            <a:ext cx="1238250" cy="342900"/>
          </a:xfrm>
          <a:prstGeom prst="roundRect">
            <a:avLst>
              <a:gd name="adj" fmla="val 50000"/>
            </a:avLst>
          </a:prstGeom>
          <a:solidFill>
            <a:srgbClr val="FCE4D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181600" y="1552575"/>
            <a:ext cx="12287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E8603C"/>
                </a:solidFill>
                <a:latin typeface="Zen Maru Gothic"/>
                <a:ea typeface="Zen Maru Gothic"/>
              </a:rPr>
              <a:t>＋動詞の原形</a:t>
            </a:r>
          </a:p>
        </p:txBody>
      </p:sp>
      <p:sp>
        <p:nvSpPr>
          <p:cNvPr id="17" name="Shape 15"/>
          <p:cNvSpPr/>
          <p:nvPr/>
        </p:nvSpPr>
        <p:spPr>
          <a:xfrm>
            <a:off x="2228850" y="2019300"/>
            <a:ext cx="476250" cy="276225"/>
          </a:xfrm>
          <a:prstGeom prst="roundRect">
            <a:avLst>
              <a:gd name="adj" fmla="val 20690"/>
            </a:avLst>
          </a:prstGeom>
          <a:solidFill>
            <a:srgbClr val="22304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333625" y="2057400"/>
            <a:ext cx="4191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FFFFFF"/>
                </a:solidFill>
                <a:latin typeface="Zen Maru Gothic"/>
                <a:ea typeface="Zen Maru Gothic"/>
              </a:rPr>
              <a:t>否定</a:t>
            </a:r>
          </a:p>
        </p:txBody>
      </p:sp>
      <p:sp>
        <p:nvSpPr>
          <p:cNvPr id="19" name="Text 17"/>
          <p:cNvSpPr txBox="1"/>
          <p:nvPr/>
        </p:nvSpPr>
        <p:spPr>
          <a:xfrm>
            <a:off x="2838450" y="2000250"/>
            <a:ext cx="1781175" cy="323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900" b="1">
                <a:solidFill>
                  <a:srgbClr val="22304A"/>
                </a:solidFill>
                <a:latin typeface="Nunito"/>
                <a:ea typeface="Nunito"/>
              </a:rPr>
              <a:t>I might not ~</a:t>
            </a:r>
          </a:p>
        </p:txBody>
      </p:sp>
      <p:sp>
        <p:nvSpPr>
          <p:cNvPr id="20" name="Text 18"/>
          <p:cNvSpPr txBox="1"/>
          <p:nvPr/>
        </p:nvSpPr>
        <p:spPr>
          <a:xfrm>
            <a:off x="4419600" y="2019300"/>
            <a:ext cx="16478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4A5568"/>
                </a:solidFill>
                <a:latin typeface="Zen Maru Gothic"/>
                <a:ea typeface="Zen Maru Gothic"/>
              </a:rPr>
              <a:t>〇〇しないかも</a:t>
            </a:r>
          </a:p>
        </p:txBody>
      </p:sp>
      <p:sp>
        <p:nvSpPr>
          <p:cNvPr id="21" name="Text 19"/>
          <p:cNvSpPr txBox="1"/>
          <p:nvPr/>
        </p:nvSpPr>
        <p:spPr>
          <a:xfrm>
            <a:off x="685800" y="2571750"/>
            <a:ext cx="5048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8A8F9C"/>
                </a:solidFill>
                <a:latin typeface="Zen Maru Gothic"/>
                <a:ea typeface="Zen Maru Gothic"/>
              </a:rPr>
              <a:t>例文</a:t>
            </a:r>
          </a:p>
        </p:txBody>
      </p:sp>
      <p:sp>
        <p:nvSpPr>
          <p:cNvPr id="22" name="Shape 20"/>
          <p:cNvSpPr/>
          <p:nvPr/>
        </p:nvSpPr>
        <p:spPr>
          <a:xfrm>
            <a:off x="1143000" y="2667000"/>
            <a:ext cx="10363200" cy="0"/>
          </a:xfrm>
          <a:prstGeom prst="line">
            <a:avLst/>
          </a:prstGeom>
          <a:noFill/>
          <a:ln w="19050">
            <a:solidFill>
              <a:srgbClr val="EBE1D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5800" y="2886075"/>
            <a:ext cx="10820400" cy="1104900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52500" y="3276600"/>
            <a:ext cx="323850" cy="323850"/>
          </a:xfrm>
          <a:prstGeom prst="ellipse">
            <a:avLst/>
          </a:prstGeom>
          <a:solidFill>
            <a:srgbClr val="FCE4D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00125" y="3324225"/>
            <a:ext cx="2286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E8603C"/>
                </a:solidFill>
                <a:latin typeface="Nunito"/>
                <a:ea typeface="Nunito"/>
              </a:rPr>
              <a:t>1</a:t>
            </a:r>
          </a:p>
        </p:txBody>
      </p:sp>
      <p:sp>
        <p:nvSpPr>
          <p:cNvPr id="26" name="Text 24"/>
          <p:cNvSpPr txBox="1"/>
          <p:nvPr/>
        </p:nvSpPr>
        <p:spPr>
          <a:xfrm>
            <a:off x="1466850" y="3238500"/>
            <a:ext cx="35814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23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I might</a:t>
            </a:r>
            <a:pPr algn="l"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</a:t>
            </a:r>
            <a:pPr algn="l"/>
            <a:r>
              <a:rPr sz="2350" b="1">
                <a:solidFill>
                  <a:srgbClr val="E8603C"/>
                </a:solidFill>
                <a:latin typeface="Nunito"/>
                <a:ea typeface="Nunito"/>
              </a:rPr>
              <a:t>eat</a:t>
            </a:r>
            <a:pPr algn="l"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a cupcake.</a:t>
            </a:r>
          </a:p>
        </p:txBody>
      </p:sp>
      <p:sp>
        <p:nvSpPr>
          <p:cNvPr id="27" name="Text 25"/>
          <p:cNvSpPr txBox="1"/>
          <p:nvPr/>
        </p:nvSpPr>
        <p:spPr>
          <a:xfrm>
            <a:off x="7524750" y="3276600"/>
            <a:ext cx="27622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4A5568"/>
                </a:solidFill>
                <a:latin typeface="Zen Maru Gothic"/>
                <a:ea typeface="Zen Maru Gothic"/>
              </a:rPr>
              <a:t>カップケーキ食べるかも</a:t>
            </a:r>
          </a:p>
        </p:txBody>
      </p:sp>
      <p:sp>
        <p:nvSpPr>
          <p:cNvPr id="28" name="Shape 26"/>
          <p:cNvSpPr/>
          <p:nvPr/>
        </p:nvSpPr>
        <p:spPr>
          <a:xfrm>
            <a:off x="685800" y="4124325"/>
            <a:ext cx="10820400" cy="1104900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52500" y="4514850"/>
            <a:ext cx="323850" cy="323850"/>
          </a:xfrm>
          <a:prstGeom prst="ellipse">
            <a:avLst/>
          </a:prstGeom>
          <a:solidFill>
            <a:srgbClr val="FCE4D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00125" y="4572000"/>
            <a:ext cx="2286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E8603C"/>
                </a:solidFill>
                <a:latin typeface="Nunito"/>
                <a:ea typeface="Nunito"/>
              </a:rPr>
              <a:t>2</a:t>
            </a:r>
          </a:p>
        </p:txBody>
      </p:sp>
      <p:sp>
        <p:nvSpPr>
          <p:cNvPr id="31" name="Text 29"/>
          <p:cNvSpPr txBox="1"/>
          <p:nvPr/>
        </p:nvSpPr>
        <p:spPr>
          <a:xfrm>
            <a:off x="1466850" y="4476750"/>
            <a:ext cx="252412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23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I might</a:t>
            </a:r>
            <a:pPr algn="l"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</a:t>
            </a:r>
            <a:pPr algn="l"/>
            <a:r>
              <a:rPr sz="2350" b="1">
                <a:solidFill>
                  <a:srgbClr val="E8603C"/>
                </a:solidFill>
                <a:latin typeface="Nunito"/>
                <a:ea typeface="Nunito"/>
              </a:rPr>
              <a:t>be</a:t>
            </a:r>
            <a:pPr algn="l"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late.</a:t>
            </a:r>
          </a:p>
        </p:txBody>
      </p:sp>
      <p:sp>
        <p:nvSpPr>
          <p:cNvPr id="32" name="Text 30"/>
          <p:cNvSpPr txBox="1"/>
          <p:nvPr/>
        </p:nvSpPr>
        <p:spPr>
          <a:xfrm>
            <a:off x="7524750" y="4352925"/>
            <a:ext cx="22860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4A5568"/>
                </a:solidFill>
                <a:latin typeface="Zen Maru Gothic"/>
                <a:ea typeface="Zen Maru Gothic"/>
              </a:rPr>
              <a:t>ちょっと遅れるかも</a:t>
            </a:r>
          </a:p>
        </p:txBody>
      </p:sp>
      <p:sp>
        <p:nvSpPr>
          <p:cNvPr id="33" name="Shape 31"/>
          <p:cNvSpPr/>
          <p:nvPr/>
        </p:nvSpPr>
        <p:spPr>
          <a:xfrm>
            <a:off x="7524750" y="4724400"/>
            <a:ext cx="1828800" cy="276225"/>
          </a:xfrm>
          <a:prstGeom prst="roundRect">
            <a:avLst>
              <a:gd name="adj" fmla="val 27586"/>
            </a:avLst>
          </a:prstGeom>
          <a:solidFill>
            <a:srgbClr val="FBF6EE"/>
          </a:solidFill>
          <a:ln w="9525">
            <a:solidFill>
              <a:srgbClr val="EBE1D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629525" y="4752975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4A5568"/>
                </a:solidFill>
                <a:latin typeface="Zen Maru Gothic"/>
                <a:ea typeface="Zen Maru Gothic"/>
              </a:rPr>
              <a:t>late ＝ 遅れる〈形容詞〉</a:t>
            </a:r>
          </a:p>
        </p:txBody>
      </p:sp>
      <p:sp>
        <p:nvSpPr>
          <p:cNvPr id="35" name="Shape 33"/>
          <p:cNvSpPr/>
          <p:nvPr/>
        </p:nvSpPr>
        <p:spPr>
          <a:xfrm>
            <a:off x="685800" y="5372100"/>
            <a:ext cx="10820400" cy="1104900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952500" y="5762625"/>
            <a:ext cx="323850" cy="323850"/>
          </a:xfrm>
          <a:prstGeom prst="ellipse">
            <a:avLst/>
          </a:prstGeom>
          <a:solidFill>
            <a:srgbClr val="FCE4D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1000125" y="5810250"/>
            <a:ext cx="2286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E8603C"/>
                </a:solidFill>
                <a:latin typeface="Nunito"/>
                <a:ea typeface="Nunito"/>
              </a:rPr>
              <a:t>3</a:t>
            </a:r>
          </a:p>
        </p:txBody>
      </p:sp>
      <p:sp>
        <p:nvSpPr>
          <p:cNvPr id="38" name="Text 36"/>
          <p:cNvSpPr txBox="1"/>
          <p:nvPr/>
        </p:nvSpPr>
        <p:spPr>
          <a:xfrm>
            <a:off x="1466850" y="5724525"/>
            <a:ext cx="343852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23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I might not</a:t>
            </a:r>
            <a:pPr algn="l"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</a:t>
            </a:r>
            <a:pPr algn="l"/>
            <a:r>
              <a:rPr sz="2350" b="1">
                <a:solidFill>
                  <a:srgbClr val="E8603C"/>
                </a:solidFill>
                <a:latin typeface="Nunito"/>
                <a:ea typeface="Nunito"/>
              </a:rPr>
              <a:t>go</a:t>
            </a:r>
            <a:pPr algn="l"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today.</a:t>
            </a:r>
          </a:p>
        </p:txBody>
      </p:sp>
      <p:sp>
        <p:nvSpPr>
          <p:cNvPr id="39" name="Text 37"/>
          <p:cNvSpPr txBox="1"/>
          <p:nvPr/>
        </p:nvSpPr>
        <p:spPr>
          <a:xfrm>
            <a:off x="7524750" y="5762625"/>
            <a:ext cx="22860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4A5568"/>
                </a:solidFill>
                <a:latin typeface="Zen Maru Gothic"/>
                <a:ea typeface="Zen Maru Gothic"/>
              </a:rPr>
              <a:t>今日は行かないかも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2581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8A8F9C"/>
                </a:solidFill>
                <a:latin typeface="Zen Maru Gothic"/>
                <a:ea typeface="Zen Maru Gothic"/>
              </a:rPr>
              <a:t>日常英会話フレーズ 9選 まとめ</a:t>
            </a:r>
          </a:p>
        </p:txBody>
      </p:sp>
      <p:sp>
        <p:nvSpPr>
          <p:cNvPr id="3" name="Shape 1"/>
          <p:cNvSpPr/>
          <p:nvPr/>
        </p:nvSpPr>
        <p:spPr>
          <a:xfrm>
            <a:off x="100012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4" name="Shape 2"/>
          <p:cNvSpPr/>
          <p:nvPr/>
        </p:nvSpPr>
        <p:spPr>
          <a:xfrm>
            <a:off x="101536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5" name="Shape 3"/>
          <p:cNvSpPr/>
          <p:nvPr/>
        </p:nvSpPr>
        <p:spPr>
          <a:xfrm>
            <a:off x="103060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6" name="Shape 4"/>
          <p:cNvSpPr/>
          <p:nvPr/>
        </p:nvSpPr>
        <p:spPr>
          <a:xfrm>
            <a:off x="104584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7" name="Shape 5"/>
          <p:cNvSpPr/>
          <p:nvPr/>
        </p:nvSpPr>
        <p:spPr>
          <a:xfrm>
            <a:off x="106108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8" name="Shape 6"/>
          <p:cNvSpPr/>
          <p:nvPr/>
        </p:nvSpPr>
        <p:spPr>
          <a:xfrm>
            <a:off x="107632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9" name="Shape 7"/>
          <p:cNvSpPr/>
          <p:nvPr/>
        </p:nvSpPr>
        <p:spPr>
          <a:xfrm>
            <a:off x="10915650" y="476250"/>
            <a:ext cx="285750" cy="85725"/>
          </a:xfrm>
          <a:prstGeom prst="roundRect">
            <a:avLst>
              <a:gd name="adj" fmla="val 50000"/>
            </a:avLst>
          </a:prstGeom>
          <a:solidFill>
            <a:srgbClr val="E8603C"/>
          </a:solidFill>
          <a:ln/>
        </p:spPr>
      </p:sp>
      <p:sp>
        <p:nvSpPr>
          <p:cNvPr id="10" name="Shape 8"/>
          <p:cNvSpPr/>
          <p:nvPr/>
        </p:nvSpPr>
        <p:spPr>
          <a:xfrm>
            <a:off x="112680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11" name="Shape 9"/>
          <p:cNvSpPr/>
          <p:nvPr/>
        </p:nvSpPr>
        <p:spPr>
          <a:xfrm>
            <a:off x="114204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85800" y="561975"/>
            <a:ext cx="1476375" cy="1400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8100" b="1">
                <a:solidFill>
                  <a:srgbClr val="E8603C"/>
                </a:solidFill>
                <a:latin typeface="Nunito"/>
                <a:ea typeface="Nunito"/>
              </a:rPr>
              <a:t>07</a:t>
            </a:r>
          </a:p>
        </p:txBody>
      </p:sp>
      <p:sp>
        <p:nvSpPr>
          <p:cNvPr id="13" name="Text 11"/>
          <p:cNvSpPr txBox="1"/>
          <p:nvPr/>
        </p:nvSpPr>
        <p:spPr>
          <a:xfrm>
            <a:off x="2228850" y="742950"/>
            <a:ext cx="5324475" cy="704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4050" b="1">
                <a:solidFill>
                  <a:srgbClr val="22304A"/>
                </a:solidFill>
                <a:latin typeface="Nunito"/>
                <a:ea typeface="Nunito"/>
              </a:rPr>
              <a:t>Do you mind if I </a:t>
            </a:r>
            <a:pPr algn="l"/>
            <a:r>
              <a:rPr sz="4050" b="1">
                <a:solidFill>
                  <a:srgbClr val="E8603C"/>
                </a:solidFill>
                <a:latin typeface="Nunito"/>
                <a:ea typeface="Nunito"/>
              </a:rPr>
              <a:t>~</a:t>
            </a:r>
            <a:pPr algn="l"/>
            <a:r>
              <a:rPr sz="4050" b="1">
                <a:solidFill>
                  <a:srgbClr val="22304A"/>
                </a:solidFill>
                <a:latin typeface="Nunito"/>
                <a:ea typeface="Nunito"/>
              </a:rPr>
              <a:t>?</a:t>
            </a:r>
          </a:p>
        </p:txBody>
      </p:sp>
      <p:sp>
        <p:nvSpPr>
          <p:cNvPr id="14" name="Text 12"/>
          <p:cNvSpPr txBox="1"/>
          <p:nvPr/>
        </p:nvSpPr>
        <p:spPr>
          <a:xfrm>
            <a:off x="2228850" y="1485900"/>
            <a:ext cx="7477125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2100" b="1">
                <a:solidFill>
                  <a:srgbClr val="22304A"/>
                </a:solidFill>
                <a:latin typeface="Zen Maru Gothic"/>
                <a:ea typeface="Zen Maru Gothic"/>
              </a:rPr>
              <a:t>〇〇してもいいですか？／〇〇しても構いませんか？</a:t>
            </a:r>
          </a:p>
        </p:txBody>
      </p:sp>
      <p:sp>
        <p:nvSpPr>
          <p:cNvPr id="15" name="Text 13"/>
          <p:cNvSpPr txBox="1"/>
          <p:nvPr/>
        </p:nvSpPr>
        <p:spPr>
          <a:xfrm>
            <a:off x="685800" y="2114550"/>
            <a:ext cx="5048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8A8F9C"/>
                </a:solidFill>
                <a:latin typeface="Zen Maru Gothic"/>
                <a:ea typeface="Zen Maru Gothic"/>
              </a:rPr>
              <a:t>例文</a:t>
            </a:r>
          </a:p>
        </p:txBody>
      </p:sp>
      <p:sp>
        <p:nvSpPr>
          <p:cNvPr id="16" name="Shape 14"/>
          <p:cNvSpPr/>
          <p:nvPr/>
        </p:nvSpPr>
        <p:spPr>
          <a:xfrm>
            <a:off x="1143000" y="2209800"/>
            <a:ext cx="5791200" cy="0"/>
          </a:xfrm>
          <a:prstGeom prst="line">
            <a:avLst/>
          </a:prstGeom>
          <a:noFill/>
          <a:ln w="19050">
            <a:solidFill>
              <a:srgbClr val="EBE1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" y="2428875"/>
            <a:ext cx="6248400" cy="12573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14400" y="2895600"/>
            <a:ext cx="323850" cy="323850"/>
          </a:xfrm>
          <a:prstGeom prst="ellipse">
            <a:avLst/>
          </a:prstGeom>
          <a:solidFill>
            <a:srgbClr val="FCE4D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62025" y="2943225"/>
            <a:ext cx="2286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E8603C"/>
                </a:solidFill>
                <a:latin typeface="Nunito"/>
                <a:ea typeface="Nunito"/>
              </a:rPr>
              <a:t>1</a:t>
            </a:r>
          </a:p>
        </p:txBody>
      </p:sp>
      <p:sp>
        <p:nvSpPr>
          <p:cNvPr id="20" name="Text 18"/>
          <p:cNvSpPr txBox="1"/>
          <p:nvPr/>
        </p:nvSpPr>
        <p:spPr>
          <a:xfrm>
            <a:off x="1428750" y="2657475"/>
            <a:ext cx="3562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20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Do you mind if I</a:t>
            </a:r>
            <a:pPr algn="l"/>
            <a:r>
              <a:rPr sz="2050" b="1">
                <a:solidFill>
                  <a:srgbClr val="22304A"/>
                </a:solidFill>
                <a:latin typeface="Nunito"/>
                <a:ea typeface="Nunito"/>
              </a:rPr>
              <a:t> </a:t>
            </a:r>
            <a:pPr algn="l"/>
            <a:r>
              <a:rPr sz="2050" b="1">
                <a:solidFill>
                  <a:srgbClr val="E8603C"/>
                </a:solidFill>
                <a:latin typeface="Nunito"/>
                <a:ea typeface="Nunito"/>
              </a:rPr>
              <a:t>sit</a:t>
            </a:r>
            <a:pPr algn="l"/>
            <a:r>
              <a:rPr sz="2050" b="1">
                <a:solidFill>
                  <a:srgbClr val="22304A"/>
                </a:solidFill>
                <a:latin typeface="Nunito"/>
                <a:ea typeface="Nunito"/>
              </a:rPr>
              <a:t> here?</a:t>
            </a:r>
          </a:p>
        </p:txBody>
      </p:sp>
      <p:sp>
        <p:nvSpPr>
          <p:cNvPr id="21" name="Text 19"/>
          <p:cNvSpPr txBox="1"/>
          <p:nvPr/>
        </p:nvSpPr>
        <p:spPr>
          <a:xfrm>
            <a:off x="1428750" y="3200400"/>
            <a:ext cx="28194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4A5568"/>
                </a:solidFill>
                <a:latin typeface="Zen Maru Gothic"/>
                <a:ea typeface="Zen Maru Gothic"/>
              </a:rPr>
              <a:t>ここに座ってもいいですか？</a:t>
            </a:r>
          </a:p>
        </p:txBody>
      </p:sp>
      <p:sp>
        <p:nvSpPr>
          <p:cNvPr id="22" name="Shape 20"/>
          <p:cNvSpPr/>
          <p:nvPr/>
        </p:nvSpPr>
        <p:spPr>
          <a:xfrm>
            <a:off x="685800" y="3819525"/>
            <a:ext cx="6248400" cy="12573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14400" y="4286250"/>
            <a:ext cx="323850" cy="323850"/>
          </a:xfrm>
          <a:prstGeom prst="ellipse">
            <a:avLst/>
          </a:prstGeom>
          <a:solidFill>
            <a:srgbClr val="FCE4D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62025" y="4343400"/>
            <a:ext cx="2286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E8603C"/>
                </a:solidFill>
                <a:latin typeface="Nunito"/>
                <a:ea typeface="Nunito"/>
              </a:rPr>
              <a:t>2</a:t>
            </a:r>
          </a:p>
        </p:txBody>
      </p:sp>
      <p:sp>
        <p:nvSpPr>
          <p:cNvPr id="25" name="Text 23"/>
          <p:cNvSpPr txBox="1"/>
          <p:nvPr/>
        </p:nvSpPr>
        <p:spPr>
          <a:xfrm>
            <a:off x="1428750" y="4048125"/>
            <a:ext cx="49244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20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Do you mind if I</a:t>
            </a:r>
            <a:pPr algn="l"/>
            <a:r>
              <a:rPr sz="2050" b="1">
                <a:solidFill>
                  <a:srgbClr val="22304A"/>
                </a:solidFill>
                <a:latin typeface="Nunito"/>
                <a:ea typeface="Nunito"/>
              </a:rPr>
              <a:t> </a:t>
            </a:r>
            <a:pPr algn="l"/>
            <a:r>
              <a:rPr sz="2050" b="1">
                <a:solidFill>
                  <a:srgbClr val="E8603C"/>
                </a:solidFill>
                <a:latin typeface="Nunito"/>
                <a:ea typeface="Nunito"/>
              </a:rPr>
              <a:t>open</a:t>
            </a:r>
            <a:pPr algn="l"/>
            <a:r>
              <a:rPr sz="2050" b="1">
                <a:solidFill>
                  <a:srgbClr val="22304A"/>
                </a:solidFill>
                <a:latin typeface="Nunito"/>
                <a:ea typeface="Nunito"/>
              </a:rPr>
              <a:t> the window?</a:t>
            </a:r>
          </a:p>
        </p:txBody>
      </p:sp>
      <p:sp>
        <p:nvSpPr>
          <p:cNvPr id="26" name="Text 24"/>
          <p:cNvSpPr txBox="1"/>
          <p:nvPr/>
        </p:nvSpPr>
        <p:spPr>
          <a:xfrm>
            <a:off x="1428750" y="4591050"/>
            <a:ext cx="28194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4A5568"/>
                </a:solidFill>
                <a:latin typeface="Zen Maru Gothic"/>
                <a:ea typeface="Zen Maru Gothic"/>
              </a:rPr>
              <a:t>窓を開けても構いませんか？</a:t>
            </a:r>
          </a:p>
        </p:txBody>
      </p:sp>
      <p:sp>
        <p:nvSpPr>
          <p:cNvPr id="27" name="Shape 25"/>
          <p:cNvSpPr/>
          <p:nvPr/>
        </p:nvSpPr>
        <p:spPr>
          <a:xfrm>
            <a:off x="685800" y="5219700"/>
            <a:ext cx="6248400" cy="12573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914400" y="5686425"/>
            <a:ext cx="323850" cy="323850"/>
          </a:xfrm>
          <a:prstGeom prst="ellipse">
            <a:avLst/>
          </a:prstGeom>
          <a:solidFill>
            <a:srgbClr val="FCE4D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62025" y="5734050"/>
            <a:ext cx="2286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E8603C"/>
                </a:solidFill>
                <a:latin typeface="Nunito"/>
                <a:ea typeface="Nunito"/>
              </a:rPr>
              <a:t>3</a:t>
            </a:r>
          </a:p>
        </p:txBody>
      </p:sp>
      <p:sp>
        <p:nvSpPr>
          <p:cNvPr id="30" name="Text 28"/>
          <p:cNvSpPr txBox="1"/>
          <p:nvPr/>
        </p:nvSpPr>
        <p:spPr>
          <a:xfrm>
            <a:off x="1428750" y="5448300"/>
            <a:ext cx="45148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20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Do you mind if I</a:t>
            </a:r>
            <a:pPr algn="l"/>
            <a:r>
              <a:rPr sz="2050" b="1">
                <a:solidFill>
                  <a:srgbClr val="22304A"/>
                </a:solidFill>
                <a:latin typeface="Nunito"/>
                <a:ea typeface="Nunito"/>
              </a:rPr>
              <a:t> </a:t>
            </a:r>
            <a:pPr algn="l"/>
            <a:r>
              <a:rPr sz="2050" b="1">
                <a:solidFill>
                  <a:srgbClr val="E8603C"/>
                </a:solidFill>
                <a:latin typeface="Nunito"/>
                <a:ea typeface="Nunito"/>
              </a:rPr>
              <a:t>ask</a:t>
            </a:r>
            <a:pPr algn="l"/>
            <a:r>
              <a:rPr sz="2050" b="1">
                <a:solidFill>
                  <a:srgbClr val="22304A"/>
                </a:solidFill>
                <a:latin typeface="Nunito"/>
                <a:ea typeface="Nunito"/>
              </a:rPr>
              <a:t> a question?</a:t>
            </a:r>
          </a:p>
        </p:txBody>
      </p:sp>
      <p:sp>
        <p:nvSpPr>
          <p:cNvPr id="31" name="Text 29"/>
          <p:cNvSpPr txBox="1"/>
          <p:nvPr/>
        </p:nvSpPr>
        <p:spPr>
          <a:xfrm>
            <a:off x="1428750" y="5991225"/>
            <a:ext cx="24003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4A5568"/>
                </a:solidFill>
                <a:latin typeface="Zen Maru Gothic"/>
                <a:ea typeface="Zen Maru Gothic"/>
              </a:rPr>
              <a:t>質問してもいいですか？</a:t>
            </a:r>
          </a:p>
        </p:txBody>
      </p:sp>
      <p:sp>
        <p:nvSpPr>
          <p:cNvPr id="32" name="Text 30"/>
          <p:cNvSpPr txBox="1"/>
          <p:nvPr/>
        </p:nvSpPr>
        <p:spPr>
          <a:xfrm>
            <a:off x="7219950" y="2114550"/>
            <a:ext cx="9048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8A8F9C"/>
                </a:solidFill>
                <a:latin typeface="Zen Maru Gothic"/>
                <a:ea typeface="Zen Maru Gothic"/>
              </a:rPr>
              <a:t>ポイント</a:t>
            </a:r>
          </a:p>
        </p:txBody>
      </p:sp>
      <p:sp>
        <p:nvSpPr>
          <p:cNvPr id="33" name="Shape 31"/>
          <p:cNvSpPr/>
          <p:nvPr/>
        </p:nvSpPr>
        <p:spPr>
          <a:xfrm>
            <a:off x="8020050" y="2209800"/>
            <a:ext cx="3486150" cy="0"/>
          </a:xfrm>
          <a:prstGeom prst="line">
            <a:avLst/>
          </a:prstGeom>
          <a:noFill/>
          <a:ln w="19050">
            <a:solidFill>
              <a:srgbClr val="EBE1D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219950" y="2428875"/>
            <a:ext cx="4286250" cy="4048125"/>
          </a:xfrm>
          <a:prstGeom prst="roundRect">
            <a:avLst>
              <a:gd name="adj" fmla="val 5176"/>
            </a:avLst>
          </a:prstGeom>
          <a:solidFill>
            <a:srgbClr val="FFFFFF"/>
          </a:solidFill>
          <a:ln w="19050">
            <a:solidFill>
              <a:srgbClr val="FCE4D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10550" y="2676525"/>
            <a:ext cx="24193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22304A"/>
                </a:solidFill>
                <a:latin typeface="Zen Maru Gothic"/>
                <a:ea typeface="Zen Maru Gothic"/>
              </a:rPr>
              <a:t>聞かれたらこう返そう</a:t>
            </a:r>
          </a:p>
        </p:txBody>
      </p:sp>
      <p:sp>
        <p:nvSpPr>
          <p:cNvPr id="36" name="Shape 34"/>
          <p:cNvSpPr/>
          <p:nvPr/>
        </p:nvSpPr>
        <p:spPr>
          <a:xfrm>
            <a:off x="7505700" y="2676525"/>
            <a:ext cx="609600" cy="276225"/>
          </a:xfrm>
          <a:prstGeom prst="roundRect">
            <a:avLst>
              <a:gd name="adj" fmla="val 20690"/>
            </a:avLst>
          </a:prstGeom>
          <a:solidFill>
            <a:srgbClr val="E8603C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610475" y="2714625"/>
            <a:ext cx="5715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FFFFFF"/>
                </a:solidFill>
                <a:latin typeface="Zen Maru Gothic"/>
                <a:ea typeface="Zen Maru Gothic"/>
              </a:rPr>
              <a:t>答え方</a:t>
            </a:r>
          </a:p>
        </p:txBody>
      </p:sp>
      <p:sp>
        <p:nvSpPr>
          <p:cNvPr id="38" name="Shape 36"/>
          <p:cNvSpPr/>
          <p:nvPr/>
        </p:nvSpPr>
        <p:spPr>
          <a:xfrm>
            <a:off x="7505700" y="3152775"/>
            <a:ext cx="3714750" cy="942975"/>
          </a:xfrm>
          <a:prstGeom prst="roundRect">
            <a:avLst>
              <a:gd name="adj" fmla="val 16162"/>
            </a:avLst>
          </a:prstGeom>
          <a:solidFill>
            <a:srgbClr val="DDF2E6"/>
          </a:solidFill>
          <a:ln/>
        </p:spPr>
      </p:sp>
      <p:sp>
        <p:nvSpPr>
          <p:cNvPr id="39" name="Shape 37"/>
          <p:cNvSpPr/>
          <p:nvPr/>
        </p:nvSpPr>
        <p:spPr>
          <a:xfrm>
            <a:off x="7696200" y="3352800"/>
            <a:ext cx="533400" cy="533400"/>
          </a:xfrm>
          <a:prstGeom prst="ellipse">
            <a:avLst/>
          </a:prstGeom>
          <a:solidFill>
            <a:srgbClr val="238A5B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7762875" y="3514725"/>
            <a:ext cx="40005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Nunito"/>
                <a:ea typeface="Nunito"/>
              </a:rPr>
              <a:t>OK</a:t>
            </a:r>
          </a:p>
        </p:txBody>
      </p:sp>
      <p:sp>
        <p:nvSpPr>
          <p:cNvPr id="41" name="Text 39"/>
          <p:cNvSpPr txBox="1"/>
          <p:nvPr/>
        </p:nvSpPr>
        <p:spPr>
          <a:xfrm>
            <a:off x="8362950" y="3362325"/>
            <a:ext cx="29432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800" b="1">
                <a:solidFill>
                  <a:srgbClr val="22304A"/>
                </a:solidFill>
                <a:latin typeface="Nunito"/>
                <a:ea typeface="Nunito"/>
              </a:rPr>
              <a:t>No. </a:t>
            </a:r>
            <a:pPr algn="l"/>
            <a:r>
              <a:rPr sz="1800" b="1">
                <a:solidFill>
                  <a:srgbClr val="22304A"/>
                </a:solidFill>
                <a:latin typeface="Zen Maru Gothic"/>
                <a:ea typeface="Zen Maru Gothic"/>
              </a:rPr>
              <a:t>／</a:t>
            </a:r>
            <a:pPr algn="l"/>
            <a:r>
              <a:rPr sz="1800" b="1">
                <a:solidFill>
                  <a:srgbClr val="22304A"/>
                </a:solidFill>
                <a:latin typeface="Nunito"/>
                <a:ea typeface="Nunito"/>
              </a:rPr>
              <a:t> Sure, go ahead!</a:t>
            </a:r>
          </a:p>
        </p:txBody>
      </p:sp>
      <p:sp>
        <p:nvSpPr>
          <p:cNvPr id="42" name="Text 40"/>
          <p:cNvSpPr txBox="1"/>
          <p:nvPr/>
        </p:nvSpPr>
        <p:spPr>
          <a:xfrm>
            <a:off x="8362950" y="3686175"/>
            <a:ext cx="19812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38A5B"/>
                </a:solidFill>
                <a:latin typeface="Zen Maru Gothic"/>
                <a:ea typeface="Zen Maru Gothic"/>
              </a:rPr>
              <a:t>いいえ、構いません！</a:t>
            </a:r>
          </a:p>
        </p:txBody>
      </p:sp>
      <p:sp>
        <p:nvSpPr>
          <p:cNvPr id="43" name="Shape 41"/>
          <p:cNvSpPr/>
          <p:nvPr/>
        </p:nvSpPr>
        <p:spPr>
          <a:xfrm>
            <a:off x="7505700" y="4286250"/>
            <a:ext cx="3714750" cy="904875"/>
          </a:xfrm>
          <a:prstGeom prst="roundRect">
            <a:avLst>
              <a:gd name="adj" fmla="val 16842"/>
            </a:avLst>
          </a:prstGeom>
          <a:solidFill>
            <a:srgbClr val="FBE2E0"/>
          </a:solidFill>
          <a:ln/>
        </p:spPr>
      </p:sp>
      <p:sp>
        <p:nvSpPr>
          <p:cNvPr id="44" name="Shape 42"/>
          <p:cNvSpPr/>
          <p:nvPr/>
        </p:nvSpPr>
        <p:spPr>
          <a:xfrm>
            <a:off x="7696200" y="4467225"/>
            <a:ext cx="533400" cy="533400"/>
          </a:xfrm>
          <a:prstGeom prst="ellipse">
            <a:avLst/>
          </a:prstGeom>
          <a:solidFill>
            <a:srgbClr val="CF4B45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762875" y="4629150"/>
            <a:ext cx="40005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Nunito"/>
                <a:ea typeface="Nunito"/>
              </a:rPr>
              <a:t>NG</a:t>
            </a:r>
          </a:p>
        </p:txBody>
      </p:sp>
      <p:sp>
        <p:nvSpPr>
          <p:cNvPr id="46" name="Text 44"/>
          <p:cNvSpPr txBox="1"/>
          <p:nvPr/>
        </p:nvSpPr>
        <p:spPr>
          <a:xfrm>
            <a:off x="8362950" y="4457700"/>
            <a:ext cx="19526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800" b="1">
                <a:solidFill>
                  <a:srgbClr val="22304A"/>
                </a:solidFill>
                <a:latin typeface="Nunito"/>
                <a:ea typeface="Nunito"/>
              </a:rPr>
              <a:t>Yes, I do mind.</a:t>
            </a:r>
          </a:p>
        </p:txBody>
      </p:sp>
      <p:sp>
        <p:nvSpPr>
          <p:cNvPr id="47" name="Text 45"/>
          <p:cNvSpPr txBox="1"/>
          <p:nvPr/>
        </p:nvSpPr>
        <p:spPr>
          <a:xfrm>
            <a:off x="8362950" y="4781550"/>
            <a:ext cx="30956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CF4B45"/>
                </a:solidFill>
                <a:latin typeface="Zen Maru Gothic"/>
                <a:ea typeface="Zen Maru Gothic"/>
              </a:rPr>
              <a:t>構います（＝座らないでください）</a:t>
            </a:r>
          </a:p>
        </p:txBody>
      </p:sp>
      <p:sp>
        <p:nvSpPr>
          <p:cNvPr id="48" name="Shape 46"/>
          <p:cNvSpPr/>
          <p:nvPr/>
        </p:nvSpPr>
        <p:spPr>
          <a:xfrm>
            <a:off x="7505700" y="5391150"/>
            <a:ext cx="3714750" cy="0"/>
          </a:xfrm>
          <a:prstGeom prst="line">
            <a:avLst/>
          </a:prstGeom>
          <a:noFill/>
          <a:ln w="19050">
            <a:solidFill>
              <a:srgbClr val="EBE1D2"/>
            </a:solidFill>
            <a:prstDash val="dash"/>
          </a:ln>
        </p:spPr>
      </p:sp>
      <p:sp>
        <p:nvSpPr>
          <p:cNvPr id="49" name="Text 47"/>
          <p:cNvSpPr txBox="1"/>
          <p:nvPr/>
        </p:nvSpPr>
        <p:spPr>
          <a:xfrm>
            <a:off x="7505700" y="5591175"/>
            <a:ext cx="27527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2304A"/>
                </a:solidFill>
                <a:latin typeface="Zen Maru Gothic"/>
                <a:ea typeface="Zen Maru Gothic"/>
              </a:rPr>
              <a:t>mind</a:t>
            </a:r>
            <a:pPr algn="l"/>
            <a:r>
              <a:rPr sz="1350" b="1">
                <a:solidFill>
                  <a:srgbClr val="4A5568"/>
                </a:solidFill>
                <a:latin typeface="Zen Maru Gothic"/>
                <a:ea typeface="Zen Maru Gothic"/>
              </a:rPr>
              <a:t> ＝「気にする」なので、</a:t>
            </a:r>
          </a:p>
        </p:txBody>
      </p:sp>
      <p:sp>
        <p:nvSpPr>
          <p:cNvPr id="50" name="Text 48"/>
          <p:cNvSpPr txBox="1"/>
          <p:nvPr/>
        </p:nvSpPr>
        <p:spPr>
          <a:xfrm>
            <a:off x="7505700" y="5857875"/>
            <a:ext cx="38195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38A5B"/>
                </a:solidFill>
                <a:latin typeface="Zen Maru Gothic"/>
                <a:ea typeface="Zen Maru Gothic"/>
              </a:rPr>
              <a:t>No</a:t>
            </a:r>
            <a:pPr algn="l"/>
            <a:r>
              <a:rPr sz="1350" b="1">
                <a:solidFill>
                  <a:srgbClr val="4A5568"/>
                </a:solidFill>
                <a:latin typeface="Zen Maru Gothic"/>
                <a:ea typeface="Zen Maru Gothic"/>
              </a:rPr>
              <a:t> ＝「気にしないよ」＝ どうぞ！になる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2581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8A8F9C"/>
                </a:solidFill>
                <a:latin typeface="Zen Maru Gothic"/>
                <a:ea typeface="Zen Maru Gothic"/>
              </a:rPr>
              <a:t>日常英会話フレーズ 9選 まとめ</a:t>
            </a:r>
          </a:p>
        </p:txBody>
      </p:sp>
      <p:sp>
        <p:nvSpPr>
          <p:cNvPr id="3" name="Shape 1"/>
          <p:cNvSpPr/>
          <p:nvPr/>
        </p:nvSpPr>
        <p:spPr>
          <a:xfrm>
            <a:off x="100012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4" name="Shape 2"/>
          <p:cNvSpPr/>
          <p:nvPr/>
        </p:nvSpPr>
        <p:spPr>
          <a:xfrm>
            <a:off x="101536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5" name="Shape 3"/>
          <p:cNvSpPr/>
          <p:nvPr/>
        </p:nvSpPr>
        <p:spPr>
          <a:xfrm>
            <a:off x="103060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6" name="Shape 4"/>
          <p:cNvSpPr/>
          <p:nvPr/>
        </p:nvSpPr>
        <p:spPr>
          <a:xfrm>
            <a:off x="104584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7" name="Shape 5"/>
          <p:cNvSpPr/>
          <p:nvPr/>
        </p:nvSpPr>
        <p:spPr>
          <a:xfrm>
            <a:off x="106108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8" name="Shape 6"/>
          <p:cNvSpPr/>
          <p:nvPr/>
        </p:nvSpPr>
        <p:spPr>
          <a:xfrm>
            <a:off x="107632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9" name="Shape 7"/>
          <p:cNvSpPr/>
          <p:nvPr/>
        </p:nvSpPr>
        <p:spPr>
          <a:xfrm>
            <a:off x="109156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10" name="Shape 8"/>
          <p:cNvSpPr/>
          <p:nvPr/>
        </p:nvSpPr>
        <p:spPr>
          <a:xfrm>
            <a:off x="11068050" y="476250"/>
            <a:ext cx="285750" cy="85725"/>
          </a:xfrm>
          <a:prstGeom prst="roundRect">
            <a:avLst>
              <a:gd name="adj" fmla="val 50000"/>
            </a:avLst>
          </a:prstGeom>
          <a:solidFill>
            <a:srgbClr val="E8603C"/>
          </a:solidFill>
          <a:ln/>
        </p:spPr>
      </p:sp>
      <p:sp>
        <p:nvSpPr>
          <p:cNvPr id="11" name="Shape 9"/>
          <p:cNvSpPr/>
          <p:nvPr/>
        </p:nvSpPr>
        <p:spPr>
          <a:xfrm>
            <a:off x="11420475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85800" y="561975"/>
            <a:ext cx="1476375" cy="1400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8100" b="1">
                <a:solidFill>
                  <a:srgbClr val="E8603C"/>
                </a:solidFill>
                <a:latin typeface="Nunito"/>
                <a:ea typeface="Nunito"/>
              </a:rPr>
              <a:t>08</a:t>
            </a:r>
          </a:p>
        </p:txBody>
      </p:sp>
      <p:sp>
        <p:nvSpPr>
          <p:cNvPr id="13" name="Text 11"/>
          <p:cNvSpPr txBox="1"/>
          <p:nvPr/>
        </p:nvSpPr>
        <p:spPr>
          <a:xfrm>
            <a:off x="2228850" y="742950"/>
            <a:ext cx="1885950" cy="704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4050" b="1">
                <a:solidFill>
                  <a:srgbClr val="22304A"/>
                </a:solidFill>
                <a:latin typeface="Nunito"/>
                <a:ea typeface="Nunito"/>
              </a:rPr>
              <a:t>I bet </a:t>
            </a:r>
            <a:pPr algn="l"/>
            <a:r>
              <a:rPr sz="4050" b="1">
                <a:solidFill>
                  <a:srgbClr val="E8603C"/>
                </a:solidFill>
                <a:latin typeface="Nunito"/>
                <a:ea typeface="Nunito"/>
              </a:rPr>
              <a:t>~</a:t>
            </a:r>
          </a:p>
        </p:txBody>
      </p:sp>
      <p:sp>
        <p:nvSpPr>
          <p:cNvPr id="14" name="Text 12"/>
          <p:cNvSpPr txBox="1"/>
          <p:nvPr/>
        </p:nvSpPr>
        <p:spPr>
          <a:xfrm>
            <a:off x="2228850" y="1485900"/>
            <a:ext cx="1952625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2100" b="1">
                <a:solidFill>
                  <a:srgbClr val="22304A"/>
                </a:solidFill>
                <a:latin typeface="Zen Maru Gothic"/>
                <a:ea typeface="Zen Maru Gothic"/>
              </a:rPr>
              <a:t>絶対〇〇やで</a:t>
            </a:r>
          </a:p>
        </p:txBody>
      </p:sp>
      <p:sp>
        <p:nvSpPr>
          <p:cNvPr id="15" name="Shape 13"/>
          <p:cNvSpPr/>
          <p:nvPr/>
        </p:nvSpPr>
        <p:spPr>
          <a:xfrm>
            <a:off x="3981450" y="1504950"/>
            <a:ext cx="1724025" cy="342900"/>
          </a:xfrm>
          <a:prstGeom prst="roundRect">
            <a:avLst>
              <a:gd name="adj" fmla="val 50000"/>
            </a:avLst>
          </a:prstGeom>
          <a:solidFill>
            <a:srgbClr val="FCE4D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114800" y="1552575"/>
            <a:ext cx="17907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E8603C"/>
                </a:solidFill>
                <a:latin typeface="Zen Maru Gothic"/>
                <a:ea typeface="Zen Maru Gothic"/>
              </a:rPr>
              <a:t>＋文（主語＋動詞）</a:t>
            </a:r>
          </a:p>
        </p:txBody>
      </p:sp>
      <p:sp>
        <p:nvSpPr>
          <p:cNvPr id="17" name="Text 15"/>
          <p:cNvSpPr txBox="1"/>
          <p:nvPr/>
        </p:nvSpPr>
        <p:spPr>
          <a:xfrm>
            <a:off x="685800" y="2114550"/>
            <a:ext cx="5048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8A8F9C"/>
                </a:solidFill>
                <a:latin typeface="Zen Maru Gothic"/>
                <a:ea typeface="Zen Maru Gothic"/>
              </a:rPr>
              <a:t>例文</a:t>
            </a:r>
          </a:p>
        </p:txBody>
      </p:sp>
      <p:sp>
        <p:nvSpPr>
          <p:cNvPr id="18" name="Shape 16"/>
          <p:cNvSpPr/>
          <p:nvPr/>
        </p:nvSpPr>
        <p:spPr>
          <a:xfrm>
            <a:off x="1143000" y="2209800"/>
            <a:ext cx="10363200" cy="0"/>
          </a:xfrm>
          <a:prstGeom prst="line">
            <a:avLst/>
          </a:prstGeom>
          <a:noFill/>
          <a:ln w="19050">
            <a:solidFill>
              <a:srgbClr val="EBE1D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5800" y="2428875"/>
            <a:ext cx="10820400" cy="12573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52500" y="2895600"/>
            <a:ext cx="323850" cy="323850"/>
          </a:xfrm>
          <a:prstGeom prst="ellipse">
            <a:avLst/>
          </a:prstGeom>
          <a:solidFill>
            <a:srgbClr val="FCE4D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00125" y="2943225"/>
            <a:ext cx="2286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E8603C"/>
                </a:solidFill>
                <a:latin typeface="Nunito"/>
                <a:ea typeface="Nunito"/>
              </a:rPr>
              <a:t>1</a:t>
            </a:r>
          </a:p>
        </p:txBody>
      </p:sp>
      <p:sp>
        <p:nvSpPr>
          <p:cNvPr id="22" name="Text 20"/>
          <p:cNvSpPr txBox="1"/>
          <p:nvPr/>
        </p:nvSpPr>
        <p:spPr>
          <a:xfrm>
            <a:off x="1466850" y="2857500"/>
            <a:ext cx="36099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23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I bet</a:t>
            </a:r>
            <a:pPr algn="l"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it's going to rain.</a:t>
            </a:r>
          </a:p>
        </p:txBody>
      </p:sp>
      <p:sp>
        <p:nvSpPr>
          <p:cNvPr id="23" name="Text 21"/>
          <p:cNvSpPr txBox="1"/>
          <p:nvPr/>
        </p:nvSpPr>
        <p:spPr>
          <a:xfrm>
            <a:off x="7524750" y="2895600"/>
            <a:ext cx="20383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4A5568"/>
                </a:solidFill>
                <a:latin typeface="Zen Maru Gothic"/>
                <a:ea typeface="Zen Maru Gothic"/>
              </a:rPr>
              <a:t>絶対に雨が降るで</a:t>
            </a:r>
          </a:p>
        </p:txBody>
      </p:sp>
      <p:sp>
        <p:nvSpPr>
          <p:cNvPr id="24" name="Shape 22"/>
          <p:cNvSpPr/>
          <p:nvPr/>
        </p:nvSpPr>
        <p:spPr>
          <a:xfrm>
            <a:off x="685800" y="3819525"/>
            <a:ext cx="10820400" cy="12573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52500" y="4286250"/>
            <a:ext cx="323850" cy="323850"/>
          </a:xfrm>
          <a:prstGeom prst="ellipse">
            <a:avLst/>
          </a:prstGeom>
          <a:solidFill>
            <a:srgbClr val="FCE4D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00125" y="4343400"/>
            <a:ext cx="2286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E8603C"/>
                </a:solidFill>
                <a:latin typeface="Nunito"/>
                <a:ea typeface="Nunito"/>
              </a:rPr>
              <a:t>2</a:t>
            </a:r>
          </a:p>
        </p:txBody>
      </p:sp>
      <p:sp>
        <p:nvSpPr>
          <p:cNvPr id="27" name="Text 25"/>
          <p:cNvSpPr txBox="1"/>
          <p:nvPr/>
        </p:nvSpPr>
        <p:spPr>
          <a:xfrm>
            <a:off x="1466850" y="4248150"/>
            <a:ext cx="439102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23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I bet</a:t>
            </a:r>
            <a:pPr algn="l"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you'll love this movie.</a:t>
            </a:r>
          </a:p>
        </p:txBody>
      </p:sp>
      <p:sp>
        <p:nvSpPr>
          <p:cNvPr id="28" name="Text 26"/>
          <p:cNvSpPr txBox="1"/>
          <p:nvPr/>
        </p:nvSpPr>
        <p:spPr>
          <a:xfrm>
            <a:off x="7524750" y="4286250"/>
            <a:ext cx="27622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4A5568"/>
                </a:solidFill>
                <a:latin typeface="Zen Maru Gothic"/>
                <a:ea typeface="Zen Maru Gothic"/>
              </a:rPr>
              <a:t>この映画絶対気に入るよ</a:t>
            </a:r>
          </a:p>
        </p:txBody>
      </p:sp>
      <p:sp>
        <p:nvSpPr>
          <p:cNvPr id="29" name="Shape 27"/>
          <p:cNvSpPr/>
          <p:nvPr/>
        </p:nvSpPr>
        <p:spPr>
          <a:xfrm>
            <a:off x="685800" y="5219700"/>
            <a:ext cx="10820400" cy="12573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52500" y="5686425"/>
            <a:ext cx="323850" cy="323850"/>
          </a:xfrm>
          <a:prstGeom prst="ellipse">
            <a:avLst/>
          </a:prstGeom>
          <a:solidFill>
            <a:srgbClr val="FCE4D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000125" y="5734050"/>
            <a:ext cx="2286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E8603C"/>
                </a:solidFill>
                <a:latin typeface="Nunito"/>
                <a:ea typeface="Nunito"/>
              </a:rPr>
              <a:t>3</a:t>
            </a:r>
          </a:p>
        </p:txBody>
      </p:sp>
      <p:sp>
        <p:nvSpPr>
          <p:cNvPr id="32" name="Text 30"/>
          <p:cNvSpPr txBox="1"/>
          <p:nvPr/>
        </p:nvSpPr>
        <p:spPr>
          <a:xfrm>
            <a:off x="1466850" y="5648325"/>
            <a:ext cx="26670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23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I bet</a:t>
            </a:r>
            <a:pPr algn="l"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he slept in.</a:t>
            </a:r>
          </a:p>
        </p:txBody>
      </p:sp>
      <p:sp>
        <p:nvSpPr>
          <p:cNvPr id="33" name="Text 31"/>
          <p:cNvSpPr txBox="1"/>
          <p:nvPr/>
        </p:nvSpPr>
        <p:spPr>
          <a:xfrm>
            <a:off x="7524750" y="5686425"/>
            <a:ext cx="25241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4A5568"/>
                </a:solidFill>
                <a:latin typeface="Zen Maru Gothic"/>
                <a:ea typeface="Zen Maru Gothic"/>
              </a:rPr>
              <a:t>絶対あいつ寝坊したわ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2581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8A8F9C"/>
                </a:solidFill>
                <a:latin typeface="Zen Maru Gothic"/>
                <a:ea typeface="Zen Maru Gothic"/>
              </a:rPr>
              <a:t>日常英会話フレーズ 9選 まとめ</a:t>
            </a:r>
          </a:p>
        </p:txBody>
      </p:sp>
      <p:sp>
        <p:nvSpPr>
          <p:cNvPr id="3" name="Shape 1"/>
          <p:cNvSpPr/>
          <p:nvPr/>
        </p:nvSpPr>
        <p:spPr>
          <a:xfrm>
            <a:off x="100012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4" name="Shape 2"/>
          <p:cNvSpPr/>
          <p:nvPr/>
        </p:nvSpPr>
        <p:spPr>
          <a:xfrm>
            <a:off x="101536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5" name="Shape 3"/>
          <p:cNvSpPr/>
          <p:nvPr/>
        </p:nvSpPr>
        <p:spPr>
          <a:xfrm>
            <a:off x="103060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6" name="Shape 4"/>
          <p:cNvSpPr/>
          <p:nvPr/>
        </p:nvSpPr>
        <p:spPr>
          <a:xfrm>
            <a:off x="104584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7" name="Shape 5"/>
          <p:cNvSpPr/>
          <p:nvPr/>
        </p:nvSpPr>
        <p:spPr>
          <a:xfrm>
            <a:off x="106108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8" name="Shape 6"/>
          <p:cNvSpPr/>
          <p:nvPr/>
        </p:nvSpPr>
        <p:spPr>
          <a:xfrm>
            <a:off x="107632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9" name="Shape 7"/>
          <p:cNvSpPr/>
          <p:nvPr/>
        </p:nvSpPr>
        <p:spPr>
          <a:xfrm>
            <a:off x="109156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10" name="Shape 8"/>
          <p:cNvSpPr/>
          <p:nvPr/>
        </p:nvSpPr>
        <p:spPr>
          <a:xfrm>
            <a:off x="11068050" y="476250"/>
            <a:ext cx="85725" cy="85725"/>
          </a:xfrm>
          <a:prstGeom prst="ellipse">
            <a:avLst/>
          </a:prstGeom>
          <a:solidFill>
            <a:srgbClr val="EBE1D2"/>
          </a:solidFill>
          <a:ln/>
        </p:spPr>
      </p:sp>
      <p:sp>
        <p:nvSpPr>
          <p:cNvPr id="11" name="Shape 9"/>
          <p:cNvSpPr/>
          <p:nvPr/>
        </p:nvSpPr>
        <p:spPr>
          <a:xfrm>
            <a:off x="11220450" y="476250"/>
            <a:ext cx="285750" cy="85725"/>
          </a:xfrm>
          <a:prstGeom prst="roundRect">
            <a:avLst>
              <a:gd name="adj" fmla="val 50000"/>
            </a:avLst>
          </a:prstGeom>
          <a:solidFill>
            <a:srgbClr val="E8603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85800" y="561975"/>
            <a:ext cx="1476375" cy="1400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8100" b="1">
                <a:solidFill>
                  <a:srgbClr val="E8603C"/>
                </a:solidFill>
                <a:latin typeface="Nunito"/>
                <a:ea typeface="Nunito"/>
              </a:rPr>
              <a:t>09</a:t>
            </a:r>
          </a:p>
        </p:txBody>
      </p:sp>
      <p:sp>
        <p:nvSpPr>
          <p:cNvPr id="13" name="Text 11"/>
          <p:cNvSpPr txBox="1"/>
          <p:nvPr/>
        </p:nvSpPr>
        <p:spPr>
          <a:xfrm>
            <a:off x="2228850" y="742950"/>
            <a:ext cx="4114800" cy="704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4050" b="1">
                <a:solidFill>
                  <a:srgbClr val="22304A"/>
                </a:solidFill>
                <a:latin typeface="Nunito"/>
                <a:ea typeface="Nunito"/>
              </a:rPr>
              <a:t>I'm trying to </a:t>
            </a:r>
            <a:pPr algn="l"/>
            <a:r>
              <a:rPr sz="4050" b="1">
                <a:solidFill>
                  <a:srgbClr val="E8603C"/>
                </a:solidFill>
                <a:latin typeface="Nunito"/>
                <a:ea typeface="Nunito"/>
              </a:rPr>
              <a:t>~</a:t>
            </a:r>
          </a:p>
        </p:txBody>
      </p:sp>
      <p:sp>
        <p:nvSpPr>
          <p:cNvPr id="14" name="Text 12"/>
          <p:cNvSpPr txBox="1"/>
          <p:nvPr/>
        </p:nvSpPr>
        <p:spPr>
          <a:xfrm>
            <a:off x="2228850" y="1485900"/>
            <a:ext cx="31813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2100" b="1">
                <a:solidFill>
                  <a:srgbClr val="22304A"/>
                </a:solidFill>
                <a:latin typeface="Zen Maru Gothic"/>
                <a:ea typeface="Zen Maru Gothic"/>
              </a:rPr>
              <a:t>〇〇しようとしている</a:t>
            </a:r>
          </a:p>
        </p:txBody>
      </p:sp>
      <p:sp>
        <p:nvSpPr>
          <p:cNvPr id="15" name="Shape 13"/>
          <p:cNvSpPr/>
          <p:nvPr/>
        </p:nvSpPr>
        <p:spPr>
          <a:xfrm>
            <a:off x="5048250" y="1504950"/>
            <a:ext cx="1238250" cy="342900"/>
          </a:xfrm>
          <a:prstGeom prst="roundRect">
            <a:avLst>
              <a:gd name="adj" fmla="val 50000"/>
            </a:avLst>
          </a:prstGeom>
          <a:solidFill>
            <a:srgbClr val="FCE4D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181600" y="1552575"/>
            <a:ext cx="12287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E8603C"/>
                </a:solidFill>
                <a:latin typeface="Zen Maru Gothic"/>
                <a:ea typeface="Zen Maru Gothic"/>
              </a:rPr>
              <a:t>＋動詞の原形</a:t>
            </a:r>
          </a:p>
        </p:txBody>
      </p:sp>
      <p:sp>
        <p:nvSpPr>
          <p:cNvPr id="17" name="Text 15"/>
          <p:cNvSpPr txBox="1"/>
          <p:nvPr/>
        </p:nvSpPr>
        <p:spPr>
          <a:xfrm>
            <a:off x="685800" y="2114550"/>
            <a:ext cx="5048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8A8F9C"/>
                </a:solidFill>
                <a:latin typeface="Zen Maru Gothic"/>
                <a:ea typeface="Zen Maru Gothic"/>
              </a:rPr>
              <a:t>例文</a:t>
            </a:r>
          </a:p>
        </p:txBody>
      </p:sp>
      <p:sp>
        <p:nvSpPr>
          <p:cNvPr id="18" name="Shape 16"/>
          <p:cNvSpPr/>
          <p:nvPr/>
        </p:nvSpPr>
        <p:spPr>
          <a:xfrm>
            <a:off x="1143000" y="2209800"/>
            <a:ext cx="10363200" cy="0"/>
          </a:xfrm>
          <a:prstGeom prst="line">
            <a:avLst/>
          </a:prstGeom>
          <a:noFill/>
          <a:ln w="19050">
            <a:solidFill>
              <a:srgbClr val="EBE1D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5800" y="2428875"/>
            <a:ext cx="10820400" cy="12573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52500" y="2895600"/>
            <a:ext cx="323850" cy="323850"/>
          </a:xfrm>
          <a:prstGeom prst="ellipse">
            <a:avLst/>
          </a:prstGeom>
          <a:solidFill>
            <a:srgbClr val="FCE4D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00125" y="2943225"/>
            <a:ext cx="2286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E8603C"/>
                </a:solidFill>
                <a:latin typeface="Nunito"/>
                <a:ea typeface="Nunito"/>
              </a:rPr>
              <a:t>1</a:t>
            </a:r>
          </a:p>
        </p:txBody>
      </p:sp>
      <p:sp>
        <p:nvSpPr>
          <p:cNvPr id="22" name="Text 20"/>
          <p:cNvSpPr txBox="1"/>
          <p:nvPr/>
        </p:nvSpPr>
        <p:spPr>
          <a:xfrm>
            <a:off x="1466850" y="2857500"/>
            <a:ext cx="43338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23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I'm trying to</a:t>
            </a:r>
            <a:pPr algn="l"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</a:t>
            </a:r>
            <a:pPr algn="l"/>
            <a:r>
              <a:rPr sz="2350" b="1">
                <a:solidFill>
                  <a:srgbClr val="E8603C"/>
                </a:solidFill>
                <a:latin typeface="Nunito"/>
                <a:ea typeface="Nunito"/>
              </a:rPr>
              <a:t>learn</a:t>
            </a:r>
            <a:pPr algn="l"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English.</a:t>
            </a:r>
          </a:p>
        </p:txBody>
      </p:sp>
      <p:sp>
        <p:nvSpPr>
          <p:cNvPr id="23" name="Text 21"/>
          <p:cNvSpPr txBox="1"/>
          <p:nvPr/>
        </p:nvSpPr>
        <p:spPr>
          <a:xfrm>
            <a:off x="7524750" y="2895600"/>
            <a:ext cx="27622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4A5568"/>
                </a:solidFill>
                <a:latin typeface="Zen Maru Gothic"/>
                <a:ea typeface="Zen Maru Gothic"/>
              </a:rPr>
              <a:t>英語を学ぼうとしている</a:t>
            </a:r>
          </a:p>
        </p:txBody>
      </p:sp>
      <p:sp>
        <p:nvSpPr>
          <p:cNvPr id="24" name="Shape 22"/>
          <p:cNvSpPr/>
          <p:nvPr/>
        </p:nvSpPr>
        <p:spPr>
          <a:xfrm>
            <a:off x="685800" y="3819525"/>
            <a:ext cx="10820400" cy="12573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52500" y="4286250"/>
            <a:ext cx="323850" cy="323850"/>
          </a:xfrm>
          <a:prstGeom prst="ellipse">
            <a:avLst/>
          </a:prstGeom>
          <a:solidFill>
            <a:srgbClr val="FCE4D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00125" y="4343400"/>
            <a:ext cx="2286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E8603C"/>
                </a:solidFill>
                <a:latin typeface="Nunito"/>
                <a:ea typeface="Nunito"/>
              </a:rPr>
              <a:t>2</a:t>
            </a:r>
          </a:p>
        </p:txBody>
      </p:sp>
      <p:sp>
        <p:nvSpPr>
          <p:cNvPr id="27" name="Text 25"/>
          <p:cNvSpPr txBox="1"/>
          <p:nvPr/>
        </p:nvSpPr>
        <p:spPr>
          <a:xfrm>
            <a:off x="1466850" y="4248150"/>
            <a:ext cx="413385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23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I'm trying to</a:t>
            </a:r>
            <a:pPr algn="l"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</a:t>
            </a:r>
            <a:pPr algn="l"/>
            <a:r>
              <a:rPr sz="2350" b="1">
                <a:solidFill>
                  <a:srgbClr val="E8603C"/>
                </a:solidFill>
                <a:latin typeface="Nunito"/>
                <a:ea typeface="Nunito"/>
              </a:rPr>
              <a:t>save</a:t>
            </a:r>
            <a:pPr algn="l"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money.</a:t>
            </a:r>
          </a:p>
        </p:txBody>
      </p:sp>
      <p:sp>
        <p:nvSpPr>
          <p:cNvPr id="28" name="Text 26"/>
          <p:cNvSpPr txBox="1"/>
          <p:nvPr/>
        </p:nvSpPr>
        <p:spPr>
          <a:xfrm>
            <a:off x="7524750" y="4124325"/>
            <a:ext cx="25241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4A5568"/>
                </a:solidFill>
                <a:latin typeface="Zen Maru Gothic"/>
                <a:ea typeface="Zen Maru Gothic"/>
              </a:rPr>
              <a:t>節約しようとしている</a:t>
            </a:r>
          </a:p>
        </p:txBody>
      </p:sp>
      <p:sp>
        <p:nvSpPr>
          <p:cNvPr id="29" name="Shape 27"/>
          <p:cNvSpPr/>
          <p:nvPr/>
        </p:nvSpPr>
        <p:spPr>
          <a:xfrm>
            <a:off x="7524750" y="4495800"/>
            <a:ext cx="1295400" cy="276225"/>
          </a:xfrm>
          <a:prstGeom prst="roundRect">
            <a:avLst>
              <a:gd name="adj" fmla="val 27586"/>
            </a:avLst>
          </a:prstGeom>
          <a:solidFill>
            <a:srgbClr val="FBF6EE"/>
          </a:solidFill>
          <a:ln w="9525">
            <a:solidFill>
              <a:srgbClr val="EBE1D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629525" y="4524375"/>
            <a:ext cx="13620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4A5568"/>
                </a:solidFill>
                <a:latin typeface="Zen Maru Gothic"/>
                <a:ea typeface="Zen Maru Gothic"/>
              </a:rPr>
              <a:t>save ＝ 節約する</a:t>
            </a:r>
          </a:p>
        </p:txBody>
      </p:sp>
      <p:sp>
        <p:nvSpPr>
          <p:cNvPr id="31" name="Shape 29"/>
          <p:cNvSpPr/>
          <p:nvPr/>
        </p:nvSpPr>
        <p:spPr>
          <a:xfrm>
            <a:off x="685800" y="5219700"/>
            <a:ext cx="10820400" cy="12573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952500" y="5686425"/>
            <a:ext cx="323850" cy="323850"/>
          </a:xfrm>
          <a:prstGeom prst="ellipse">
            <a:avLst/>
          </a:prstGeom>
          <a:solidFill>
            <a:srgbClr val="FCE4D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1000125" y="5734050"/>
            <a:ext cx="2286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E8603C"/>
                </a:solidFill>
                <a:latin typeface="Nunito"/>
                <a:ea typeface="Nunito"/>
              </a:rPr>
              <a:t>3</a:t>
            </a:r>
          </a:p>
        </p:txBody>
      </p:sp>
      <p:sp>
        <p:nvSpPr>
          <p:cNvPr id="34" name="Text 32"/>
          <p:cNvSpPr txBox="1"/>
          <p:nvPr/>
        </p:nvSpPr>
        <p:spPr>
          <a:xfrm>
            <a:off x="1466850" y="5648325"/>
            <a:ext cx="417195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2350" b="1">
                <a:solidFill>
                  <a:srgbClr val="22304A"/>
                </a:solidFill>
                <a:highlight>
                  <a:srgbClr val="FFE17A"/>
                </a:highlight>
                <a:latin typeface="Nunito"/>
                <a:ea typeface="Nunito"/>
              </a:rPr>
              <a:t>I'm trying to</a:t>
            </a:r>
            <a:pPr algn="l"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</a:t>
            </a:r>
            <a:pPr algn="l"/>
            <a:r>
              <a:rPr sz="2350" b="1">
                <a:solidFill>
                  <a:srgbClr val="E8603C"/>
                </a:solidFill>
                <a:latin typeface="Nunito"/>
                <a:ea typeface="Nunito"/>
              </a:rPr>
              <a:t>figure</a:t>
            </a:r>
            <a:pPr algn="l"/>
            <a:r>
              <a:rPr sz="2350" b="1">
                <a:solidFill>
                  <a:srgbClr val="22304A"/>
                </a:solidFill>
                <a:latin typeface="Nunito"/>
                <a:ea typeface="Nunito"/>
              </a:rPr>
              <a:t> it out.</a:t>
            </a:r>
          </a:p>
        </p:txBody>
      </p:sp>
      <p:sp>
        <p:nvSpPr>
          <p:cNvPr id="35" name="Text 33"/>
          <p:cNvSpPr txBox="1"/>
          <p:nvPr/>
        </p:nvSpPr>
        <p:spPr>
          <a:xfrm>
            <a:off x="7524750" y="5686425"/>
            <a:ext cx="3248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4A5568"/>
                </a:solidFill>
                <a:latin typeface="Zen Maru Gothic"/>
                <a:ea typeface="Zen Maru Gothic"/>
              </a:rPr>
              <a:t>今頑張って解決してるところ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2581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8A8F9C"/>
                </a:solidFill>
                <a:latin typeface="Zen Maru Gothic"/>
                <a:ea typeface="Zen Maru Gothic"/>
              </a:rPr>
              <a:t>日常英会話フレーズ 9選 まとめ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10896600" y="419100"/>
            <a:ext cx="8096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8A8F9C"/>
                </a:solidFill>
                <a:latin typeface="Zen Maru Gothic"/>
                <a:ea typeface="Zen Maru Gothic"/>
              </a:rPr>
              <a:t>おさらい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685800" y="790575"/>
            <a:ext cx="440055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3000" b="1">
                <a:solidFill>
                  <a:srgbClr val="22304A"/>
                </a:solidFill>
                <a:latin typeface="Zen Maru Gothic"/>
                <a:ea typeface="Zen Maru Gothic"/>
              </a:rPr>
              <a:t>9フレーズ まとめ一覧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4581525" y="1028700"/>
            <a:ext cx="24765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8A8F9C"/>
                </a:solidFill>
                <a:latin typeface="Zen Maru Gothic"/>
                <a:ea typeface="Zen Maru Gothic"/>
              </a:rPr>
              <a:t>スクショして見返してね！</a:t>
            </a:r>
          </a:p>
        </p:txBody>
      </p:sp>
      <p:sp>
        <p:nvSpPr>
          <p:cNvPr id="6" name="Shape 4"/>
          <p:cNvSpPr/>
          <p:nvPr/>
        </p:nvSpPr>
        <p:spPr>
          <a:xfrm>
            <a:off x="685800" y="1533525"/>
            <a:ext cx="3505200" cy="15430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95350" y="1714500"/>
            <a:ext cx="4000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E8603C"/>
                </a:solidFill>
                <a:latin typeface="Nunito"/>
                <a:ea typeface="Nunito"/>
              </a:rPr>
              <a:t>01</a:t>
            </a:r>
          </a:p>
        </p:txBody>
      </p:sp>
      <p:sp>
        <p:nvSpPr>
          <p:cNvPr id="8" name="Text 6"/>
          <p:cNvSpPr txBox="1"/>
          <p:nvPr/>
        </p:nvSpPr>
        <p:spPr>
          <a:xfrm>
            <a:off x="1257300" y="1685925"/>
            <a:ext cx="1971675" cy="323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900" b="1">
                <a:solidFill>
                  <a:srgbClr val="22304A"/>
                </a:solidFill>
                <a:latin typeface="Nunito"/>
                <a:ea typeface="Nunito"/>
              </a:rPr>
              <a:t>I feel like ~ing</a:t>
            </a:r>
          </a:p>
        </p:txBody>
      </p:sp>
      <p:sp>
        <p:nvSpPr>
          <p:cNvPr id="9" name="Text 7"/>
          <p:cNvSpPr txBox="1"/>
          <p:nvPr/>
        </p:nvSpPr>
        <p:spPr>
          <a:xfrm>
            <a:off x="895350" y="2057400"/>
            <a:ext cx="11049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2304A"/>
                </a:solidFill>
                <a:latin typeface="Zen Maru Gothic"/>
                <a:ea typeface="Zen Maru Gothic"/>
              </a:rPr>
              <a:t>〇〇な気分</a:t>
            </a:r>
          </a:p>
        </p:txBody>
      </p:sp>
      <p:sp>
        <p:nvSpPr>
          <p:cNvPr id="10" name="Shape 8"/>
          <p:cNvSpPr/>
          <p:nvPr/>
        </p:nvSpPr>
        <p:spPr>
          <a:xfrm>
            <a:off x="895350" y="2419350"/>
            <a:ext cx="3086100" cy="0"/>
          </a:xfrm>
          <a:prstGeom prst="line">
            <a:avLst/>
          </a:prstGeom>
          <a:noFill/>
          <a:ln w="19050">
            <a:solidFill>
              <a:srgbClr val="EBE1D2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895350" y="2505075"/>
            <a:ext cx="2543175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4A5568"/>
                </a:solidFill>
                <a:latin typeface="Nunito"/>
                <a:ea typeface="Nunito"/>
              </a:rPr>
              <a:t>I feel like eating pizza today.</a:t>
            </a:r>
          </a:p>
        </p:txBody>
      </p:sp>
      <p:sp>
        <p:nvSpPr>
          <p:cNvPr id="12" name="Text 10"/>
          <p:cNvSpPr txBox="1"/>
          <p:nvPr/>
        </p:nvSpPr>
        <p:spPr>
          <a:xfrm>
            <a:off x="895350" y="2733675"/>
            <a:ext cx="21050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8A8F9C"/>
                </a:solidFill>
                <a:latin typeface="Zen Maru Gothic"/>
                <a:ea typeface="Zen Maru Gothic"/>
              </a:rPr>
              <a:t>今日ピザを食べたい気分やわ</a:t>
            </a:r>
          </a:p>
        </p:txBody>
      </p:sp>
      <p:sp>
        <p:nvSpPr>
          <p:cNvPr id="13" name="Shape 11"/>
          <p:cNvSpPr/>
          <p:nvPr/>
        </p:nvSpPr>
        <p:spPr>
          <a:xfrm>
            <a:off x="4343400" y="1533525"/>
            <a:ext cx="3505200" cy="15430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552950" y="1714500"/>
            <a:ext cx="4000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E8603C"/>
                </a:solidFill>
                <a:latin typeface="Nunito"/>
                <a:ea typeface="Nunito"/>
              </a:rPr>
              <a:t>02</a:t>
            </a:r>
          </a:p>
        </p:txBody>
      </p:sp>
      <p:sp>
        <p:nvSpPr>
          <p:cNvPr id="15" name="Text 13"/>
          <p:cNvSpPr txBox="1"/>
          <p:nvPr/>
        </p:nvSpPr>
        <p:spPr>
          <a:xfrm>
            <a:off x="4914900" y="1685925"/>
            <a:ext cx="1466850" cy="323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900" b="1">
                <a:solidFill>
                  <a:srgbClr val="22304A"/>
                </a:solidFill>
                <a:latin typeface="Nunito"/>
                <a:ea typeface="Nunito"/>
              </a:rPr>
              <a:t>I used to ~</a:t>
            </a:r>
          </a:p>
        </p:txBody>
      </p:sp>
      <p:sp>
        <p:nvSpPr>
          <p:cNvPr id="16" name="Text 14"/>
          <p:cNvSpPr txBox="1"/>
          <p:nvPr/>
        </p:nvSpPr>
        <p:spPr>
          <a:xfrm>
            <a:off x="4552950" y="2057400"/>
            <a:ext cx="1495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2304A"/>
                </a:solidFill>
                <a:latin typeface="Zen Maru Gothic"/>
                <a:ea typeface="Zen Maru Gothic"/>
              </a:rPr>
              <a:t>昔は〇〇してた</a:t>
            </a:r>
          </a:p>
        </p:txBody>
      </p:sp>
      <p:sp>
        <p:nvSpPr>
          <p:cNvPr id="17" name="Shape 15"/>
          <p:cNvSpPr/>
          <p:nvPr/>
        </p:nvSpPr>
        <p:spPr>
          <a:xfrm>
            <a:off x="4552950" y="2419350"/>
            <a:ext cx="3086100" cy="0"/>
          </a:xfrm>
          <a:prstGeom prst="line">
            <a:avLst/>
          </a:prstGeom>
          <a:noFill/>
          <a:ln w="19050">
            <a:solidFill>
              <a:srgbClr val="EBE1D2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4552950" y="2505075"/>
            <a:ext cx="2276475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4A5568"/>
                </a:solidFill>
                <a:latin typeface="Nunito"/>
                <a:ea typeface="Nunito"/>
              </a:rPr>
              <a:t>I used to play basketball.</a:t>
            </a:r>
          </a:p>
        </p:txBody>
      </p:sp>
      <p:sp>
        <p:nvSpPr>
          <p:cNvPr id="19" name="Text 17"/>
          <p:cNvSpPr txBox="1"/>
          <p:nvPr/>
        </p:nvSpPr>
        <p:spPr>
          <a:xfrm>
            <a:off x="4552950" y="2733675"/>
            <a:ext cx="14954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8A8F9C"/>
                </a:solidFill>
                <a:latin typeface="Zen Maru Gothic"/>
                <a:ea typeface="Zen Maru Gothic"/>
              </a:rPr>
              <a:t>バスケ昔やっていた</a:t>
            </a:r>
          </a:p>
        </p:txBody>
      </p:sp>
      <p:sp>
        <p:nvSpPr>
          <p:cNvPr id="20" name="Shape 18"/>
          <p:cNvSpPr/>
          <p:nvPr/>
        </p:nvSpPr>
        <p:spPr>
          <a:xfrm>
            <a:off x="8001000" y="1533525"/>
            <a:ext cx="3505200" cy="15430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10550" y="1714500"/>
            <a:ext cx="4000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E8603C"/>
                </a:solidFill>
                <a:latin typeface="Nunito"/>
                <a:ea typeface="Nunito"/>
              </a:rPr>
              <a:t>03</a:t>
            </a:r>
          </a:p>
        </p:txBody>
      </p:sp>
      <p:sp>
        <p:nvSpPr>
          <p:cNvPr id="22" name="Text 20"/>
          <p:cNvSpPr txBox="1"/>
          <p:nvPr/>
        </p:nvSpPr>
        <p:spPr>
          <a:xfrm>
            <a:off x="8572500" y="1685925"/>
            <a:ext cx="2066925" cy="323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900" b="1">
                <a:solidFill>
                  <a:srgbClr val="22304A"/>
                </a:solidFill>
                <a:latin typeface="Nunito"/>
                <a:ea typeface="Nunito"/>
              </a:rPr>
              <a:t>I should have ~</a:t>
            </a:r>
          </a:p>
        </p:txBody>
      </p:sp>
      <p:sp>
        <p:nvSpPr>
          <p:cNvPr id="23" name="Text 21"/>
          <p:cNvSpPr txBox="1"/>
          <p:nvPr/>
        </p:nvSpPr>
        <p:spPr>
          <a:xfrm>
            <a:off x="8210550" y="2057400"/>
            <a:ext cx="20859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2304A"/>
                </a:solidFill>
                <a:latin typeface="Zen Maru Gothic"/>
                <a:ea typeface="Zen Maru Gothic"/>
              </a:rPr>
              <a:t>〇〇しとけばよかった</a:t>
            </a:r>
          </a:p>
        </p:txBody>
      </p:sp>
      <p:sp>
        <p:nvSpPr>
          <p:cNvPr id="24" name="Shape 22"/>
          <p:cNvSpPr/>
          <p:nvPr/>
        </p:nvSpPr>
        <p:spPr>
          <a:xfrm>
            <a:off x="8210550" y="2419350"/>
            <a:ext cx="3086100" cy="0"/>
          </a:xfrm>
          <a:prstGeom prst="line">
            <a:avLst/>
          </a:prstGeom>
          <a:noFill/>
          <a:ln w="19050">
            <a:solidFill>
              <a:srgbClr val="EBE1D2"/>
            </a:solidFill>
            <a:prstDash val="dash"/>
          </a:ln>
        </p:spPr>
      </p:sp>
      <p:sp>
        <p:nvSpPr>
          <p:cNvPr id="25" name="Text 23"/>
          <p:cNvSpPr txBox="1"/>
          <p:nvPr/>
        </p:nvSpPr>
        <p:spPr>
          <a:xfrm>
            <a:off x="8210550" y="2505075"/>
            <a:ext cx="2257425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4A5568"/>
                </a:solidFill>
                <a:latin typeface="Nunito"/>
                <a:ea typeface="Nunito"/>
              </a:rPr>
              <a:t>I should have left earlier.</a:t>
            </a:r>
          </a:p>
        </p:txBody>
      </p:sp>
      <p:sp>
        <p:nvSpPr>
          <p:cNvPr id="26" name="Text 24"/>
          <p:cNvSpPr txBox="1"/>
          <p:nvPr/>
        </p:nvSpPr>
        <p:spPr>
          <a:xfrm>
            <a:off x="8210550" y="2733675"/>
            <a:ext cx="22574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8A8F9C"/>
                </a:solidFill>
                <a:latin typeface="Zen Maru Gothic"/>
                <a:ea typeface="Zen Maru Gothic"/>
              </a:rPr>
              <a:t>もっとはやく出とけばよかった</a:t>
            </a:r>
          </a:p>
        </p:txBody>
      </p:sp>
      <p:sp>
        <p:nvSpPr>
          <p:cNvPr id="27" name="Shape 25"/>
          <p:cNvSpPr/>
          <p:nvPr/>
        </p:nvSpPr>
        <p:spPr>
          <a:xfrm>
            <a:off x="685800" y="3228975"/>
            <a:ext cx="3505200" cy="15430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895350" y="3409950"/>
            <a:ext cx="4000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E8603C"/>
                </a:solidFill>
                <a:latin typeface="Nunito"/>
                <a:ea typeface="Nunito"/>
              </a:rPr>
              <a:t>04</a:t>
            </a:r>
          </a:p>
        </p:txBody>
      </p:sp>
      <p:sp>
        <p:nvSpPr>
          <p:cNvPr id="29" name="Text 27"/>
          <p:cNvSpPr txBox="1"/>
          <p:nvPr/>
        </p:nvSpPr>
        <p:spPr>
          <a:xfrm>
            <a:off x="1257300" y="3381375"/>
            <a:ext cx="2333625" cy="323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900" b="1">
                <a:solidFill>
                  <a:srgbClr val="22304A"/>
                </a:solidFill>
                <a:latin typeface="Nunito"/>
                <a:ea typeface="Nunito"/>
              </a:rPr>
              <a:t>Do you wanna ~?</a:t>
            </a:r>
          </a:p>
        </p:txBody>
      </p:sp>
      <p:sp>
        <p:nvSpPr>
          <p:cNvPr id="30" name="Text 28"/>
          <p:cNvSpPr txBox="1"/>
          <p:nvPr/>
        </p:nvSpPr>
        <p:spPr>
          <a:xfrm>
            <a:off x="895350" y="3752850"/>
            <a:ext cx="12954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2304A"/>
                </a:solidFill>
                <a:latin typeface="Zen Maru Gothic"/>
                <a:ea typeface="Zen Maru Gothic"/>
              </a:rPr>
              <a:t>〇〇したい？</a:t>
            </a:r>
          </a:p>
        </p:txBody>
      </p:sp>
      <p:sp>
        <p:nvSpPr>
          <p:cNvPr id="31" name="Shape 29"/>
          <p:cNvSpPr/>
          <p:nvPr/>
        </p:nvSpPr>
        <p:spPr>
          <a:xfrm>
            <a:off x="895350" y="4124325"/>
            <a:ext cx="3086100" cy="0"/>
          </a:xfrm>
          <a:prstGeom prst="line">
            <a:avLst/>
          </a:prstGeom>
          <a:noFill/>
          <a:ln w="19050">
            <a:solidFill>
              <a:srgbClr val="EBE1D2"/>
            </a:solidFill>
            <a:prstDash val="dash"/>
          </a:ln>
        </p:spPr>
      </p:sp>
      <p:sp>
        <p:nvSpPr>
          <p:cNvPr id="32" name="Text 30"/>
          <p:cNvSpPr txBox="1"/>
          <p:nvPr/>
        </p:nvSpPr>
        <p:spPr>
          <a:xfrm>
            <a:off x="895350" y="4210050"/>
            <a:ext cx="268605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4A5568"/>
                </a:solidFill>
                <a:latin typeface="Nunito"/>
                <a:ea typeface="Nunito"/>
              </a:rPr>
              <a:t>Do you wanna eat out today?</a:t>
            </a:r>
          </a:p>
        </p:txBody>
      </p:sp>
      <p:sp>
        <p:nvSpPr>
          <p:cNvPr id="33" name="Text 31"/>
          <p:cNvSpPr txBox="1"/>
          <p:nvPr/>
        </p:nvSpPr>
        <p:spPr>
          <a:xfrm>
            <a:off x="895350" y="4438650"/>
            <a:ext cx="14954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8A8F9C"/>
                </a:solidFill>
                <a:latin typeface="Zen Maru Gothic"/>
                <a:ea typeface="Zen Maru Gothic"/>
              </a:rPr>
              <a:t>今日外食せえへん？</a:t>
            </a:r>
          </a:p>
        </p:txBody>
      </p:sp>
      <p:sp>
        <p:nvSpPr>
          <p:cNvPr id="34" name="Shape 32"/>
          <p:cNvSpPr/>
          <p:nvPr/>
        </p:nvSpPr>
        <p:spPr>
          <a:xfrm>
            <a:off x="4343400" y="3228975"/>
            <a:ext cx="3505200" cy="15430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4552950" y="3409950"/>
            <a:ext cx="4000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E8603C"/>
                </a:solidFill>
                <a:latin typeface="Nunito"/>
                <a:ea typeface="Nunito"/>
              </a:rPr>
              <a:t>05</a:t>
            </a:r>
          </a:p>
        </p:txBody>
      </p:sp>
      <p:sp>
        <p:nvSpPr>
          <p:cNvPr id="36" name="Text 34"/>
          <p:cNvSpPr txBox="1"/>
          <p:nvPr/>
        </p:nvSpPr>
        <p:spPr>
          <a:xfrm>
            <a:off x="4914900" y="3381375"/>
            <a:ext cx="2266950" cy="323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900" b="1">
                <a:solidFill>
                  <a:srgbClr val="22304A"/>
                </a:solidFill>
                <a:latin typeface="Nunito"/>
                <a:ea typeface="Nunito"/>
              </a:rPr>
              <a:t>I'm looking for ~</a:t>
            </a:r>
          </a:p>
        </p:txBody>
      </p:sp>
      <p:sp>
        <p:nvSpPr>
          <p:cNvPr id="37" name="Text 35"/>
          <p:cNvSpPr txBox="1"/>
          <p:nvPr/>
        </p:nvSpPr>
        <p:spPr>
          <a:xfrm>
            <a:off x="4552950" y="3752850"/>
            <a:ext cx="1695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2304A"/>
                </a:solidFill>
                <a:latin typeface="Zen Maru Gothic"/>
                <a:ea typeface="Zen Maru Gothic"/>
              </a:rPr>
              <a:t>〇〇を探してます</a:t>
            </a:r>
          </a:p>
        </p:txBody>
      </p:sp>
      <p:sp>
        <p:nvSpPr>
          <p:cNvPr id="38" name="Shape 36"/>
          <p:cNvSpPr/>
          <p:nvPr/>
        </p:nvSpPr>
        <p:spPr>
          <a:xfrm>
            <a:off x="4552950" y="4124325"/>
            <a:ext cx="3086100" cy="0"/>
          </a:xfrm>
          <a:prstGeom prst="line">
            <a:avLst/>
          </a:prstGeom>
          <a:noFill/>
          <a:ln w="19050">
            <a:solidFill>
              <a:srgbClr val="EBE1D2"/>
            </a:solidFill>
            <a:prstDash val="dash"/>
          </a:ln>
        </p:spPr>
      </p:sp>
      <p:sp>
        <p:nvSpPr>
          <p:cNvPr id="39" name="Text 37"/>
          <p:cNvSpPr txBox="1"/>
          <p:nvPr/>
        </p:nvSpPr>
        <p:spPr>
          <a:xfrm>
            <a:off x="4552950" y="4210050"/>
            <a:ext cx="241935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4A5568"/>
                </a:solidFill>
                <a:latin typeface="Nunito"/>
                <a:ea typeface="Nunito"/>
              </a:rPr>
              <a:t>I'm looking for the station.</a:t>
            </a:r>
          </a:p>
        </p:txBody>
      </p:sp>
      <p:sp>
        <p:nvSpPr>
          <p:cNvPr id="40" name="Text 38"/>
          <p:cNvSpPr txBox="1"/>
          <p:nvPr/>
        </p:nvSpPr>
        <p:spPr>
          <a:xfrm>
            <a:off x="4552950" y="4438650"/>
            <a:ext cx="18002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8A8F9C"/>
                </a:solidFill>
                <a:latin typeface="Zen Maru Gothic"/>
                <a:ea typeface="Zen Maru Gothic"/>
              </a:rPr>
              <a:t>駅を探してるんですけど</a:t>
            </a:r>
          </a:p>
        </p:txBody>
      </p:sp>
      <p:sp>
        <p:nvSpPr>
          <p:cNvPr id="41" name="Shape 39"/>
          <p:cNvSpPr/>
          <p:nvPr/>
        </p:nvSpPr>
        <p:spPr>
          <a:xfrm>
            <a:off x="8001000" y="3228975"/>
            <a:ext cx="3505200" cy="15430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8210550" y="3409950"/>
            <a:ext cx="4000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E8603C"/>
                </a:solidFill>
                <a:latin typeface="Nunito"/>
                <a:ea typeface="Nunito"/>
              </a:rPr>
              <a:t>06</a:t>
            </a:r>
          </a:p>
        </p:txBody>
      </p:sp>
      <p:sp>
        <p:nvSpPr>
          <p:cNvPr id="43" name="Text 41"/>
          <p:cNvSpPr txBox="1"/>
          <p:nvPr/>
        </p:nvSpPr>
        <p:spPr>
          <a:xfrm>
            <a:off x="8572500" y="3381375"/>
            <a:ext cx="1276350" cy="323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900" b="1">
                <a:solidFill>
                  <a:srgbClr val="22304A"/>
                </a:solidFill>
                <a:latin typeface="Nunito"/>
                <a:ea typeface="Nunito"/>
              </a:rPr>
              <a:t>I might ~</a:t>
            </a:r>
          </a:p>
        </p:txBody>
      </p:sp>
      <p:sp>
        <p:nvSpPr>
          <p:cNvPr id="44" name="Text 42"/>
          <p:cNvSpPr txBox="1"/>
          <p:nvPr/>
        </p:nvSpPr>
        <p:spPr>
          <a:xfrm>
            <a:off x="8210550" y="3752850"/>
            <a:ext cx="20859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2304A"/>
                </a:solidFill>
                <a:latin typeface="Zen Maru Gothic"/>
                <a:ea typeface="Zen Maru Gothic"/>
              </a:rPr>
              <a:t>〇〇するかもしれない</a:t>
            </a:r>
          </a:p>
        </p:txBody>
      </p:sp>
      <p:sp>
        <p:nvSpPr>
          <p:cNvPr id="45" name="Shape 43"/>
          <p:cNvSpPr/>
          <p:nvPr/>
        </p:nvSpPr>
        <p:spPr>
          <a:xfrm>
            <a:off x="8210550" y="4124325"/>
            <a:ext cx="3086100" cy="0"/>
          </a:xfrm>
          <a:prstGeom prst="line">
            <a:avLst/>
          </a:prstGeom>
          <a:noFill/>
          <a:ln w="19050">
            <a:solidFill>
              <a:srgbClr val="EBE1D2"/>
            </a:solidFill>
            <a:prstDash val="dash"/>
          </a:ln>
        </p:spPr>
      </p:sp>
      <p:sp>
        <p:nvSpPr>
          <p:cNvPr id="46" name="Text 44"/>
          <p:cNvSpPr txBox="1"/>
          <p:nvPr/>
        </p:nvSpPr>
        <p:spPr>
          <a:xfrm>
            <a:off x="8210550" y="4210050"/>
            <a:ext cx="1419225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4A5568"/>
                </a:solidFill>
                <a:latin typeface="Nunito"/>
                <a:ea typeface="Nunito"/>
              </a:rPr>
              <a:t>I might be late.</a:t>
            </a:r>
          </a:p>
        </p:txBody>
      </p:sp>
      <p:sp>
        <p:nvSpPr>
          <p:cNvPr id="47" name="Text 45"/>
          <p:cNvSpPr txBox="1"/>
          <p:nvPr/>
        </p:nvSpPr>
        <p:spPr>
          <a:xfrm>
            <a:off x="8210550" y="4438650"/>
            <a:ext cx="14954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8A8F9C"/>
                </a:solidFill>
                <a:latin typeface="Zen Maru Gothic"/>
                <a:ea typeface="Zen Maru Gothic"/>
              </a:rPr>
              <a:t>ちょっと遅れるかも</a:t>
            </a:r>
          </a:p>
        </p:txBody>
      </p:sp>
      <p:sp>
        <p:nvSpPr>
          <p:cNvPr id="48" name="Shape 46"/>
          <p:cNvSpPr/>
          <p:nvPr/>
        </p:nvSpPr>
        <p:spPr>
          <a:xfrm>
            <a:off x="685800" y="4933950"/>
            <a:ext cx="3505200" cy="15430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895350" y="5114925"/>
            <a:ext cx="4000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E8603C"/>
                </a:solidFill>
                <a:latin typeface="Nunito"/>
                <a:ea typeface="Nunito"/>
              </a:rPr>
              <a:t>07</a:t>
            </a:r>
          </a:p>
        </p:txBody>
      </p:sp>
      <p:sp>
        <p:nvSpPr>
          <p:cNvPr id="50" name="Text 48"/>
          <p:cNvSpPr txBox="1"/>
          <p:nvPr/>
        </p:nvSpPr>
        <p:spPr>
          <a:xfrm>
            <a:off x="1257300" y="5086350"/>
            <a:ext cx="2543175" cy="323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900" b="1">
                <a:solidFill>
                  <a:srgbClr val="22304A"/>
                </a:solidFill>
                <a:latin typeface="Nunito"/>
                <a:ea typeface="Nunito"/>
              </a:rPr>
              <a:t>Do you mind if I ~?</a:t>
            </a:r>
          </a:p>
        </p:txBody>
      </p:sp>
      <p:sp>
        <p:nvSpPr>
          <p:cNvPr id="51" name="Text 49"/>
          <p:cNvSpPr txBox="1"/>
          <p:nvPr/>
        </p:nvSpPr>
        <p:spPr>
          <a:xfrm>
            <a:off x="895350" y="5457825"/>
            <a:ext cx="22860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2304A"/>
                </a:solidFill>
                <a:latin typeface="Zen Maru Gothic"/>
                <a:ea typeface="Zen Maru Gothic"/>
              </a:rPr>
              <a:t>〇〇してもいいですか？</a:t>
            </a:r>
          </a:p>
        </p:txBody>
      </p:sp>
      <p:sp>
        <p:nvSpPr>
          <p:cNvPr id="52" name="Shape 50"/>
          <p:cNvSpPr/>
          <p:nvPr/>
        </p:nvSpPr>
        <p:spPr>
          <a:xfrm>
            <a:off x="895350" y="5819775"/>
            <a:ext cx="3086100" cy="0"/>
          </a:xfrm>
          <a:prstGeom prst="line">
            <a:avLst/>
          </a:prstGeom>
          <a:noFill/>
          <a:ln w="19050">
            <a:solidFill>
              <a:srgbClr val="EBE1D2"/>
            </a:solidFill>
            <a:prstDash val="dash"/>
          </a:ln>
        </p:spPr>
      </p:sp>
      <p:sp>
        <p:nvSpPr>
          <p:cNvPr id="53" name="Text 51"/>
          <p:cNvSpPr txBox="1"/>
          <p:nvPr/>
        </p:nvSpPr>
        <p:spPr>
          <a:xfrm>
            <a:off x="895350" y="5905500"/>
            <a:ext cx="22860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4A5568"/>
                </a:solidFill>
                <a:latin typeface="Nunito"/>
                <a:ea typeface="Nunito"/>
              </a:rPr>
              <a:t>Do you mind if I sit here?</a:t>
            </a:r>
          </a:p>
        </p:txBody>
      </p:sp>
      <p:sp>
        <p:nvSpPr>
          <p:cNvPr id="54" name="Text 52"/>
          <p:cNvSpPr txBox="1"/>
          <p:nvPr/>
        </p:nvSpPr>
        <p:spPr>
          <a:xfrm>
            <a:off x="895350" y="6134100"/>
            <a:ext cx="21050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8A8F9C"/>
                </a:solidFill>
                <a:latin typeface="Zen Maru Gothic"/>
                <a:ea typeface="Zen Maru Gothic"/>
              </a:rPr>
              <a:t>ここに座ってもいいですか？</a:t>
            </a:r>
          </a:p>
        </p:txBody>
      </p:sp>
      <p:sp>
        <p:nvSpPr>
          <p:cNvPr id="55" name="Shape 53"/>
          <p:cNvSpPr/>
          <p:nvPr/>
        </p:nvSpPr>
        <p:spPr>
          <a:xfrm>
            <a:off x="4343400" y="4933950"/>
            <a:ext cx="3505200" cy="15430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56" name="Text 54"/>
          <p:cNvSpPr txBox="1"/>
          <p:nvPr/>
        </p:nvSpPr>
        <p:spPr>
          <a:xfrm>
            <a:off x="4552950" y="5114925"/>
            <a:ext cx="4000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E8603C"/>
                </a:solidFill>
                <a:latin typeface="Nunito"/>
                <a:ea typeface="Nunito"/>
              </a:rPr>
              <a:t>08</a:t>
            </a:r>
          </a:p>
        </p:txBody>
      </p:sp>
      <p:sp>
        <p:nvSpPr>
          <p:cNvPr id="57" name="Text 55"/>
          <p:cNvSpPr txBox="1"/>
          <p:nvPr/>
        </p:nvSpPr>
        <p:spPr>
          <a:xfrm>
            <a:off x="4914900" y="5086350"/>
            <a:ext cx="942975" cy="323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900" b="1">
                <a:solidFill>
                  <a:srgbClr val="22304A"/>
                </a:solidFill>
                <a:latin typeface="Nunito"/>
                <a:ea typeface="Nunito"/>
              </a:rPr>
              <a:t>I bet ~</a:t>
            </a:r>
          </a:p>
        </p:txBody>
      </p:sp>
      <p:sp>
        <p:nvSpPr>
          <p:cNvPr id="58" name="Text 56"/>
          <p:cNvSpPr txBox="1"/>
          <p:nvPr/>
        </p:nvSpPr>
        <p:spPr>
          <a:xfrm>
            <a:off x="4552950" y="5457825"/>
            <a:ext cx="12954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2304A"/>
                </a:solidFill>
                <a:latin typeface="Zen Maru Gothic"/>
                <a:ea typeface="Zen Maru Gothic"/>
              </a:rPr>
              <a:t>絶対〇〇やで</a:t>
            </a:r>
          </a:p>
        </p:txBody>
      </p:sp>
      <p:sp>
        <p:nvSpPr>
          <p:cNvPr id="59" name="Shape 57"/>
          <p:cNvSpPr/>
          <p:nvPr/>
        </p:nvSpPr>
        <p:spPr>
          <a:xfrm>
            <a:off x="4552950" y="5819775"/>
            <a:ext cx="3086100" cy="0"/>
          </a:xfrm>
          <a:prstGeom prst="line">
            <a:avLst/>
          </a:prstGeom>
          <a:noFill/>
          <a:ln w="19050">
            <a:solidFill>
              <a:srgbClr val="EBE1D2"/>
            </a:solidFill>
            <a:prstDash val="dash"/>
          </a:ln>
        </p:spPr>
      </p:sp>
      <p:sp>
        <p:nvSpPr>
          <p:cNvPr id="60" name="Text 58"/>
          <p:cNvSpPr txBox="1"/>
          <p:nvPr/>
        </p:nvSpPr>
        <p:spPr>
          <a:xfrm>
            <a:off x="4552950" y="5905500"/>
            <a:ext cx="24384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4A5568"/>
                </a:solidFill>
                <a:latin typeface="Nunito"/>
                <a:ea typeface="Nunito"/>
              </a:rPr>
              <a:t>I bet you'll love this movie.</a:t>
            </a:r>
          </a:p>
        </p:txBody>
      </p:sp>
      <p:sp>
        <p:nvSpPr>
          <p:cNvPr id="61" name="Text 59"/>
          <p:cNvSpPr txBox="1"/>
          <p:nvPr/>
        </p:nvSpPr>
        <p:spPr>
          <a:xfrm>
            <a:off x="4552950" y="6134100"/>
            <a:ext cx="18002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8A8F9C"/>
                </a:solidFill>
                <a:latin typeface="Zen Maru Gothic"/>
                <a:ea typeface="Zen Maru Gothic"/>
              </a:rPr>
              <a:t>この映画絶対気に入るよ</a:t>
            </a:r>
          </a:p>
        </p:txBody>
      </p:sp>
      <p:sp>
        <p:nvSpPr>
          <p:cNvPr id="62" name="Shape 60"/>
          <p:cNvSpPr/>
          <p:nvPr/>
        </p:nvSpPr>
        <p:spPr>
          <a:xfrm>
            <a:off x="8001000" y="4933950"/>
            <a:ext cx="3505200" cy="15430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63" name="Text 61"/>
          <p:cNvSpPr txBox="1"/>
          <p:nvPr/>
        </p:nvSpPr>
        <p:spPr>
          <a:xfrm>
            <a:off x="8210550" y="5114925"/>
            <a:ext cx="4000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E8603C"/>
                </a:solidFill>
                <a:latin typeface="Nunito"/>
                <a:ea typeface="Nunito"/>
              </a:rPr>
              <a:t>09</a:t>
            </a:r>
          </a:p>
        </p:txBody>
      </p:sp>
      <p:sp>
        <p:nvSpPr>
          <p:cNvPr id="64" name="Text 62"/>
          <p:cNvSpPr txBox="1"/>
          <p:nvPr/>
        </p:nvSpPr>
        <p:spPr>
          <a:xfrm>
            <a:off x="8572500" y="5086350"/>
            <a:ext cx="1981200" cy="323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900" b="1">
                <a:solidFill>
                  <a:srgbClr val="22304A"/>
                </a:solidFill>
                <a:latin typeface="Nunito"/>
                <a:ea typeface="Nunito"/>
              </a:rPr>
              <a:t>I'm trying to ~</a:t>
            </a:r>
          </a:p>
        </p:txBody>
      </p:sp>
      <p:sp>
        <p:nvSpPr>
          <p:cNvPr id="65" name="Text 63"/>
          <p:cNvSpPr txBox="1"/>
          <p:nvPr/>
        </p:nvSpPr>
        <p:spPr>
          <a:xfrm>
            <a:off x="8210550" y="5457825"/>
            <a:ext cx="20859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2304A"/>
                </a:solidFill>
                <a:latin typeface="Zen Maru Gothic"/>
                <a:ea typeface="Zen Maru Gothic"/>
              </a:rPr>
              <a:t>〇〇しようとしている</a:t>
            </a:r>
          </a:p>
        </p:txBody>
      </p:sp>
      <p:sp>
        <p:nvSpPr>
          <p:cNvPr id="66" name="Shape 64"/>
          <p:cNvSpPr/>
          <p:nvPr/>
        </p:nvSpPr>
        <p:spPr>
          <a:xfrm>
            <a:off x="8210550" y="5819775"/>
            <a:ext cx="3086100" cy="0"/>
          </a:xfrm>
          <a:prstGeom prst="line">
            <a:avLst/>
          </a:prstGeom>
          <a:noFill/>
          <a:ln w="19050">
            <a:solidFill>
              <a:srgbClr val="EBE1D2"/>
            </a:solidFill>
            <a:prstDash val="dash"/>
          </a:ln>
        </p:spPr>
      </p:sp>
      <p:sp>
        <p:nvSpPr>
          <p:cNvPr id="67" name="Text 65"/>
          <p:cNvSpPr txBox="1"/>
          <p:nvPr/>
        </p:nvSpPr>
        <p:spPr>
          <a:xfrm>
            <a:off x="8210550" y="5905500"/>
            <a:ext cx="230505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4A5568"/>
                </a:solidFill>
                <a:latin typeface="Nunito"/>
                <a:ea typeface="Nunito"/>
              </a:rPr>
              <a:t>I'm trying to save money.</a:t>
            </a:r>
          </a:p>
        </p:txBody>
      </p:sp>
      <p:sp>
        <p:nvSpPr>
          <p:cNvPr id="68" name="Text 66"/>
          <p:cNvSpPr txBox="1"/>
          <p:nvPr/>
        </p:nvSpPr>
        <p:spPr>
          <a:xfrm>
            <a:off x="8210550" y="6134100"/>
            <a:ext cx="16478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8A8F9C"/>
                </a:solidFill>
                <a:latin typeface="Zen Maru Gothic"/>
                <a:ea typeface="Zen Maru Gothic"/>
              </a:rPr>
              <a:t>節約しようとしている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日常英会話フレーズ 9選 まとめ</dc:title>
  <dc:subject>PptxGenJS Presentation</dc:subject>
  <dc:creator>PptxGenJS</dc:creator>
  <cp:lastModifiedBy>PptxGenJS</cp:lastModifiedBy>
  <cp:revision>1</cp:revision>
  <dcterms:created xsi:type="dcterms:W3CDTF">2026-09-25T12:19:21Z</dcterms:created>
  <dcterms:modified xsi:type="dcterms:W3CDTF">2026-09-25T12:19:21Z</dcterms:modified>
</cp:coreProperties>
</file>