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presProps" Target="presProps.xml"/><Relationship Id="rId1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00100" y="1714500"/>
            <a:ext cx="1638300" cy="390525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3" name=""/>
          <p:cNvSpPr txBox="1"/>
          <p:nvPr/>
        </p:nvSpPr>
        <p:spPr>
          <a:xfrm>
            <a:off x="971550" y="1781175"/>
            <a:ext cx="1609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E8603C"/>
                </a:solidFill>
                <a:latin typeface="Zen Maru Gothic"/>
                <a:ea typeface="Zen Maru Gothic"/>
              </a:rPr>
              <a:t>動画のおさらい</a:t>
            </a:r>
          </a:p>
        </p:txBody>
      </p:sp>
      <p:sp>
        <p:nvSpPr>
          <p:cNvPr id="4" name=""/>
          <p:cNvSpPr txBox="1"/>
          <p:nvPr/>
        </p:nvSpPr>
        <p:spPr>
          <a:xfrm>
            <a:off x="800100" y="2276475"/>
            <a:ext cx="668655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950" b="1">
                <a:solidFill>
                  <a:srgbClr val="22304A"/>
                </a:solidFill>
                <a:latin typeface="Zen Maru Gothic"/>
                <a:ea typeface="Zen Maru Gothic"/>
              </a:rPr>
              <a:t>日常英会話フレーズ</a:t>
            </a:r>
          </a:p>
        </p:txBody>
      </p:sp>
      <p:sp>
        <p:nvSpPr>
          <p:cNvPr id="5" name=""/>
          <p:cNvSpPr txBox="1"/>
          <p:nvPr/>
        </p:nvSpPr>
        <p:spPr>
          <a:xfrm>
            <a:off x="800100" y="2895600"/>
            <a:ext cx="1828800" cy="1609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9300" b="1">
                <a:solidFill>
                  <a:srgbClr val="E8603C"/>
                </a:solidFill>
                <a:latin typeface="Nunito"/>
                <a:ea typeface="Nunito"/>
              </a:rPr>
              <a:t>9</a:t>
            </a:r>
            <a:pPr/>
            <a:r>
              <a:rPr sz="4950" b="1">
                <a:solidFill>
                  <a:srgbClr val="22304A"/>
                </a:solidFill>
                <a:latin typeface="Zen Maru Gothic"/>
                <a:ea typeface="Zen Maru Gothic"/>
              </a:rPr>
              <a:t>選</a:t>
            </a:r>
          </a:p>
        </p:txBody>
      </p:sp>
      <p:sp>
        <p:nvSpPr>
          <p:cNvPr id="6" name=""/>
          <p:cNvSpPr txBox="1"/>
          <p:nvPr/>
        </p:nvSpPr>
        <p:spPr>
          <a:xfrm>
            <a:off x="2419350" y="3352800"/>
            <a:ext cx="230505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950" b="1">
                <a:solidFill>
                  <a:srgbClr val="22304A"/>
                </a:solidFill>
                <a:highlight>
                  <a:srgbClr val="FFE17A"/>
                </a:highlight>
                <a:latin typeface="Zen Maru Gothic"/>
                <a:ea typeface="Zen Maru Gothic"/>
              </a:rPr>
              <a:t>まとめ</a:t>
            </a:r>
          </a:p>
        </p:txBody>
      </p:sp>
      <p:sp>
        <p:nvSpPr>
          <p:cNvPr id="7" name=""/>
          <p:cNvSpPr txBox="1"/>
          <p:nvPr/>
        </p:nvSpPr>
        <p:spPr>
          <a:xfrm>
            <a:off x="800100" y="4562475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568"/>
                </a:solidFill>
                <a:latin typeface="Zen Maru Gothic"/>
                <a:ea typeface="Zen Maru Gothic"/>
              </a:rPr>
              <a:t>動画で紹介したフレーズと例文を</a:t>
            </a:r>
          </a:p>
        </p:txBody>
      </p:sp>
      <p:sp>
        <p:nvSpPr>
          <p:cNvPr id="8" name=""/>
          <p:cNvSpPr txBox="1"/>
          <p:nvPr/>
        </p:nvSpPr>
        <p:spPr>
          <a:xfrm>
            <a:off x="800100" y="4905375"/>
            <a:ext cx="40290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568"/>
                </a:solidFill>
                <a:latin typeface="Zen Maru Gothic"/>
                <a:ea typeface="Zen Maru Gothic"/>
              </a:rPr>
              <a:t>このスライドでまとめて復習しよう！</a:t>
            </a:r>
          </a:p>
        </p:txBody>
      </p:sp>
      <p:sp>
        <p:nvSpPr>
          <p:cNvPr id="9" name=""/>
          <p:cNvSpPr/>
          <p:nvPr/>
        </p:nvSpPr>
        <p:spPr>
          <a:xfrm>
            <a:off x="7239000" y="0"/>
            <a:ext cx="4953000" cy="6858000"/>
          </a:xfrm>
          <a:prstGeom prst="rect">
            <a:avLst/>
          </a:prstGeom>
          <a:solidFill>
            <a:srgbClr val="22304A"/>
          </a:solidFill>
          <a:ln/>
        </p:spPr>
      </p:sp>
      <p:sp>
        <p:nvSpPr>
          <p:cNvPr id="10" name=""/>
          <p:cNvSpPr txBox="1"/>
          <p:nvPr/>
        </p:nvSpPr>
        <p:spPr>
          <a:xfrm>
            <a:off x="7715250" y="762000"/>
            <a:ext cx="1266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9AA5BC"/>
                </a:solidFill>
                <a:latin typeface="Zen Maru Gothic"/>
                <a:ea typeface="Zen Maru Gothic"/>
              </a:rPr>
              <a:t>CONTENTS</a:t>
            </a:r>
          </a:p>
        </p:txBody>
      </p:sp>
      <p:sp>
        <p:nvSpPr>
          <p:cNvPr id="11" name=""/>
          <p:cNvSpPr/>
          <p:nvPr/>
        </p:nvSpPr>
        <p:spPr>
          <a:xfrm>
            <a:off x="7715250" y="11239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2" name=""/>
          <p:cNvSpPr txBox="1"/>
          <p:nvPr/>
        </p:nvSpPr>
        <p:spPr>
          <a:xfrm>
            <a:off x="8267700" y="1219200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feel like 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7886700" y="125730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01</a:t>
            </a:r>
          </a:p>
        </p:txBody>
      </p:sp>
      <p:sp>
        <p:nvSpPr>
          <p:cNvPr id="14" name=""/>
          <p:cNvSpPr/>
          <p:nvPr/>
        </p:nvSpPr>
        <p:spPr>
          <a:xfrm>
            <a:off x="7715250" y="168592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267700" y="1781175"/>
            <a:ext cx="13049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used to ~</a:t>
            </a:r>
          </a:p>
        </p:txBody>
      </p:sp>
      <p:sp>
        <p:nvSpPr>
          <p:cNvPr id="16" name=""/>
          <p:cNvSpPr txBox="1"/>
          <p:nvPr/>
        </p:nvSpPr>
        <p:spPr>
          <a:xfrm>
            <a:off x="7886700" y="181927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02</a:t>
            </a:r>
          </a:p>
        </p:txBody>
      </p:sp>
      <p:sp>
        <p:nvSpPr>
          <p:cNvPr id="17" name=""/>
          <p:cNvSpPr/>
          <p:nvPr/>
        </p:nvSpPr>
        <p:spPr>
          <a:xfrm>
            <a:off x="7715250" y="22479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8" name=""/>
          <p:cNvSpPr txBox="1"/>
          <p:nvPr/>
        </p:nvSpPr>
        <p:spPr>
          <a:xfrm>
            <a:off x="8267700" y="2343150"/>
            <a:ext cx="18383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should have ~</a:t>
            </a:r>
          </a:p>
        </p:txBody>
      </p:sp>
      <p:sp>
        <p:nvSpPr>
          <p:cNvPr id="19" name=""/>
          <p:cNvSpPr txBox="1"/>
          <p:nvPr/>
        </p:nvSpPr>
        <p:spPr>
          <a:xfrm>
            <a:off x="7886700" y="238125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03</a:t>
            </a:r>
          </a:p>
        </p:txBody>
      </p:sp>
      <p:sp>
        <p:nvSpPr>
          <p:cNvPr id="20" name=""/>
          <p:cNvSpPr/>
          <p:nvPr/>
        </p:nvSpPr>
        <p:spPr>
          <a:xfrm>
            <a:off x="7715250" y="280987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1" name=""/>
          <p:cNvSpPr txBox="1"/>
          <p:nvPr/>
        </p:nvSpPr>
        <p:spPr>
          <a:xfrm>
            <a:off x="8267700" y="2905125"/>
            <a:ext cx="20669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Do you wanna ~?</a:t>
            </a:r>
          </a:p>
        </p:txBody>
      </p:sp>
      <p:sp>
        <p:nvSpPr>
          <p:cNvPr id="22" name=""/>
          <p:cNvSpPr txBox="1"/>
          <p:nvPr/>
        </p:nvSpPr>
        <p:spPr>
          <a:xfrm>
            <a:off x="7886700" y="294322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04</a:t>
            </a:r>
          </a:p>
        </p:txBody>
      </p:sp>
      <p:sp>
        <p:nvSpPr>
          <p:cNvPr id="23" name=""/>
          <p:cNvSpPr/>
          <p:nvPr/>
        </p:nvSpPr>
        <p:spPr>
          <a:xfrm>
            <a:off x="7715250" y="33718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4" name=""/>
          <p:cNvSpPr txBox="1"/>
          <p:nvPr/>
        </p:nvSpPr>
        <p:spPr>
          <a:xfrm>
            <a:off x="8267700" y="3467100"/>
            <a:ext cx="20002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I'm looking for ~</a:t>
            </a:r>
          </a:p>
        </p:txBody>
      </p:sp>
      <p:sp>
        <p:nvSpPr>
          <p:cNvPr id="25" name=""/>
          <p:cNvSpPr txBox="1"/>
          <p:nvPr/>
        </p:nvSpPr>
        <p:spPr>
          <a:xfrm>
            <a:off x="7886700" y="350520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05</a:t>
            </a:r>
          </a:p>
        </p:txBody>
      </p:sp>
      <p:sp>
        <p:nvSpPr>
          <p:cNvPr id="26" name=""/>
          <p:cNvSpPr/>
          <p:nvPr/>
        </p:nvSpPr>
        <p:spPr>
          <a:xfrm>
            <a:off x="7715250" y="393382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7" name=""/>
          <p:cNvSpPr txBox="1"/>
          <p:nvPr/>
        </p:nvSpPr>
        <p:spPr>
          <a:xfrm>
            <a:off x="8267700" y="4029075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might ~</a:t>
            </a:r>
          </a:p>
        </p:txBody>
      </p:sp>
      <p:sp>
        <p:nvSpPr>
          <p:cNvPr id="28" name=""/>
          <p:cNvSpPr txBox="1"/>
          <p:nvPr/>
        </p:nvSpPr>
        <p:spPr>
          <a:xfrm>
            <a:off x="7886700" y="406717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06</a:t>
            </a:r>
          </a:p>
        </p:txBody>
      </p:sp>
      <p:sp>
        <p:nvSpPr>
          <p:cNvPr id="29" name=""/>
          <p:cNvSpPr/>
          <p:nvPr/>
        </p:nvSpPr>
        <p:spPr>
          <a:xfrm>
            <a:off x="7715250" y="44958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30" name=""/>
          <p:cNvSpPr txBox="1"/>
          <p:nvPr/>
        </p:nvSpPr>
        <p:spPr>
          <a:xfrm>
            <a:off x="8267700" y="4591050"/>
            <a:ext cx="22383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Do you mind if I ~?</a:t>
            </a:r>
          </a:p>
        </p:txBody>
      </p:sp>
      <p:sp>
        <p:nvSpPr>
          <p:cNvPr id="31" name=""/>
          <p:cNvSpPr txBox="1"/>
          <p:nvPr/>
        </p:nvSpPr>
        <p:spPr>
          <a:xfrm>
            <a:off x="7886700" y="462915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07</a:t>
            </a:r>
          </a:p>
        </p:txBody>
      </p:sp>
      <p:sp>
        <p:nvSpPr>
          <p:cNvPr id="32" name=""/>
          <p:cNvSpPr/>
          <p:nvPr/>
        </p:nvSpPr>
        <p:spPr>
          <a:xfrm>
            <a:off x="7715250" y="505777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33" name=""/>
          <p:cNvSpPr txBox="1"/>
          <p:nvPr/>
        </p:nvSpPr>
        <p:spPr>
          <a:xfrm>
            <a:off x="8267700" y="5153025"/>
            <a:ext cx="838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bet ~</a:t>
            </a:r>
          </a:p>
        </p:txBody>
      </p:sp>
      <p:sp>
        <p:nvSpPr>
          <p:cNvPr id="34" name=""/>
          <p:cNvSpPr txBox="1"/>
          <p:nvPr/>
        </p:nvSpPr>
        <p:spPr>
          <a:xfrm>
            <a:off x="7886700" y="519112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08</a:t>
            </a:r>
          </a:p>
        </p:txBody>
      </p:sp>
      <p:sp>
        <p:nvSpPr>
          <p:cNvPr id="35" name=""/>
          <p:cNvSpPr/>
          <p:nvPr/>
        </p:nvSpPr>
        <p:spPr>
          <a:xfrm>
            <a:off x="7715250" y="56197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36" name=""/>
          <p:cNvSpPr txBox="1"/>
          <p:nvPr/>
        </p:nvSpPr>
        <p:spPr>
          <a:xfrm>
            <a:off x="8267700" y="5715000"/>
            <a:ext cx="17621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I'm trying to ~</a:t>
            </a:r>
          </a:p>
        </p:txBody>
      </p:sp>
      <p:sp>
        <p:nvSpPr>
          <p:cNvPr id="37" name=""/>
          <p:cNvSpPr txBox="1"/>
          <p:nvPr/>
        </p:nvSpPr>
        <p:spPr>
          <a:xfrm>
            <a:off x="7886700" y="575310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4" name=""/>
          <p:cNvSpPr/>
          <p:nvPr/>
        </p:nvSpPr>
        <p:spPr>
          <a:xfrm>
            <a:off x="10353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506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658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01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408622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feel like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~ing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16478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〇〇な気分</a:t>
            </a:r>
          </a:p>
        </p:txBody>
      </p:sp>
      <p:sp>
        <p:nvSpPr>
          <p:cNvPr id="15" name=""/>
          <p:cNvSpPr/>
          <p:nvPr/>
        </p:nvSpPr>
        <p:spPr>
          <a:xfrm>
            <a:off x="3714750" y="1504950"/>
            <a:ext cx="129540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3848100" y="15525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＋動詞のing形</a:t>
            </a:r>
          </a:p>
        </p:txBody>
      </p:sp>
      <p:sp>
        <p:nvSpPr>
          <p:cNvPr id="17" name=""/>
          <p:cNvSpPr/>
          <p:nvPr/>
        </p:nvSpPr>
        <p:spPr>
          <a:xfrm>
            <a:off x="2228850" y="20193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22304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333625" y="20574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否定</a:t>
            </a:r>
          </a:p>
        </p:txBody>
      </p:sp>
      <p:sp>
        <p:nvSpPr>
          <p:cNvPr id="19" name=""/>
          <p:cNvSpPr txBox="1"/>
          <p:nvPr/>
        </p:nvSpPr>
        <p:spPr>
          <a:xfrm>
            <a:off x="2838450" y="2000250"/>
            <a:ext cx="271462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don't feel like ~ing</a:t>
            </a:r>
          </a:p>
        </p:txBody>
      </p:sp>
      <p:sp>
        <p:nvSpPr>
          <p:cNvPr id="20" name=""/>
          <p:cNvSpPr txBox="1"/>
          <p:nvPr/>
        </p:nvSpPr>
        <p:spPr>
          <a:xfrm>
            <a:off x="5229225" y="2019300"/>
            <a:ext cx="3838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〇〇な気分ではない・〇〇したくない</a:t>
            </a:r>
          </a:p>
        </p:txBody>
      </p:sp>
      <p:sp>
        <p:nvSpPr>
          <p:cNvPr id="21" name="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"/>
          <p:cNvSpPr/>
          <p:nvPr/>
        </p:nvSpPr>
        <p:spPr>
          <a:xfrm>
            <a:off x="1143000" y="26670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"/>
          <p:cNvSpPr/>
          <p:nvPr/>
        </p:nvSpPr>
        <p:spPr>
          <a:xfrm>
            <a:off x="685800" y="288607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525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001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"/>
          <p:cNvSpPr txBox="1"/>
          <p:nvPr/>
        </p:nvSpPr>
        <p:spPr>
          <a:xfrm>
            <a:off x="1466850" y="3238500"/>
            <a:ext cx="46386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feel like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eating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pizza today.</a:t>
            </a:r>
          </a:p>
        </p:txBody>
      </p:sp>
      <p:sp>
        <p:nvSpPr>
          <p:cNvPr id="27" name=""/>
          <p:cNvSpPr txBox="1"/>
          <p:nvPr/>
        </p:nvSpPr>
        <p:spPr>
          <a:xfrm>
            <a:off x="7524750" y="3276600"/>
            <a:ext cx="3248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今日ピザを食べたい気分やわ</a:t>
            </a:r>
          </a:p>
        </p:txBody>
      </p:sp>
      <p:sp>
        <p:nvSpPr>
          <p:cNvPr id="28" name=""/>
          <p:cNvSpPr/>
          <p:nvPr/>
        </p:nvSpPr>
        <p:spPr>
          <a:xfrm>
            <a:off x="685800" y="412432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9525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"/>
          <p:cNvSpPr txBox="1"/>
          <p:nvPr/>
        </p:nvSpPr>
        <p:spPr>
          <a:xfrm>
            <a:off x="10001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1466850" y="4476750"/>
            <a:ext cx="5181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don't feel like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going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out today.</a:t>
            </a:r>
          </a:p>
        </p:txBody>
      </p:sp>
      <p:sp>
        <p:nvSpPr>
          <p:cNvPr id="32" name=""/>
          <p:cNvSpPr txBox="1"/>
          <p:nvPr/>
        </p:nvSpPr>
        <p:spPr>
          <a:xfrm>
            <a:off x="7524750" y="451485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外に出る気にならないわ</a:t>
            </a:r>
          </a:p>
        </p:txBody>
      </p:sp>
      <p:sp>
        <p:nvSpPr>
          <p:cNvPr id="33" name=""/>
          <p:cNvSpPr/>
          <p:nvPr/>
        </p:nvSpPr>
        <p:spPr>
          <a:xfrm>
            <a:off x="685800" y="5372100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9525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10001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1466850" y="5724525"/>
            <a:ext cx="37623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feel like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watching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TV.</a:t>
            </a:r>
          </a:p>
        </p:txBody>
      </p:sp>
      <p:sp>
        <p:nvSpPr>
          <p:cNvPr id="37" name=""/>
          <p:cNvSpPr txBox="1"/>
          <p:nvPr/>
        </p:nvSpPr>
        <p:spPr>
          <a:xfrm>
            <a:off x="7524750" y="5762625"/>
            <a:ext cx="300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今日はテレビを見たい気分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5" name=""/>
          <p:cNvSpPr/>
          <p:nvPr/>
        </p:nvSpPr>
        <p:spPr>
          <a:xfrm>
            <a:off x="10506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658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02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30289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used to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22574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昔は〇〇してた</a:t>
            </a:r>
          </a:p>
        </p:txBody>
      </p:sp>
      <p:sp>
        <p:nvSpPr>
          <p:cNvPr id="15" name=""/>
          <p:cNvSpPr/>
          <p:nvPr/>
        </p:nvSpPr>
        <p:spPr>
          <a:xfrm>
            <a:off x="42481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43815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"/>
          <p:cNvSpPr/>
          <p:nvPr/>
        </p:nvSpPr>
        <p:spPr>
          <a:xfrm>
            <a:off x="1143000" y="22098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685800" y="242887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9525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001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466850" y="2857500"/>
            <a:ext cx="41148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used to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play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basketball.</a:t>
            </a:r>
          </a:p>
        </p:txBody>
      </p:sp>
      <p:sp>
        <p:nvSpPr>
          <p:cNvPr id="23" name=""/>
          <p:cNvSpPr txBox="1"/>
          <p:nvPr/>
        </p:nvSpPr>
        <p:spPr>
          <a:xfrm>
            <a:off x="7524750" y="289560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バスケ昔やっていた</a:t>
            </a:r>
          </a:p>
        </p:txBody>
      </p:sp>
      <p:sp>
        <p:nvSpPr>
          <p:cNvPr id="24" name=""/>
          <p:cNvSpPr/>
          <p:nvPr/>
        </p:nvSpPr>
        <p:spPr>
          <a:xfrm>
            <a:off x="685800" y="381952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525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"/>
          <p:cNvSpPr txBox="1"/>
          <p:nvPr/>
        </p:nvSpPr>
        <p:spPr>
          <a:xfrm>
            <a:off x="10001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1466850" y="4248150"/>
            <a:ext cx="2695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used to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smoke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.</a:t>
            </a:r>
          </a:p>
        </p:txBody>
      </p:sp>
      <p:sp>
        <p:nvSpPr>
          <p:cNvPr id="28" name=""/>
          <p:cNvSpPr txBox="1"/>
          <p:nvPr/>
        </p:nvSpPr>
        <p:spPr>
          <a:xfrm>
            <a:off x="7524750" y="42862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昔はタバコ吸ってた</a:t>
            </a:r>
          </a:p>
        </p:txBody>
      </p:sp>
      <p:sp>
        <p:nvSpPr>
          <p:cNvPr id="29" name=""/>
          <p:cNvSpPr/>
          <p:nvPr/>
        </p:nvSpPr>
        <p:spPr>
          <a:xfrm>
            <a:off x="685800" y="5219700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525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001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2" name=""/>
          <p:cNvSpPr txBox="1"/>
          <p:nvPr/>
        </p:nvSpPr>
        <p:spPr>
          <a:xfrm>
            <a:off x="1466850" y="5648325"/>
            <a:ext cx="4333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used to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work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late </a:t>
            </a:r>
            <a:pPr/>
            <a:r>
              <a:rPr sz="2350" b="1">
                <a:solidFill>
                  <a:srgbClr val="8A8F9C"/>
                </a:solidFill>
                <a:latin typeface="Nunito"/>
                <a:ea typeface="Nunito"/>
              </a:rPr>
              <a:t>(often)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.</a:t>
            </a:r>
          </a:p>
        </p:txBody>
      </p:sp>
      <p:sp>
        <p:nvSpPr>
          <p:cNvPr id="33" name=""/>
          <p:cNvSpPr txBox="1"/>
          <p:nvPr/>
        </p:nvSpPr>
        <p:spPr>
          <a:xfrm>
            <a:off x="7524750" y="5686425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昔はよく残業してた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6" name=""/>
          <p:cNvSpPr/>
          <p:nvPr/>
        </p:nvSpPr>
        <p:spPr>
          <a:xfrm>
            <a:off x="10658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03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43338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should have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3181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〇〇しとけばよかった</a:t>
            </a:r>
          </a:p>
        </p:txBody>
      </p:sp>
      <p:sp>
        <p:nvSpPr>
          <p:cNvPr id="15" name=""/>
          <p:cNvSpPr/>
          <p:nvPr/>
        </p:nvSpPr>
        <p:spPr>
          <a:xfrm>
            <a:off x="5048250" y="1504950"/>
            <a:ext cx="1076325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5181600" y="1552575"/>
            <a:ext cx="1047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＋過去分詞</a:t>
            </a:r>
          </a:p>
        </p:txBody>
      </p:sp>
      <p:sp>
        <p:nvSpPr>
          <p:cNvPr id="17" name=""/>
          <p:cNvSpPr/>
          <p:nvPr/>
        </p:nvSpPr>
        <p:spPr>
          <a:xfrm>
            <a:off x="2228850" y="20193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22304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333625" y="20574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否定</a:t>
            </a:r>
          </a:p>
        </p:txBody>
      </p:sp>
      <p:sp>
        <p:nvSpPr>
          <p:cNvPr id="19" name=""/>
          <p:cNvSpPr txBox="1"/>
          <p:nvPr/>
        </p:nvSpPr>
        <p:spPr>
          <a:xfrm>
            <a:off x="2838450" y="2000250"/>
            <a:ext cx="24193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shouldn't have ~</a:t>
            </a:r>
          </a:p>
        </p:txBody>
      </p:sp>
      <p:sp>
        <p:nvSpPr>
          <p:cNvPr id="20" name=""/>
          <p:cNvSpPr txBox="1"/>
          <p:nvPr/>
        </p:nvSpPr>
        <p:spPr>
          <a:xfrm>
            <a:off x="4972050" y="201930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〇〇しなければよかった</a:t>
            </a:r>
          </a:p>
        </p:txBody>
      </p:sp>
      <p:sp>
        <p:nvSpPr>
          <p:cNvPr id="21" name="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"/>
          <p:cNvSpPr/>
          <p:nvPr/>
        </p:nvSpPr>
        <p:spPr>
          <a:xfrm>
            <a:off x="1143000" y="2667000"/>
            <a:ext cx="5791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"/>
          <p:cNvSpPr/>
          <p:nvPr/>
        </p:nvSpPr>
        <p:spPr>
          <a:xfrm>
            <a:off x="685800" y="2886075"/>
            <a:ext cx="6248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144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620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"/>
          <p:cNvSpPr txBox="1"/>
          <p:nvPr/>
        </p:nvSpPr>
        <p:spPr>
          <a:xfrm>
            <a:off x="1428750" y="3076575"/>
            <a:ext cx="35528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should have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left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earlier.</a:t>
            </a:r>
          </a:p>
        </p:txBody>
      </p:sp>
      <p:sp>
        <p:nvSpPr>
          <p:cNvPr id="27" name=""/>
          <p:cNvSpPr txBox="1"/>
          <p:nvPr/>
        </p:nvSpPr>
        <p:spPr>
          <a:xfrm>
            <a:off x="1428750" y="3543300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もっとはやく出とけばよかった</a:t>
            </a:r>
          </a:p>
        </p:txBody>
      </p:sp>
      <p:sp>
        <p:nvSpPr>
          <p:cNvPr id="28" name=""/>
          <p:cNvSpPr/>
          <p:nvPr/>
        </p:nvSpPr>
        <p:spPr>
          <a:xfrm>
            <a:off x="685800" y="4124325"/>
            <a:ext cx="6248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9144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"/>
          <p:cNvSpPr txBox="1"/>
          <p:nvPr/>
        </p:nvSpPr>
        <p:spPr>
          <a:xfrm>
            <a:off x="9620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1428750" y="4314825"/>
            <a:ext cx="3771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should have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bought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that.</a:t>
            </a:r>
          </a:p>
        </p:txBody>
      </p:sp>
      <p:sp>
        <p:nvSpPr>
          <p:cNvPr id="32" name=""/>
          <p:cNvSpPr txBox="1"/>
          <p:nvPr/>
        </p:nvSpPr>
        <p:spPr>
          <a:xfrm>
            <a:off x="1428750" y="4781550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あれ買えばよかったのに</a:t>
            </a:r>
          </a:p>
        </p:txBody>
      </p:sp>
      <p:sp>
        <p:nvSpPr>
          <p:cNvPr id="33" name=""/>
          <p:cNvSpPr/>
          <p:nvPr/>
        </p:nvSpPr>
        <p:spPr>
          <a:xfrm>
            <a:off x="685800" y="5372100"/>
            <a:ext cx="6248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9144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9620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1428750" y="5562600"/>
            <a:ext cx="3695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shouldn't have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said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that.</a:t>
            </a:r>
          </a:p>
        </p:txBody>
      </p:sp>
      <p:sp>
        <p:nvSpPr>
          <p:cNvPr id="37" name=""/>
          <p:cNvSpPr txBox="1"/>
          <p:nvPr/>
        </p:nvSpPr>
        <p:spPr>
          <a:xfrm>
            <a:off x="1428750" y="6029325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言わんかったらよかったのに</a:t>
            </a:r>
          </a:p>
        </p:txBody>
      </p:sp>
      <p:sp>
        <p:nvSpPr>
          <p:cNvPr id="38" name=""/>
          <p:cNvSpPr txBox="1"/>
          <p:nvPr/>
        </p:nvSpPr>
        <p:spPr>
          <a:xfrm>
            <a:off x="7219950" y="2571750"/>
            <a:ext cx="9048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39" name=""/>
          <p:cNvSpPr/>
          <p:nvPr/>
        </p:nvSpPr>
        <p:spPr>
          <a:xfrm>
            <a:off x="8020050" y="2667000"/>
            <a:ext cx="34861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40" name=""/>
          <p:cNvSpPr/>
          <p:nvPr/>
        </p:nvSpPr>
        <p:spPr>
          <a:xfrm>
            <a:off x="7219950" y="2886075"/>
            <a:ext cx="4286250" cy="3590925"/>
          </a:xfrm>
          <a:prstGeom prst="roundRect">
            <a:avLst>
              <a:gd name="adj" fmla="val 5836"/>
            </a:avLst>
          </a:prstGeom>
          <a:solidFill>
            <a:srgbClr val="FFFFFF"/>
          </a:solidFill>
          <a:ln w="19050">
            <a:solidFill>
              <a:srgbClr val="FCE4DA"/>
            </a:solidFill>
            <a:prstDash val="solid"/>
          </a:ln>
        </p:spPr>
      </p:sp>
      <p:sp>
        <p:nvSpPr>
          <p:cNvPr id="41" name=""/>
          <p:cNvSpPr txBox="1"/>
          <p:nvPr/>
        </p:nvSpPr>
        <p:spPr>
          <a:xfrm>
            <a:off x="8077200" y="3133725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ケーキで比べてみよう</a:t>
            </a:r>
          </a:p>
        </p:txBody>
      </p:sp>
      <p:sp>
        <p:nvSpPr>
          <p:cNvPr id="42" name=""/>
          <p:cNvSpPr/>
          <p:nvPr/>
        </p:nvSpPr>
        <p:spPr>
          <a:xfrm>
            <a:off x="7505700" y="31337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43" name=""/>
          <p:cNvSpPr txBox="1"/>
          <p:nvPr/>
        </p:nvSpPr>
        <p:spPr>
          <a:xfrm>
            <a:off x="7610475" y="317182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比較</a:t>
            </a:r>
          </a:p>
        </p:txBody>
      </p:sp>
      <p:sp>
        <p:nvSpPr>
          <p:cNvPr id="44" name=""/>
          <p:cNvSpPr txBox="1"/>
          <p:nvPr/>
        </p:nvSpPr>
        <p:spPr>
          <a:xfrm>
            <a:off x="7505700" y="356235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I </a:t>
            </a:r>
            <a:pPr/>
            <a:r>
              <a:rPr sz="17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should have</a:t>
            </a:r>
            <a:pPr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 eaten the cake.</a:t>
            </a:r>
          </a:p>
        </p:txBody>
      </p:sp>
      <p:sp>
        <p:nvSpPr>
          <p:cNvPr id="45" name=""/>
          <p:cNvSpPr txBox="1"/>
          <p:nvPr/>
        </p:nvSpPr>
        <p:spPr>
          <a:xfrm>
            <a:off x="7505700" y="3876675"/>
            <a:ext cx="2724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Zen Maru Gothic"/>
                <a:ea typeface="Zen Maru Gothic"/>
              </a:rPr>
              <a:t>ケーキを食べておけばよかった</a:t>
            </a:r>
          </a:p>
        </p:txBody>
      </p:sp>
      <p:sp>
        <p:nvSpPr>
          <p:cNvPr id="46" name=""/>
          <p:cNvSpPr txBox="1"/>
          <p:nvPr/>
        </p:nvSpPr>
        <p:spPr>
          <a:xfrm>
            <a:off x="7505700" y="4229100"/>
            <a:ext cx="39147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I </a:t>
            </a:r>
            <a:pPr/>
            <a:r>
              <a:rPr sz="17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shouldn't have</a:t>
            </a:r>
            <a:pPr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 eaten the cake.</a:t>
            </a:r>
          </a:p>
        </p:txBody>
      </p:sp>
      <p:sp>
        <p:nvSpPr>
          <p:cNvPr id="47" name=""/>
          <p:cNvSpPr txBox="1"/>
          <p:nvPr/>
        </p:nvSpPr>
        <p:spPr>
          <a:xfrm>
            <a:off x="7505700" y="4543425"/>
            <a:ext cx="2724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Zen Maru Gothic"/>
                <a:ea typeface="Zen Maru Gothic"/>
              </a:rPr>
              <a:t>ケーキを食べなければよかった</a:t>
            </a:r>
          </a:p>
        </p:txBody>
      </p:sp>
      <p:sp>
        <p:nvSpPr>
          <p:cNvPr id="48" name=""/>
          <p:cNvSpPr/>
          <p:nvPr/>
        </p:nvSpPr>
        <p:spPr>
          <a:xfrm>
            <a:off x="7505700" y="4933950"/>
            <a:ext cx="37147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9" name=""/>
          <p:cNvSpPr txBox="1"/>
          <p:nvPr/>
        </p:nvSpPr>
        <p:spPr>
          <a:xfrm>
            <a:off x="8077200" y="50863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ネイティブはこう言う</a:t>
            </a:r>
          </a:p>
        </p:txBody>
      </p:sp>
      <p:sp>
        <p:nvSpPr>
          <p:cNvPr id="50" name=""/>
          <p:cNvSpPr/>
          <p:nvPr/>
        </p:nvSpPr>
        <p:spPr>
          <a:xfrm>
            <a:off x="7505700" y="50863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51" name=""/>
          <p:cNvSpPr txBox="1"/>
          <p:nvPr/>
        </p:nvSpPr>
        <p:spPr>
          <a:xfrm>
            <a:off x="7610475" y="512445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発音</a:t>
            </a:r>
          </a:p>
        </p:txBody>
      </p:sp>
      <p:sp>
        <p:nvSpPr>
          <p:cNvPr id="52" name=""/>
          <p:cNvSpPr/>
          <p:nvPr/>
        </p:nvSpPr>
        <p:spPr>
          <a:xfrm>
            <a:off x="7505700" y="5514975"/>
            <a:ext cx="3714750" cy="581025"/>
          </a:xfrm>
          <a:prstGeom prst="roundRect">
            <a:avLst>
              <a:gd name="adj" fmla="val 26230"/>
            </a:avLst>
          </a:prstGeom>
          <a:solidFill>
            <a:srgbClr val="FBF6EE"/>
          </a:solidFill>
          <a:ln/>
        </p:spPr>
      </p:sp>
      <p:sp>
        <p:nvSpPr>
          <p:cNvPr id="53" name=""/>
          <p:cNvSpPr txBox="1"/>
          <p:nvPr/>
        </p:nvSpPr>
        <p:spPr>
          <a:xfrm>
            <a:off x="7800975" y="5629275"/>
            <a:ext cx="1819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should have</a:t>
            </a:r>
          </a:p>
        </p:txBody>
      </p:sp>
      <p:sp>
        <p:nvSpPr>
          <p:cNvPr id="54" name=""/>
          <p:cNvSpPr txBox="1"/>
          <p:nvPr/>
        </p:nvSpPr>
        <p:spPr>
          <a:xfrm>
            <a:off x="9401175" y="566737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E8603C"/>
                </a:solidFill>
                <a:latin typeface="Zen Maru Gothic"/>
                <a:ea typeface="Zen Maru Gothic"/>
              </a:rPr>
              <a:t>→</a:t>
            </a:r>
          </a:p>
        </p:txBody>
      </p:sp>
      <p:sp>
        <p:nvSpPr>
          <p:cNvPr id="55" name=""/>
          <p:cNvSpPr txBox="1"/>
          <p:nvPr/>
        </p:nvSpPr>
        <p:spPr>
          <a:xfrm>
            <a:off x="9744075" y="5629275"/>
            <a:ext cx="1476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should've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4584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7" name="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04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49053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Do you wanna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?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19526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〇〇したい？</a:t>
            </a:r>
          </a:p>
        </p:txBody>
      </p:sp>
      <p:sp>
        <p:nvSpPr>
          <p:cNvPr id="15" name=""/>
          <p:cNvSpPr/>
          <p:nvPr/>
        </p:nvSpPr>
        <p:spPr>
          <a:xfrm>
            <a:off x="39814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41148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"/>
          <p:cNvSpPr/>
          <p:nvPr/>
        </p:nvSpPr>
        <p:spPr>
          <a:xfrm>
            <a:off x="2228850" y="2019300"/>
            <a:ext cx="7429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333625" y="2057400"/>
            <a:ext cx="7239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19" name=""/>
          <p:cNvSpPr txBox="1"/>
          <p:nvPr/>
        </p:nvSpPr>
        <p:spPr>
          <a:xfrm>
            <a:off x="3105150" y="2000250"/>
            <a:ext cx="23241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wanna = want to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2019300"/>
            <a:ext cx="27432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くだけた話し言葉の言い方</a:t>
            </a:r>
          </a:p>
        </p:txBody>
      </p:sp>
      <p:sp>
        <p:nvSpPr>
          <p:cNvPr id="21" name="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"/>
          <p:cNvSpPr/>
          <p:nvPr/>
        </p:nvSpPr>
        <p:spPr>
          <a:xfrm>
            <a:off x="1143000" y="26670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"/>
          <p:cNvSpPr/>
          <p:nvPr/>
        </p:nvSpPr>
        <p:spPr>
          <a:xfrm>
            <a:off x="685800" y="288607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525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001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"/>
          <p:cNvSpPr txBox="1"/>
          <p:nvPr/>
        </p:nvSpPr>
        <p:spPr>
          <a:xfrm>
            <a:off x="1466850" y="3238500"/>
            <a:ext cx="47720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wanna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out today?</a:t>
            </a:r>
          </a:p>
        </p:txBody>
      </p:sp>
      <p:sp>
        <p:nvSpPr>
          <p:cNvPr id="27" name=""/>
          <p:cNvSpPr txBox="1"/>
          <p:nvPr/>
        </p:nvSpPr>
        <p:spPr>
          <a:xfrm>
            <a:off x="7524750" y="327660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今日外食せえへん？</a:t>
            </a:r>
          </a:p>
        </p:txBody>
      </p:sp>
      <p:sp>
        <p:nvSpPr>
          <p:cNvPr id="28" name=""/>
          <p:cNvSpPr/>
          <p:nvPr/>
        </p:nvSpPr>
        <p:spPr>
          <a:xfrm>
            <a:off x="685800" y="412432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9525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"/>
          <p:cNvSpPr txBox="1"/>
          <p:nvPr/>
        </p:nvSpPr>
        <p:spPr>
          <a:xfrm>
            <a:off x="10001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1466850" y="4476750"/>
            <a:ext cx="5486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wanna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come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to the party?</a:t>
            </a:r>
          </a:p>
        </p:txBody>
      </p:sp>
      <p:sp>
        <p:nvSpPr>
          <p:cNvPr id="32" name=""/>
          <p:cNvSpPr txBox="1"/>
          <p:nvPr/>
        </p:nvSpPr>
        <p:spPr>
          <a:xfrm>
            <a:off x="7524750" y="45148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パーティーに来る？</a:t>
            </a:r>
          </a:p>
        </p:txBody>
      </p:sp>
      <p:sp>
        <p:nvSpPr>
          <p:cNvPr id="33" name=""/>
          <p:cNvSpPr/>
          <p:nvPr/>
        </p:nvSpPr>
        <p:spPr>
          <a:xfrm>
            <a:off x="685800" y="5372100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9525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10001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1466850" y="5724525"/>
            <a:ext cx="47529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wanna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ice cream?</a:t>
            </a:r>
          </a:p>
        </p:txBody>
      </p:sp>
      <p:sp>
        <p:nvSpPr>
          <p:cNvPr id="37" name=""/>
          <p:cNvSpPr txBox="1"/>
          <p:nvPr/>
        </p:nvSpPr>
        <p:spPr>
          <a:xfrm>
            <a:off x="7524750" y="5762625"/>
            <a:ext cx="300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アイスクリーム食べたい？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6108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8" name="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05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476250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I'm looking for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2571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〇〇を探してます</a:t>
            </a:r>
          </a:p>
        </p:txBody>
      </p:sp>
      <p:sp>
        <p:nvSpPr>
          <p:cNvPr id="15" name=""/>
          <p:cNvSpPr/>
          <p:nvPr/>
        </p:nvSpPr>
        <p:spPr>
          <a:xfrm>
            <a:off x="4514850" y="1504950"/>
            <a:ext cx="752475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4648200" y="1552575"/>
            <a:ext cx="676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"/>
          <p:cNvSpPr/>
          <p:nvPr/>
        </p:nvSpPr>
        <p:spPr>
          <a:xfrm>
            <a:off x="1143000" y="2209800"/>
            <a:ext cx="5791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685800" y="242887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9144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620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428750" y="2657475"/>
            <a:ext cx="3905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looking for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a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bathroom.</a:t>
            </a:r>
          </a:p>
        </p:txBody>
      </p:sp>
      <p:sp>
        <p:nvSpPr>
          <p:cNvPr id="23" name=""/>
          <p:cNvSpPr txBox="1"/>
          <p:nvPr/>
        </p:nvSpPr>
        <p:spPr>
          <a:xfrm>
            <a:off x="1428750" y="3200400"/>
            <a:ext cx="3857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すいません、トイレ探してるんですけど</a:t>
            </a:r>
          </a:p>
        </p:txBody>
      </p:sp>
      <p:sp>
        <p:nvSpPr>
          <p:cNvPr id="24" name=""/>
          <p:cNvSpPr/>
          <p:nvPr/>
        </p:nvSpPr>
        <p:spPr>
          <a:xfrm>
            <a:off x="685800" y="381952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144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620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1428750" y="4048125"/>
            <a:ext cx="3800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looking for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station.</a:t>
            </a:r>
          </a:p>
        </p:txBody>
      </p:sp>
      <p:sp>
        <p:nvSpPr>
          <p:cNvPr id="28" name=""/>
          <p:cNvSpPr txBox="1"/>
          <p:nvPr/>
        </p:nvSpPr>
        <p:spPr>
          <a:xfrm>
            <a:off x="1428750" y="4591050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駅を探してるんですけど</a:t>
            </a:r>
          </a:p>
        </p:txBody>
      </p:sp>
      <p:sp>
        <p:nvSpPr>
          <p:cNvPr id="29" name=""/>
          <p:cNvSpPr/>
          <p:nvPr/>
        </p:nvSpPr>
        <p:spPr>
          <a:xfrm>
            <a:off x="685800" y="5219700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144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1" name=""/>
          <p:cNvSpPr txBox="1"/>
          <p:nvPr/>
        </p:nvSpPr>
        <p:spPr>
          <a:xfrm>
            <a:off x="9620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2" name=""/>
          <p:cNvSpPr txBox="1"/>
          <p:nvPr/>
        </p:nvSpPr>
        <p:spPr>
          <a:xfrm>
            <a:off x="1428750" y="5448300"/>
            <a:ext cx="3657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looking for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my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phone.</a:t>
            </a:r>
          </a:p>
        </p:txBody>
      </p:sp>
      <p:sp>
        <p:nvSpPr>
          <p:cNvPr id="33" name=""/>
          <p:cNvSpPr txBox="1"/>
          <p:nvPr/>
        </p:nvSpPr>
        <p:spPr>
          <a:xfrm>
            <a:off x="1428750" y="599122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私の携帯を探してます</a:t>
            </a:r>
          </a:p>
        </p:txBody>
      </p:sp>
      <p:sp>
        <p:nvSpPr>
          <p:cNvPr id="34" name=""/>
          <p:cNvSpPr txBox="1"/>
          <p:nvPr/>
        </p:nvSpPr>
        <p:spPr>
          <a:xfrm>
            <a:off x="7219950" y="2114550"/>
            <a:ext cx="9048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35" name=""/>
          <p:cNvSpPr/>
          <p:nvPr/>
        </p:nvSpPr>
        <p:spPr>
          <a:xfrm>
            <a:off x="8020050" y="2209800"/>
            <a:ext cx="34861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36" name=""/>
          <p:cNvSpPr/>
          <p:nvPr/>
        </p:nvSpPr>
        <p:spPr>
          <a:xfrm>
            <a:off x="7219950" y="2428875"/>
            <a:ext cx="4286250" cy="4048125"/>
          </a:xfrm>
          <a:prstGeom prst="roundRect">
            <a:avLst>
              <a:gd name="adj" fmla="val 5176"/>
            </a:avLst>
          </a:prstGeom>
          <a:solidFill>
            <a:srgbClr val="FFFFFF"/>
          </a:solidFill>
          <a:ln w="19050">
            <a:solidFill>
              <a:srgbClr val="FCE4DA"/>
            </a:solidFill>
            <a:prstDash val="solid"/>
          </a:ln>
        </p:spPr>
      </p:sp>
      <p:sp>
        <p:nvSpPr>
          <p:cNvPr id="37" name=""/>
          <p:cNvSpPr txBox="1"/>
          <p:nvPr/>
        </p:nvSpPr>
        <p:spPr>
          <a:xfrm>
            <a:off x="8077200" y="2676525"/>
            <a:ext cx="22288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冠詞 the と a の違い</a:t>
            </a:r>
          </a:p>
        </p:txBody>
      </p:sp>
      <p:sp>
        <p:nvSpPr>
          <p:cNvPr id="38" name=""/>
          <p:cNvSpPr/>
          <p:nvPr/>
        </p:nvSpPr>
        <p:spPr>
          <a:xfrm>
            <a:off x="7505700" y="26765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39" name=""/>
          <p:cNvSpPr txBox="1"/>
          <p:nvPr/>
        </p:nvSpPr>
        <p:spPr>
          <a:xfrm>
            <a:off x="7610475" y="271462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文法</a:t>
            </a:r>
          </a:p>
        </p:txBody>
      </p:sp>
      <p:sp>
        <p:nvSpPr>
          <p:cNvPr id="40" name=""/>
          <p:cNvSpPr/>
          <p:nvPr/>
        </p:nvSpPr>
        <p:spPr>
          <a:xfrm>
            <a:off x="7505700" y="3152775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4DA"/>
          </a:solidFill>
          <a:ln/>
        </p:spPr>
      </p:sp>
      <p:sp>
        <p:nvSpPr>
          <p:cNvPr id="41" name=""/>
          <p:cNvSpPr txBox="1"/>
          <p:nvPr/>
        </p:nvSpPr>
        <p:spPr>
          <a:xfrm>
            <a:off x="7562850" y="3286125"/>
            <a:ext cx="60960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</a:p>
        </p:txBody>
      </p:sp>
      <p:sp>
        <p:nvSpPr>
          <p:cNvPr id="42" name=""/>
          <p:cNvSpPr txBox="1"/>
          <p:nvPr/>
        </p:nvSpPr>
        <p:spPr>
          <a:xfrm>
            <a:off x="8382000" y="3171825"/>
            <a:ext cx="1209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2304A"/>
                </a:solidFill>
                <a:latin typeface="Zen Maru Gothic"/>
                <a:ea typeface="Zen Maru Gothic"/>
              </a:rPr>
              <a:t>特定の場所</a:t>
            </a:r>
          </a:p>
        </p:txBody>
      </p:sp>
      <p:sp>
        <p:nvSpPr>
          <p:cNvPr id="43" name=""/>
          <p:cNvSpPr txBox="1"/>
          <p:nvPr/>
        </p:nvSpPr>
        <p:spPr>
          <a:xfrm>
            <a:off x="8382000" y="3505200"/>
            <a:ext cx="2895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I'm looking for </a:t>
            </a:r>
            <a:pPr/>
            <a:r>
              <a:rPr sz="150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 station.</a:t>
            </a:r>
          </a:p>
        </p:txBody>
      </p:sp>
      <p:sp>
        <p:nvSpPr>
          <p:cNvPr id="44" name=""/>
          <p:cNvSpPr/>
          <p:nvPr/>
        </p:nvSpPr>
        <p:spPr>
          <a:xfrm>
            <a:off x="7505700" y="3971925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4DA"/>
          </a:solidFill>
          <a:ln/>
        </p:spPr>
      </p:sp>
      <p:sp>
        <p:nvSpPr>
          <p:cNvPr id="45" name=""/>
          <p:cNvSpPr txBox="1"/>
          <p:nvPr/>
        </p:nvSpPr>
        <p:spPr>
          <a:xfrm>
            <a:off x="7724775" y="4105275"/>
            <a:ext cx="2857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E8603C"/>
                </a:solidFill>
                <a:latin typeface="Nunito"/>
                <a:ea typeface="Nunito"/>
              </a:rPr>
              <a:t>a</a:t>
            </a:r>
          </a:p>
        </p:txBody>
      </p:sp>
      <p:sp>
        <p:nvSpPr>
          <p:cNvPr id="46" name=""/>
          <p:cNvSpPr txBox="1"/>
          <p:nvPr/>
        </p:nvSpPr>
        <p:spPr>
          <a:xfrm>
            <a:off x="8382000" y="3990975"/>
            <a:ext cx="14287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2304A"/>
                </a:solidFill>
                <a:latin typeface="Zen Maru Gothic"/>
                <a:ea typeface="Zen Maru Gothic"/>
              </a:rPr>
              <a:t>一般的なもの</a:t>
            </a:r>
          </a:p>
        </p:txBody>
      </p:sp>
      <p:sp>
        <p:nvSpPr>
          <p:cNvPr id="47" name=""/>
          <p:cNvSpPr txBox="1"/>
          <p:nvPr/>
        </p:nvSpPr>
        <p:spPr>
          <a:xfrm>
            <a:off x="8382000" y="4324350"/>
            <a:ext cx="2971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I'm looking for </a:t>
            </a:r>
            <a:pPr/>
            <a:r>
              <a:rPr sz="1500" b="1">
                <a:solidFill>
                  <a:srgbClr val="E8603C"/>
                </a:solidFill>
                <a:latin typeface="Nunito"/>
                <a:ea typeface="Nunito"/>
              </a:rPr>
              <a:t>a</a:t>
            </a:r>
            <a:pPr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 bathroom.</a:t>
            </a:r>
          </a:p>
        </p:txBody>
      </p:sp>
      <p:sp>
        <p:nvSpPr>
          <p:cNvPr id="48" name=""/>
          <p:cNvSpPr/>
          <p:nvPr/>
        </p:nvSpPr>
        <p:spPr>
          <a:xfrm>
            <a:off x="7505700" y="4800600"/>
            <a:ext cx="37147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9" name=""/>
          <p:cNvSpPr txBox="1"/>
          <p:nvPr/>
        </p:nvSpPr>
        <p:spPr>
          <a:xfrm>
            <a:off x="7505700" y="5000625"/>
            <a:ext cx="3667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E8603C"/>
                </a:solidFill>
                <a:latin typeface="Zen Maru Gothic"/>
                <a:ea typeface="Zen Maru Gothic"/>
              </a:rPr>
              <a:t>The</a:t>
            </a:r>
            <a:pPr/>
            <a:r>
              <a:rPr sz="1350" b="1">
                <a:solidFill>
                  <a:srgbClr val="4A5568"/>
                </a:solidFill>
                <a:latin typeface="Zen Maru Gothic"/>
                <a:ea typeface="Zen Maru Gothic"/>
              </a:rPr>
              <a:t> は世界遺産などの固有名詞にも使う</a:t>
            </a:r>
          </a:p>
        </p:txBody>
      </p:sp>
      <p:sp>
        <p:nvSpPr>
          <p:cNvPr id="50" name=""/>
          <p:cNvSpPr txBox="1"/>
          <p:nvPr/>
        </p:nvSpPr>
        <p:spPr>
          <a:xfrm>
            <a:off x="7505700" y="5400675"/>
            <a:ext cx="4305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/>
            <a:r>
              <a:rPr sz="1650" b="1">
                <a:solidFill>
                  <a:srgbClr val="22304A"/>
                </a:solidFill>
                <a:latin typeface="Nunito"/>
                <a:ea typeface="Nunito"/>
              </a:rPr>
              <a:t> Eiffel Tower </a:t>
            </a:r>
            <a:pPr/>
            <a:r>
              <a:rPr sz="1650" b="1">
                <a:solidFill>
                  <a:srgbClr val="22304A"/>
                </a:solidFill>
                <a:latin typeface="Zen Maru Gothic"/>
                <a:ea typeface="Zen Maru Gothic"/>
              </a:rPr>
              <a:t>／</a:t>
            </a:r>
            <a:pPr/>
            <a:r>
              <a:rPr sz="16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/>
            <a:r>
              <a:rPr sz="1650" b="1">
                <a:solidFill>
                  <a:srgbClr val="22304A"/>
                </a:solidFill>
                <a:latin typeface="Nunito"/>
                <a:ea typeface="Nunito"/>
              </a:rPr>
              <a:t> Tokyo Tower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7632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9" name="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06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26193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might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3181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〇〇するかもしれない</a:t>
            </a:r>
          </a:p>
        </p:txBody>
      </p:sp>
      <p:sp>
        <p:nvSpPr>
          <p:cNvPr id="15" name=""/>
          <p:cNvSpPr/>
          <p:nvPr/>
        </p:nvSpPr>
        <p:spPr>
          <a:xfrm>
            <a:off x="50482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51816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"/>
          <p:cNvSpPr/>
          <p:nvPr/>
        </p:nvSpPr>
        <p:spPr>
          <a:xfrm>
            <a:off x="2228850" y="20193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22304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333625" y="20574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否定</a:t>
            </a:r>
          </a:p>
        </p:txBody>
      </p:sp>
      <p:sp>
        <p:nvSpPr>
          <p:cNvPr id="19" name=""/>
          <p:cNvSpPr txBox="1"/>
          <p:nvPr/>
        </p:nvSpPr>
        <p:spPr>
          <a:xfrm>
            <a:off x="2838450" y="2000250"/>
            <a:ext cx="17811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might not ~</a:t>
            </a:r>
          </a:p>
        </p:txBody>
      </p:sp>
      <p:sp>
        <p:nvSpPr>
          <p:cNvPr id="20" name=""/>
          <p:cNvSpPr txBox="1"/>
          <p:nvPr/>
        </p:nvSpPr>
        <p:spPr>
          <a:xfrm>
            <a:off x="4419600" y="2019300"/>
            <a:ext cx="1647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〇〇しないかも</a:t>
            </a:r>
          </a:p>
        </p:txBody>
      </p:sp>
      <p:sp>
        <p:nvSpPr>
          <p:cNvPr id="21" name="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"/>
          <p:cNvSpPr/>
          <p:nvPr/>
        </p:nvSpPr>
        <p:spPr>
          <a:xfrm>
            <a:off x="1143000" y="26670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"/>
          <p:cNvSpPr/>
          <p:nvPr/>
        </p:nvSpPr>
        <p:spPr>
          <a:xfrm>
            <a:off x="685800" y="288607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525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001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"/>
          <p:cNvSpPr txBox="1"/>
          <p:nvPr/>
        </p:nvSpPr>
        <p:spPr>
          <a:xfrm>
            <a:off x="1466850" y="3238500"/>
            <a:ext cx="3581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might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a cupcake.</a:t>
            </a:r>
          </a:p>
        </p:txBody>
      </p:sp>
      <p:sp>
        <p:nvSpPr>
          <p:cNvPr id="27" name=""/>
          <p:cNvSpPr txBox="1"/>
          <p:nvPr/>
        </p:nvSpPr>
        <p:spPr>
          <a:xfrm>
            <a:off x="7524750" y="327660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カップケーキ食べるかも</a:t>
            </a:r>
          </a:p>
        </p:txBody>
      </p:sp>
      <p:sp>
        <p:nvSpPr>
          <p:cNvPr id="28" name=""/>
          <p:cNvSpPr/>
          <p:nvPr/>
        </p:nvSpPr>
        <p:spPr>
          <a:xfrm>
            <a:off x="685800" y="412432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/>
          <p:nvPr/>
        </p:nvSpPr>
        <p:spPr>
          <a:xfrm>
            <a:off x="9525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"/>
          <p:cNvSpPr txBox="1"/>
          <p:nvPr/>
        </p:nvSpPr>
        <p:spPr>
          <a:xfrm>
            <a:off x="10001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1466850" y="4476750"/>
            <a:ext cx="25241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might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be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late.</a:t>
            </a:r>
          </a:p>
        </p:txBody>
      </p:sp>
      <p:sp>
        <p:nvSpPr>
          <p:cNvPr id="32" name=""/>
          <p:cNvSpPr txBox="1"/>
          <p:nvPr/>
        </p:nvSpPr>
        <p:spPr>
          <a:xfrm>
            <a:off x="7524750" y="4352925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ちょっと遅れるかも</a:t>
            </a:r>
          </a:p>
        </p:txBody>
      </p:sp>
      <p:sp>
        <p:nvSpPr>
          <p:cNvPr id="33" name=""/>
          <p:cNvSpPr/>
          <p:nvPr/>
        </p:nvSpPr>
        <p:spPr>
          <a:xfrm>
            <a:off x="7524750" y="4724400"/>
            <a:ext cx="1828800" cy="276225"/>
          </a:xfrm>
          <a:prstGeom prst="roundRect">
            <a:avLst>
              <a:gd name="adj" fmla="val 27586"/>
            </a:avLst>
          </a:prstGeom>
          <a:solidFill>
            <a:srgbClr val="FBF6EE"/>
          </a:solidFill>
          <a:ln w="9525">
            <a:solidFill>
              <a:srgbClr val="EBE1D2"/>
            </a:solidFill>
            <a:prstDash val="solid"/>
          </a:ln>
        </p:spPr>
      </p:sp>
      <p:sp>
        <p:nvSpPr>
          <p:cNvPr id="34" name=""/>
          <p:cNvSpPr txBox="1"/>
          <p:nvPr/>
        </p:nvSpPr>
        <p:spPr>
          <a:xfrm>
            <a:off x="7629525" y="475297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4A5568"/>
                </a:solidFill>
                <a:latin typeface="Zen Maru Gothic"/>
                <a:ea typeface="Zen Maru Gothic"/>
              </a:rPr>
              <a:t>late ＝ 遅れる〈形容詞〉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72100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9525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7" name=""/>
          <p:cNvSpPr txBox="1"/>
          <p:nvPr/>
        </p:nvSpPr>
        <p:spPr>
          <a:xfrm>
            <a:off x="10001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8" name=""/>
          <p:cNvSpPr txBox="1"/>
          <p:nvPr/>
        </p:nvSpPr>
        <p:spPr>
          <a:xfrm>
            <a:off x="1466850" y="5724525"/>
            <a:ext cx="3438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might not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go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today.</a:t>
            </a:r>
          </a:p>
        </p:txBody>
      </p:sp>
      <p:sp>
        <p:nvSpPr>
          <p:cNvPr id="39" name=""/>
          <p:cNvSpPr txBox="1"/>
          <p:nvPr/>
        </p:nvSpPr>
        <p:spPr>
          <a:xfrm>
            <a:off x="7524750" y="5762625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今日は行かないかも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763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09156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10" name="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07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53244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Do you mind if I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?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74771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〇〇してもいいですか？／〇〇しても構いませんか？</a:t>
            </a:r>
          </a:p>
        </p:txBody>
      </p:sp>
      <p:sp>
        <p:nvSpPr>
          <p:cNvPr id="15" name="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6" name=""/>
          <p:cNvSpPr/>
          <p:nvPr/>
        </p:nvSpPr>
        <p:spPr>
          <a:xfrm>
            <a:off x="1143000" y="2209800"/>
            <a:ext cx="5791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7" name=""/>
          <p:cNvSpPr/>
          <p:nvPr/>
        </p:nvSpPr>
        <p:spPr>
          <a:xfrm>
            <a:off x="685800" y="242887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144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19" name=""/>
          <p:cNvSpPr txBox="1"/>
          <p:nvPr/>
        </p:nvSpPr>
        <p:spPr>
          <a:xfrm>
            <a:off x="9620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0" name=""/>
          <p:cNvSpPr txBox="1"/>
          <p:nvPr/>
        </p:nvSpPr>
        <p:spPr>
          <a:xfrm>
            <a:off x="1428750" y="2657475"/>
            <a:ext cx="3562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mind if I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sit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here?</a:t>
            </a:r>
          </a:p>
        </p:txBody>
      </p:sp>
      <p:sp>
        <p:nvSpPr>
          <p:cNvPr id="21" name=""/>
          <p:cNvSpPr txBox="1"/>
          <p:nvPr/>
        </p:nvSpPr>
        <p:spPr>
          <a:xfrm>
            <a:off x="1428750" y="3200400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ここに座ってもいいですか？</a:t>
            </a:r>
          </a:p>
        </p:txBody>
      </p:sp>
      <p:sp>
        <p:nvSpPr>
          <p:cNvPr id="22" name=""/>
          <p:cNvSpPr/>
          <p:nvPr/>
        </p:nvSpPr>
        <p:spPr>
          <a:xfrm>
            <a:off x="685800" y="381952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9144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4" name=""/>
          <p:cNvSpPr txBox="1"/>
          <p:nvPr/>
        </p:nvSpPr>
        <p:spPr>
          <a:xfrm>
            <a:off x="9620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5" name=""/>
          <p:cNvSpPr txBox="1"/>
          <p:nvPr/>
        </p:nvSpPr>
        <p:spPr>
          <a:xfrm>
            <a:off x="1428750" y="4048125"/>
            <a:ext cx="492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mind if I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open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the window?</a:t>
            </a:r>
          </a:p>
        </p:txBody>
      </p:sp>
      <p:sp>
        <p:nvSpPr>
          <p:cNvPr id="26" name=""/>
          <p:cNvSpPr txBox="1"/>
          <p:nvPr/>
        </p:nvSpPr>
        <p:spPr>
          <a:xfrm>
            <a:off x="1428750" y="4591050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窓を開けても構いませんか？</a:t>
            </a:r>
          </a:p>
        </p:txBody>
      </p:sp>
      <p:sp>
        <p:nvSpPr>
          <p:cNvPr id="27" name=""/>
          <p:cNvSpPr/>
          <p:nvPr/>
        </p:nvSpPr>
        <p:spPr>
          <a:xfrm>
            <a:off x="685800" y="5219700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/>
          <p:nvPr/>
        </p:nvSpPr>
        <p:spPr>
          <a:xfrm>
            <a:off x="9144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9" name=""/>
          <p:cNvSpPr txBox="1"/>
          <p:nvPr/>
        </p:nvSpPr>
        <p:spPr>
          <a:xfrm>
            <a:off x="9620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0" name=""/>
          <p:cNvSpPr txBox="1"/>
          <p:nvPr/>
        </p:nvSpPr>
        <p:spPr>
          <a:xfrm>
            <a:off x="1428750" y="5448300"/>
            <a:ext cx="451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mind if I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ask</a:t>
            </a:r>
            <a:pPr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a question?</a:t>
            </a:r>
          </a:p>
        </p:txBody>
      </p:sp>
      <p:sp>
        <p:nvSpPr>
          <p:cNvPr id="31" name=""/>
          <p:cNvSpPr txBox="1"/>
          <p:nvPr/>
        </p:nvSpPr>
        <p:spPr>
          <a:xfrm>
            <a:off x="1428750" y="599122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質問してもいいですか？</a:t>
            </a:r>
          </a:p>
        </p:txBody>
      </p:sp>
      <p:sp>
        <p:nvSpPr>
          <p:cNvPr id="32" name=""/>
          <p:cNvSpPr txBox="1"/>
          <p:nvPr/>
        </p:nvSpPr>
        <p:spPr>
          <a:xfrm>
            <a:off x="7219950" y="2114550"/>
            <a:ext cx="9048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33" name=""/>
          <p:cNvSpPr/>
          <p:nvPr/>
        </p:nvSpPr>
        <p:spPr>
          <a:xfrm>
            <a:off x="8020050" y="2209800"/>
            <a:ext cx="34861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34" name=""/>
          <p:cNvSpPr/>
          <p:nvPr/>
        </p:nvSpPr>
        <p:spPr>
          <a:xfrm>
            <a:off x="7219950" y="2428875"/>
            <a:ext cx="4286250" cy="4048125"/>
          </a:xfrm>
          <a:prstGeom prst="roundRect">
            <a:avLst>
              <a:gd name="adj" fmla="val 5176"/>
            </a:avLst>
          </a:prstGeom>
          <a:solidFill>
            <a:srgbClr val="FFFFFF"/>
          </a:solidFill>
          <a:ln w="19050">
            <a:solidFill>
              <a:srgbClr val="FCE4DA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8210550" y="2676525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聞かれたらこう返そう</a:t>
            </a:r>
          </a:p>
        </p:txBody>
      </p:sp>
      <p:sp>
        <p:nvSpPr>
          <p:cNvPr id="36" name=""/>
          <p:cNvSpPr/>
          <p:nvPr/>
        </p:nvSpPr>
        <p:spPr>
          <a:xfrm>
            <a:off x="7505700" y="2676525"/>
            <a:ext cx="60960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37" name=""/>
          <p:cNvSpPr txBox="1"/>
          <p:nvPr/>
        </p:nvSpPr>
        <p:spPr>
          <a:xfrm>
            <a:off x="7610475" y="2714625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答え方</a:t>
            </a:r>
          </a:p>
        </p:txBody>
      </p:sp>
      <p:sp>
        <p:nvSpPr>
          <p:cNvPr id="38" name=""/>
          <p:cNvSpPr/>
          <p:nvPr/>
        </p:nvSpPr>
        <p:spPr>
          <a:xfrm>
            <a:off x="7505700" y="3152775"/>
            <a:ext cx="3714750" cy="942975"/>
          </a:xfrm>
          <a:prstGeom prst="roundRect">
            <a:avLst>
              <a:gd name="adj" fmla="val 16162"/>
            </a:avLst>
          </a:prstGeom>
          <a:solidFill>
            <a:srgbClr val="DDF2E6"/>
          </a:solidFill>
          <a:ln/>
        </p:spPr>
      </p:sp>
      <p:sp>
        <p:nvSpPr>
          <p:cNvPr id="39" name=""/>
          <p:cNvSpPr/>
          <p:nvPr/>
        </p:nvSpPr>
        <p:spPr>
          <a:xfrm>
            <a:off x="7696200" y="3352800"/>
            <a:ext cx="533400" cy="533400"/>
          </a:xfrm>
          <a:prstGeom prst="ellipse">
            <a:avLst/>
          </a:prstGeom>
          <a:solidFill>
            <a:srgbClr val="238A5B"/>
          </a:solidFill>
          <a:ln/>
        </p:spPr>
      </p:sp>
      <p:sp>
        <p:nvSpPr>
          <p:cNvPr id="40" name=""/>
          <p:cNvSpPr txBox="1"/>
          <p:nvPr/>
        </p:nvSpPr>
        <p:spPr>
          <a:xfrm>
            <a:off x="7762875" y="3514725"/>
            <a:ext cx="400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unito"/>
                <a:ea typeface="Nunito"/>
              </a:rPr>
              <a:t>OK</a:t>
            </a:r>
          </a:p>
        </p:txBody>
      </p:sp>
      <p:sp>
        <p:nvSpPr>
          <p:cNvPr id="41" name=""/>
          <p:cNvSpPr txBox="1"/>
          <p:nvPr/>
        </p:nvSpPr>
        <p:spPr>
          <a:xfrm>
            <a:off x="8362950" y="3362325"/>
            <a:ext cx="29432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2304A"/>
                </a:solidFill>
                <a:latin typeface="Nunito"/>
                <a:ea typeface="Nunito"/>
              </a:rPr>
              <a:t>No. </a:t>
            </a:r>
            <a:pPr/>
            <a:r>
              <a:rPr sz="1800" b="1">
                <a:solidFill>
                  <a:srgbClr val="22304A"/>
                </a:solidFill>
                <a:latin typeface="Zen Maru Gothic"/>
                <a:ea typeface="Zen Maru Gothic"/>
              </a:rPr>
              <a:t>／</a:t>
            </a:r>
            <a:pPr/>
            <a:r>
              <a:rPr sz="1800" b="1">
                <a:solidFill>
                  <a:srgbClr val="22304A"/>
                </a:solidFill>
                <a:latin typeface="Nunito"/>
                <a:ea typeface="Nunito"/>
              </a:rPr>
              <a:t> Sure, go ahead!</a:t>
            </a:r>
          </a:p>
        </p:txBody>
      </p:sp>
      <p:sp>
        <p:nvSpPr>
          <p:cNvPr id="42" name=""/>
          <p:cNvSpPr txBox="1"/>
          <p:nvPr/>
        </p:nvSpPr>
        <p:spPr>
          <a:xfrm>
            <a:off x="8362950" y="3686175"/>
            <a:ext cx="1981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238A5B"/>
                </a:solidFill>
                <a:latin typeface="Zen Maru Gothic"/>
                <a:ea typeface="Zen Maru Gothic"/>
              </a:rPr>
              <a:t>いいえ、構いません！</a:t>
            </a:r>
          </a:p>
        </p:txBody>
      </p:sp>
      <p:sp>
        <p:nvSpPr>
          <p:cNvPr id="43" name=""/>
          <p:cNvSpPr/>
          <p:nvPr/>
        </p:nvSpPr>
        <p:spPr>
          <a:xfrm>
            <a:off x="7505700" y="4286250"/>
            <a:ext cx="3714750" cy="904875"/>
          </a:xfrm>
          <a:prstGeom prst="roundRect">
            <a:avLst>
              <a:gd name="adj" fmla="val 16842"/>
            </a:avLst>
          </a:prstGeom>
          <a:solidFill>
            <a:srgbClr val="FBE2E0"/>
          </a:solidFill>
          <a:ln/>
        </p:spPr>
      </p:sp>
      <p:sp>
        <p:nvSpPr>
          <p:cNvPr id="44" name=""/>
          <p:cNvSpPr/>
          <p:nvPr/>
        </p:nvSpPr>
        <p:spPr>
          <a:xfrm>
            <a:off x="7696200" y="4467225"/>
            <a:ext cx="533400" cy="533400"/>
          </a:xfrm>
          <a:prstGeom prst="ellipse">
            <a:avLst/>
          </a:prstGeom>
          <a:solidFill>
            <a:srgbClr val="CF4B45"/>
          </a:solidFill>
          <a:ln/>
        </p:spPr>
      </p:sp>
      <p:sp>
        <p:nvSpPr>
          <p:cNvPr id="45" name=""/>
          <p:cNvSpPr txBox="1"/>
          <p:nvPr/>
        </p:nvSpPr>
        <p:spPr>
          <a:xfrm>
            <a:off x="7762875" y="4629150"/>
            <a:ext cx="400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unito"/>
                <a:ea typeface="Nunito"/>
              </a:rPr>
              <a:t>NG</a:t>
            </a:r>
          </a:p>
        </p:txBody>
      </p:sp>
      <p:sp>
        <p:nvSpPr>
          <p:cNvPr id="46" name=""/>
          <p:cNvSpPr txBox="1"/>
          <p:nvPr/>
        </p:nvSpPr>
        <p:spPr>
          <a:xfrm>
            <a:off x="8362950" y="4457700"/>
            <a:ext cx="1952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2304A"/>
                </a:solidFill>
                <a:latin typeface="Nunito"/>
                <a:ea typeface="Nunito"/>
              </a:rPr>
              <a:t>Yes, I do mind.</a:t>
            </a:r>
          </a:p>
        </p:txBody>
      </p:sp>
      <p:sp>
        <p:nvSpPr>
          <p:cNvPr id="47" name=""/>
          <p:cNvSpPr txBox="1"/>
          <p:nvPr/>
        </p:nvSpPr>
        <p:spPr>
          <a:xfrm>
            <a:off x="8362950" y="4781550"/>
            <a:ext cx="3095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F4B45"/>
                </a:solidFill>
                <a:latin typeface="Zen Maru Gothic"/>
                <a:ea typeface="Zen Maru Gothic"/>
              </a:rPr>
              <a:t>構います（＝座らないでください）</a:t>
            </a:r>
          </a:p>
        </p:txBody>
      </p:sp>
      <p:sp>
        <p:nvSpPr>
          <p:cNvPr id="48" name=""/>
          <p:cNvSpPr/>
          <p:nvPr/>
        </p:nvSpPr>
        <p:spPr>
          <a:xfrm>
            <a:off x="7505700" y="5391150"/>
            <a:ext cx="37147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9" name=""/>
          <p:cNvSpPr txBox="1"/>
          <p:nvPr/>
        </p:nvSpPr>
        <p:spPr>
          <a:xfrm>
            <a:off x="7505700" y="5591175"/>
            <a:ext cx="2752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mind</a:t>
            </a:r>
            <a:pPr/>
            <a:r>
              <a:rPr sz="1350" b="1">
                <a:solidFill>
                  <a:srgbClr val="4A5568"/>
                </a:solidFill>
                <a:latin typeface="Zen Maru Gothic"/>
                <a:ea typeface="Zen Maru Gothic"/>
              </a:rPr>
              <a:t> ＝「気にする」なので、</a:t>
            </a:r>
          </a:p>
        </p:txBody>
      </p:sp>
      <p:sp>
        <p:nvSpPr>
          <p:cNvPr id="50" name=""/>
          <p:cNvSpPr txBox="1"/>
          <p:nvPr/>
        </p:nvSpPr>
        <p:spPr>
          <a:xfrm>
            <a:off x="7505700" y="5857875"/>
            <a:ext cx="38195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38A5B"/>
                </a:solidFill>
                <a:latin typeface="Zen Maru Gothic"/>
                <a:ea typeface="Zen Maru Gothic"/>
              </a:rPr>
              <a:t>No</a:t>
            </a:r>
            <a:pPr/>
            <a:r>
              <a:rPr sz="1350" b="1">
                <a:solidFill>
                  <a:srgbClr val="4A5568"/>
                </a:solidFill>
                <a:latin typeface="Zen Maru Gothic"/>
                <a:ea typeface="Zen Maru Gothic"/>
              </a:rPr>
              <a:t> ＝「気にしないよ」＝ どうぞ！になる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763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0915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0680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11" name="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08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18859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bet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19526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絶対〇〇やで</a:t>
            </a:r>
          </a:p>
        </p:txBody>
      </p:sp>
      <p:sp>
        <p:nvSpPr>
          <p:cNvPr id="15" name=""/>
          <p:cNvSpPr/>
          <p:nvPr/>
        </p:nvSpPr>
        <p:spPr>
          <a:xfrm>
            <a:off x="3981450" y="1504950"/>
            <a:ext cx="1724025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4114800" y="1552575"/>
            <a:ext cx="1790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＋文（主語＋動詞）</a:t>
            </a:r>
          </a:p>
        </p:txBody>
      </p:sp>
      <p:sp>
        <p:nvSpPr>
          <p:cNvPr id="17" name="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"/>
          <p:cNvSpPr/>
          <p:nvPr/>
        </p:nvSpPr>
        <p:spPr>
          <a:xfrm>
            <a:off x="1143000" y="22098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685800" y="242887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9525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001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466850" y="2857500"/>
            <a:ext cx="36099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bet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it's going to rain.</a:t>
            </a:r>
          </a:p>
        </p:txBody>
      </p:sp>
      <p:sp>
        <p:nvSpPr>
          <p:cNvPr id="23" name=""/>
          <p:cNvSpPr txBox="1"/>
          <p:nvPr/>
        </p:nvSpPr>
        <p:spPr>
          <a:xfrm>
            <a:off x="7524750" y="2895600"/>
            <a:ext cx="20383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絶対に雨が降るで</a:t>
            </a:r>
          </a:p>
        </p:txBody>
      </p:sp>
      <p:sp>
        <p:nvSpPr>
          <p:cNvPr id="24" name=""/>
          <p:cNvSpPr/>
          <p:nvPr/>
        </p:nvSpPr>
        <p:spPr>
          <a:xfrm>
            <a:off x="685800" y="381952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525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"/>
          <p:cNvSpPr txBox="1"/>
          <p:nvPr/>
        </p:nvSpPr>
        <p:spPr>
          <a:xfrm>
            <a:off x="10001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1466850" y="4248150"/>
            <a:ext cx="43910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bet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you'll love this movie.</a:t>
            </a:r>
          </a:p>
        </p:txBody>
      </p:sp>
      <p:sp>
        <p:nvSpPr>
          <p:cNvPr id="28" name=""/>
          <p:cNvSpPr txBox="1"/>
          <p:nvPr/>
        </p:nvSpPr>
        <p:spPr>
          <a:xfrm>
            <a:off x="7524750" y="428625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この映画絶対気に入るよ</a:t>
            </a:r>
          </a:p>
        </p:txBody>
      </p:sp>
      <p:sp>
        <p:nvSpPr>
          <p:cNvPr id="29" name=""/>
          <p:cNvSpPr/>
          <p:nvPr/>
        </p:nvSpPr>
        <p:spPr>
          <a:xfrm>
            <a:off x="685800" y="5219700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/>
          <p:nvPr/>
        </p:nvSpPr>
        <p:spPr>
          <a:xfrm>
            <a:off x="9525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001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2" name=""/>
          <p:cNvSpPr txBox="1"/>
          <p:nvPr/>
        </p:nvSpPr>
        <p:spPr>
          <a:xfrm>
            <a:off x="1466850" y="5648325"/>
            <a:ext cx="26670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bet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he slept in.</a:t>
            </a:r>
          </a:p>
        </p:txBody>
      </p:sp>
      <p:sp>
        <p:nvSpPr>
          <p:cNvPr id="33" name=""/>
          <p:cNvSpPr txBox="1"/>
          <p:nvPr/>
        </p:nvSpPr>
        <p:spPr>
          <a:xfrm>
            <a:off x="7524750" y="5686425"/>
            <a:ext cx="25241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絶対あいつ寝坊したわ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"/>
          <p:cNvSpPr/>
          <p:nvPr/>
        </p:nvSpPr>
        <p:spPr>
          <a:xfrm>
            <a:off x="10763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"/>
          <p:cNvSpPr/>
          <p:nvPr/>
        </p:nvSpPr>
        <p:spPr>
          <a:xfrm>
            <a:off x="10915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"/>
          <p:cNvSpPr/>
          <p:nvPr/>
        </p:nvSpPr>
        <p:spPr>
          <a:xfrm>
            <a:off x="11068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"/>
          <p:cNvSpPr/>
          <p:nvPr/>
        </p:nvSpPr>
        <p:spPr>
          <a:xfrm>
            <a:off x="112204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09</a:t>
            </a:r>
          </a:p>
        </p:txBody>
      </p:sp>
      <p:sp>
        <p:nvSpPr>
          <p:cNvPr id="13" name=""/>
          <p:cNvSpPr txBox="1"/>
          <p:nvPr/>
        </p:nvSpPr>
        <p:spPr>
          <a:xfrm>
            <a:off x="2228850" y="742950"/>
            <a:ext cx="411480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I'm trying to </a:t>
            </a:r>
            <a:pPr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"/>
          <p:cNvSpPr txBox="1"/>
          <p:nvPr/>
        </p:nvSpPr>
        <p:spPr>
          <a:xfrm>
            <a:off x="2228850" y="1485900"/>
            <a:ext cx="3181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〇〇しようとしている</a:t>
            </a:r>
          </a:p>
        </p:txBody>
      </p:sp>
      <p:sp>
        <p:nvSpPr>
          <p:cNvPr id="15" name=""/>
          <p:cNvSpPr/>
          <p:nvPr/>
        </p:nvSpPr>
        <p:spPr>
          <a:xfrm>
            <a:off x="50482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"/>
          <p:cNvSpPr txBox="1"/>
          <p:nvPr/>
        </p:nvSpPr>
        <p:spPr>
          <a:xfrm>
            <a:off x="51816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"/>
          <p:cNvSpPr/>
          <p:nvPr/>
        </p:nvSpPr>
        <p:spPr>
          <a:xfrm>
            <a:off x="1143000" y="22098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685800" y="242887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/>
          <p:nvPr/>
        </p:nvSpPr>
        <p:spPr>
          <a:xfrm>
            <a:off x="9525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0001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466850" y="2857500"/>
            <a:ext cx="4333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trying to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learn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English.</a:t>
            </a:r>
          </a:p>
        </p:txBody>
      </p:sp>
      <p:sp>
        <p:nvSpPr>
          <p:cNvPr id="23" name=""/>
          <p:cNvSpPr txBox="1"/>
          <p:nvPr/>
        </p:nvSpPr>
        <p:spPr>
          <a:xfrm>
            <a:off x="7524750" y="289560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英語を学ぼうとしている</a:t>
            </a:r>
          </a:p>
        </p:txBody>
      </p:sp>
      <p:sp>
        <p:nvSpPr>
          <p:cNvPr id="24" name=""/>
          <p:cNvSpPr/>
          <p:nvPr/>
        </p:nvSpPr>
        <p:spPr>
          <a:xfrm>
            <a:off x="685800" y="381952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525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"/>
          <p:cNvSpPr txBox="1"/>
          <p:nvPr/>
        </p:nvSpPr>
        <p:spPr>
          <a:xfrm>
            <a:off x="10001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1466850" y="4248150"/>
            <a:ext cx="4133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trying to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save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money.</a:t>
            </a:r>
          </a:p>
        </p:txBody>
      </p:sp>
      <p:sp>
        <p:nvSpPr>
          <p:cNvPr id="28" name=""/>
          <p:cNvSpPr txBox="1"/>
          <p:nvPr/>
        </p:nvSpPr>
        <p:spPr>
          <a:xfrm>
            <a:off x="7524750" y="4124325"/>
            <a:ext cx="25241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節約しようとしている</a:t>
            </a:r>
          </a:p>
        </p:txBody>
      </p:sp>
      <p:sp>
        <p:nvSpPr>
          <p:cNvPr id="29" name=""/>
          <p:cNvSpPr/>
          <p:nvPr/>
        </p:nvSpPr>
        <p:spPr>
          <a:xfrm>
            <a:off x="7524750" y="4495800"/>
            <a:ext cx="1295400" cy="276225"/>
          </a:xfrm>
          <a:prstGeom prst="roundRect">
            <a:avLst>
              <a:gd name="adj" fmla="val 27586"/>
            </a:avLst>
          </a:prstGeom>
          <a:solidFill>
            <a:srgbClr val="FBF6EE"/>
          </a:solidFill>
          <a:ln w="9525">
            <a:solidFill>
              <a:srgbClr val="EBE1D2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7629525" y="4524375"/>
            <a:ext cx="1362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4A5568"/>
                </a:solidFill>
                <a:latin typeface="Zen Maru Gothic"/>
                <a:ea typeface="Zen Maru Gothic"/>
              </a:rPr>
              <a:t>save ＝ 節約する</a:t>
            </a:r>
          </a:p>
        </p:txBody>
      </p:sp>
      <p:sp>
        <p:nvSpPr>
          <p:cNvPr id="31" name=""/>
          <p:cNvSpPr/>
          <p:nvPr/>
        </p:nvSpPr>
        <p:spPr>
          <a:xfrm>
            <a:off x="685800" y="5219700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2" name=""/>
          <p:cNvSpPr/>
          <p:nvPr/>
        </p:nvSpPr>
        <p:spPr>
          <a:xfrm>
            <a:off x="9525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0001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4" name=""/>
          <p:cNvSpPr txBox="1"/>
          <p:nvPr/>
        </p:nvSpPr>
        <p:spPr>
          <a:xfrm>
            <a:off x="1466850" y="5648325"/>
            <a:ext cx="41719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trying to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figure</a:t>
            </a:r>
            <a:pPr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it out.</a:t>
            </a:r>
          </a:p>
        </p:txBody>
      </p:sp>
      <p:sp>
        <p:nvSpPr>
          <p:cNvPr id="35" name=""/>
          <p:cNvSpPr txBox="1"/>
          <p:nvPr/>
        </p:nvSpPr>
        <p:spPr>
          <a:xfrm>
            <a:off x="7524750" y="5686425"/>
            <a:ext cx="3248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今頑張って解決してるところ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"/>
          <p:cNvSpPr txBox="1"/>
          <p:nvPr/>
        </p:nvSpPr>
        <p:spPr>
          <a:xfrm>
            <a:off x="10896600" y="419100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おさらい</a:t>
            </a:r>
          </a:p>
        </p:txBody>
      </p:sp>
      <p:sp>
        <p:nvSpPr>
          <p:cNvPr id="4" name=""/>
          <p:cNvSpPr txBox="1"/>
          <p:nvPr/>
        </p:nvSpPr>
        <p:spPr>
          <a:xfrm>
            <a:off x="685800" y="790575"/>
            <a:ext cx="44005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2304A"/>
                </a:solidFill>
                <a:latin typeface="Zen Maru Gothic"/>
                <a:ea typeface="Zen Maru Gothic"/>
              </a:rPr>
              <a:t>9フレーズ まとめ一覧</a:t>
            </a:r>
          </a:p>
        </p:txBody>
      </p:sp>
      <p:sp>
        <p:nvSpPr>
          <p:cNvPr id="5" name=""/>
          <p:cNvSpPr txBox="1"/>
          <p:nvPr/>
        </p:nvSpPr>
        <p:spPr>
          <a:xfrm>
            <a:off x="4581525" y="102870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8F9C"/>
                </a:solidFill>
                <a:latin typeface="Zen Maru Gothic"/>
                <a:ea typeface="Zen Maru Gothic"/>
              </a:rPr>
              <a:t>スクショして見返してね！</a:t>
            </a:r>
          </a:p>
        </p:txBody>
      </p:sp>
      <p:sp>
        <p:nvSpPr>
          <p:cNvPr id="6" name=""/>
          <p:cNvSpPr/>
          <p:nvPr/>
        </p:nvSpPr>
        <p:spPr>
          <a:xfrm>
            <a:off x="685800" y="153352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895350" y="171450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01</a:t>
            </a:r>
          </a:p>
        </p:txBody>
      </p:sp>
      <p:sp>
        <p:nvSpPr>
          <p:cNvPr id="8" name=""/>
          <p:cNvSpPr txBox="1"/>
          <p:nvPr/>
        </p:nvSpPr>
        <p:spPr>
          <a:xfrm>
            <a:off x="1257300" y="1685925"/>
            <a:ext cx="1971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feel like ~ing</a:t>
            </a:r>
          </a:p>
        </p:txBody>
      </p:sp>
      <p:sp>
        <p:nvSpPr>
          <p:cNvPr id="9" name=""/>
          <p:cNvSpPr txBox="1"/>
          <p:nvPr/>
        </p:nvSpPr>
        <p:spPr>
          <a:xfrm>
            <a:off x="895350" y="2057400"/>
            <a:ext cx="1104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〇〇な気分</a:t>
            </a:r>
          </a:p>
        </p:txBody>
      </p:sp>
      <p:sp>
        <p:nvSpPr>
          <p:cNvPr id="10" name=""/>
          <p:cNvSpPr/>
          <p:nvPr/>
        </p:nvSpPr>
        <p:spPr>
          <a:xfrm>
            <a:off x="895350" y="2419350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895350" y="2505075"/>
            <a:ext cx="25431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feel like eating pizza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895350" y="2733675"/>
            <a:ext cx="2105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今日ピザを食べたい気分やわ</a:t>
            </a:r>
          </a:p>
        </p:txBody>
      </p:sp>
      <p:sp>
        <p:nvSpPr>
          <p:cNvPr id="13" name=""/>
          <p:cNvSpPr/>
          <p:nvPr/>
        </p:nvSpPr>
        <p:spPr>
          <a:xfrm>
            <a:off x="4343400" y="153352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4552950" y="171450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02</a:t>
            </a:r>
          </a:p>
        </p:txBody>
      </p:sp>
      <p:sp>
        <p:nvSpPr>
          <p:cNvPr id="15" name=""/>
          <p:cNvSpPr txBox="1"/>
          <p:nvPr/>
        </p:nvSpPr>
        <p:spPr>
          <a:xfrm>
            <a:off x="4914900" y="1685925"/>
            <a:ext cx="14668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used to ~</a:t>
            </a:r>
          </a:p>
        </p:txBody>
      </p:sp>
      <p:sp>
        <p:nvSpPr>
          <p:cNvPr id="16" name=""/>
          <p:cNvSpPr txBox="1"/>
          <p:nvPr/>
        </p:nvSpPr>
        <p:spPr>
          <a:xfrm>
            <a:off x="4552950" y="2057400"/>
            <a:ext cx="1495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昔は〇〇してた</a:t>
            </a:r>
          </a:p>
        </p:txBody>
      </p:sp>
      <p:sp>
        <p:nvSpPr>
          <p:cNvPr id="17" name=""/>
          <p:cNvSpPr/>
          <p:nvPr/>
        </p:nvSpPr>
        <p:spPr>
          <a:xfrm>
            <a:off x="4552950" y="2419350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18" name=""/>
          <p:cNvSpPr txBox="1"/>
          <p:nvPr/>
        </p:nvSpPr>
        <p:spPr>
          <a:xfrm>
            <a:off x="4552950" y="2505075"/>
            <a:ext cx="22764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used to play basketball.</a:t>
            </a:r>
          </a:p>
        </p:txBody>
      </p:sp>
      <p:sp>
        <p:nvSpPr>
          <p:cNvPr id="19" name=""/>
          <p:cNvSpPr txBox="1"/>
          <p:nvPr/>
        </p:nvSpPr>
        <p:spPr>
          <a:xfrm>
            <a:off x="4552950" y="2733675"/>
            <a:ext cx="1495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バスケ昔やっていた</a:t>
            </a:r>
          </a:p>
        </p:txBody>
      </p:sp>
      <p:sp>
        <p:nvSpPr>
          <p:cNvPr id="20" name=""/>
          <p:cNvSpPr/>
          <p:nvPr/>
        </p:nvSpPr>
        <p:spPr>
          <a:xfrm>
            <a:off x="8001000" y="153352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8210550" y="171450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03</a:t>
            </a:r>
          </a:p>
        </p:txBody>
      </p:sp>
      <p:sp>
        <p:nvSpPr>
          <p:cNvPr id="22" name=""/>
          <p:cNvSpPr txBox="1"/>
          <p:nvPr/>
        </p:nvSpPr>
        <p:spPr>
          <a:xfrm>
            <a:off x="8572500" y="1685925"/>
            <a:ext cx="206692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should have ~</a:t>
            </a:r>
          </a:p>
        </p:txBody>
      </p:sp>
      <p:sp>
        <p:nvSpPr>
          <p:cNvPr id="23" name=""/>
          <p:cNvSpPr txBox="1"/>
          <p:nvPr/>
        </p:nvSpPr>
        <p:spPr>
          <a:xfrm>
            <a:off x="8210550" y="2057400"/>
            <a:ext cx="2085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〇〇しとけばよかった</a:t>
            </a:r>
          </a:p>
        </p:txBody>
      </p:sp>
      <p:sp>
        <p:nvSpPr>
          <p:cNvPr id="24" name=""/>
          <p:cNvSpPr/>
          <p:nvPr/>
        </p:nvSpPr>
        <p:spPr>
          <a:xfrm>
            <a:off x="8210550" y="2419350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25" name=""/>
          <p:cNvSpPr txBox="1"/>
          <p:nvPr/>
        </p:nvSpPr>
        <p:spPr>
          <a:xfrm>
            <a:off x="8210550" y="2505075"/>
            <a:ext cx="22574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should have left earlier.</a:t>
            </a:r>
          </a:p>
        </p:txBody>
      </p:sp>
      <p:sp>
        <p:nvSpPr>
          <p:cNvPr id="26" name=""/>
          <p:cNvSpPr txBox="1"/>
          <p:nvPr/>
        </p:nvSpPr>
        <p:spPr>
          <a:xfrm>
            <a:off x="8210550" y="2733675"/>
            <a:ext cx="2257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もっとはやく出とけばよかった</a:t>
            </a:r>
          </a:p>
        </p:txBody>
      </p:sp>
      <p:sp>
        <p:nvSpPr>
          <p:cNvPr id="27" name=""/>
          <p:cNvSpPr/>
          <p:nvPr/>
        </p:nvSpPr>
        <p:spPr>
          <a:xfrm>
            <a:off x="685800" y="322897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 txBox="1"/>
          <p:nvPr/>
        </p:nvSpPr>
        <p:spPr>
          <a:xfrm>
            <a:off x="895350" y="340995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04</a:t>
            </a:r>
          </a:p>
        </p:txBody>
      </p:sp>
      <p:sp>
        <p:nvSpPr>
          <p:cNvPr id="29" name=""/>
          <p:cNvSpPr txBox="1"/>
          <p:nvPr/>
        </p:nvSpPr>
        <p:spPr>
          <a:xfrm>
            <a:off x="1257300" y="3381375"/>
            <a:ext cx="233362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Do you wanna ~?</a:t>
            </a:r>
          </a:p>
        </p:txBody>
      </p:sp>
      <p:sp>
        <p:nvSpPr>
          <p:cNvPr id="30" name=""/>
          <p:cNvSpPr txBox="1"/>
          <p:nvPr/>
        </p:nvSpPr>
        <p:spPr>
          <a:xfrm>
            <a:off x="895350" y="3752850"/>
            <a:ext cx="1295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〇〇したい？</a:t>
            </a:r>
          </a:p>
        </p:txBody>
      </p:sp>
      <p:sp>
        <p:nvSpPr>
          <p:cNvPr id="31" name=""/>
          <p:cNvSpPr/>
          <p:nvPr/>
        </p:nvSpPr>
        <p:spPr>
          <a:xfrm>
            <a:off x="895350" y="412432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32" name=""/>
          <p:cNvSpPr txBox="1"/>
          <p:nvPr/>
        </p:nvSpPr>
        <p:spPr>
          <a:xfrm>
            <a:off x="895350" y="4210050"/>
            <a:ext cx="2686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Do you wanna eat out today?</a:t>
            </a:r>
          </a:p>
        </p:txBody>
      </p:sp>
      <p:sp>
        <p:nvSpPr>
          <p:cNvPr id="33" name=""/>
          <p:cNvSpPr txBox="1"/>
          <p:nvPr/>
        </p:nvSpPr>
        <p:spPr>
          <a:xfrm>
            <a:off x="895350" y="4438650"/>
            <a:ext cx="1495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今日外食せえへん？</a:t>
            </a:r>
          </a:p>
        </p:txBody>
      </p:sp>
      <p:sp>
        <p:nvSpPr>
          <p:cNvPr id="34" name=""/>
          <p:cNvSpPr/>
          <p:nvPr/>
        </p:nvSpPr>
        <p:spPr>
          <a:xfrm>
            <a:off x="4343400" y="322897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 txBox="1"/>
          <p:nvPr/>
        </p:nvSpPr>
        <p:spPr>
          <a:xfrm>
            <a:off x="4552950" y="340995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05</a:t>
            </a:r>
          </a:p>
        </p:txBody>
      </p:sp>
      <p:sp>
        <p:nvSpPr>
          <p:cNvPr id="36" name=""/>
          <p:cNvSpPr txBox="1"/>
          <p:nvPr/>
        </p:nvSpPr>
        <p:spPr>
          <a:xfrm>
            <a:off x="4914900" y="3381375"/>
            <a:ext cx="22669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I'm looking for ~</a:t>
            </a:r>
          </a:p>
        </p:txBody>
      </p:sp>
      <p:sp>
        <p:nvSpPr>
          <p:cNvPr id="37" name=""/>
          <p:cNvSpPr txBox="1"/>
          <p:nvPr/>
        </p:nvSpPr>
        <p:spPr>
          <a:xfrm>
            <a:off x="4552950" y="3752850"/>
            <a:ext cx="1695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〇〇を探してます</a:t>
            </a:r>
          </a:p>
        </p:txBody>
      </p:sp>
      <p:sp>
        <p:nvSpPr>
          <p:cNvPr id="38" name=""/>
          <p:cNvSpPr/>
          <p:nvPr/>
        </p:nvSpPr>
        <p:spPr>
          <a:xfrm>
            <a:off x="4552950" y="412432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39" name=""/>
          <p:cNvSpPr txBox="1"/>
          <p:nvPr/>
        </p:nvSpPr>
        <p:spPr>
          <a:xfrm>
            <a:off x="4552950" y="4210050"/>
            <a:ext cx="24193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I'm looking for the station.</a:t>
            </a:r>
          </a:p>
        </p:txBody>
      </p:sp>
      <p:sp>
        <p:nvSpPr>
          <p:cNvPr id="40" name=""/>
          <p:cNvSpPr txBox="1"/>
          <p:nvPr/>
        </p:nvSpPr>
        <p:spPr>
          <a:xfrm>
            <a:off x="4552950" y="4438650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駅を探してるんですけど</a:t>
            </a:r>
          </a:p>
        </p:txBody>
      </p:sp>
      <p:sp>
        <p:nvSpPr>
          <p:cNvPr id="41" name=""/>
          <p:cNvSpPr/>
          <p:nvPr/>
        </p:nvSpPr>
        <p:spPr>
          <a:xfrm>
            <a:off x="8001000" y="322897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2" name=""/>
          <p:cNvSpPr txBox="1"/>
          <p:nvPr/>
        </p:nvSpPr>
        <p:spPr>
          <a:xfrm>
            <a:off x="8210550" y="340995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06</a:t>
            </a:r>
          </a:p>
        </p:txBody>
      </p:sp>
      <p:sp>
        <p:nvSpPr>
          <p:cNvPr id="43" name=""/>
          <p:cNvSpPr txBox="1"/>
          <p:nvPr/>
        </p:nvSpPr>
        <p:spPr>
          <a:xfrm>
            <a:off x="8572500" y="3381375"/>
            <a:ext cx="12763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might ~</a:t>
            </a:r>
          </a:p>
        </p:txBody>
      </p:sp>
      <p:sp>
        <p:nvSpPr>
          <p:cNvPr id="44" name=""/>
          <p:cNvSpPr txBox="1"/>
          <p:nvPr/>
        </p:nvSpPr>
        <p:spPr>
          <a:xfrm>
            <a:off x="8210550" y="3752850"/>
            <a:ext cx="2085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〇〇するかもしれない</a:t>
            </a:r>
          </a:p>
        </p:txBody>
      </p:sp>
      <p:sp>
        <p:nvSpPr>
          <p:cNvPr id="45" name=""/>
          <p:cNvSpPr/>
          <p:nvPr/>
        </p:nvSpPr>
        <p:spPr>
          <a:xfrm>
            <a:off x="8210550" y="412432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6" name=""/>
          <p:cNvSpPr txBox="1"/>
          <p:nvPr/>
        </p:nvSpPr>
        <p:spPr>
          <a:xfrm>
            <a:off x="8210550" y="4210050"/>
            <a:ext cx="14192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might be late.</a:t>
            </a:r>
          </a:p>
        </p:txBody>
      </p:sp>
      <p:sp>
        <p:nvSpPr>
          <p:cNvPr id="47" name=""/>
          <p:cNvSpPr txBox="1"/>
          <p:nvPr/>
        </p:nvSpPr>
        <p:spPr>
          <a:xfrm>
            <a:off x="8210550" y="4438650"/>
            <a:ext cx="1495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ちょっと遅れるかも</a:t>
            </a:r>
          </a:p>
        </p:txBody>
      </p:sp>
      <p:sp>
        <p:nvSpPr>
          <p:cNvPr id="48" name=""/>
          <p:cNvSpPr/>
          <p:nvPr/>
        </p:nvSpPr>
        <p:spPr>
          <a:xfrm>
            <a:off x="685800" y="4933950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9" name=""/>
          <p:cNvSpPr txBox="1"/>
          <p:nvPr/>
        </p:nvSpPr>
        <p:spPr>
          <a:xfrm>
            <a:off x="895350" y="5114925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07</a:t>
            </a:r>
          </a:p>
        </p:txBody>
      </p:sp>
      <p:sp>
        <p:nvSpPr>
          <p:cNvPr id="50" name=""/>
          <p:cNvSpPr txBox="1"/>
          <p:nvPr/>
        </p:nvSpPr>
        <p:spPr>
          <a:xfrm>
            <a:off x="1257300" y="5086350"/>
            <a:ext cx="25431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Do you mind if I ~?</a:t>
            </a:r>
          </a:p>
        </p:txBody>
      </p:sp>
      <p:sp>
        <p:nvSpPr>
          <p:cNvPr id="51" name=""/>
          <p:cNvSpPr txBox="1"/>
          <p:nvPr/>
        </p:nvSpPr>
        <p:spPr>
          <a:xfrm>
            <a:off x="895350" y="5457825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〇〇してもいいですか？</a:t>
            </a:r>
          </a:p>
        </p:txBody>
      </p:sp>
      <p:sp>
        <p:nvSpPr>
          <p:cNvPr id="52" name=""/>
          <p:cNvSpPr/>
          <p:nvPr/>
        </p:nvSpPr>
        <p:spPr>
          <a:xfrm>
            <a:off x="895350" y="581977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53" name=""/>
          <p:cNvSpPr txBox="1"/>
          <p:nvPr/>
        </p:nvSpPr>
        <p:spPr>
          <a:xfrm>
            <a:off x="895350" y="5905500"/>
            <a:ext cx="22860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Do you mind if I sit here?</a:t>
            </a:r>
          </a:p>
        </p:txBody>
      </p:sp>
      <p:sp>
        <p:nvSpPr>
          <p:cNvPr id="54" name=""/>
          <p:cNvSpPr txBox="1"/>
          <p:nvPr/>
        </p:nvSpPr>
        <p:spPr>
          <a:xfrm>
            <a:off x="895350" y="6134100"/>
            <a:ext cx="2105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ここに座ってもいいですか？</a:t>
            </a:r>
          </a:p>
        </p:txBody>
      </p:sp>
      <p:sp>
        <p:nvSpPr>
          <p:cNvPr id="55" name=""/>
          <p:cNvSpPr/>
          <p:nvPr/>
        </p:nvSpPr>
        <p:spPr>
          <a:xfrm>
            <a:off x="4343400" y="4933950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56" name=""/>
          <p:cNvSpPr txBox="1"/>
          <p:nvPr/>
        </p:nvSpPr>
        <p:spPr>
          <a:xfrm>
            <a:off x="4552950" y="5114925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08</a:t>
            </a:r>
          </a:p>
        </p:txBody>
      </p:sp>
      <p:sp>
        <p:nvSpPr>
          <p:cNvPr id="57" name=""/>
          <p:cNvSpPr txBox="1"/>
          <p:nvPr/>
        </p:nvSpPr>
        <p:spPr>
          <a:xfrm>
            <a:off x="4914900" y="5086350"/>
            <a:ext cx="9429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bet ~</a:t>
            </a:r>
          </a:p>
        </p:txBody>
      </p:sp>
      <p:sp>
        <p:nvSpPr>
          <p:cNvPr id="58" name=""/>
          <p:cNvSpPr txBox="1"/>
          <p:nvPr/>
        </p:nvSpPr>
        <p:spPr>
          <a:xfrm>
            <a:off x="4552950" y="5457825"/>
            <a:ext cx="1295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絶対〇〇やで</a:t>
            </a:r>
          </a:p>
        </p:txBody>
      </p:sp>
      <p:sp>
        <p:nvSpPr>
          <p:cNvPr id="59" name=""/>
          <p:cNvSpPr/>
          <p:nvPr/>
        </p:nvSpPr>
        <p:spPr>
          <a:xfrm>
            <a:off x="4552950" y="581977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60" name=""/>
          <p:cNvSpPr txBox="1"/>
          <p:nvPr/>
        </p:nvSpPr>
        <p:spPr>
          <a:xfrm>
            <a:off x="4552950" y="5905500"/>
            <a:ext cx="24384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bet you'll love this movie.</a:t>
            </a:r>
          </a:p>
        </p:txBody>
      </p:sp>
      <p:sp>
        <p:nvSpPr>
          <p:cNvPr id="61" name=""/>
          <p:cNvSpPr txBox="1"/>
          <p:nvPr/>
        </p:nvSpPr>
        <p:spPr>
          <a:xfrm>
            <a:off x="4552950" y="6134100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この映画絶対気に入るよ</a:t>
            </a:r>
          </a:p>
        </p:txBody>
      </p:sp>
      <p:sp>
        <p:nvSpPr>
          <p:cNvPr id="62" name=""/>
          <p:cNvSpPr/>
          <p:nvPr/>
        </p:nvSpPr>
        <p:spPr>
          <a:xfrm>
            <a:off x="8001000" y="4933950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3" name=""/>
          <p:cNvSpPr txBox="1"/>
          <p:nvPr/>
        </p:nvSpPr>
        <p:spPr>
          <a:xfrm>
            <a:off x="8210550" y="5114925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09</a:t>
            </a:r>
          </a:p>
        </p:txBody>
      </p:sp>
      <p:sp>
        <p:nvSpPr>
          <p:cNvPr id="64" name=""/>
          <p:cNvSpPr txBox="1"/>
          <p:nvPr/>
        </p:nvSpPr>
        <p:spPr>
          <a:xfrm>
            <a:off x="8572500" y="5086350"/>
            <a:ext cx="19812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I'm trying to ~</a:t>
            </a:r>
          </a:p>
        </p:txBody>
      </p:sp>
      <p:sp>
        <p:nvSpPr>
          <p:cNvPr id="65" name=""/>
          <p:cNvSpPr txBox="1"/>
          <p:nvPr/>
        </p:nvSpPr>
        <p:spPr>
          <a:xfrm>
            <a:off x="8210550" y="5457825"/>
            <a:ext cx="2085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〇〇しようとしている</a:t>
            </a:r>
          </a:p>
        </p:txBody>
      </p:sp>
      <p:sp>
        <p:nvSpPr>
          <p:cNvPr id="66" name=""/>
          <p:cNvSpPr/>
          <p:nvPr/>
        </p:nvSpPr>
        <p:spPr>
          <a:xfrm>
            <a:off x="8210550" y="581977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67" name=""/>
          <p:cNvSpPr txBox="1"/>
          <p:nvPr/>
        </p:nvSpPr>
        <p:spPr>
          <a:xfrm>
            <a:off x="8210550" y="5905500"/>
            <a:ext cx="2305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I'm trying to save money.</a:t>
            </a:r>
          </a:p>
        </p:txBody>
      </p:sp>
      <p:sp>
        <p:nvSpPr>
          <p:cNvPr id="68" name=""/>
          <p:cNvSpPr txBox="1"/>
          <p:nvPr/>
        </p:nvSpPr>
        <p:spPr>
          <a:xfrm>
            <a:off x="8210550" y="6134100"/>
            <a:ext cx="16478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節約しようとしている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