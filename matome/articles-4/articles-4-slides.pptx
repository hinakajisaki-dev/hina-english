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60" Type="http://schemas.openxmlformats.org/officeDocument/2006/relationships/presProps" Target="presProps.xml"/><Relationship Id="rId6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</p:spPr>
      </p:sp>
      <p:sp>
        <p:nvSpPr>
          <p:cNvPr id="3" name=""/>
          <p:cNvSpPr txBox="1"/>
          <p:nvPr/>
        </p:nvSpPr>
        <p:spPr>
          <a:xfrm>
            <a:off x="1181100" y="2047875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162175"/>
            <a:ext cx="824865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</a:t>
            </a:r>
            <a:pPr/>
            <a:r>
              <a:rPr sz="6900" b="1">
                <a:solidFill>
                  <a:srgbClr val="E8461E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371975"/>
            <a:ext cx="67056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Noto Sans JP"/>
                <a:ea typeface="Noto Sans JP"/>
              </a:rPr>
              <a:t>全25問 一緒に声に出して練習しよう！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17907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やり方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5534025" cy="148590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52500" y="2247900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952500" y="2324100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8" name=""/>
          <p:cNvSpPr txBox="1"/>
          <p:nvPr/>
        </p:nvSpPr>
        <p:spPr>
          <a:xfrm>
            <a:off x="1562100" y="2295525"/>
            <a:ext cx="51149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問題を見て、（ ）に入るものを考える</a:t>
            </a:r>
          </a:p>
        </p:txBody>
      </p:sp>
      <p:sp>
        <p:nvSpPr>
          <p:cNvPr id="9" name=""/>
          <p:cNvSpPr/>
          <p:nvPr/>
        </p:nvSpPr>
        <p:spPr>
          <a:xfrm>
            <a:off x="685800" y="3343275"/>
            <a:ext cx="5534025" cy="148590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</p:spPr>
      </p:sp>
      <p:sp>
        <p:nvSpPr>
          <p:cNvPr id="10" name=""/>
          <p:cNvSpPr/>
          <p:nvPr/>
        </p:nvSpPr>
        <p:spPr>
          <a:xfrm>
            <a:off x="952500" y="3867150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933450" y="3943350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2" name=""/>
          <p:cNvSpPr txBox="1"/>
          <p:nvPr/>
        </p:nvSpPr>
        <p:spPr>
          <a:xfrm>
            <a:off x="1562100" y="3914775"/>
            <a:ext cx="251460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声に出して答える</a:t>
            </a:r>
          </a:p>
        </p:txBody>
      </p:sp>
      <p:sp>
        <p:nvSpPr>
          <p:cNvPr id="13" name=""/>
          <p:cNvSpPr/>
          <p:nvPr/>
        </p:nvSpPr>
        <p:spPr>
          <a:xfrm>
            <a:off x="685800" y="4953000"/>
            <a:ext cx="5534025" cy="148590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52500" y="5476875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933450" y="5562600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16" name=""/>
          <p:cNvSpPr txBox="1"/>
          <p:nvPr/>
        </p:nvSpPr>
        <p:spPr>
          <a:xfrm>
            <a:off x="1562100" y="5524500"/>
            <a:ext cx="36290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次のスライドで答え合わせ</a:t>
            </a:r>
          </a:p>
        </p:txBody>
      </p:sp>
      <p:sp>
        <p:nvSpPr>
          <p:cNvPr id="17" name=""/>
          <p:cNvSpPr/>
          <p:nvPr/>
        </p:nvSpPr>
        <p:spPr>
          <a:xfrm>
            <a:off x="6467475" y="1724025"/>
            <a:ext cx="5038725" cy="4714875"/>
          </a:xfrm>
          <a:prstGeom prst="roundRect">
            <a:avLst>
              <a:gd name="adj" fmla="val 5657"/>
            </a:avLst>
          </a:prstGeom>
          <a:solidFill>
            <a:srgbClr val="FFFFF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6753225" y="3162300"/>
            <a:ext cx="37909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答えは、この4つから選ぼう</a:t>
            </a:r>
          </a:p>
        </p:txBody>
      </p:sp>
      <p:sp>
        <p:nvSpPr>
          <p:cNvPr id="19" name=""/>
          <p:cNvSpPr/>
          <p:nvPr/>
        </p:nvSpPr>
        <p:spPr>
          <a:xfrm>
            <a:off x="6753225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E8461E"/>
          </a:solidFill>
          <a:ln/>
        </p:spPr>
      </p:sp>
      <p:sp>
        <p:nvSpPr>
          <p:cNvPr id="20" name=""/>
          <p:cNvSpPr txBox="1"/>
          <p:nvPr/>
        </p:nvSpPr>
        <p:spPr>
          <a:xfrm>
            <a:off x="6972300" y="39433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1" name=""/>
          <p:cNvSpPr txBox="1"/>
          <p:nvPr/>
        </p:nvSpPr>
        <p:spPr>
          <a:xfrm>
            <a:off x="6981825" y="4762500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1つの〜</a:t>
            </a:r>
          </a:p>
        </p:txBody>
      </p:sp>
      <p:sp>
        <p:nvSpPr>
          <p:cNvPr id="22" name=""/>
          <p:cNvSpPr/>
          <p:nvPr/>
        </p:nvSpPr>
        <p:spPr>
          <a:xfrm>
            <a:off x="7905750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E8461E"/>
          </a:solidFill>
          <a:ln/>
        </p:spPr>
      </p:sp>
      <p:sp>
        <p:nvSpPr>
          <p:cNvPr id="23" name=""/>
          <p:cNvSpPr txBox="1"/>
          <p:nvPr/>
        </p:nvSpPr>
        <p:spPr>
          <a:xfrm>
            <a:off x="7981950" y="3943350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24" name=""/>
          <p:cNvSpPr txBox="1"/>
          <p:nvPr/>
        </p:nvSpPr>
        <p:spPr>
          <a:xfrm>
            <a:off x="7934325" y="4762500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母音の音の前</a:t>
            </a:r>
          </a:p>
        </p:txBody>
      </p:sp>
      <p:sp>
        <p:nvSpPr>
          <p:cNvPr id="25" name=""/>
          <p:cNvSpPr/>
          <p:nvPr/>
        </p:nvSpPr>
        <p:spPr>
          <a:xfrm>
            <a:off x="9048750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2F86CF"/>
          </a:solidFill>
          <a:ln/>
        </p:spPr>
      </p:sp>
      <p:sp>
        <p:nvSpPr>
          <p:cNvPr id="26" name=""/>
          <p:cNvSpPr txBox="1"/>
          <p:nvPr/>
        </p:nvSpPr>
        <p:spPr>
          <a:xfrm>
            <a:off x="9029700" y="3943350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7" name=""/>
          <p:cNvSpPr txBox="1"/>
          <p:nvPr/>
        </p:nvSpPr>
        <p:spPr>
          <a:xfrm>
            <a:off x="9153525" y="4762500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特定できる</a:t>
            </a:r>
          </a:p>
        </p:txBody>
      </p:sp>
      <p:sp>
        <p:nvSpPr>
          <p:cNvPr id="28" name=""/>
          <p:cNvSpPr/>
          <p:nvPr/>
        </p:nvSpPr>
        <p:spPr>
          <a:xfrm>
            <a:off x="10191750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9AA1B6"/>
          </a:solidFill>
          <a:ln/>
        </p:spPr>
      </p:sp>
      <p:sp>
        <p:nvSpPr>
          <p:cNvPr id="29" name=""/>
          <p:cNvSpPr txBox="1"/>
          <p:nvPr/>
        </p:nvSpPr>
        <p:spPr>
          <a:xfrm>
            <a:off x="10229850" y="400050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30" name=""/>
          <p:cNvSpPr txBox="1"/>
          <p:nvPr/>
        </p:nvSpPr>
        <p:spPr>
          <a:xfrm>
            <a:off x="10382250" y="4762500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5248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今日の流れ（全25問）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1514475" y="1952625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666875" y="2009775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171825"/>
            <a:ext cx="1428750" cy="14287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257300" y="5467350"/>
            <a:ext cx="199072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9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0" name=""/>
          <p:cNvSpPr txBox="1"/>
          <p:nvPr/>
        </p:nvSpPr>
        <p:spPr>
          <a:xfrm>
            <a:off x="1828800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4問</a:t>
            </a:r>
          </a:p>
        </p:txBody>
      </p:sp>
      <p:sp>
        <p:nvSpPr>
          <p:cNvPr id="11" name=""/>
          <p:cNvSpPr/>
          <p:nvPr/>
        </p:nvSpPr>
        <p:spPr>
          <a:xfrm>
            <a:off x="34385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42481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44005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pic>
        <p:nvPicPr>
          <p:cNvPr id="14" name="Image 1" descr="/home/user/hina-english/matome/img/coff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181350"/>
            <a:ext cx="1428750" cy="142875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3733800" y="5495925"/>
            <a:ext cx="2619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6" name=""/>
          <p:cNvSpPr txBox="1"/>
          <p:nvPr/>
        </p:nvSpPr>
        <p:spPr>
          <a:xfrm>
            <a:off x="4572000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4問</a:t>
            </a:r>
          </a:p>
        </p:txBody>
      </p:sp>
      <p:sp>
        <p:nvSpPr>
          <p:cNvPr id="17" name=""/>
          <p:cNvSpPr/>
          <p:nvPr/>
        </p:nvSpPr>
        <p:spPr>
          <a:xfrm>
            <a:off x="61817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69913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9" name=""/>
          <p:cNvSpPr txBox="1"/>
          <p:nvPr/>
        </p:nvSpPr>
        <p:spPr>
          <a:xfrm>
            <a:off x="71437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pic>
        <p:nvPicPr>
          <p:cNvPr id="20" name="Image 2" descr="/home/user/hina-english/matome/img/d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181350"/>
            <a:ext cx="1428750" cy="14287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7096125" y="5495925"/>
            <a:ext cx="1200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22" name=""/>
          <p:cNvSpPr txBox="1"/>
          <p:nvPr/>
        </p:nvSpPr>
        <p:spPr>
          <a:xfrm>
            <a:off x="7324725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4問</a:t>
            </a:r>
          </a:p>
        </p:txBody>
      </p:sp>
      <p:sp>
        <p:nvSpPr>
          <p:cNvPr id="23" name=""/>
          <p:cNvSpPr/>
          <p:nvPr/>
        </p:nvSpPr>
        <p:spPr>
          <a:xfrm>
            <a:off x="893445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9734550" y="1952625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9886950" y="2009775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pic>
        <p:nvPicPr>
          <p:cNvPr id="26" name="Image 3" descr="/home/user/hina-english/matome/img/nur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181350"/>
            <a:ext cx="1428750" cy="142875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9601200" y="5495925"/>
            <a:ext cx="1771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28" name=""/>
          <p:cNvSpPr txBox="1"/>
          <p:nvPr/>
        </p:nvSpPr>
        <p:spPr>
          <a:xfrm>
            <a:off x="10020300" y="5915025"/>
            <a:ext cx="8001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13問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4267200" cy="8667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4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733675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動画1のおさらい ・ 4問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76600"/>
            <a:ext cx="17621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352800"/>
            <a:ext cx="19335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初登場は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11" name=""/>
          <p:cNvSpPr/>
          <p:nvPr/>
        </p:nvSpPr>
        <p:spPr>
          <a:xfrm>
            <a:off x="3000375" y="3276600"/>
            <a:ext cx="18764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190875" y="3352800"/>
            <a:ext cx="20669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2回目以降は 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3" name=""/>
          <p:cNvSpPr/>
          <p:nvPr/>
        </p:nvSpPr>
        <p:spPr>
          <a:xfrm>
            <a:off x="4972050" y="3276600"/>
            <a:ext cx="26765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5162550" y="3352800"/>
            <a:ext cx="29813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は「音」で決まる</a:t>
            </a:r>
          </a:p>
        </p:txBody>
      </p:sp>
      <p:sp>
        <p:nvSpPr>
          <p:cNvPr id="15" name=""/>
          <p:cNvSpPr/>
          <p:nvPr/>
        </p:nvSpPr>
        <p:spPr>
          <a:xfrm>
            <a:off x="7743825" y="3276600"/>
            <a:ext cx="32099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7934325" y="3352800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＝ どれのことか特定できる</a:t>
            </a:r>
          </a:p>
        </p:txBody>
      </p:sp>
      <p:pic>
        <p:nvPicPr>
          <p:cNvPr id="17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8" name="Image 1" descr="/home/user/hina-english/matome/img/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9" name="Image 2" descr="/home/user/hina-english/matome/img/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0" name="Image 3" descr="/home/user/hina-english/matome/img/su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3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9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1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3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257800" y="22669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3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3209925" y="3086100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6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7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990600" y="48577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49149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4867275"/>
            <a:ext cx="1343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 / The</a:t>
            </a:r>
          </a:p>
        </p:txBody>
      </p:sp>
      <p:sp>
        <p:nvSpPr>
          <p:cNvPr id="21" name=""/>
          <p:cNvSpPr/>
          <p:nvPr/>
        </p:nvSpPr>
        <p:spPr>
          <a:xfrm>
            <a:off x="990600" y="53244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1162050" y="53816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1つめ</a:t>
            </a:r>
          </a:p>
        </p:txBody>
      </p:sp>
      <p:sp>
        <p:nvSpPr>
          <p:cNvPr id="23" name=""/>
          <p:cNvSpPr txBox="1"/>
          <p:nvPr/>
        </p:nvSpPr>
        <p:spPr>
          <a:xfrm>
            <a:off x="1914525" y="534352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4" name=""/>
          <p:cNvSpPr/>
          <p:nvPr/>
        </p:nvSpPr>
        <p:spPr>
          <a:xfrm>
            <a:off x="990600" y="57912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162050" y="58483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2つめ</a:t>
            </a:r>
          </a:p>
        </p:txBody>
      </p:sp>
      <p:sp>
        <p:nvSpPr>
          <p:cNvPr id="26" name=""/>
          <p:cNvSpPr txBox="1"/>
          <p:nvPr/>
        </p:nvSpPr>
        <p:spPr>
          <a:xfrm>
            <a:off x="1914525" y="5810250"/>
            <a:ext cx="50958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「さっきのバッグ」と分かるので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19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is</a:t>
            </a:r>
          </a:p>
        </p:txBody>
      </p:sp>
      <p:sp>
        <p:nvSpPr>
          <p:cNvPr id="10" name=""/>
          <p:cNvSpPr/>
          <p:nvPr/>
        </p:nvSpPr>
        <p:spPr>
          <a:xfrm>
            <a:off x="42481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638800" y="2667000"/>
            <a:ext cx="45624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university student.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19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is</a:t>
            </a:r>
          </a:p>
        </p:txBody>
      </p:sp>
      <p:sp>
        <p:nvSpPr>
          <p:cNvPr id="10" name=""/>
          <p:cNvSpPr/>
          <p:nvPr/>
        </p:nvSpPr>
        <p:spPr>
          <a:xfrm>
            <a:off x="42481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572000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5638800" y="2667000"/>
            <a:ext cx="45624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university student.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4293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university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は「ユ」の音（子音）で始まるので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194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waited for</a:t>
            </a:r>
          </a:p>
        </p:txBody>
      </p:sp>
      <p:sp>
        <p:nvSpPr>
          <p:cNvPr id="10" name=""/>
          <p:cNvSpPr/>
          <p:nvPr/>
        </p:nvSpPr>
        <p:spPr>
          <a:xfrm>
            <a:off x="54673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858000" y="2667000"/>
            <a:ext cx="1466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hour.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194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waited for</a:t>
            </a:r>
          </a:p>
        </p:txBody>
      </p:sp>
      <p:sp>
        <p:nvSpPr>
          <p:cNvPr id="10" name=""/>
          <p:cNvSpPr/>
          <p:nvPr/>
        </p:nvSpPr>
        <p:spPr>
          <a:xfrm>
            <a:off x="54673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48325" y="2676525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2" name=""/>
          <p:cNvSpPr txBox="1"/>
          <p:nvPr/>
        </p:nvSpPr>
        <p:spPr>
          <a:xfrm>
            <a:off x="6858000" y="2667000"/>
            <a:ext cx="1466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hour.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704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172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hour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 h を読まず「ア」の音で始まるので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3209925" y="2676525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095875"/>
            <a:ext cx="904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7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572125"/>
            <a:ext cx="68199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太陽は1つだけで、どれのことか特定できるので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57721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動画2のおさらい ・ 4問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3181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3562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液体・抽象的なものは数えない</a:t>
            </a:r>
          </a:p>
        </p:txBody>
      </p:sp>
      <p:sp>
        <p:nvSpPr>
          <p:cNvPr id="11" name=""/>
          <p:cNvSpPr/>
          <p:nvPr/>
        </p:nvSpPr>
        <p:spPr>
          <a:xfrm>
            <a:off x="4419600" y="3219450"/>
            <a:ext cx="23526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4610100" y="3295650"/>
            <a:ext cx="26098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「1杯」なら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</a:p>
        </p:txBody>
      </p:sp>
      <p:sp>
        <p:nvSpPr>
          <p:cNvPr id="13" name=""/>
          <p:cNvSpPr/>
          <p:nvPr/>
        </p:nvSpPr>
        <p:spPr>
          <a:xfrm>
            <a:off x="6867525" y="3219450"/>
            <a:ext cx="28860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7058025" y="3295650"/>
            <a:ext cx="3219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1羽のニワトリは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</a:p>
        </p:txBody>
      </p:sp>
      <p:pic>
        <p:nvPicPr>
          <p:cNvPr id="15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6" name="Image 1" descr="/home/user/hina-english/matome/img/infor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7" name="Image 2" descr="/home/user/hina-english/matome/img/chick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733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drink</a:t>
            </a:r>
          </a:p>
        </p:txBody>
      </p:sp>
      <p:sp>
        <p:nvSpPr>
          <p:cNvPr id="10" name=""/>
          <p:cNvSpPr/>
          <p:nvPr/>
        </p:nvSpPr>
        <p:spPr>
          <a:xfrm>
            <a:off x="45243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915025" y="2667000"/>
            <a:ext cx="52101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every morning.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733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drink</a:t>
            </a:r>
          </a:p>
        </p:txBody>
      </p:sp>
      <p:sp>
        <p:nvSpPr>
          <p:cNvPr id="10" name=""/>
          <p:cNvSpPr/>
          <p:nvPr/>
        </p:nvSpPr>
        <p:spPr>
          <a:xfrm>
            <a:off x="45243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48200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5915025" y="2667000"/>
            <a:ext cx="52101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every morning.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362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液体の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は数えないので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619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Can I have</a:t>
            </a:r>
          </a:p>
        </p:txBody>
      </p:sp>
      <p:sp>
        <p:nvSpPr>
          <p:cNvPr id="10" name=""/>
          <p:cNvSpPr/>
          <p:nvPr/>
        </p:nvSpPr>
        <p:spPr>
          <a:xfrm>
            <a:off x="52959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686550" y="2667000"/>
            <a:ext cx="3695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coffee, please?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133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619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Can I have</a:t>
            </a:r>
          </a:p>
        </p:txBody>
      </p:sp>
      <p:sp>
        <p:nvSpPr>
          <p:cNvPr id="10" name=""/>
          <p:cNvSpPr/>
          <p:nvPr/>
        </p:nvSpPr>
        <p:spPr>
          <a:xfrm>
            <a:off x="52959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19750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686550" y="2667000"/>
            <a:ext cx="3695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coffee, please?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133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49434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「コーヒー1杯」として数えるので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305050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81650"/>
            <a:ext cx="650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00575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7429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1羽のニワトリなので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（鶏肉の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chicken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なら数えない）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23812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動画3のおさらい ・ 4問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21812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2409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複数名詞（〜全般）</a:t>
            </a:r>
          </a:p>
        </p:txBody>
      </p:sp>
      <p:sp>
        <p:nvSpPr>
          <p:cNvPr id="11" name=""/>
          <p:cNvSpPr/>
          <p:nvPr/>
        </p:nvSpPr>
        <p:spPr>
          <a:xfrm>
            <a:off x="3419475" y="3219450"/>
            <a:ext cx="29813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609975" y="3295650"/>
            <a:ext cx="33337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数えられない名詞（〜全般）</a:t>
            </a:r>
          </a:p>
        </p:txBody>
      </p:sp>
      <p:sp>
        <p:nvSpPr>
          <p:cNvPr id="13" name=""/>
          <p:cNvSpPr/>
          <p:nvPr/>
        </p:nvSpPr>
        <p:spPr>
          <a:xfrm>
            <a:off x="6496050" y="3219450"/>
            <a:ext cx="3562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6686550" y="3295650"/>
            <a:ext cx="400050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固有名詞（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がつく名前もある）</a:t>
            </a:r>
          </a:p>
        </p:txBody>
      </p:sp>
      <p:sp>
        <p:nvSpPr>
          <p:cNvPr id="15" name=""/>
          <p:cNvSpPr/>
          <p:nvPr/>
        </p:nvSpPr>
        <p:spPr>
          <a:xfrm>
            <a:off x="10153650" y="3219450"/>
            <a:ext cx="7810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344150" y="329565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言語</a:t>
            </a:r>
          </a:p>
        </p:txBody>
      </p:sp>
      <p:pic>
        <p:nvPicPr>
          <p:cNvPr id="17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8" name="Image 1" descr="/home/user/hina-english/matome/img/furni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9" name="Image 2" descr="/home/user/hina-english/matome/img/eiff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0" name="Image 3" descr="/home/user/hina-english/matome/img/hel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562600" y="2667000"/>
            <a:ext cx="1552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2957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5562600" y="2667000"/>
            <a:ext cx="1552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4483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犬全般の話（複数名詞）なので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927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は数えられない名詞で、特定の家具の話でもないので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848350" y="2266950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0958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72125"/>
            <a:ext cx="6886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が名前の一部になっているので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67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speaks</a:t>
            </a:r>
          </a:p>
        </p:txBody>
      </p:sp>
      <p:sp>
        <p:nvSpPr>
          <p:cNvPr id="10" name=""/>
          <p:cNvSpPr/>
          <p:nvPr/>
        </p:nvSpPr>
        <p:spPr>
          <a:xfrm>
            <a:off x="5505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896100" y="2667000"/>
            <a:ext cx="2038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67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speaks</a:t>
            </a:r>
          </a:p>
        </p:txBody>
      </p:sp>
      <p:sp>
        <p:nvSpPr>
          <p:cNvPr id="10" name=""/>
          <p:cNvSpPr/>
          <p:nvPr/>
        </p:nvSpPr>
        <p:spPr>
          <a:xfrm>
            <a:off x="5505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292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896100" y="2667000"/>
            <a:ext cx="2038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3867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言語の名前なので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37433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23336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総まとめ ・ 13問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4371975" cy="447675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49339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日本語を見たら、すぐに英語で言ってみよう</a:t>
            </a:r>
          </a:p>
        </p:txBody>
      </p:sp>
      <p:sp>
        <p:nvSpPr>
          <p:cNvPr id="11" name=""/>
          <p:cNvSpPr/>
          <p:nvPr/>
        </p:nvSpPr>
        <p:spPr>
          <a:xfrm>
            <a:off x="5610225" y="3219450"/>
            <a:ext cx="2581275" cy="447675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5800725" y="3295650"/>
            <a:ext cx="2876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  <p:pic>
        <p:nvPicPr>
          <p:cNvPr id="13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4" name="Image 1" descr="/home/user/hina-english/matome/img/mus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5" name="Image 2" descr="/home/user/hina-english/matome/img/breakf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16" name="Image 3" descr="/home/user/hina-english/matome/img/caf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33623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nurse.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0003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職業は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をつける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067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engineer.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48196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engineer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は母音の音で始まるので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28098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music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657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music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991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4196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gave me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advice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85058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some 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543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6770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eat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breakfast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933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8959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食事は基本、無冠詞（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 have breakfast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534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7496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spend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Christmas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with my family.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9243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238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祝日・ホリデーは無冠詞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953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私は毎朝、卵を1個食べます。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0388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eat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egg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600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私は毎朝、卵を1個食べます。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4133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egg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は母音の音で始まるので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lag-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286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私はフィリピン出身です。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lag-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54673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I'm from </a:t>
            </a:r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Philippines.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私はフィリピン出身です。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5721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島の集まり（複数形）を表す国名なので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ov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4103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昨日の夜、映画を1本観ました。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ov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353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watched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movie last night.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昨日の夜、映画を1本観ました。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067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「1本の映画」なので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gg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荷物が多すぎます。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gg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5591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have too much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luggage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荷物が多すぎます。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838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luggage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s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7743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隣の家の犬たちはとてもかわいいです。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74199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dogs next door are very cute.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4629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隣の家の犬たちはとてもかわいいです。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0864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「隣の家の犬」と特定できるので、複数でも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19375"/>
            <a:ext cx="74199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私は昨日、あるカフェに行きました。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162300"/>
            <a:ext cx="7362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そのカフェはとても混んでいました。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3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371725"/>
            <a:ext cx="5838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went to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cafe yesterday.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2981325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cafe was very crowded.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638550"/>
            <a:ext cx="8505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私は昨日、あるカフェに行きました。そのカフェはとても混んでいました。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5" name=""/>
          <p:cNvSpPr txBox="1"/>
          <p:nvPr/>
        </p:nvSpPr>
        <p:spPr>
          <a:xfrm>
            <a:off x="2152650" y="5343525"/>
            <a:ext cx="6457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初登場は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、2回目は「さっきのカフェ」なので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77914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1722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coffee at this cafe.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4657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0960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「このカフェの」コーヒーと特定できるので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