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9" Type="http://schemas.openxmlformats.org/officeDocument/2006/relationships/presProps" Target="presProps.xml"/><Relationship Id="rId6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</p:spPr>
      </p:sp>
      <p:sp>
        <p:nvSpPr>
          <p:cNvPr id="3" name=""/>
          <p:cNvSpPr txBox="1"/>
          <p:nvPr/>
        </p:nvSpPr>
        <p:spPr>
          <a:xfrm>
            <a:off x="1181100" y="2047875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文法解説動画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162175"/>
            <a:ext cx="8248650" cy="2314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1C2340"/>
                </a:solidFill>
                <a:latin typeface="Noto Sans JP"/>
                <a:ea typeface="Noto Sans JP"/>
              </a:rPr>
              <a:t>冠詞</a:t>
            </a:r>
            <a:pPr/>
            <a:r>
              <a:rPr sz="6900" b="1">
                <a:solidFill>
                  <a:srgbClr val="E8461E"/>
                </a:solidFill>
                <a:latin typeface="Noto Sans JP"/>
                <a:ea typeface="Noto Sans JP"/>
              </a:rPr>
              <a:t>練習問題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371975"/>
            <a:ext cx="67056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Noto Sans JP"/>
                <a:ea typeface="Noto Sans JP"/>
              </a:rPr>
              <a:t>全25問 一緒に声に出して練習しよう！</a:t>
            </a:r>
          </a:p>
        </p:txBody>
      </p:sp>
      <p:pic>
        <p:nvPicPr>
          <p:cNvPr id="6" name="Image 0" descr="/home/user/hina-english/matom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4772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練習問題（全25問）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2581275" cy="47148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1514475" y="1952625"/>
            <a:ext cx="9144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666875" y="2009775"/>
            <a:ext cx="104775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pic>
        <p:nvPicPr>
          <p:cNvPr id="8" name="Image 0" descr="/home/user/hina-english/matome/img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038475"/>
            <a:ext cx="1428750" cy="142875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257300" y="5200650"/>
            <a:ext cx="1990725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19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0" name=""/>
          <p:cNvSpPr txBox="1"/>
          <p:nvPr/>
        </p:nvSpPr>
        <p:spPr>
          <a:xfrm>
            <a:off x="1828800" y="5648325"/>
            <a:ext cx="685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4問</a:t>
            </a:r>
          </a:p>
        </p:txBody>
      </p:sp>
      <p:sp>
        <p:nvSpPr>
          <p:cNvPr id="11" name=""/>
          <p:cNvSpPr txBox="1"/>
          <p:nvPr/>
        </p:nvSpPr>
        <p:spPr>
          <a:xfrm>
            <a:off x="1200150" y="596265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穴埋め2・瞬間英作文2</a:t>
            </a:r>
          </a:p>
        </p:txBody>
      </p:sp>
      <p:sp>
        <p:nvSpPr>
          <p:cNvPr id="12" name=""/>
          <p:cNvSpPr/>
          <p:nvPr/>
        </p:nvSpPr>
        <p:spPr>
          <a:xfrm>
            <a:off x="3438525" y="1724025"/>
            <a:ext cx="2581275" cy="47148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4248150" y="1952625"/>
            <a:ext cx="9525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4400550" y="2009775"/>
            <a:ext cx="10953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pic>
        <p:nvPicPr>
          <p:cNvPr id="15" name="Image 1" descr="/home/user/hina-english/matome/img/infor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3048000"/>
            <a:ext cx="1428750" cy="142875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3733800" y="5229225"/>
            <a:ext cx="26193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</a:t>
            </a:r>
          </a:p>
        </p:txBody>
      </p:sp>
      <p:sp>
        <p:nvSpPr>
          <p:cNvPr id="17" name=""/>
          <p:cNvSpPr txBox="1"/>
          <p:nvPr/>
        </p:nvSpPr>
        <p:spPr>
          <a:xfrm>
            <a:off x="4572000" y="5648325"/>
            <a:ext cx="685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4問</a:t>
            </a:r>
          </a:p>
        </p:txBody>
      </p:sp>
      <p:sp>
        <p:nvSpPr>
          <p:cNvPr id="18" name=""/>
          <p:cNvSpPr txBox="1"/>
          <p:nvPr/>
        </p:nvSpPr>
        <p:spPr>
          <a:xfrm>
            <a:off x="3952875" y="596265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穴埋め2・瞬間英作文2</a:t>
            </a:r>
          </a:p>
        </p:txBody>
      </p:sp>
      <p:sp>
        <p:nvSpPr>
          <p:cNvPr id="19" name=""/>
          <p:cNvSpPr/>
          <p:nvPr/>
        </p:nvSpPr>
        <p:spPr>
          <a:xfrm>
            <a:off x="6181725" y="1724025"/>
            <a:ext cx="2581275" cy="47148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6991350" y="1952625"/>
            <a:ext cx="9525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143750" y="2009775"/>
            <a:ext cx="10953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3</a:t>
            </a:r>
          </a:p>
        </p:txBody>
      </p:sp>
      <p:pic>
        <p:nvPicPr>
          <p:cNvPr id="22" name="Image 2" descr="/home/user/hina-english/matome/img/eiff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3048000"/>
            <a:ext cx="1428750" cy="1428750"/>
          </a:xfrm>
          <a:prstGeom prst="rect">
            <a:avLst/>
          </a:prstGeom>
        </p:spPr>
      </p:pic>
      <p:sp>
        <p:nvSpPr>
          <p:cNvPr id="23" name=""/>
          <p:cNvSpPr txBox="1"/>
          <p:nvPr/>
        </p:nvSpPr>
        <p:spPr>
          <a:xfrm>
            <a:off x="7096125" y="5229225"/>
            <a:ext cx="12001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無冠詞</a:t>
            </a:r>
          </a:p>
        </p:txBody>
      </p:sp>
      <p:sp>
        <p:nvSpPr>
          <p:cNvPr id="24" name=""/>
          <p:cNvSpPr txBox="1"/>
          <p:nvPr/>
        </p:nvSpPr>
        <p:spPr>
          <a:xfrm>
            <a:off x="7324725" y="5648325"/>
            <a:ext cx="685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4問</a:t>
            </a:r>
          </a:p>
        </p:txBody>
      </p:sp>
      <p:sp>
        <p:nvSpPr>
          <p:cNvPr id="25" name=""/>
          <p:cNvSpPr txBox="1"/>
          <p:nvPr/>
        </p:nvSpPr>
        <p:spPr>
          <a:xfrm>
            <a:off x="6696075" y="596265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穴埋め2・瞬間英作文2</a:t>
            </a:r>
          </a:p>
        </p:txBody>
      </p:sp>
      <p:sp>
        <p:nvSpPr>
          <p:cNvPr id="26" name=""/>
          <p:cNvSpPr/>
          <p:nvPr/>
        </p:nvSpPr>
        <p:spPr>
          <a:xfrm>
            <a:off x="8934450" y="1724025"/>
            <a:ext cx="2581275" cy="4714875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27" name=""/>
          <p:cNvSpPr/>
          <p:nvPr/>
        </p:nvSpPr>
        <p:spPr>
          <a:xfrm>
            <a:off x="9734550" y="1952625"/>
            <a:ext cx="962025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28" name=""/>
          <p:cNvSpPr txBox="1"/>
          <p:nvPr/>
        </p:nvSpPr>
        <p:spPr>
          <a:xfrm>
            <a:off x="9886950" y="2009775"/>
            <a:ext cx="11049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4</a:t>
            </a:r>
          </a:p>
        </p:txBody>
      </p:sp>
      <p:pic>
        <p:nvPicPr>
          <p:cNvPr id="29" name="Image 3" descr="/home/user/hina-english/matome/img/caf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0" y="3048000"/>
            <a:ext cx="1428750" cy="142875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9725025" y="5229225"/>
            <a:ext cx="1485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総まとめ</a:t>
            </a:r>
          </a:p>
        </p:txBody>
      </p:sp>
      <p:sp>
        <p:nvSpPr>
          <p:cNvPr id="31" name=""/>
          <p:cNvSpPr txBox="1"/>
          <p:nvPr/>
        </p:nvSpPr>
        <p:spPr>
          <a:xfrm>
            <a:off x="10020300" y="5648325"/>
            <a:ext cx="8001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13問</a:t>
            </a:r>
          </a:p>
        </p:txBody>
      </p:sp>
      <p:sp>
        <p:nvSpPr>
          <p:cNvPr id="32" name=""/>
          <p:cNvSpPr txBox="1"/>
          <p:nvPr/>
        </p:nvSpPr>
        <p:spPr>
          <a:xfrm>
            <a:off x="9448800" y="596265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穴埋め4・瞬間英作文9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971550"/>
            <a:ext cx="10820400" cy="54673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143000" y="1314450"/>
            <a:ext cx="9144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6" name=""/>
          <p:cNvSpPr txBox="1"/>
          <p:nvPr/>
        </p:nvSpPr>
        <p:spPr>
          <a:xfrm>
            <a:off x="1295400" y="1371600"/>
            <a:ext cx="104775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7" name=""/>
          <p:cNvSpPr txBox="1"/>
          <p:nvPr/>
        </p:nvSpPr>
        <p:spPr>
          <a:xfrm>
            <a:off x="1143000" y="1762125"/>
            <a:ext cx="4267200" cy="8667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46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46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8" name=""/>
          <p:cNvSpPr txBox="1"/>
          <p:nvPr/>
        </p:nvSpPr>
        <p:spPr>
          <a:xfrm>
            <a:off x="1143000" y="2733675"/>
            <a:ext cx="63246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動画1のおさらい ・ 4問（穴埋め2・瞬間英作文2）</a:t>
            </a:r>
          </a:p>
        </p:txBody>
      </p:sp>
      <p:sp>
        <p:nvSpPr>
          <p:cNvPr id="9" name=""/>
          <p:cNvSpPr/>
          <p:nvPr/>
        </p:nvSpPr>
        <p:spPr>
          <a:xfrm>
            <a:off x="1143000" y="3276600"/>
            <a:ext cx="17621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0" name=""/>
          <p:cNvSpPr txBox="1"/>
          <p:nvPr/>
        </p:nvSpPr>
        <p:spPr>
          <a:xfrm>
            <a:off x="1333500" y="3352800"/>
            <a:ext cx="19335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初登場は </a:t>
            </a:r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</a:p>
        </p:txBody>
      </p:sp>
      <p:sp>
        <p:nvSpPr>
          <p:cNvPr id="11" name=""/>
          <p:cNvSpPr/>
          <p:nvPr/>
        </p:nvSpPr>
        <p:spPr>
          <a:xfrm>
            <a:off x="3000375" y="3276600"/>
            <a:ext cx="18764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2" name=""/>
          <p:cNvSpPr txBox="1"/>
          <p:nvPr/>
        </p:nvSpPr>
        <p:spPr>
          <a:xfrm>
            <a:off x="3190875" y="3352800"/>
            <a:ext cx="206692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2回目以降は </a:t>
            </a:r>
            <a:pPr/>
            <a:r>
              <a:rPr sz="16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3" name=""/>
          <p:cNvSpPr/>
          <p:nvPr/>
        </p:nvSpPr>
        <p:spPr>
          <a:xfrm>
            <a:off x="4972050" y="3276600"/>
            <a:ext cx="26765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4" name=""/>
          <p:cNvSpPr txBox="1"/>
          <p:nvPr/>
        </p:nvSpPr>
        <p:spPr>
          <a:xfrm>
            <a:off x="5162550" y="3352800"/>
            <a:ext cx="298132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 は「音」で決まる</a:t>
            </a:r>
          </a:p>
        </p:txBody>
      </p:sp>
      <p:sp>
        <p:nvSpPr>
          <p:cNvPr id="15" name=""/>
          <p:cNvSpPr/>
          <p:nvPr/>
        </p:nvSpPr>
        <p:spPr>
          <a:xfrm>
            <a:off x="7743825" y="3276600"/>
            <a:ext cx="32099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6" name=""/>
          <p:cNvSpPr txBox="1"/>
          <p:nvPr/>
        </p:nvSpPr>
        <p:spPr>
          <a:xfrm>
            <a:off x="7934325" y="3352800"/>
            <a:ext cx="36004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 ＝ どれのことか特定できる</a:t>
            </a:r>
          </a:p>
        </p:txBody>
      </p:sp>
      <p:pic>
        <p:nvPicPr>
          <p:cNvPr id="17" name="Image 0" descr="/home/user/hina-english/matome/img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724400"/>
            <a:ext cx="1428750" cy="1428750"/>
          </a:xfrm>
          <a:prstGeom prst="rect">
            <a:avLst/>
          </a:prstGeom>
        </p:spPr>
      </p:pic>
      <p:pic>
        <p:nvPicPr>
          <p:cNvPr id="18" name="Image 1" descr="/home/user/hina-english/matome/img/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724400"/>
            <a:ext cx="1428750" cy="1428750"/>
          </a:xfrm>
          <a:prstGeom prst="rect">
            <a:avLst/>
          </a:prstGeom>
        </p:spPr>
      </p:pic>
      <p:pic>
        <p:nvPicPr>
          <p:cNvPr id="19" name="Image 2" descr="/home/user/hina-english/matome/img/univers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724400"/>
            <a:ext cx="1428750" cy="1428750"/>
          </a:xfrm>
          <a:prstGeom prst="rect">
            <a:avLst/>
          </a:prstGeom>
        </p:spPr>
      </p:pic>
      <p:pic>
        <p:nvPicPr>
          <p:cNvPr id="20" name="Image 3" descr="/home/user/hina-english/matome/img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2440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6858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6953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209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10" name=""/>
          <p:cNvSpPr/>
          <p:nvPr/>
        </p:nvSpPr>
        <p:spPr>
          <a:xfrm>
            <a:off x="493395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324600" y="2257425"/>
            <a:ext cx="4638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new bag yesterday.</a:t>
            </a:r>
          </a:p>
        </p:txBody>
      </p:sp>
      <p:sp>
        <p:nvSpPr>
          <p:cNvPr id="12" name=""/>
          <p:cNvSpPr/>
          <p:nvPr/>
        </p:nvSpPr>
        <p:spPr>
          <a:xfrm>
            <a:off x="3162300" y="300037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3" name=""/>
          <p:cNvSpPr txBox="1"/>
          <p:nvPr/>
        </p:nvSpPr>
        <p:spPr>
          <a:xfrm>
            <a:off x="4552950" y="3076575"/>
            <a:ext cx="31051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bag is black.</a:t>
            </a:r>
          </a:p>
        </p:txBody>
      </p:sp>
      <p:sp>
        <p:nvSpPr>
          <p:cNvPr id="14" name=""/>
          <p:cNvSpPr txBox="1"/>
          <p:nvPr/>
        </p:nvSpPr>
        <p:spPr>
          <a:xfrm>
            <a:off x="3162300" y="3848100"/>
            <a:ext cx="6819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昨日、新しいバッグを買いました。そのバッグは黒いです。</a:t>
            </a:r>
          </a:p>
        </p:txBody>
      </p:sp>
      <p:sp>
        <p:nvSpPr>
          <p:cNvPr id="15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7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9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20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21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2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23" name=""/>
          <p:cNvSpPr txBox="1"/>
          <p:nvPr/>
        </p:nvSpPr>
        <p:spPr>
          <a:xfrm>
            <a:off x="5162550" y="53149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声に出して答えてみよう！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6858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6953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209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10" name=""/>
          <p:cNvSpPr/>
          <p:nvPr/>
        </p:nvSpPr>
        <p:spPr>
          <a:xfrm>
            <a:off x="493395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257800" y="22669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2" name=""/>
          <p:cNvSpPr txBox="1"/>
          <p:nvPr/>
        </p:nvSpPr>
        <p:spPr>
          <a:xfrm>
            <a:off x="6324600" y="2257425"/>
            <a:ext cx="4638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new bag yesterday.</a:t>
            </a:r>
          </a:p>
        </p:txBody>
      </p:sp>
      <p:sp>
        <p:nvSpPr>
          <p:cNvPr id="13" name=""/>
          <p:cNvSpPr/>
          <p:nvPr/>
        </p:nvSpPr>
        <p:spPr>
          <a:xfrm>
            <a:off x="3162300" y="300037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3209925" y="308610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5" name=""/>
          <p:cNvSpPr txBox="1"/>
          <p:nvPr/>
        </p:nvSpPr>
        <p:spPr>
          <a:xfrm>
            <a:off x="4552950" y="3076575"/>
            <a:ext cx="31051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bag is black.</a:t>
            </a:r>
          </a:p>
        </p:txBody>
      </p:sp>
      <p:sp>
        <p:nvSpPr>
          <p:cNvPr id="16" name=""/>
          <p:cNvSpPr txBox="1"/>
          <p:nvPr/>
        </p:nvSpPr>
        <p:spPr>
          <a:xfrm>
            <a:off x="3162300" y="3848100"/>
            <a:ext cx="6819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昨日、新しいバッグを買いました。そのバッグは黒いです。</a:t>
            </a:r>
          </a:p>
        </p:txBody>
      </p:sp>
      <p:sp>
        <p:nvSpPr>
          <p:cNvPr id="17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990600" y="48577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49149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4867275"/>
            <a:ext cx="13430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a / The</a:t>
            </a:r>
          </a:p>
        </p:txBody>
      </p:sp>
      <p:sp>
        <p:nvSpPr>
          <p:cNvPr id="21" name=""/>
          <p:cNvSpPr/>
          <p:nvPr/>
        </p:nvSpPr>
        <p:spPr>
          <a:xfrm>
            <a:off x="990600" y="5324475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2" name=""/>
          <p:cNvSpPr txBox="1"/>
          <p:nvPr/>
        </p:nvSpPr>
        <p:spPr>
          <a:xfrm>
            <a:off x="1162050" y="53816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1つめ</a:t>
            </a:r>
          </a:p>
        </p:txBody>
      </p:sp>
      <p:sp>
        <p:nvSpPr>
          <p:cNvPr id="23" name=""/>
          <p:cNvSpPr txBox="1"/>
          <p:nvPr/>
        </p:nvSpPr>
        <p:spPr>
          <a:xfrm>
            <a:off x="1914525" y="5343525"/>
            <a:ext cx="24479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初登場なので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24" name=""/>
          <p:cNvSpPr/>
          <p:nvPr/>
        </p:nvSpPr>
        <p:spPr>
          <a:xfrm>
            <a:off x="990600" y="5791200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162050" y="584835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2つめ</a:t>
            </a:r>
          </a:p>
        </p:txBody>
      </p:sp>
      <p:sp>
        <p:nvSpPr>
          <p:cNvPr id="26" name=""/>
          <p:cNvSpPr txBox="1"/>
          <p:nvPr/>
        </p:nvSpPr>
        <p:spPr>
          <a:xfrm>
            <a:off x="1914525" y="5810250"/>
            <a:ext cx="50958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「さっきのバッグ」と分かるので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429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620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</a:t>
            </a:r>
          </a:p>
        </p:txBody>
      </p:sp>
      <p:sp>
        <p:nvSpPr>
          <p:cNvPr id="6" name=""/>
          <p:cNvSpPr txBox="1"/>
          <p:nvPr/>
        </p:nvSpPr>
        <p:spPr>
          <a:xfrm>
            <a:off x="15811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31623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4552950" y="2667000"/>
            <a:ext cx="56769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sun is very bright today.</a:t>
            </a:r>
          </a:p>
        </p:txBody>
      </p:sp>
      <p:sp>
        <p:nvSpPr>
          <p:cNvPr id="11" name=""/>
          <p:cNvSpPr txBox="1"/>
          <p:nvPr/>
        </p:nvSpPr>
        <p:spPr>
          <a:xfrm>
            <a:off x="3162300" y="3438525"/>
            <a:ext cx="41433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今日は太陽がとてもまぶしいです。</a:t>
            </a:r>
          </a:p>
        </p:txBody>
      </p:sp>
      <p:sp>
        <p:nvSpPr>
          <p:cNvPr id="12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4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6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7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8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19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429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620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</a:t>
            </a:r>
          </a:p>
        </p:txBody>
      </p:sp>
      <p:sp>
        <p:nvSpPr>
          <p:cNvPr id="6" name=""/>
          <p:cNvSpPr txBox="1"/>
          <p:nvPr/>
        </p:nvSpPr>
        <p:spPr>
          <a:xfrm>
            <a:off x="15811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31623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0" name=""/>
          <p:cNvSpPr txBox="1"/>
          <p:nvPr/>
        </p:nvSpPr>
        <p:spPr>
          <a:xfrm>
            <a:off x="3209925" y="2676525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1" name=""/>
          <p:cNvSpPr txBox="1"/>
          <p:nvPr/>
        </p:nvSpPr>
        <p:spPr>
          <a:xfrm>
            <a:off x="4552950" y="2667000"/>
            <a:ext cx="56769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sun is very bright today.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41433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今日は太陽がとてもまぶしいです。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6" name=""/>
          <p:cNvSpPr txBox="1"/>
          <p:nvPr/>
        </p:nvSpPr>
        <p:spPr>
          <a:xfrm>
            <a:off x="1809750" y="5095875"/>
            <a:ext cx="9048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7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19" name=""/>
          <p:cNvSpPr txBox="1"/>
          <p:nvPr/>
        </p:nvSpPr>
        <p:spPr>
          <a:xfrm>
            <a:off x="1809750" y="5572125"/>
            <a:ext cx="68199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太陽は1つだけで、どれのことか特定できるので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524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715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Q3</a:t>
            </a:r>
          </a:p>
        </p:txBody>
      </p:sp>
      <p:sp>
        <p:nvSpPr>
          <p:cNvPr id="6" name=""/>
          <p:cNvSpPr txBox="1"/>
          <p:nvPr/>
        </p:nvSpPr>
        <p:spPr>
          <a:xfrm>
            <a:off x="15906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36290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彼は大学生です。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524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715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Q3</a:t>
            </a:r>
          </a:p>
        </p:txBody>
      </p:sp>
      <p:sp>
        <p:nvSpPr>
          <p:cNvPr id="6" name=""/>
          <p:cNvSpPr txBox="1"/>
          <p:nvPr/>
        </p:nvSpPr>
        <p:spPr>
          <a:xfrm>
            <a:off x="15906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He is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university student.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彼は大学生です。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61150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university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は「ユ」の音（子音）で始まるので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Q4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39147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1時間待ちました。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Q4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44862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waited for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hour.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1時間待ちました。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848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hour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 h を読まず「ア」の音で始まるので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971550"/>
            <a:ext cx="10820400" cy="54673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143000" y="1314450"/>
            <a:ext cx="9525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6" name=""/>
          <p:cNvSpPr txBox="1"/>
          <p:nvPr/>
        </p:nvSpPr>
        <p:spPr>
          <a:xfrm>
            <a:off x="1295400" y="1371600"/>
            <a:ext cx="10953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7" name=""/>
          <p:cNvSpPr txBox="1"/>
          <p:nvPr/>
        </p:nvSpPr>
        <p:spPr>
          <a:xfrm>
            <a:off x="1143000" y="1762125"/>
            <a:ext cx="5772150" cy="857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65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</a:t>
            </a:r>
          </a:p>
        </p:txBody>
      </p:sp>
      <p:sp>
        <p:nvSpPr>
          <p:cNvPr id="8" name=""/>
          <p:cNvSpPr txBox="1"/>
          <p:nvPr/>
        </p:nvSpPr>
        <p:spPr>
          <a:xfrm>
            <a:off x="1143000" y="2676525"/>
            <a:ext cx="63246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動画2のおさらい ・ 4問（穴埋め2・瞬間英作文2）</a:t>
            </a:r>
          </a:p>
        </p:txBody>
      </p:sp>
      <p:sp>
        <p:nvSpPr>
          <p:cNvPr id="9" name=""/>
          <p:cNvSpPr/>
          <p:nvPr/>
        </p:nvSpPr>
        <p:spPr>
          <a:xfrm>
            <a:off x="1143000" y="3219450"/>
            <a:ext cx="3181350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0" name=""/>
          <p:cNvSpPr txBox="1"/>
          <p:nvPr/>
        </p:nvSpPr>
        <p:spPr>
          <a:xfrm>
            <a:off x="1333500" y="3295650"/>
            <a:ext cx="35623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液体・抽象的なものは数えない</a:t>
            </a:r>
          </a:p>
        </p:txBody>
      </p:sp>
      <p:sp>
        <p:nvSpPr>
          <p:cNvPr id="11" name=""/>
          <p:cNvSpPr/>
          <p:nvPr/>
        </p:nvSpPr>
        <p:spPr>
          <a:xfrm>
            <a:off x="4419600" y="3219450"/>
            <a:ext cx="235267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2" name=""/>
          <p:cNvSpPr txBox="1"/>
          <p:nvPr/>
        </p:nvSpPr>
        <p:spPr>
          <a:xfrm>
            <a:off x="4610100" y="3295650"/>
            <a:ext cx="2609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「1杯」なら </a:t>
            </a:r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00" b="1">
                <a:solidFill>
                  <a:srgbClr val="1C2340"/>
                </a:solidFill>
                <a:latin typeface="DM Sans"/>
                <a:ea typeface="DM Sans"/>
              </a:rPr>
              <a:t> coffee</a:t>
            </a:r>
          </a:p>
        </p:txBody>
      </p:sp>
      <p:sp>
        <p:nvSpPr>
          <p:cNvPr id="13" name=""/>
          <p:cNvSpPr/>
          <p:nvPr/>
        </p:nvSpPr>
        <p:spPr>
          <a:xfrm>
            <a:off x="6867525" y="3219450"/>
            <a:ext cx="288607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4" name=""/>
          <p:cNvSpPr txBox="1"/>
          <p:nvPr/>
        </p:nvSpPr>
        <p:spPr>
          <a:xfrm>
            <a:off x="7058025" y="3295650"/>
            <a:ext cx="32194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1羽のニワトリは </a:t>
            </a:r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00" b="1">
                <a:solidFill>
                  <a:srgbClr val="1C2340"/>
                </a:solidFill>
                <a:latin typeface="DM Sans"/>
                <a:ea typeface="DM Sans"/>
              </a:rPr>
              <a:t> chicken</a:t>
            </a:r>
          </a:p>
        </p:txBody>
      </p:sp>
      <p:pic>
        <p:nvPicPr>
          <p:cNvPr id="15" name="Image 0" descr="/home/user/hina-english/matome/img/in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724400"/>
            <a:ext cx="1428750" cy="1428750"/>
          </a:xfrm>
          <a:prstGeom prst="rect">
            <a:avLst/>
          </a:prstGeom>
        </p:spPr>
      </p:pic>
      <p:pic>
        <p:nvPicPr>
          <p:cNvPr id="16" name="Image 1" descr="/home/user/hina-english/matome/img/chic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724400"/>
            <a:ext cx="1428750" cy="1428750"/>
          </a:xfrm>
          <a:prstGeom prst="rect">
            <a:avLst/>
          </a:prstGeom>
        </p:spPr>
      </p:pic>
      <p:pic>
        <p:nvPicPr>
          <p:cNvPr id="17" name="Image 2" descr="/home/user/hina-english/matome/img/coff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72440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524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715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Q5</a:t>
            </a:r>
          </a:p>
        </p:txBody>
      </p:sp>
      <p:sp>
        <p:nvSpPr>
          <p:cNvPr id="6" name=""/>
          <p:cNvSpPr txBox="1"/>
          <p:nvPr/>
        </p:nvSpPr>
        <p:spPr>
          <a:xfrm>
            <a:off x="159067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in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314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We need</a:t>
            </a:r>
          </a:p>
        </p:txBody>
      </p:sp>
      <p:sp>
        <p:nvSpPr>
          <p:cNvPr id="10" name=""/>
          <p:cNvSpPr/>
          <p:nvPr/>
        </p:nvSpPr>
        <p:spPr>
          <a:xfrm>
            <a:off x="502920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419850" y="2257425"/>
            <a:ext cx="29622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076575"/>
            <a:ext cx="39052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about the hotel.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848100"/>
            <a:ext cx="44100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そのホテルについて情報が必要です。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6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8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9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20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524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715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Q5</a:t>
            </a:r>
          </a:p>
        </p:txBody>
      </p:sp>
      <p:sp>
        <p:nvSpPr>
          <p:cNvPr id="6" name=""/>
          <p:cNvSpPr txBox="1"/>
          <p:nvPr/>
        </p:nvSpPr>
        <p:spPr>
          <a:xfrm>
            <a:off x="159067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in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314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We need</a:t>
            </a:r>
          </a:p>
        </p:txBody>
      </p:sp>
      <p:sp>
        <p:nvSpPr>
          <p:cNvPr id="10" name=""/>
          <p:cNvSpPr/>
          <p:nvPr/>
        </p:nvSpPr>
        <p:spPr>
          <a:xfrm>
            <a:off x="502920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9AA1B6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153025" y="2305050"/>
            <a:ext cx="1000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2" name=""/>
          <p:cNvSpPr txBox="1"/>
          <p:nvPr/>
        </p:nvSpPr>
        <p:spPr>
          <a:xfrm>
            <a:off x="6419850" y="2257425"/>
            <a:ext cx="29622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076575"/>
            <a:ext cx="39052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about the hotel.</a:t>
            </a:r>
          </a:p>
        </p:txBody>
      </p:sp>
      <p:sp>
        <p:nvSpPr>
          <p:cNvPr id="14" name=""/>
          <p:cNvSpPr txBox="1"/>
          <p:nvPr/>
        </p:nvSpPr>
        <p:spPr>
          <a:xfrm>
            <a:off x="3162300" y="3848100"/>
            <a:ext cx="44100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そのホテルについて情報が必要です。</a:t>
            </a:r>
          </a:p>
        </p:txBody>
      </p:sp>
      <p:sp>
        <p:nvSpPr>
          <p:cNvPr id="15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8" name=""/>
          <p:cNvSpPr txBox="1"/>
          <p:nvPr/>
        </p:nvSpPr>
        <p:spPr>
          <a:xfrm>
            <a:off x="1809750" y="5114925"/>
            <a:ext cx="3714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なし（冠詞をつけない）</a:t>
            </a:r>
          </a:p>
        </p:txBody>
      </p:sp>
      <p:sp>
        <p:nvSpPr>
          <p:cNvPr id="19" name=""/>
          <p:cNvSpPr/>
          <p:nvPr/>
        </p:nvSpPr>
        <p:spPr>
          <a:xfrm>
            <a:off x="990600" y="556260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162050" y="561975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1" name=""/>
          <p:cNvSpPr txBox="1"/>
          <p:nvPr/>
        </p:nvSpPr>
        <p:spPr>
          <a:xfrm>
            <a:off x="1809750" y="5581650"/>
            <a:ext cx="6505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information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は数えられない名詞なので → 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冠詞なし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Q6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hic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447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saw</a:t>
            </a:r>
          </a:p>
        </p:txBody>
      </p:sp>
      <p:sp>
        <p:nvSpPr>
          <p:cNvPr id="10" name=""/>
          <p:cNvSpPr/>
          <p:nvPr/>
        </p:nvSpPr>
        <p:spPr>
          <a:xfrm>
            <a:off x="4276725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5667375" y="266700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chicken on the farm.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38576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農場でニワトリを1羽見ました。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7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Q6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hic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447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saw</a:t>
            </a:r>
          </a:p>
        </p:txBody>
      </p:sp>
      <p:sp>
        <p:nvSpPr>
          <p:cNvPr id="10" name=""/>
          <p:cNvSpPr/>
          <p:nvPr/>
        </p:nvSpPr>
        <p:spPr>
          <a:xfrm>
            <a:off x="4276725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4600575" y="2676525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2" name=""/>
          <p:cNvSpPr txBox="1"/>
          <p:nvPr/>
        </p:nvSpPr>
        <p:spPr>
          <a:xfrm>
            <a:off x="5667375" y="266700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chicken on the farm.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438525"/>
            <a:ext cx="38576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農場でニワトリを1羽見ました。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7" name=""/>
          <p:cNvSpPr txBox="1"/>
          <p:nvPr/>
        </p:nvSpPr>
        <p:spPr>
          <a:xfrm>
            <a:off x="1809750" y="5095875"/>
            <a:ext cx="514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8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5572125"/>
            <a:ext cx="74295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1羽のニワトリなので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（鶏肉の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chicken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なら数えない）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334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52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Q7</a:t>
            </a:r>
          </a:p>
        </p:txBody>
      </p:sp>
      <p:sp>
        <p:nvSpPr>
          <p:cNvPr id="6" name=""/>
          <p:cNvSpPr txBox="1"/>
          <p:nvPr/>
        </p:nvSpPr>
        <p:spPr>
          <a:xfrm>
            <a:off x="157162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52959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毎朝コーヒーを飲みます。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334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52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Q7</a:t>
            </a:r>
          </a:p>
        </p:txBody>
      </p:sp>
      <p:sp>
        <p:nvSpPr>
          <p:cNvPr id="6" name=""/>
          <p:cNvSpPr txBox="1"/>
          <p:nvPr/>
        </p:nvSpPr>
        <p:spPr>
          <a:xfrm>
            <a:off x="157162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64103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drink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coffee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every morning.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209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毎朝コーヒーを飲みます。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2387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液体の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coffee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は数えないので、冠詞なし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Q8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51625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コーヒーを1杯ください。</a:t>
            </a:r>
          </a:p>
        </p:txBody>
      </p:sp>
      <p:sp>
        <p:nvSpPr>
          <p:cNvPr id="10" name=""/>
          <p:cNvSpPr/>
          <p:nvPr/>
        </p:nvSpPr>
        <p:spPr>
          <a:xfrm>
            <a:off x="685800" y="5324475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57250" y="53816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ヒント</a:t>
            </a:r>
          </a:p>
        </p:txBody>
      </p:sp>
      <p:sp>
        <p:nvSpPr>
          <p:cNvPr id="12" name=""/>
          <p:cNvSpPr txBox="1"/>
          <p:nvPr/>
        </p:nvSpPr>
        <p:spPr>
          <a:xfrm>
            <a:off x="1847850" y="5314950"/>
            <a:ext cx="3419475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Can I have </a:t>
            </a:r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〜</a:t>
            </a:r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?</a:t>
            </a:r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 の形で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Q8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61817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Can I have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coffee, please?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コーヒーを1杯ください。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46291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「コーヒー1杯」として数えるので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971550"/>
            <a:ext cx="10820400" cy="54673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143000" y="1314450"/>
            <a:ext cx="952500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6" name=""/>
          <p:cNvSpPr txBox="1"/>
          <p:nvPr/>
        </p:nvSpPr>
        <p:spPr>
          <a:xfrm>
            <a:off x="1295400" y="1371600"/>
            <a:ext cx="10953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3</a:t>
            </a:r>
          </a:p>
        </p:txBody>
      </p:sp>
      <p:sp>
        <p:nvSpPr>
          <p:cNvPr id="7" name=""/>
          <p:cNvSpPr txBox="1"/>
          <p:nvPr/>
        </p:nvSpPr>
        <p:spPr>
          <a:xfrm>
            <a:off x="1143000" y="1762125"/>
            <a:ext cx="2381250" cy="857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650" b="1">
                <a:solidFill>
                  <a:srgbClr val="1C2340"/>
                </a:solidFill>
                <a:latin typeface="Noto Sans JP"/>
                <a:ea typeface="Noto Sans JP"/>
              </a:rPr>
              <a:t>無冠詞</a:t>
            </a:r>
          </a:p>
        </p:txBody>
      </p:sp>
      <p:sp>
        <p:nvSpPr>
          <p:cNvPr id="8" name=""/>
          <p:cNvSpPr txBox="1"/>
          <p:nvPr/>
        </p:nvSpPr>
        <p:spPr>
          <a:xfrm>
            <a:off x="1143000" y="2676525"/>
            <a:ext cx="63246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動画3のおさらい ・ 4問（穴埋め2・瞬間英作文2）</a:t>
            </a:r>
          </a:p>
        </p:txBody>
      </p:sp>
      <p:sp>
        <p:nvSpPr>
          <p:cNvPr id="9" name=""/>
          <p:cNvSpPr/>
          <p:nvPr/>
        </p:nvSpPr>
        <p:spPr>
          <a:xfrm>
            <a:off x="1143000" y="3219450"/>
            <a:ext cx="21812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0" name=""/>
          <p:cNvSpPr txBox="1"/>
          <p:nvPr/>
        </p:nvSpPr>
        <p:spPr>
          <a:xfrm>
            <a:off x="1333500" y="3295650"/>
            <a:ext cx="24098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複数名詞（〜全般）</a:t>
            </a:r>
          </a:p>
        </p:txBody>
      </p:sp>
      <p:sp>
        <p:nvSpPr>
          <p:cNvPr id="11" name=""/>
          <p:cNvSpPr/>
          <p:nvPr/>
        </p:nvSpPr>
        <p:spPr>
          <a:xfrm>
            <a:off x="3419475" y="3219450"/>
            <a:ext cx="298132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2" name=""/>
          <p:cNvSpPr txBox="1"/>
          <p:nvPr/>
        </p:nvSpPr>
        <p:spPr>
          <a:xfrm>
            <a:off x="3609975" y="3295650"/>
            <a:ext cx="33337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数えられない名詞（〜全般）</a:t>
            </a:r>
          </a:p>
        </p:txBody>
      </p:sp>
      <p:sp>
        <p:nvSpPr>
          <p:cNvPr id="13" name=""/>
          <p:cNvSpPr/>
          <p:nvPr/>
        </p:nvSpPr>
        <p:spPr>
          <a:xfrm>
            <a:off x="6496050" y="3219450"/>
            <a:ext cx="3562350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4" name=""/>
          <p:cNvSpPr txBox="1"/>
          <p:nvPr/>
        </p:nvSpPr>
        <p:spPr>
          <a:xfrm>
            <a:off x="6686550" y="3295650"/>
            <a:ext cx="400050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固有名詞（</a:t>
            </a:r>
            <a:pPr/>
            <a:r>
              <a:rPr sz="16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 がつく名前もある）</a:t>
            </a:r>
          </a:p>
        </p:txBody>
      </p:sp>
      <p:sp>
        <p:nvSpPr>
          <p:cNvPr id="15" name=""/>
          <p:cNvSpPr/>
          <p:nvPr/>
        </p:nvSpPr>
        <p:spPr>
          <a:xfrm>
            <a:off x="10153650" y="3219450"/>
            <a:ext cx="781050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0344150" y="3295650"/>
            <a:ext cx="8001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言語</a:t>
            </a:r>
          </a:p>
        </p:txBody>
      </p:sp>
      <p:pic>
        <p:nvPicPr>
          <p:cNvPr id="17" name="Image 0" descr="/home/user/hina-english/matome/img/eiff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724400"/>
            <a:ext cx="1428750" cy="1428750"/>
          </a:xfrm>
          <a:prstGeom prst="rect">
            <a:avLst/>
          </a:prstGeom>
        </p:spPr>
      </p:pic>
      <p:pic>
        <p:nvPicPr>
          <p:cNvPr id="18" name="Image 1" descr="/home/user/hina-english/matome/img/furni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724400"/>
            <a:ext cx="1428750" cy="1428750"/>
          </a:xfrm>
          <a:prstGeom prst="rect">
            <a:avLst/>
          </a:prstGeom>
        </p:spPr>
      </p:pic>
      <p:pic>
        <p:nvPicPr>
          <p:cNvPr id="19" name="Image 2" descr="/home/user/hina-english/matome/img/d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724400"/>
            <a:ext cx="1428750" cy="1428750"/>
          </a:xfrm>
          <a:prstGeom prst="rect">
            <a:avLst/>
          </a:prstGeom>
        </p:spPr>
      </p:pic>
      <p:pic>
        <p:nvPicPr>
          <p:cNvPr id="20" name="Image 3" descr="/home/user/hina-english/matome/img/hel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2440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Q9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iff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31623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want to see</a:t>
            </a:r>
          </a:p>
        </p:txBody>
      </p:sp>
      <p:sp>
        <p:nvSpPr>
          <p:cNvPr id="10" name=""/>
          <p:cNvSpPr/>
          <p:nvPr/>
        </p:nvSpPr>
        <p:spPr>
          <a:xfrm>
            <a:off x="5762625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7153275" y="2257425"/>
            <a:ext cx="28765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Eiffel Tower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076575"/>
            <a:ext cx="24860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someday.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848100"/>
            <a:ext cx="41624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いつかエッフェル塔を見たいです。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6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8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9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20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1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620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7810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Q9</a:t>
            </a:r>
          </a:p>
        </p:txBody>
      </p:sp>
      <p:sp>
        <p:nvSpPr>
          <p:cNvPr id="6" name=""/>
          <p:cNvSpPr txBox="1"/>
          <p:nvPr/>
        </p:nvSpPr>
        <p:spPr>
          <a:xfrm>
            <a:off x="16002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iff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31623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want to see</a:t>
            </a:r>
          </a:p>
        </p:txBody>
      </p:sp>
      <p:sp>
        <p:nvSpPr>
          <p:cNvPr id="10" name=""/>
          <p:cNvSpPr/>
          <p:nvPr/>
        </p:nvSpPr>
        <p:spPr>
          <a:xfrm>
            <a:off x="5762625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848350" y="2266950"/>
            <a:ext cx="10668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2" name=""/>
          <p:cNvSpPr txBox="1"/>
          <p:nvPr/>
        </p:nvSpPr>
        <p:spPr>
          <a:xfrm>
            <a:off x="7153275" y="2257425"/>
            <a:ext cx="28765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Eiffel Tower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076575"/>
            <a:ext cx="24860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someday.</a:t>
            </a:r>
          </a:p>
        </p:txBody>
      </p:sp>
      <p:sp>
        <p:nvSpPr>
          <p:cNvPr id="14" name=""/>
          <p:cNvSpPr txBox="1"/>
          <p:nvPr/>
        </p:nvSpPr>
        <p:spPr>
          <a:xfrm>
            <a:off x="3162300" y="3848100"/>
            <a:ext cx="41624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いつかエッフェル塔を見たいです。</a:t>
            </a:r>
          </a:p>
        </p:txBody>
      </p:sp>
      <p:sp>
        <p:nvSpPr>
          <p:cNvPr id="15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8" name=""/>
          <p:cNvSpPr txBox="1"/>
          <p:nvPr/>
        </p:nvSpPr>
        <p:spPr>
          <a:xfrm>
            <a:off x="1809750" y="5095875"/>
            <a:ext cx="8477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1" name=""/>
          <p:cNvSpPr txBox="1"/>
          <p:nvPr/>
        </p:nvSpPr>
        <p:spPr>
          <a:xfrm>
            <a:off x="1809750" y="5572125"/>
            <a:ext cx="6886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が名前の一部になっているので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Eiffel Tower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763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144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Q10</a:t>
            </a:r>
          </a:p>
        </p:txBody>
      </p:sp>
      <p:sp>
        <p:nvSpPr>
          <p:cNvPr id="6" name=""/>
          <p:cNvSpPr txBox="1"/>
          <p:nvPr/>
        </p:nvSpPr>
        <p:spPr>
          <a:xfrm>
            <a:off x="17145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furni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2314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We need</a:t>
            </a:r>
          </a:p>
        </p:txBody>
      </p:sp>
      <p:sp>
        <p:nvSpPr>
          <p:cNvPr id="10" name=""/>
          <p:cNvSpPr/>
          <p:nvPr/>
        </p:nvSpPr>
        <p:spPr>
          <a:xfrm>
            <a:off x="50292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419850" y="2667000"/>
            <a:ext cx="34671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new furniture.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新しい家具が必要です。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7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763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144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Q10</a:t>
            </a:r>
          </a:p>
        </p:txBody>
      </p:sp>
      <p:sp>
        <p:nvSpPr>
          <p:cNvPr id="6" name=""/>
          <p:cNvSpPr txBox="1"/>
          <p:nvPr/>
        </p:nvSpPr>
        <p:spPr>
          <a:xfrm>
            <a:off x="171450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furni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2314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We need</a:t>
            </a:r>
          </a:p>
        </p:txBody>
      </p:sp>
      <p:sp>
        <p:nvSpPr>
          <p:cNvPr id="10" name=""/>
          <p:cNvSpPr/>
          <p:nvPr/>
        </p:nvSpPr>
        <p:spPr>
          <a:xfrm>
            <a:off x="50292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9AA1B6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153025" y="2714625"/>
            <a:ext cx="1000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2" name=""/>
          <p:cNvSpPr txBox="1"/>
          <p:nvPr/>
        </p:nvSpPr>
        <p:spPr>
          <a:xfrm>
            <a:off x="6419850" y="2667000"/>
            <a:ext cx="34671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new furniture.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438525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新しい家具が必要です。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7" name=""/>
          <p:cNvSpPr txBox="1"/>
          <p:nvPr/>
        </p:nvSpPr>
        <p:spPr>
          <a:xfrm>
            <a:off x="1809750" y="5114925"/>
            <a:ext cx="3714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なし（冠詞をつけない）</a:t>
            </a:r>
          </a:p>
        </p:txBody>
      </p:sp>
      <p:sp>
        <p:nvSpPr>
          <p:cNvPr id="18" name=""/>
          <p:cNvSpPr/>
          <p:nvPr/>
        </p:nvSpPr>
        <p:spPr>
          <a:xfrm>
            <a:off x="990600" y="556260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561975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5581650"/>
            <a:ext cx="9277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furniture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は数えられない名詞で、特定の家具の話でもないので → 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冠詞なし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810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001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Q11</a:t>
            </a:r>
          </a:p>
        </p:txBody>
      </p:sp>
      <p:sp>
        <p:nvSpPr>
          <p:cNvPr id="6" name=""/>
          <p:cNvSpPr txBox="1"/>
          <p:nvPr/>
        </p:nvSpPr>
        <p:spPr>
          <a:xfrm>
            <a:off x="16192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048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私は犬が好きです。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7810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001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Q11</a:t>
            </a:r>
          </a:p>
        </p:txBody>
      </p:sp>
      <p:sp>
        <p:nvSpPr>
          <p:cNvPr id="6" name=""/>
          <p:cNvSpPr txBox="1"/>
          <p:nvPr/>
        </p:nvSpPr>
        <p:spPr>
          <a:xfrm>
            <a:off x="16192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25336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like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dogs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私は犬が好きです。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324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犬全般の話（複数名詞）なので、冠詞なし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382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66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Q12</a:t>
            </a:r>
          </a:p>
        </p:txBody>
      </p:sp>
      <p:sp>
        <p:nvSpPr>
          <p:cNvPr id="6" name=""/>
          <p:cNvSpPr txBox="1"/>
          <p:nvPr/>
        </p:nvSpPr>
        <p:spPr>
          <a:xfrm>
            <a:off x="16764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he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8768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彼女は英語を話します。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382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66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Q12</a:t>
            </a:r>
          </a:p>
        </p:txBody>
      </p:sp>
      <p:sp>
        <p:nvSpPr>
          <p:cNvPr id="6" name=""/>
          <p:cNvSpPr txBox="1"/>
          <p:nvPr/>
        </p:nvSpPr>
        <p:spPr>
          <a:xfrm>
            <a:off x="16764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he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44862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She speaks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English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彼女は英語を話します。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3752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言語の名前なので、冠詞なし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971550"/>
            <a:ext cx="10820400" cy="54673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1143000" y="1314450"/>
            <a:ext cx="962025" cy="33337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6" name=""/>
          <p:cNvSpPr txBox="1"/>
          <p:nvPr/>
        </p:nvSpPr>
        <p:spPr>
          <a:xfrm>
            <a:off x="1295400" y="1371600"/>
            <a:ext cx="11049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STEP 4</a:t>
            </a:r>
          </a:p>
        </p:txBody>
      </p:sp>
      <p:sp>
        <p:nvSpPr>
          <p:cNvPr id="7" name=""/>
          <p:cNvSpPr txBox="1"/>
          <p:nvPr/>
        </p:nvSpPr>
        <p:spPr>
          <a:xfrm>
            <a:off x="1143000" y="1762125"/>
            <a:ext cx="3057525" cy="857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650" b="1">
                <a:solidFill>
                  <a:srgbClr val="1C2340"/>
                </a:solidFill>
                <a:latin typeface="Noto Sans JP"/>
                <a:ea typeface="Noto Sans JP"/>
              </a:rPr>
              <a:t>総まとめ</a:t>
            </a:r>
          </a:p>
        </p:txBody>
      </p:sp>
      <p:sp>
        <p:nvSpPr>
          <p:cNvPr id="8" name=""/>
          <p:cNvSpPr txBox="1"/>
          <p:nvPr/>
        </p:nvSpPr>
        <p:spPr>
          <a:xfrm>
            <a:off x="1143000" y="2676525"/>
            <a:ext cx="6886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動画1〜3のミックス ・ 13問（穴埋め4・瞬間英作文9）</a:t>
            </a:r>
          </a:p>
        </p:txBody>
      </p:sp>
      <p:sp>
        <p:nvSpPr>
          <p:cNvPr id="9" name=""/>
          <p:cNvSpPr/>
          <p:nvPr/>
        </p:nvSpPr>
        <p:spPr>
          <a:xfrm>
            <a:off x="1143000" y="3219450"/>
            <a:ext cx="4038600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0" name=""/>
          <p:cNvSpPr txBox="1"/>
          <p:nvPr/>
        </p:nvSpPr>
        <p:spPr>
          <a:xfrm>
            <a:off x="1333500" y="3295650"/>
            <a:ext cx="45529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・</a:t>
            </a:r>
            <a:pPr/>
            <a:r>
              <a:rPr sz="16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・なし、全部まざっています</a:t>
            </a:r>
          </a:p>
        </p:txBody>
      </p:sp>
      <p:sp>
        <p:nvSpPr>
          <p:cNvPr id="11" name=""/>
          <p:cNvSpPr/>
          <p:nvPr/>
        </p:nvSpPr>
        <p:spPr>
          <a:xfrm>
            <a:off x="5276850" y="3219450"/>
            <a:ext cx="2581275" cy="4572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</p:sp>
      <p:sp>
        <p:nvSpPr>
          <p:cNvPr id="12" name=""/>
          <p:cNvSpPr txBox="1"/>
          <p:nvPr/>
        </p:nvSpPr>
        <p:spPr>
          <a:xfrm>
            <a:off x="5467350" y="3295650"/>
            <a:ext cx="28765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>
                <a:solidFill>
                  <a:srgbClr val="1C2340"/>
                </a:solidFill>
                <a:latin typeface="Noto Sans JP"/>
                <a:ea typeface="Noto Sans JP"/>
              </a:rPr>
              <a:t>冠詞はいる？いらない？</a:t>
            </a:r>
          </a:p>
        </p:txBody>
      </p:sp>
      <p:pic>
        <p:nvPicPr>
          <p:cNvPr id="13" name="Image 0" descr="/home/user/hina-english/matome/img/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724400"/>
            <a:ext cx="1428750" cy="1428750"/>
          </a:xfrm>
          <a:prstGeom prst="rect">
            <a:avLst/>
          </a:prstGeom>
        </p:spPr>
      </p:pic>
      <p:pic>
        <p:nvPicPr>
          <p:cNvPr id="14" name="Image 1" descr="/home/user/hina-english/matome/img/xmas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724400"/>
            <a:ext cx="1428750" cy="1428750"/>
          </a:xfrm>
          <a:prstGeom prst="rect">
            <a:avLst/>
          </a:prstGeom>
        </p:spPr>
      </p:pic>
      <p:pic>
        <p:nvPicPr>
          <p:cNvPr id="15" name="Image 2" descr="/home/user/hina-english/matome/img/nur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724400"/>
            <a:ext cx="1428750" cy="1428750"/>
          </a:xfrm>
          <a:prstGeom prst="rect">
            <a:avLst/>
          </a:prstGeom>
        </p:spPr>
      </p:pic>
      <p:pic>
        <p:nvPicPr>
          <p:cNvPr id="16" name="Image 3" descr="/home/user/hina-english/matome/img/e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24400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477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763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Q13</a:t>
            </a:r>
          </a:p>
        </p:txBody>
      </p:sp>
      <p:sp>
        <p:nvSpPr>
          <p:cNvPr id="6" name=""/>
          <p:cNvSpPr txBox="1"/>
          <p:nvPr/>
        </p:nvSpPr>
        <p:spPr>
          <a:xfrm>
            <a:off x="168592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2669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went to</a:t>
            </a:r>
          </a:p>
        </p:txBody>
      </p:sp>
      <p:sp>
        <p:nvSpPr>
          <p:cNvPr id="10" name=""/>
          <p:cNvSpPr/>
          <p:nvPr/>
        </p:nvSpPr>
        <p:spPr>
          <a:xfrm>
            <a:off x="499110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381750" y="2257425"/>
            <a:ext cx="37242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cafe yesterday.</a:t>
            </a:r>
          </a:p>
        </p:txBody>
      </p:sp>
      <p:sp>
        <p:nvSpPr>
          <p:cNvPr id="12" name=""/>
          <p:cNvSpPr/>
          <p:nvPr/>
        </p:nvSpPr>
        <p:spPr>
          <a:xfrm>
            <a:off x="3162300" y="300037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3" name=""/>
          <p:cNvSpPr txBox="1"/>
          <p:nvPr/>
        </p:nvSpPr>
        <p:spPr>
          <a:xfrm>
            <a:off x="4552950" y="3076575"/>
            <a:ext cx="5572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cafe was very crowded.</a:t>
            </a:r>
          </a:p>
        </p:txBody>
      </p:sp>
      <p:sp>
        <p:nvSpPr>
          <p:cNvPr id="14" name=""/>
          <p:cNvSpPr txBox="1"/>
          <p:nvPr/>
        </p:nvSpPr>
        <p:spPr>
          <a:xfrm>
            <a:off x="3162300" y="3848100"/>
            <a:ext cx="8505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私は昨日、あるカフェに行きました。そのカフェはとても混んでいました。</a:t>
            </a:r>
          </a:p>
        </p:txBody>
      </p:sp>
      <p:sp>
        <p:nvSpPr>
          <p:cNvPr id="15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7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9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20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21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2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477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763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Q13</a:t>
            </a:r>
          </a:p>
        </p:txBody>
      </p:sp>
      <p:sp>
        <p:nvSpPr>
          <p:cNvPr id="6" name=""/>
          <p:cNvSpPr txBox="1"/>
          <p:nvPr/>
        </p:nvSpPr>
        <p:spPr>
          <a:xfrm>
            <a:off x="168592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257425"/>
            <a:ext cx="22669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went to</a:t>
            </a:r>
          </a:p>
        </p:txBody>
      </p:sp>
      <p:sp>
        <p:nvSpPr>
          <p:cNvPr id="10" name=""/>
          <p:cNvSpPr/>
          <p:nvPr/>
        </p:nvSpPr>
        <p:spPr>
          <a:xfrm>
            <a:off x="4991100" y="218122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314950" y="226695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2" name=""/>
          <p:cNvSpPr txBox="1"/>
          <p:nvPr/>
        </p:nvSpPr>
        <p:spPr>
          <a:xfrm>
            <a:off x="6381750" y="2257425"/>
            <a:ext cx="37242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cafe yesterday.</a:t>
            </a:r>
          </a:p>
        </p:txBody>
      </p:sp>
      <p:sp>
        <p:nvSpPr>
          <p:cNvPr id="13" name=""/>
          <p:cNvSpPr/>
          <p:nvPr/>
        </p:nvSpPr>
        <p:spPr>
          <a:xfrm>
            <a:off x="3162300" y="3000375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3209925" y="308610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5" name=""/>
          <p:cNvSpPr txBox="1"/>
          <p:nvPr/>
        </p:nvSpPr>
        <p:spPr>
          <a:xfrm>
            <a:off x="4552950" y="3076575"/>
            <a:ext cx="5572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cafe was very crowded.</a:t>
            </a:r>
          </a:p>
        </p:txBody>
      </p:sp>
      <p:sp>
        <p:nvSpPr>
          <p:cNvPr id="16" name=""/>
          <p:cNvSpPr txBox="1"/>
          <p:nvPr/>
        </p:nvSpPr>
        <p:spPr>
          <a:xfrm>
            <a:off x="3162300" y="3848100"/>
            <a:ext cx="8505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私は昨日、あるカフェに行きました。そのカフェはとても混んでいました。</a:t>
            </a:r>
          </a:p>
        </p:txBody>
      </p:sp>
      <p:sp>
        <p:nvSpPr>
          <p:cNvPr id="17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990600" y="48577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49149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4867275"/>
            <a:ext cx="13430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a / The</a:t>
            </a:r>
          </a:p>
        </p:txBody>
      </p:sp>
      <p:sp>
        <p:nvSpPr>
          <p:cNvPr id="21" name=""/>
          <p:cNvSpPr/>
          <p:nvPr/>
        </p:nvSpPr>
        <p:spPr>
          <a:xfrm>
            <a:off x="990600" y="5324475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2" name=""/>
          <p:cNvSpPr txBox="1"/>
          <p:nvPr/>
        </p:nvSpPr>
        <p:spPr>
          <a:xfrm>
            <a:off x="1162050" y="53816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1つめ</a:t>
            </a:r>
          </a:p>
        </p:txBody>
      </p:sp>
      <p:sp>
        <p:nvSpPr>
          <p:cNvPr id="23" name=""/>
          <p:cNvSpPr txBox="1"/>
          <p:nvPr/>
        </p:nvSpPr>
        <p:spPr>
          <a:xfrm>
            <a:off x="1914525" y="5343525"/>
            <a:ext cx="24479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初登場なので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24" name=""/>
          <p:cNvSpPr/>
          <p:nvPr/>
        </p:nvSpPr>
        <p:spPr>
          <a:xfrm>
            <a:off x="990600" y="5791200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162050" y="584835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2つめ</a:t>
            </a:r>
          </a:p>
        </p:txBody>
      </p:sp>
      <p:sp>
        <p:nvSpPr>
          <p:cNvPr id="26" name=""/>
          <p:cNvSpPr txBox="1"/>
          <p:nvPr/>
        </p:nvSpPr>
        <p:spPr>
          <a:xfrm>
            <a:off x="1914525" y="5810250"/>
            <a:ext cx="50958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「さっきのカフェ」と分かるので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Q14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3335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like</a:t>
            </a:r>
          </a:p>
        </p:txBody>
      </p:sp>
      <p:sp>
        <p:nvSpPr>
          <p:cNvPr id="10" name=""/>
          <p:cNvSpPr/>
          <p:nvPr/>
        </p:nvSpPr>
        <p:spPr>
          <a:xfrm>
            <a:off x="417195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5562600" y="266700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coffee at this cafe.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4657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私はこのカフェのコーヒーが好きです。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7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Q14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3335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like</a:t>
            </a:r>
          </a:p>
        </p:txBody>
      </p:sp>
      <p:sp>
        <p:nvSpPr>
          <p:cNvPr id="10" name=""/>
          <p:cNvSpPr/>
          <p:nvPr/>
        </p:nvSpPr>
        <p:spPr>
          <a:xfrm>
            <a:off x="417195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4257675" y="2676525"/>
            <a:ext cx="10668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2" name=""/>
          <p:cNvSpPr txBox="1"/>
          <p:nvPr/>
        </p:nvSpPr>
        <p:spPr>
          <a:xfrm>
            <a:off x="5562600" y="266700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coffee at this cafe.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438525"/>
            <a:ext cx="4657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私はこのカフェのコーヒーが好きです。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7" name=""/>
          <p:cNvSpPr txBox="1"/>
          <p:nvPr/>
        </p:nvSpPr>
        <p:spPr>
          <a:xfrm>
            <a:off x="1809750" y="5095875"/>
            <a:ext cx="8477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8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5572125"/>
            <a:ext cx="6410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「このカフェの」コーヒーと特定できるので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477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763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Q15</a:t>
            </a:r>
          </a:p>
        </p:txBody>
      </p:sp>
      <p:sp>
        <p:nvSpPr>
          <p:cNvPr id="6" name=""/>
          <p:cNvSpPr txBox="1"/>
          <p:nvPr/>
        </p:nvSpPr>
        <p:spPr>
          <a:xfrm>
            <a:off x="168592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31623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4552950" y="2667000"/>
            <a:ext cx="6886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dogs next door are very cute.</a:t>
            </a:r>
          </a:p>
        </p:txBody>
      </p:sp>
      <p:sp>
        <p:nvSpPr>
          <p:cNvPr id="11" name=""/>
          <p:cNvSpPr txBox="1"/>
          <p:nvPr/>
        </p:nvSpPr>
        <p:spPr>
          <a:xfrm>
            <a:off x="3162300" y="3438525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隣の家の犬たちはとてもかわいいです。</a:t>
            </a:r>
          </a:p>
        </p:txBody>
      </p:sp>
      <p:sp>
        <p:nvSpPr>
          <p:cNvPr id="12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4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6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7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8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19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4772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763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Q15</a:t>
            </a:r>
          </a:p>
        </p:txBody>
      </p:sp>
      <p:sp>
        <p:nvSpPr>
          <p:cNvPr id="6" name=""/>
          <p:cNvSpPr txBox="1"/>
          <p:nvPr/>
        </p:nvSpPr>
        <p:spPr>
          <a:xfrm>
            <a:off x="1685925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316230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2F86CF"/>
          </a:solidFill>
          <a:ln/>
        </p:spPr>
      </p:sp>
      <p:sp>
        <p:nvSpPr>
          <p:cNvPr id="10" name=""/>
          <p:cNvSpPr txBox="1"/>
          <p:nvPr/>
        </p:nvSpPr>
        <p:spPr>
          <a:xfrm>
            <a:off x="3209925" y="2676525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1" name=""/>
          <p:cNvSpPr txBox="1"/>
          <p:nvPr/>
        </p:nvSpPr>
        <p:spPr>
          <a:xfrm>
            <a:off x="4552950" y="2667000"/>
            <a:ext cx="68865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dogs next door are very cute.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隣の家の犬たちはとてもかわいいです。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6" name=""/>
          <p:cNvSpPr txBox="1"/>
          <p:nvPr/>
        </p:nvSpPr>
        <p:spPr>
          <a:xfrm>
            <a:off x="1809750" y="5095875"/>
            <a:ext cx="9048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7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19" name=""/>
          <p:cNvSpPr txBox="1"/>
          <p:nvPr/>
        </p:nvSpPr>
        <p:spPr>
          <a:xfrm>
            <a:off x="1809750" y="5572125"/>
            <a:ext cx="64008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「隣の家の犬」と特定できるので、複数でも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Q16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xmas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9907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spend</a:t>
            </a:r>
          </a:p>
        </p:txBody>
      </p:sp>
      <p:sp>
        <p:nvSpPr>
          <p:cNvPr id="10" name=""/>
          <p:cNvSpPr/>
          <p:nvPr/>
        </p:nvSpPr>
        <p:spPr>
          <a:xfrm>
            <a:off x="474345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6134100" y="2667000"/>
            <a:ext cx="60960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Christmas with my family.</a:t>
            </a:r>
          </a:p>
        </p:txBody>
      </p:sp>
      <p:sp>
        <p:nvSpPr>
          <p:cNvPr id="12" name=""/>
          <p:cNvSpPr txBox="1"/>
          <p:nvPr/>
        </p:nvSpPr>
        <p:spPr>
          <a:xfrm>
            <a:off x="3162300" y="3438525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クリスマスは家族と過ごします。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781175" y="5248275"/>
            <a:ext cx="9048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17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8" name=""/>
          <p:cNvSpPr txBox="1"/>
          <p:nvPr/>
        </p:nvSpPr>
        <p:spPr>
          <a:xfrm>
            <a:off x="276225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9" name=""/>
          <p:cNvSpPr/>
          <p:nvPr/>
        </p:nvSpPr>
        <p:spPr>
          <a:xfrm>
            <a:off x="39433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20" name=""/>
          <p:cNvSpPr txBox="1"/>
          <p:nvPr/>
        </p:nvSpPr>
        <p:spPr>
          <a:xfrm>
            <a:off x="392430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Q16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46767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xmas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67000"/>
            <a:ext cx="19907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I spend</a:t>
            </a:r>
          </a:p>
        </p:txBody>
      </p:sp>
      <p:sp>
        <p:nvSpPr>
          <p:cNvPr id="10" name=""/>
          <p:cNvSpPr/>
          <p:nvPr/>
        </p:nvSpPr>
        <p:spPr>
          <a:xfrm>
            <a:off x="4743450" y="2590800"/>
            <a:ext cx="1238250" cy="666750"/>
          </a:xfrm>
          <a:prstGeom prst="roundRect">
            <a:avLst>
              <a:gd name="adj" fmla="val 22857"/>
            </a:avLst>
          </a:prstGeom>
          <a:solidFill>
            <a:srgbClr val="9AA1B6"/>
          </a:solidFill>
          <a:ln/>
        </p:spPr>
      </p:sp>
      <p:sp>
        <p:nvSpPr>
          <p:cNvPr id="11" name=""/>
          <p:cNvSpPr txBox="1"/>
          <p:nvPr/>
        </p:nvSpPr>
        <p:spPr>
          <a:xfrm>
            <a:off x="4867275" y="2714625"/>
            <a:ext cx="1000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2" name=""/>
          <p:cNvSpPr txBox="1"/>
          <p:nvPr/>
        </p:nvSpPr>
        <p:spPr>
          <a:xfrm>
            <a:off x="6134100" y="2667000"/>
            <a:ext cx="60960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C2340"/>
                </a:solidFill>
                <a:latin typeface="DM Sans"/>
                <a:ea typeface="DM Sans"/>
              </a:rPr>
              <a:t>Christmas with my family.</a:t>
            </a:r>
          </a:p>
        </p:txBody>
      </p:sp>
      <p:sp>
        <p:nvSpPr>
          <p:cNvPr id="13" name=""/>
          <p:cNvSpPr txBox="1"/>
          <p:nvPr/>
        </p:nvSpPr>
        <p:spPr>
          <a:xfrm>
            <a:off x="3162300" y="3438525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クリスマスは家族と過ごします。</a:t>
            </a:r>
          </a:p>
        </p:txBody>
      </p:sp>
      <p:sp>
        <p:nvSpPr>
          <p:cNvPr id="14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6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7" name=""/>
          <p:cNvSpPr txBox="1"/>
          <p:nvPr/>
        </p:nvSpPr>
        <p:spPr>
          <a:xfrm>
            <a:off x="1809750" y="5114925"/>
            <a:ext cx="3714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なし（冠詞をつけない）</a:t>
            </a:r>
          </a:p>
        </p:txBody>
      </p:sp>
      <p:sp>
        <p:nvSpPr>
          <p:cNvPr id="18" name=""/>
          <p:cNvSpPr/>
          <p:nvPr/>
        </p:nvSpPr>
        <p:spPr>
          <a:xfrm>
            <a:off x="990600" y="556260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62050" y="561975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20" name=""/>
          <p:cNvSpPr txBox="1"/>
          <p:nvPr/>
        </p:nvSpPr>
        <p:spPr>
          <a:xfrm>
            <a:off x="1809750" y="5581650"/>
            <a:ext cx="44005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祝日・ホリデーなので → 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冠詞なし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286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572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Q17</a:t>
            </a:r>
          </a:p>
        </p:txBody>
      </p:sp>
      <p:sp>
        <p:nvSpPr>
          <p:cNvPr id="6" name=""/>
          <p:cNvSpPr txBox="1"/>
          <p:nvPr/>
        </p:nvSpPr>
        <p:spPr>
          <a:xfrm>
            <a:off x="16668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048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彼女は看護師です。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286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572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Q17</a:t>
            </a:r>
          </a:p>
        </p:txBody>
      </p:sp>
      <p:sp>
        <p:nvSpPr>
          <p:cNvPr id="6" name=""/>
          <p:cNvSpPr txBox="1"/>
          <p:nvPr/>
        </p:nvSpPr>
        <p:spPr>
          <a:xfrm>
            <a:off x="16668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nu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She is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nurse.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彼女は看護師です。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30003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職業は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をつける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Q18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ngin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4577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彼はエンジニアです。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Q18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ngin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40671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He is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engineer.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彼はエンジニアです。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48196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engineer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は母音の音で始まるので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Q19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45770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私は音楽が好きです。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572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953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Q19</a:t>
            </a:r>
          </a:p>
        </p:txBody>
      </p:sp>
      <p:sp>
        <p:nvSpPr>
          <p:cNvPr id="6" name=""/>
          <p:cNvSpPr txBox="1"/>
          <p:nvPr/>
        </p:nvSpPr>
        <p:spPr>
          <a:xfrm>
            <a:off x="16954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28098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like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music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私は音楽が好きです。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657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music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は数えられない名詞なので、冠詞なし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334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810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Q20</a:t>
            </a:r>
          </a:p>
        </p:txBody>
      </p:sp>
      <p:sp>
        <p:nvSpPr>
          <p:cNvPr id="6" name=""/>
          <p:cNvSpPr txBox="1"/>
          <p:nvPr/>
        </p:nvSpPr>
        <p:spPr>
          <a:xfrm>
            <a:off x="17716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69913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彼は私にアドバイスをくれました。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334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810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Q20</a:t>
            </a:r>
          </a:p>
        </p:txBody>
      </p:sp>
      <p:sp>
        <p:nvSpPr>
          <p:cNvPr id="6" name=""/>
          <p:cNvSpPr txBox="1"/>
          <p:nvPr/>
        </p:nvSpPr>
        <p:spPr>
          <a:xfrm>
            <a:off x="17716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44196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He gave me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advice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彼は私にアドバイスをくれました。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85058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advice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は数えられない名詞なので、冠詞なし（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some advice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も○）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382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66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Q21</a:t>
            </a:r>
          </a:p>
        </p:txBody>
      </p:sp>
      <p:sp>
        <p:nvSpPr>
          <p:cNvPr id="6" name=""/>
          <p:cNvSpPr txBox="1"/>
          <p:nvPr/>
        </p:nvSpPr>
        <p:spPr>
          <a:xfrm>
            <a:off x="16764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breakf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65436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私は毎朝、朝ごはんを食べます。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382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8667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Q21</a:t>
            </a:r>
          </a:p>
        </p:txBody>
      </p:sp>
      <p:sp>
        <p:nvSpPr>
          <p:cNvPr id="6" name=""/>
          <p:cNvSpPr txBox="1"/>
          <p:nvPr/>
        </p:nvSpPr>
        <p:spPr>
          <a:xfrm>
            <a:off x="16764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breakf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66770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eat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breakfast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every morning.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9338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私は毎朝、朝ごはんを食べます。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8959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食事は基本、無冠詞（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I have breakfast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も○）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953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334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Q22</a:t>
            </a:r>
          </a:p>
        </p:txBody>
      </p:sp>
      <p:sp>
        <p:nvSpPr>
          <p:cNvPr id="6" name=""/>
          <p:cNvSpPr txBox="1"/>
          <p:nvPr/>
        </p:nvSpPr>
        <p:spPr>
          <a:xfrm>
            <a:off x="17335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5953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私は毎朝、卵を1個食べます。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89535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334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Q22</a:t>
            </a:r>
          </a:p>
        </p:txBody>
      </p:sp>
      <p:sp>
        <p:nvSpPr>
          <p:cNvPr id="6" name=""/>
          <p:cNvSpPr txBox="1"/>
          <p:nvPr/>
        </p:nvSpPr>
        <p:spPr>
          <a:xfrm>
            <a:off x="173355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e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60388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eat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egg every morning.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600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私は毎朝、卵を1個食べます。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41338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egg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は母音の音で始まるので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048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429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Q23</a:t>
            </a:r>
          </a:p>
        </p:txBody>
      </p:sp>
      <p:sp>
        <p:nvSpPr>
          <p:cNvPr id="6" name=""/>
          <p:cNvSpPr txBox="1"/>
          <p:nvPr/>
        </p:nvSpPr>
        <p:spPr>
          <a:xfrm>
            <a:off x="17430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flag-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5286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私はフィリピン出身です。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048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429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Q23</a:t>
            </a:r>
          </a:p>
        </p:txBody>
      </p:sp>
      <p:sp>
        <p:nvSpPr>
          <p:cNvPr id="6" name=""/>
          <p:cNvSpPr txBox="1"/>
          <p:nvPr/>
        </p:nvSpPr>
        <p:spPr>
          <a:xfrm>
            <a:off x="17430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flag-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54673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I'm from </a:t>
            </a:r>
            <a:pPr/>
            <a:r>
              <a:rPr sz="30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Philippines.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209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私はフィリピン出身です。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55721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島の集まり（複数形）を表す国名なので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144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525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Q24</a:t>
            </a:r>
          </a:p>
        </p:txBody>
      </p:sp>
      <p:sp>
        <p:nvSpPr>
          <p:cNvPr id="6" name=""/>
          <p:cNvSpPr txBox="1"/>
          <p:nvPr/>
        </p:nvSpPr>
        <p:spPr>
          <a:xfrm>
            <a:off x="17526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mov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64103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昨日の夜、映画を1本観ました。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14400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525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Q24</a:t>
            </a:r>
          </a:p>
        </p:txBody>
      </p:sp>
      <p:sp>
        <p:nvSpPr>
          <p:cNvPr id="6" name=""/>
          <p:cNvSpPr txBox="1"/>
          <p:nvPr/>
        </p:nvSpPr>
        <p:spPr>
          <a:xfrm>
            <a:off x="1752600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mov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63531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watched </a:t>
            </a:r>
            <a:pPr/>
            <a:r>
              <a:rPr sz="30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movie last night.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38576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昨日の夜、映画を1本観ました。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30670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「1本の映画」なので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048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429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Q25</a:t>
            </a:r>
          </a:p>
        </p:txBody>
      </p:sp>
      <p:sp>
        <p:nvSpPr>
          <p:cNvPr id="6" name=""/>
          <p:cNvSpPr txBox="1"/>
          <p:nvPr/>
        </p:nvSpPr>
        <p:spPr>
          <a:xfrm>
            <a:off x="17430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lugg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895600"/>
            <a:ext cx="4048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荷物が多すぎます。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409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練習問題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/>
          <p:nvPr/>
        </p:nvSpPr>
        <p:spPr>
          <a:xfrm>
            <a:off x="685800" y="1019175"/>
            <a:ext cx="904875" cy="438150"/>
          </a:xfrm>
          <a:prstGeom prst="roundRect">
            <a:avLst>
              <a:gd name="adj" fmla="val 50425"/>
            </a:avLst>
          </a:prstGeom>
          <a:solidFill>
            <a:srgbClr val="E846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876300" y="1047750"/>
            <a:ext cx="9429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DM Sans"/>
                <a:ea typeface="DM Sans"/>
              </a:rPr>
              <a:t>Q25</a:t>
            </a:r>
          </a:p>
        </p:txBody>
      </p:sp>
      <p:sp>
        <p:nvSpPr>
          <p:cNvPr id="6" name=""/>
          <p:cNvSpPr txBox="1"/>
          <p:nvPr/>
        </p:nvSpPr>
        <p:spPr>
          <a:xfrm>
            <a:off x="1743075" y="93345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英語で言うと？</a:t>
            </a:r>
          </a:p>
        </p:txBody>
      </p:sp>
      <p:sp>
        <p:nvSpPr>
          <p:cNvPr id="7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8" name="Image 0" descr="/home/user/hina-english/matome/img/lugg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162300" y="2676525"/>
            <a:ext cx="55911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have too much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luggage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162300" y="333375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荷物が多すぎます。</a:t>
            </a:r>
          </a:p>
        </p:txBody>
      </p:sp>
      <p:sp>
        <p:nvSpPr>
          <p:cNvPr id="11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990600" y="53244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1162050" y="53816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4" name=""/>
          <p:cNvSpPr txBox="1"/>
          <p:nvPr/>
        </p:nvSpPr>
        <p:spPr>
          <a:xfrm>
            <a:off x="2152650" y="5343525"/>
            <a:ext cx="68389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luggage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は数えられない名詞なので、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も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s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もつけない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