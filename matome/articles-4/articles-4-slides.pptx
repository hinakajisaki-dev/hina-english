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
		
		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60" Type="http://schemas.openxmlformats.org/officeDocument/2006/relationships/presProps" Target="presProps.xml"/><Relationship Id="rId6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image" Target="../media/image-41-4.png"/><Relationship Id="rId5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419100" y="419100"/>
            <a:ext cx="11353800" cy="6019800"/>
          </a:xfrm>
          <a:prstGeom prst="roundRect">
            <a:avLst>
              <a:gd name="adj" fmla="val 6962"/>
            </a:avLst>
          </a:prstGeom>
          <a:solidFill>
            <a:srgbClr val="FFDCCB"/>
          </a:solidFill>
          <a:ln/>
        </p:spPr>
      </p:sp>
      <p:sp>
        <p:nvSpPr>
          <p:cNvPr id="3" name=""/>
          <p:cNvSpPr txBox="1"/>
          <p:nvPr/>
        </p:nvSpPr>
        <p:spPr>
          <a:xfrm>
            <a:off x="1181100" y="2047875"/>
            <a:ext cx="20764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01A"/>
                </a:solidFill>
                <a:latin typeface="Noto Sans JP"/>
                <a:ea typeface="Noto Sans JP"/>
              </a:rPr>
              <a:t>文法解説動画</a:t>
            </a:r>
          </a:p>
        </p:txBody>
      </p:sp>
      <p:sp>
        <p:nvSpPr>
          <p:cNvPr id="4" name=""/>
          <p:cNvSpPr txBox="1"/>
          <p:nvPr/>
        </p:nvSpPr>
        <p:spPr>
          <a:xfrm>
            <a:off x="1181100" y="2162175"/>
            <a:ext cx="8248650" cy="23145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600" b="1">
                <a:solidFill>
                  <a:srgbClr val="1C2340"/>
                </a:solidFill>
                <a:latin typeface="Noto Sans JP"/>
                <a:ea typeface="Noto Sans JP"/>
              </a:rPr>
              <a:t>冠詞</a:t>
            </a:r>
            <a:pPr/>
            <a:r>
              <a:rPr sz="6900" b="1">
                <a:solidFill>
                  <a:srgbClr val="E8461E"/>
                </a:solidFill>
                <a:latin typeface="Noto Sans JP"/>
                <a:ea typeface="Noto Sans JP"/>
              </a:rPr>
              <a:t>練習問題</a:t>
            </a:r>
          </a:p>
        </p:txBody>
      </p:sp>
      <p:sp>
        <p:nvSpPr>
          <p:cNvPr id="5" name=""/>
          <p:cNvSpPr txBox="1"/>
          <p:nvPr/>
        </p:nvSpPr>
        <p:spPr>
          <a:xfrm>
            <a:off x="1181100" y="4371975"/>
            <a:ext cx="67056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Noto Sans JP"/>
                <a:ea typeface="Noto Sans JP"/>
              </a:rPr>
              <a:t>全25問 一緒に声に出して練習しよう！</a:t>
            </a:r>
          </a:p>
        </p:txBody>
      </p:sp>
      <p:pic>
        <p:nvPicPr>
          <p:cNvPr id="6" name="Image 0" descr="/home/user/hina-english/matome/img/t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24800" y="1809750"/>
            <a:ext cx="3238500" cy="3238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179070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やり方</a:t>
            </a:r>
          </a:p>
        </p:txBody>
      </p:sp>
      <p:sp>
        <p:nvSpPr>
          <p:cNvPr id="5" name=""/>
          <p:cNvSpPr/>
          <p:nvPr/>
        </p:nvSpPr>
        <p:spPr>
          <a:xfrm>
            <a:off x="685800" y="1724025"/>
            <a:ext cx="5534025" cy="148590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/>
        </p:spPr>
      </p:sp>
      <p:sp>
        <p:nvSpPr>
          <p:cNvPr id="6" name=""/>
          <p:cNvSpPr/>
          <p:nvPr/>
        </p:nvSpPr>
        <p:spPr>
          <a:xfrm>
            <a:off x="952500" y="2247900"/>
            <a:ext cx="438150" cy="4381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7" name=""/>
          <p:cNvSpPr txBox="1"/>
          <p:nvPr/>
        </p:nvSpPr>
        <p:spPr>
          <a:xfrm>
            <a:off x="952500" y="2324100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8" name=""/>
          <p:cNvSpPr txBox="1"/>
          <p:nvPr/>
        </p:nvSpPr>
        <p:spPr>
          <a:xfrm>
            <a:off x="1562100" y="2295525"/>
            <a:ext cx="5114925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問題を見て、（ ）に入るものを考える</a:t>
            </a:r>
          </a:p>
        </p:txBody>
      </p:sp>
      <p:sp>
        <p:nvSpPr>
          <p:cNvPr id="9" name=""/>
          <p:cNvSpPr/>
          <p:nvPr/>
        </p:nvSpPr>
        <p:spPr>
          <a:xfrm>
            <a:off x="685800" y="3343275"/>
            <a:ext cx="5534025" cy="148590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/>
        </p:spPr>
      </p:sp>
      <p:sp>
        <p:nvSpPr>
          <p:cNvPr id="10" name=""/>
          <p:cNvSpPr/>
          <p:nvPr/>
        </p:nvSpPr>
        <p:spPr>
          <a:xfrm>
            <a:off x="952500" y="3867150"/>
            <a:ext cx="438150" cy="4381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11" name=""/>
          <p:cNvSpPr txBox="1"/>
          <p:nvPr/>
        </p:nvSpPr>
        <p:spPr>
          <a:xfrm>
            <a:off x="933450" y="3943350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12" name=""/>
          <p:cNvSpPr txBox="1"/>
          <p:nvPr/>
        </p:nvSpPr>
        <p:spPr>
          <a:xfrm>
            <a:off x="1562100" y="3914775"/>
            <a:ext cx="2514600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声に出して答える</a:t>
            </a:r>
          </a:p>
        </p:txBody>
      </p:sp>
      <p:sp>
        <p:nvSpPr>
          <p:cNvPr id="13" name=""/>
          <p:cNvSpPr/>
          <p:nvPr/>
        </p:nvSpPr>
        <p:spPr>
          <a:xfrm>
            <a:off x="685800" y="4953000"/>
            <a:ext cx="5534025" cy="148590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952500" y="5476875"/>
            <a:ext cx="438150" cy="4381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15" name=""/>
          <p:cNvSpPr txBox="1"/>
          <p:nvPr/>
        </p:nvSpPr>
        <p:spPr>
          <a:xfrm>
            <a:off x="933450" y="5562600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sp>
        <p:nvSpPr>
          <p:cNvPr id="16" name=""/>
          <p:cNvSpPr txBox="1"/>
          <p:nvPr/>
        </p:nvSpPr>
        <p:spPr>
          <a:xfrm>
            <a:off x="1562100" y="5524500"/>
            <a:ext cx="3629025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次のスライドで答え合わせ</a:t>
            </a:r>
          </a:p>
        </p:txBody>
      </p:sp>
      <p:sp>
        <p:nvSpPr>
          <p:cNvPr id="17" name=""/>
          <p:cNvSpPr/>
          <p:nvPr/>
        </p:nvSpPr>
        <p:spPr>
          <a:xfrm>
            <a:off x="6467475" y="1724025"/>
            <a:ext cx="5038725" cy="4714875"/>
          </a:xfrm>
          <a:prstGeom prst="roundRect">
            <a:avLst>
              <a:gd name="adj" fmla="val 5657"/>
            </a:avLst>
          </a:prstGeom>
          <a:solidFill>
            <a:srgbClr val="FFFFF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6753225" y="3162300"/>
            <a:ext cx="3790950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答えは、この4つから選ぼう</a:t>
            </a:r>
          </a:p>
        </p:txBody>
      </p:sp>
      <p:sp>
        <p:nvSpPr>
          <p:cNvPr id="19" name=""/>
          <p:cNvSpPr/>
          <p:nvPr/>
        </p:nvSpPr>
        <p:spPr>
          <a:xfrm>
            <a:off x="6753225" y="3714750"/>
            <a:ext cx="1028700" cy="952500"/>
          </a:xfrm>
          <a:prstGeom prst="roundRect">
            <a:avLst>
              <a:gd name="adj" fmla="val 22000"/>
            </a:avLst>
          </a:prstGeom>
          <a:solidFill>
            <a:srgbClr val="E8461E"/>
          </a:solidFill>
          <a:ln/>
        </p:spPr>
      </p:sp>
      <p:sp>
        <p:nvSpPr>
          <p:cNvPr id="20" name=""/>
          <p:cNvSpPr txBox="1"/>
          <p:nvPr/>
        </p:nvSpPr>
        <p:spPr>
          <a:xfrm>
            <a:off x="6972300" y="3943350"/>
            <a:ext cx="5905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21" name=""/>
          <p:cNvSpPr txBox="1"/>
          <p:nvPr/>
        </p:nvSpPr>
        <p:spPr>
          <a:xfrm>
            <a:off x="6981825" y="4762500"/>
            <a:ext cx="10096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1つの〜</a:t>
            </a:r>
          </a:p>
        </p:txBody>
      </p:sp>
      <p:sp>
        <p:nvSpPr>
          <p:cNvPr id="22" name=""/>
          <p:cNvSpPr/>
          <p:nvPr/>
        </p:nvSpPr>
        <p:spPr>
          <a:xfrm>
            <a:off x="7905750" y="3714750"/>
            <a:ext cx="1028700" cy="952500"/>
          </a:xfrm>
          <a:prstGeom prst="roundRect">
            <a:avLst>
              <a:gd name="adj" fmla="val 22000"/>
            </a:avLst>
          </a:prstGeom>
          <a:solidFill>
            <a:srgbClr val="E8461E"/>
          </a:solidFill>
          <a:ln/>
        </p:spPr>
      </p:sp>
      <p:sp>
        <p:nvSpPr>
          <p:cNvPr id="23" name=""/>
          <p:cNvSpPr txBox="1"/>
          <p:nvPr/>
        </p:nvSpPr>
        <p:spPr>
          <a:xfrm>
            <a:off x="7981950" y="3943350"/>
            <a:ext cx="8667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24" name=""/>
          <p:cNvSpPr txBox="1"/>
          <p:nvPr/>
        </p:nvSpPr>
        <p:spPr>
          <a:xfrm>
            <a:off x="7934325" y="4762500"/>
            <a:ext cx="14573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母音の音の前</a:t>
            </a:r>
          </a:p>
        </p:txBody>
      </p:sp>
      <p:sp>
        <p:nvSpPr>
          <p:cNvPr id="25" name=""/>
          <p:cNvSpPr/>
          <p:nvPr/>
        </p:nvSpPr>
        <p:spPr>
          <a:xfrm>
            <a:off x="9048750" y="3714750"/>
            <a:ext cx="1028700" cy="952500"/>
          </a:xfrm>
          <a:prstGeom prst="roundRect">
            <a:avLst>
              <a:gd name="adj" fmla="val 22000"/>
            </a:avLst>
          </a:prstGeom>
          <a:solidFill>
            <a:srgbClr val="2F86CF"/>
          </a:solidFill>
          <a:ln/>
        </p:spPr>
      </p:sp>
      <p:sp>
        <p:nvSpPr>
          <p:cNvPr id="26" name=""/>
          <p:cNvSpPr txBox="1"/>
          <p:nvPr/>
        </p:nvSpPr>
        <p:spPr>
          <a:xfrm>
            <a:off x="9029700" y="3943350"/>
            <a:ext cx="10668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27" name=""/>
          <p:cNvSpPr txBox="1"/>
          <p:nvPr/>
        </p:nvSpPr>
        <p:spPr>
          <a:xfrm>
            <a:off x="9153525" y="4762500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特定できる</a:t>
            </a:r>
          </a:p>
        </p:txBody>
      </p:sp>
      <p:sp>
        <p:nvSpPr>
          <p:cNvPr id="28" name=""/>
          <p:cNvSpPr/>
          <p:nvPr/>
        </p:nvSpPr>
        <p:spPr>
          <a:xfrm>
            <a:off x="10191750" y="3714750"/>
            <a:ext cx="1028700" cy="952500"/>
          </a:xfrm>
          <a:prstGeom prst="roundRect">
            <a:avLst>
              <a:gd name="adj" fmla="val 22000"/>
            </a:avLst>
          </a:prstGeom>
          <a:solidFill>
            <a:srgbClr val="9AA1B6"/>
          </a:solidFill>
          <a:ln/>
        </p:spPr>
      </p:sp>
      <p:sp>
        <p:nvSpPr>
          <p:cNvPr id="29" name=""/>
          <p:cNvSpPr txBox="1"/>
          <p:nvPr/>
        </p:nvSpPr>
        <p:spPr>
          <a:xfrm>
            <a:off x="10229850" y="400050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30" name=""/>
          <p:cNvSpPr txBox="1"/>
          <p:nvPr/>
        </p:nvSpPr>
        <p:spPr>
          <a:xfrm>
            <a:off x="10382250" y="4762500"/>
            <a:ext cx="10858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52482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今日の流れ（全25問）</a:t>
            </a:r>
          </a:p>
        </p:txBody>
      </p:sp>
      <p:sp>
        <p:nvSpPr>
          <p:cNvPr id="5" name=""/>
          <p:cNvSpPr/>
          <p:nvPr/>
        </p:nvSpPr>
        <p:spPr>
          <a:xfrm>
            <a:off x="685800" y="1724025"/>
            <a:ext cx="2581275" cy="4714875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</p:spPr>
      </p:sp>
      <p:sp>
        <p:nvSpPr>
          <p:cNvPr id="6" name=""/>
          <p:cNvSpPr/>
          <p:nvPr/>
        </p:nvSpPr>
        <p:spPr>
          <a:xfrm>
            <a:off x="1514475" y="1952625"/>
            <a:ext cx="914400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7" name=""/>
          <p:cNvSpPr txBox="1"/>
          <p:nvPr/>
        </p:nvSpPr>
        <p:spPr>
          <a:xfrm>
            <a:off x="1666875" y="2009775"/>
            <a:ext cx="1047750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1</a:t>
            </a:r>
          </a:p>
        </p:txBody>
      </p:sp>
      <p:pic>
        <p:nvPicPr>
          <p:cNvPr id="8" name="Image 0" descr="/home/user/hina-english/matome/img/b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300" y="3171825"/>
            <a:ext cx="1428750" cy="142875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1257300" y="5467350"/>
            <a:ext cx="1990725" cy="3619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19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0" name=""/>
          <p:cNvSpPr txBox="1"/>
          <p:nvPr/>
        </p:nvSpPr>
        <p:spPr>
          <a:xfrm>
            <a:off x="1828800" y="5915025"/>
            <a:ext cx="685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6問</a:t>
            </a:r>
          </a:p>
        </p:txBody>
      </p:sp>
      <p:sp>
        <p:nvSpPr>
          <p:cNvPr id="11" name=""/>
          <p:cNvSpPr/>
          <p:nvPr/>
        </p:nvSpPr>
        <p:spPr>
          <a:xfrm>
            <a:off x="3438525" y="1724025"/>
            <a:ext cx="2581275" cy="4714875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4248150" y="1952625"/>
            <a:ext cx="952500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13" name=""/>
          <p:cNvSpPr txBox="1"/>
          <p:nvPr/>
        </p:nvSpPr>
        <p:spPr>
          <a:xfrm>
            <a:off x="4400550" y="2009775"/>
            <a:ext cx="109537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2</a:t>
            </a:r>
          </a:p>
        </p:txBody>
      </p:sp>
      <p:pic>
        <p:nvPicPr>
          <p:cNvPr id="14" name="Image 1" descr="/home/user/hina-english/matome/img/coffe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0025" y="3181350"/>
            <a:ext cx="1428750" cy="1428750"/>
          </a:xfrm>
          <a:prstGeom prst="rect">
            <a:avLst/>
          </a:prstGeom>
        </p:spPr>
      </p:pic>
      <p:sp>
        <p:nvSpPr>
          <p:cNvPr id="15" name=""/>
          <p:cNvSpPr txBox="1"/>
          <p:nvPr/>
        </p:nvSpPr>
        <p:spPr>
          <a:xfrm>
            <a:off x="3733800" y="5495925"/>
            <a:ext cx="26193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数えられない名詞</a:t>
            </a:r>
          </a:p>
        </p:txBody>
      </p:sp>
      <p:sp>
        <p:nvSpPr>
          <p:cNvPr id="16" name=""/>
          <p:cNvSpPr txBox="1"/>
          <p:nvPr/>
        </p:nvSpPr>
        <p:spPr>
          <a:xfrm>
            <a:off x="4572000" y="5915025"/>
            <a:ext cx="685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5問</a:t>
            </a:r>
          </a:p>
        </p:txBody>
      </p:sp>
      <p:sp>
        <p:nvSpPr>
          <p:cNvPr id="17" name=""/>
          <p:cNvSpPr/>
          <p:nvPr/>
        </p:nvSpPr>
        <p:spPr>
          <a:xfrm>
            <a:off x="6181725" y="1724025"/>
            <a:ext cx="2581275" cy="4714875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</p:spPr>
      </p:sp>
      <p:sp>
        <p:nvSpPr>
          <p:cNvPr id="18" name=""/>
          <p:cNvSpPr/>
          <p:nvPr/>
        </p:nvSpPr>
        <p:spPr>
          <a:xfrm>
            <a:off x="6991350" y="1952625"/>
            <a:ext cx="952500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19" name=""/>
          <p:cNvSpPr txBox="1"/>
          <p:nvPr/>
        </p:nvSpPr>
        <p:spPr>
          <a:xfrm>
            <a:off x="7143750" y="2009775"/>
            <a:ext cx="109537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3</a:t>
            </a:r>
          </a:p>
        </p:txBody>
      </p:sp>
      <p:pic>
        <p:nvPicPr>
          <p:cNvPr id="20" name="Image 2" descr="/home/user/hina-english/matome/img/do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3225" y="3181350"/>
            <a:ext cx="1428750" cy="1428750"/>
          </a:xfrm>
          <a:prstGeom prst="rect">
            <a:avLst/>
          </a:prstGeom>
        </p:spPr>
      </p:pic>
      <p:sp>
        <p:nvSpPr>
          <p:cNvPr id="21" name=""/>
          <p:cNvSpPr txBox="1"/>
          <p:nvPr/>
        </p:nvSpPr>
        <p:spPr>
          <a:xfrm>
            <a:off x="7096125" y="5495925"/>
            <a:ext cx="12001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無冠詞</a:t>
            </a:r>
          </a:p>
        </p:txBody>
      </p:sp>
      <p:sp>
        <p:nvSpPr>
          <p:cNvPr id="22" name=""/>
          <p:cNvSpPr txBox="1"/>
          <p:nvPr/>
        </p:nvSpPr>
        <p:spPr>
          <a:xfrm>
            <a:off x="7324725" y="5915025"/>
            <a:ext cx="685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6問</a:t>
            </a:r>
          </a:p>
        </p:txBody>
      </p:sp>
      <p:sp>
        <p:nvSpPr>
          <p:cNvPr id="23" name=""/>
          <p:cNvSpPr/>
          <p:nvPr/>
        </p:nvSpPr>
        <p:spPr>
          <a:xfrm>
            <a:off x="8934450" y="1724025"/>
            <a:ext cx="2581275" cy="4714875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</p:spPr>
      </p:sp>
      <p:sp>
        <p:nvSpPr>
          <p:cNvPr id="24" name=""/>
          <p:cNvSpPr/>
          <p:nvPr/>
        </p:nvSpPr>
        <p:spPr>
          <a:xfrm>
            <a:off x="9734550" y="1952625"/>
            <a:ext cx="962025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25" name=""/>
          <p:cNvSpPr txBox="1"/>
          <p:nvPr/>
        </p:nvSpPr>
        <p:spPr>
          <a:xfrm>
            <a:off x="9886950" y="2009775"/>
            <a:ext cx="1104900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4</a:t>
            </a:r>
          </a:p>
        </p:txBody>
      </p:sp>
      <p:pic>
        <p:nvPicPr>
          <p:cNvPr id="26" name="Image 3" descr="/home/user/hina-english/matome/img/nurs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5950" y="3181350"/>
            <a:ext cx="1428750" cy="1428750"/>
          </a:xfrm>
          <a:prstGeom prst="rect">
            <a:avLst/>
          </a:prstGeom>
        </p:spPr>
      </p:pic>
      <p:sp>
        <p:nvSpPr>
          <p:cNvPr id="27" name=""/>
          <p:cNvSpPr txBox="1"/>
          <p:nvPr/>
        </p:nvSpPr>
        <p:spPr>
          <a:xfrm>
            <a:off x="9601200" y="5495925"/>
            <a:ext cx="17716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瞬間英作文</a:t>
            </a:r>
          </a:p>
        </p:txBody>
      </p:sp>
      <p:sp>
        <p:nvSpPr>
          <p:cNvPr id="28" name=""/>
          <p:cNvSpPr txBox="1"/>
          <p:nvPr/>
        </p:nvSpPr>
        <p:spPr>
          <a:xfrm>
            <a:off x="10067925" y="5915025"/>
            <a:ext cx="685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8問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971550"/>
            <a:ext cx="10820400" cy="546735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1143000" y="1314450"/>
            <a:ext cx="914400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6" name=""/>
          <p:cNvSpPr txBox="1"/>
          <p:nvPr/>
        </p:nvSpPr>
        <p:spPr>
          <a:xfrm>
            <a:off x="1295400" y="1371600"/>
            <a:ext cx="1047750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1</a:t>
            </a:r>
          </a:p>
        </p:txBody>
      </p:sp>
      <p:sp>
        <p:nvSpPr>
          <p:cNvPr id="7" name=""/>
          <p:cNvSpPr txBox="1"/>
          <p:nvPr/>
        </p:nvSpPr>
        <p:spPr>
          <a:xfrm>
            <a:off x="1143000" y="1762125"/>
            <a:ext cx="4267200" cy="8667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6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4650" b="1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46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8" name=""/>
          <p:cNvSpPr txBox="1"/>
          <p:nvPr/>
        </p:nvSpPr>
        <p:spPr>
          <a:xfrm>
            <a:off x="1143000" y="2733675"/>
            <a:ext cx="31242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動画1のおさらい ・ 6問</a:t>
            </a:r>
          </a:p>
        </p:txBody>
      </p:sp>
      <p:sp>
        <p:nvSpPr>
          <p:cNvPr id="9" name=""/>
          <p:cNvSpPr/>
          <p:nvPr/>
        </p:nvSpPr>
        <p:spPr>
          <a:xfrm>
            <a:off x="1143000" y="3276600"/>
            <a:ext cx="176212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0" name=""/>
          <p:cNvSpPr txBox="1"/>
          <p:nvPr/>
        </p:nvSpPr>
        <p:spPr>
          <a:xfrm>
            <a:off x="1333500" y="3352800"/>
            <a:ext cx="1933575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初登場は </a:t>
            </a:r>
            <a:pPr/>
            <a:r>
              <a:rPr sz="16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</a:p>
        </p:txBody>
      </p:sp>
      <p:sp>
        <p:nvSpPr>
          <p:cNvPr id="11" name=""/>
          <p:cNvSpPr/>
          <p:nvPr/>
        </p:nvSpPr>
        <p:spPr>
          <a:xfrm>
            <a:off x="3000375" y="3276600"/>
            <a:ext cx="187642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2" name=""/>
          <p:cNvSpPr txBox="1"/>
          <p:nvPr/>
        </p:nvSpPr>
        <p:spPr>
          <a:xfrm>
            <a:off x="3190875" y="3352800"/>
            <a:ext cx="2066925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2回目以降は </a:t>
            </a:r>
            <a:pPr/>
            <a:r>
              <a:rPr sz="16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3" name=""/>
          <p:cNvSpPr/>
          <p:nvPr/>
        </p:nvSpPr>
        <p:spPr>
          <a:xfrm>
            <a:off x="4972050" y="3276600"/>
            <a:ext cx="267652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4" name=""/>
          <p:cNvSpPr txBox="1"/>
          <p:nvPr/>
        </p:nvSpPr>
        <p:spPr>
          <a:xfrm>
            <a:off x="5162550" y="3352800"/>
            <a:ext cx="2981325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16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 は「音」で決まる</a:t>
            </a:r>
          </a:p>
        </p:txBody>
      </p:sp>
      <p:sp>
        <p:nvSpPr>
          <p:cNvPr id="15" name=""/>
          <p:cNvSpPr/>
          <p:nvPr/>
        </p:nvSpPr>
        <p:spPr>
          <a:xfrm>
            <a:off x="7743825" y="3276600"/>
            <a:ext cx="320992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6" name=""/>
          <p:cNvSpPr txBox="1"/>
          <p:nvPr/>
        </p:nvSpPr>
        <p:spPr>
          <a:xfrm>
            <a:off x="7934325" y="3352800"/>
            <a:ext cx="360045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 ＝ どれのことか特定できる</a:t>
            </a:r>
          </a:p>
        </p:txBody>
      </p:sp>
      <p:pic>
        <p:nvPicPr>
          <p:cNvPr id="17" name="Image 0" descr="/home/user/hina-english/matome/img/b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4724400"/>
            <a:ext cx="1428750" cy="1428750"/>
          </a:xfrm>
          <a:prstGeom prst="rect">
            <a:avLst/>
          </a:prstGeom>
        </p:spPr>
      </p:pic>
      <p:pic>
        <p:nvPicPr>
          <p:cNvPr id="18" name="Image 1" descr="/home/user/hina-english/matome/img/c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4724400"/>
            <a:ext cx="1428750" cy="1428750"/>
          </a:xfrm>
          <a:prstGeom prst="rect">
            <a:avLst/>
          </a:prstGeom>
        </p:spPr>
      </p:pic>
      <p:pic>
        <p:nvPicPr>
          <p:cNvPr id="19" name="Image 2" descr="/home/user/hina-english/matome/img/do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4724400"/>
            <a:ext cx="1428750" cy="1428750"/>
          </a:xfrm>
          <a:prstGeom prst="rect">
            <a:avLst/>
          </a:prstGeom>
        </p:spPr>
      </p:pic>
      <p:pic>
        <p:nvPicPr>
          <p:cNvPr id="20" name="Image 3" descr="/home/user/hina-english/matome/img/su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4724400"/>
            <a:ext cx="1428750" cy="14287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6858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6953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</a:t>
            </a:r>
          </a:p>
        </p:txBody>
      </p:sp>
      <p:sp>
        <p:nvSpPr>
          <p:cNvPr id="6" name=""/>
          <p:cNvSpPr txBox="1"/>
          <p:nvPr/>
        </p:nvSpPr>
        <p:spPr>
          <a:xfrm>
            <a:off x="15240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b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257425"/>
            <a:ext cx="22098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bought</a:t>
            </a:r>
          </a:p>
        </p:txBody>
      </p:sp>
      <p:sp>
        <p:nvSpPr>
          <p:cNvPr id="10" name=""/>
          <p:cNvSpPr/>
          <p:nvPr/>
        </p:nvSpPr>
        <p:spPr>
          <a:xfrm>
            <a:off x="4933950" y="21812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6324600" y="2257425"/>
            <a:ext cx="46386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new bag yesterday.</a:t>
            </a:r>
          </a:p>
        </p:txBody>
      </p:sp>
      <p:sp>
        <p:nvSpPr>
          <p:cNvPr id="12" name=""/>
          <p:cNvSpPr/>
          <p:nvPr/>
        </p:nvSpPr>
        <p:spPr>
          <a:xfrm>
            <a:off x="3162300" y="300037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3" name=""/>
          <p:cNvSpPr txBox="1"/>
          <p:nvPr/>
        </p:nvSpPr>
        <p:spPr>
          <a:xfrm>
            <a:off x="4552950" y="3076575"/>
            <a:ext cx="31051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bag is black.</a:t>
            </a:r>
          </a:p>
        </p:txBody>
      </p:sp>
      <p:sp>
        <p:nvSpPr>
          <p:cNvPr id="14" name=""/>
          <p:cNvSpPr txBox="1"/>
          <p:nvPr/>
        </p:nvSpPr>
        <p:spPr>
          <a:xfrm>
            <a:off x="3162300" y="3848100"/>
            <a:ext cx="68199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昨日、新しいバッグを買いました。そのバッグは黒いです。</a:t>
            </a:r>
          </a:p>
        </p:txBody>
      </p:sp>
      <p:sp>
        <p:nvSpPr>
          <p:cNvPr id="15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7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8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9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20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21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2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3" name=""/>
          <p:cNvSpPr txBox="1"/>
          <p:nvPr/>
        </p:nvSpPr>
        <p:spPr>
          <a:xfrm>
            <a:off x="5162550" y="53149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6858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6953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</a:t>
            </a:r>
          </a:p>
        </p:txBody>
      </p:sp>
      <p:sp>
        <p:nvSpPr>
          <p:cNvPr id="6" name=""/>
          <p:cNvSpPr txBox="1"/>
          <p:nvPr/>
        </p:nvSpPr>
        <p:spPr>
          <a:xfrm>
            <a:off x="15240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b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257425"/>
            <a:ext cx="22098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bought</a:t>
            </a:r>
          </a:p>
        </p:txBody>
      </p:sp>
      <p:sp>
        <p:nvSpPr>
          <p:cNvPr id="10" name=""/>
          <p:cNvSpPr/>
          <p:nvPr/>
        </p:nvSpPr>
        <p:spPr>
          <a:xfrm>
            <a:off x="4933950" y="21812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E8461E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257800" y="2266950"/>
            <a:ext cx="5905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2" name=""/>
          <p:cNvSpPr txBox="1"/>
          <p:nvPr/>
        </p:nvSpPr>
        <p:spPr>
          <a:xfrm>
            <a:off x="6324600" y="2257425"/>
            <a:ext cx="46386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new bag yesterday.</a:t>
            </a:r>
          </a:p>
        </p:txBody>
      </p:sp>
      <p:sp>
        <p:nvSpPr>
          <p:cNvPr id="13" name=""/>
          <p:cNvSpPr/>
          <p:nvPr/>
        </p:nvSpPr>
        <p:spPr>
          <a:xfrm>
            <a:off x="3162300" y="300037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2F86CF"/>
          </a:solidFill>
          <a:ln/>
        </p:spPr>
      </p:sp>
      <p:sp>
        <p:nvSpPr>
          <p:cNvPr id="14" name=""/>
          <p:cNvSpPr txBox="1"/>
          <p:nvPr/>
        </p:nvSpPr>
        <p:spPr>
          <a:xfrm>
            <a:off x="3209925" y="3086100"/>
            <a:ext cx="11430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5" name=""/>
          <p:cNvSpPr txBox="1"/>
          <p:nvPr/>
        </p:nvSpPr>
        <p:spPr>
          <a:xfrm>
            <a:off x="4552950" y="3076575"/>
            <a:ext cx="31051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bag is black.</a:t>
            </a:r>
          </a:p>
        </p:txBody>
      </p:sp>
      <p:sp>
        <p:nvSpPr>
          <p:cNvPr id="16" name=""/>
          <p:cNvSpPr txBox="1"/>
          <p:nvPr/>
        </p:nvSpPr>
        <p:spPr>
          <a:xfrm>
            <a:off x="3162300" y="3848100"/>
            <a:ext cx="68199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昨日、新しいバッグを買いました。そのバッグは黒いです。</a:t>
            </a:r>
          </a:p>
        </p:txBody>
      </p:sp>
      <p:sp>
        <p:nvSpPr>
          <p:cNvPr id="17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8" name=""/>
          <p:cNvSpPr/>
          <p:nvPr/>
        </p:nvSpPr>
        <p:spPr>
          <a:xfrm>
            <a:off x="990600" y="48577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49149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4867275"/>
            <a:ext cx="13430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a / The</a:t>
            </a:r>
          </a:p>
        </p:txBody>
      </p:sp>
      <p:sp>
        <p:nvSpPr>
          <p:cNvPr id="21" name=""/>
          <p:cNvSpPr/>
          <p:nvPr/>
        </p:nvSpPr>
        <p:spPr>
          <a:xfrm>
            <a:off x="990600" y="5324475"/>
            <a:ext cx="790575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22" name=""/>
          <p:cNvSpPr txBox="1"/>
          <p:nvPr/>
        </p:nvSpPr>
        <p:spPr>
          <a:xfrm>
            <a:off x="1162050" y="5381625"/>
            <a:ext cx="8572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1つめ</a:t>
            </a:r>
          </a:p>
        </p:txBody>
      </p:sp>
      <p:sp>
        <p:nvSpPr>
          <p:cNvPr id="23" name=""/>
          <p:cNvSpPr txBox="1"/>
          <p:nvPr/>
        </p:nvSpPr>
        <p:spPr>
          <a:xfrm>
            <a:off x="1914525" y="5343525"/>
            <a:ext cx="24479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初登場なので →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24" name=""/>
          <p:cNvSpPr/>
          <p:nvPr/>
        </p:nvSpPr>
        <p:spPr>
          <a:xfrm>
            <a:off x="990600" y="5791200"/>
            <a:ext cx="790575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162050" y="5848350"/>
            <a:ext cx="8572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2つめ</a:t>
            </a:r>
          </a:p>
        </p:txBody>
      </p:sp>
      <p:sp>
        <p:nvSpPr>
          <p:cNvPr id="26" name=""/>
          <p:cNvSpPr txBox="1"/>
          <p:nvPr/>
        </p:nvSpPr>
        <p:spPr>
          <a:xfrm>
            <a:off x="1914525" y="5810250"/>
            <a:ext cx="50958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「さっきのバッグ」と分かるので →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429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620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</a:t>
            </a:r>
          </a:p>
        </p:txBody>
      </p:sp>
      <p:sp>
        <p:nvSpPr>
          <p:cNvPr id="6" name=""/>
          <p:cNvSpPr txBox="1"/>
          <p:nvPr/>
        </p:nvSpPr>
        <p:spPr>
          <a:xfrm>
            <a:off x="158115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teach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6478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She is</a:t>
            </a:r>
          </a:p>
        </p:txBody>
      </p:sp>
      <p:sp>
        <p:nvSpPr>
          <p:cNvPr id="10" name=""/>
          <p:cNvSpPr/>
          <p:nvPr/>
        </p:nvSpPr>
        <p:spPr>
          <a:xfrm>
            <a:off x="4448175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5838825" y="2667000"/>
            <a:ext cx="38671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English teacher.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2971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彼女は英語の先生です。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1" name=""/>
          <p:cNvSpPr txBox="1"/>
          <p:nvPr/>
        </p:nvSpPr>
        <p:spPr>
          <a:xfrm>
            <a:off x="5162550" y="53149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429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620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</a:t>
            </a:r>
          </a:p>
        </p:txBody>
      </p:sp>
      <p:sp>
        <p:nvSpPr>
          <p:cNvPr id="6" name=""/>
          <p:cNvSpPr txBox="1"/>
          <p:nvPr/>
        </p:nvSpPr>
        <p:spPr>
          <a:xfrm>
            <a:off x="158115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teach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6478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She is</a:t>
            </a:r>
          </a:p>
        </p:txBody>
      </p:sp>
      <p:sp>
        <p:nvSpPr>
          <p:cNvPr id="10" name=""/>
          <p:cNvSpPr/>
          <p:nvPr/>
        </p:nvSpPr>
        <p:spPr>
          <a:xfrm>
            <a:off x="4448175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E8461E"/>
          </a:solidFill>
          <a:ln/>
        </p:spPr>
      </p:sp>
      <p:sp>
        <p:nvSpPr>
          <p:cNvPr id="11" name=""/>
          <p:cNvSpPr txBox="1"/>
          <p:nvPr/>
        </p:nvSpPr>
        <p:spPr>
          <a:xfrm>
            <a:off x="4629150" y="2676525"/>
            <a:ext cx="8667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2" name=""/>
          <p:cNvSpPr txBox="1"/>
          <p:nvPr/>
        </p:nvSpPr>
        <p:spPr>
          <a:xfrm>
            <a:off x="5838825" y="2667000"/>
            <a:ext cx="38671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English teacher.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2971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彼女は英語の先生です。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095875"/>
            <a:ext cx="7048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53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0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72125"/>
            <a:ext cx="62103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English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は「イ」の音（母音）で始まるので →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524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715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Q3</a:t>
            </a:r>
          </a:p>
        </p:txBody>
      </p:sp>
      <p:sp>
        <p:nvSpPr>
          <p:cNvPr id="6" name=""/>
          <p:cNvSpPr txBox="1"/>
          <p:nvPr/>
        </p:nvSpPr>
        <p:spPr>
          <a:xfrm>
            <a:off x="159067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univers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4192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He is</a:t>
            </a:r>
          </a:p>
        </p:txBody>
      </p:sp>
      <p:sp>
        <p:nvSpPr>
          <p:cNvPr id="10" name=""/>
          <p:cNvSpPr/>
          <p:nvPr/>
        </p:nvSpPr>
        <p:spPr>
          <a:xfrm>
            <a:off x="42481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5638800" y="2667000"/>
            <a:ext cx="45624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university student.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22479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彼は大学生です。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1" name=""/>
          <p:cNvSpPr txBox="1"/>
          <p:nvPr/>
        </p:nvSpPr>
        <p:spPr>
          <a:xfrm>
            <a:off x="5162550" y="53149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524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715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Q3</a:t>
            </a:r>
          </a:p>
        </p:txBody>
      </p:sp>
      <p:sp>
        <p:nvSpPr>
          <p:cNvPr id="6" name=""/>
          <p:cNvSpPr txBox="1"/>
          <p:nvPr/>
        </p:nvSpPr>
        <p:spPr>
          <a:xfrm>
            <a:off x="159067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univers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4192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He is</a:t>
            </a:r>
          </a:p>
        </p:txBody>
      </p:sp>
      <p:sp>
        <p:nvSpPr>
          <p:cNvPr id="10" name=""/>
          <p:cNvSpPr/>
          <p:nvPr/>
        </p:nvSpPr>
        <p:spPr>
          <a:xfrm>
            <a:off x="42481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E8461E"/>
          </a:solidFill>
          <a:ln/>
        </p:spPr>
      </p:sp>
      <p:sp>
        <p:nvSpPr>
          <p:cNvPr id="11" name=""/>
          <p:cNvSpPr txBox="1"/>
          <p:nvPr/>
        </p:nvSpPr>
        <p:spPr>
          <a:xfrm>
            <a:off x="4572000" y="2676525"/>
            <a:ext cx="5905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2" name=""/>
          <p:cNvSpPr txBox="1"/>
          <p:nvPr/>
        </p:nvSpPr>
        <p:spPr>
          <a:xfrm>
            <a:off x="5638800" y="2667000"/>
            <a:ext cx="45624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university student.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22479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彼は大学生です。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095875"/>
            <a:ext cx="514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53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0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72125"/>
            <a:ext cx="64293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university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は「ユ」の音（子音）で始まるので →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Q4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8194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waited for</a:t>
            </a:r>
          </a:p>
        </p:txBody>
      </p:sp>
      <p:sp>
        <p:nvSpPr>
          <p:cNvPr id="10" name=""/>
          <p:cNvSpPr/>
          <p:nvPr/>
        </p:nvSpPr>
        <p:spPr>
          <a:xfrm>
            <a:off x="54673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6858000" y="2667000"/>
            <a:ext cx="14668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hour.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24098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1時間待ちました。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1" name=""/>
          <p:cNvSpPr txBox="1"/>
          <p:nvPr/>
        </p:nvSpPr>
        <p:spPr>
          <a:xfrm>
            <a:off x="5162550" y="53149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Q4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8194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waited for</a:t>
            </a:r>
          </a:p>
        </p:txBody>
      </p:sp>
      <p:sp>
        <p:nvSpPr>
          <p:cNvPr id="10" name=""/>
          <p:cNvSpPr/>
          <p:nvPr/>
        </p:nvSpPr>
        <p:spPr>
          <a:xfrm>
            <a:off x="54673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E8461E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648325" y="2676525"/>
            <a:ext cx="8667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2" name=""/>
          <p:cNvSpPr txBox="1"/>
          <p:nvPr/>
        </p:nvSpPr>
        <p:spPr>
          <a:xfrm>
            <a:off x="6858000" y="2667000"/>
            <a:ext cx="14668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hour.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24098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1時間待ちました。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095875"/>
            <a:ext cx="7048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53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0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72125"/>
            <a:ext cx="61722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hour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 h を読まず「ア」の音で始まるので →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524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715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Q5</a:t>
            </a:r>
          </a:p>
        </p:txBody>
      </p:sp>
      <p:sp>
        <p:nvSpPr>
          <p:cNvPr id="6" name=""/>
          <p:cNvSpPr txBox="1"/>
          <p:nvPr/>
        </p:nvSpPr>
        <p:spPr>
          <a:xfrm>
            <a:off x="159067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do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31051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Please close</a:t>
            </a:r>
          </a:p>
        </p:txBody>
      </p:sp>
      <p:sp>
        <p:nvSpPr>
          <p:cNvPr id="10" name=""/>
          <p:cNvSpPr/>
          <p:nvPr/>
        </p:nvSpPr>
        <p:spPr>
          <a:xfrm>
            <a:off x="571500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7105650" y="2667000"/>
            <a:ext cx="14954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door.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34671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そのドアを閉めてください。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1" name=""/>
          <p:cNvSpPr txBox="1"/>
          <p:nvPr/>
        </p:nvSpPr>
        <p:spPr>
          <a:xfrm>
            <a:off x="5162550" y="53149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524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715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Q5</a:t>
            </a:r>
          </a:p>
        </p:txBody>
      </p:sp>
      <p:sp>
        <p:nvSpPr>
          <p:cNvPr id="6" name=""/>
          <p:cNvSpPr txBox="1"/>
          <p:nvPr/>
        </p:nvSpPr>
        <p:spPr>
          <a:xfrm>
            <a:off x="159067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do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31051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Please close</a:t>
            </a:r>
          </a:p>
        </p:txBody>
      </p:sp>
      <p:sp>
        <p:nvSpPr>
          <p:cNvPr id="10" name=""/>
          <p:cNvSpPr/>
          <p:nvPr/>
        </p:nvSpPr>
        <p:spPr>
          <a:xfrm>
            <a:off x="571500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2F86C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800725" y="2676525"/>
            <a:ext cx="10668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2" name=""/>
          <p:cNvSpPr txBox="1"/>
          <p:nvPr/>
        </p:nvSpPr>
        <p:spPr>
          <a:xfrm>
            <a:off x="7105650" y="2667000"/>
            <a:ext cx="14954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door.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34671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そのドアを閉めてください。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095875"/>
            <a:ext cx="8477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53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0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72125"/>
            <a:ext cx="61531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その場にいる人が、どのドアか分かるので →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Q6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su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/>
          <p:nvPr/>
        </p:nvSpPr>
        <p:spPr>
          <a:xfrm>
            <a:off x="316230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0" name=""/>
          <p:cNvSpPr txBox="1"/>
          <p:nvPr/>
        </p:nvSpPr>
        <p:spPr>
          <a:xfrm>
            <a:off x="4552950" y="2667000"/>
            <a:ext cx="56769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sun is very bright today.</a:t>
            </a:r>
          </a:p>
        </p:txBody>
      </p:sp>
      <p:sp>
        <p:nvSpPr>
          <p:cNvPr id="11" name=""/>
          <p:cNvSpPr txBox="1"/>
          <p:nvPr/>
        </p:nvSpPr>
        <p:spPr>
          <a:xfrm>
            <a:off x="3162300" y="3438525"/>
            <a:ext cx="41433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今日は太陽がとてもまぶしいです。</a:t>
            </a:r>
          </a:p>
        </p:txBody>
      </p:sp>
      <p:sp>
        <p:nvSpPr>
          <p:cNvPr id="12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3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4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6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7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8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19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0" name=""/>
          <p:cNvSpPr txBox="1"/>
          <p:nvPr/>
        </p:nvSpPr>
        <p:spPr>
          <a:xfrm>
            <a:off x="5162550" y="53149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Q6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su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/>
          <p:nvPr/>
        </p:nvSpPr>
        <p:spPr>
          <a:xfrm>
            <a:off x="316230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2F86CF"/>
          </a:solidFill>
          <a:ln/>
        </p:spPr>
      </p:sp>
      <p:sp>
        <p:nvSpPr>
          <p:cNvPr id="10" name=""/>
          <p:cNvSpPr txBox="1"/>
          <p:nvPr/>
        </p:nvSpPr>
        <p:spPr>
          <a:xfrm>
            <a:off x="3209925" y="2676525"/>
            <a:ext cx="11430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1" name=""/>
          <p:cNvSpPr txBox="1"/>
          <p:nvPr/>
        </p:nvSpPr>
        <p:spPr>
          <a:xfrm>
            <a:off x="4552950" y="2667000"/>
            <a:ext cx="56769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sun is very bright today.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41433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今日は太陽がとてもまぶしいです。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6" name=""/>
          <p:cNvSpPr txBox="1"/>
          <p:nvPr/>
        </p:nvSpPr>
        <p:spPr>
          <a:xfrm>
            <a:off x="1809750" y="5095875"/>
            <a:ext cx="9048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7" name=""/>
          <p:cNvSpPr/>
          <p:nvPr/>
        </p:nvSpPr>
        <p:spPr>
          <a:xfrm>
            <a:off x="990600" y="5553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8" name=""/>
          <p:cNvSpPr txBox="1"/>
          <p:nvPr/>
        </p:nvSpPr>
        <p:spPr>
          <a:xfrm>
            <a:off x="1162050" y="5610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19" name=""/>
          <p:cNvSpPr txBox="1"/>
          <p:nvPr/>
        </p:nvSpPr>
        <p:spPr>
          <a:xfrm>
            <a:off x="1809750" y="5572125"/>
            <a:ext cx="68199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太陽は1つだけで、どれのことか特定できるので →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971550"/>
            <a:ext cx="10820400" cy="546735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1143000" y="1314450"/>
            <a:ext cx="952500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6" name=""/>
          <p:cNvSpPr txBox="1"/>
          <p:nvPr/>
        </p:nvSpPr>
        <p:spPr>
          <a:xfrm>
            <a:off x="1295400" y="1371600"/>
            <a:ext cx="109537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2</a:t>
            </a:r>
          </a:p>
        </p:txBody>
      </p:sp>
      <p:sp>
        <p:nvSpPr>
          <p:cNvPr id="7" name=""/>
          <p:cNvSpPr txBox="1"/>
          <p:nvPr/>
        </p:nvSpPr>
        <p:spPr>
          <a:xfrm>
            <a:off x="1143000" y="1762125"/>
            <a:ext cx="5772150" cy="857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650" b="1">
                <a:solidFill>
                  <a:srgbClr val="1C2340"/>
                </a:solidFill>
                <a:latin typeface="Noto Sans JP"/>
                <a:ea typeface="Noto Sans JP"/>
              </a:rPr>
              <a:t>数えられない名詞</a:t>
            </a:r>
          </a:p>
        </p:txBody>
      </p:sp>
      <p:sp>
        <p:nvSpPr>
          <p:cNvPr id="8" name=""/>
          <p:cNvSpPr txBox="1"/>
          <p:nvPr/>
        </p:nvSpPr>
        <p:spPr>
          <a:xfrm>
            <a:off x="1143000" y="2676525"/>
            <a:ext cx="31242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動画2のおさらい ・ 5問</a:t>
            </a:r>
          </a:p>
        </p:txBody>
      </p:sp>
      <p:sp>
        <p:nvSpPr>
          <p:cNvPr id="9" name=""/>
          <p:cNvSpPr/>
          <p:nvPr/>
        </p:nvSpPr>
        <p:spPr>
          <a:xfrm>
            <a:off x="1143000" y="3219450"/>
            <a:ext cx="3181350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0" name=""/>
          <p:cNvSpPr txBox="1"/>
          <p:nvPr/>
        </p:nvSpPr>
        <p:spPr>
          <a:xfrm>
            <a:off x="1333500" y="3295650"/>
            <a:ext cx="35623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液体・抽象的なものは数えない</a:t>
            </a:r>
          </a:p>
        </p:txBody>
      </p:sp>
      <p:sp>
        <p:nvSpPr>
          <p:cNvPr id="11" name=""/>
          <p:cNvSpPr/>
          <p:nvPr/>
        </p:nvSpPr>
        <p:spPr>
          <a:xfrm>
            <a:off x="4419600" y="3219450"/>
            <a:ext cx="235267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2" name=""/>
          <p:cNvSpPr txBox="1"/>
          <p:nvPr/>
        </p:nvSpPr>
        <p:spPr>
          <a:xfrm>
            <a:off x="4610100" y="3295650"/>
            <a:ext cx="260985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「1杯」なら </a:t>
            </a:r>
            <a:pPr/>
            <a:r>
              <a:rPr sz="16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00" b="1">
                <a:solidFill>
                  <a:srgbClr val="1C2340"/>
                </a:solidFill>
                <a:latin typeface="DM Sans"/>
                <a:ea typeface="DM Sans"/>
              </a:rPr>
              <a:t> coffee</a:t>
            </a:r>
          </a:p>
        </p:txBody>
      </p:sp>
      <p:sp>
        <p:nvSpPr>
          <p:cNvPr id="13" name=""/>
          <p:cNvSpPr/>
          <p:nvPr/>
        </p:nvSpPr>
        <p:spPr>
          <a:xfrm>
            <a:off x="6867525" y="3219450"/>
            <a:ext cx="288607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4" name=""/>
          <p:cNvSpPr txBox="1"/>
          <p:nvPr/>
        </p:nvSpPr>
        <p:spPr>
          <a:xfrm>
            <a:off x="7058025" y="3295650"/>
            <a:ext cx="321945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1羽のニワトリは </a:t>
            </a:r>
            <a:pPr/>
            <a:r>
              <a:rPr sz="16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00" b="1">
                <a:solidFill>
                  <a:srgbClr val="1C2340"/>
                </a:solidFill>
                <a:latin typeface="DM Sans"/>
                <a:ea typeface="DM Sans"/>
              </a:rPr>
              <a:t> chicken</a:t>
            </a:r>
          </a:p>
        </p:txBody>
      </p:sp>
      <p:pic>
        <p:nvPicPr>
          <p:cNvPr id="15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4724400"/>
            <a:ext cx="1428750" cy="1428750"/>
          </a:xfrm>
          <a:prstGeom prst="rect">
            <a:avLst/>
          </a:prstGeom>
        </p:spPr>
      </p:pic>
      <p:pic>
        <p:nvPicPr>
          <p:cNvPr id="16" name="Image 1" descr="/home/user/hina-english/matome/img/inform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4724400"/>
            <a:ext cx="1428750" cy="1428750"/>
          </a:xfrm>
          <a:prstGeom prst="rect">
            <a:avLst/>
          </a:prstGeom>
        </p:spPr>
      </p:pic>
      <p:pic>
        <p:nvPicPr>
          <p:cNvPr id="17" name="Image 2" descr="/home/user/hina-english/matome/img/mone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4724400"/>
            <a:ext cx="1428750" cy="1428750"/>
          </a:xfrm>
          <a:prstGeom prst="rect">
            <a:avLst/>
          </a:prstGeom>
        </p:spPr>
      </p:pic>
      <p:pic>
        <p:nvPicPr>
          <p:cNvPr id="18" name="Image 3" descr="/home/user/hina-english/matome/img/chick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4724400"/>
            <a:ext cx="1428750" cy="142875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3342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524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Q7</a:t>
            </a:r>
          </a:p>
        </p:txBody>
      </p:sp>
      <p:sp>
        <p:nvSpPr>
          <p:cNvPr id="6" name=""/>
          <p:cNvSpPr txBox="1"/>
          <p:nvPr/>
        </p:nvSpPr>
        <p:spPr>
          <a:xfrm>
            <a:off x="157162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7335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drink</a:t>
            </a:r>
          </a:p>
        </p:txBody>
      </p:sp>
      <p:sp>
        <p:nvSpPr>
          <p:cNvPr id="10" name=""/>
          <p:cNvSpPr/>
          <p:nvPr/>
        </p:nvSpPr>
        <p:spPr>
          <a:xfrm>
            <a:off x="4524375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5915025" y="2667000"/>
            <a:ext cx="52101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coffee every morning.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32099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毎朝コーヒーを飲みます。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1" name=""/>
          <p:cNvSpPr txBox="1"/>
          <p:nvPr/>
        </p:nvSpPr>
        <p:spPr>
          <a:xfrm>
            <a:off x="5162550" y="53149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3342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524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Q7</a:t>
            </a:r>
          </a:p>
        </p:txBody>
      </p:sp>
      <p:sp>
        <p:nvSpPr>
          <p:cNvPr id="6" name=""/>
          <p:cNvSpPr txBox="1"/>
          <p:nvPr/>
        </p:nvSpPr>
        <p:spPr>
          <a:xfrm>
            <a:off x="157162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7335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drink</a:t>
            </a:r>
          </a:p>
        </p:txBody>
      </p:sp>
      <p:sp>
        <p:nvSpPr>
          <p:cNvPr id="10" name=""/>
          <p:cNvSpPr/>
          <p:nvPr/>
        </p:nvSpPr>
        <p:spPr>
          <a:xfrm>
            <a:off x="4524375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9AA1B6"/>
          </a:solidFill>
          <a:ln/>
        </p:spPr>
      </p:sp>
      <p:sp>
        <p:nvSpPr>
          <p:cNvPr id="11" name=""/>
          <p:cNvSpPr txBox="1"/>
          <p:nvPr/>
        </p:nvSpPr>
        <p:spPr>
          <a:xfrm>
            <a:off x="4648200" y="2714625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2" name=""/>
          <p:cNvSpPr txBox="1"/>
          <p:nvPr/>
        </p:nvSpPr>
        <p:spPr>
          <a:xfrm>
            <a:off x="5915025" y="2667000"/>
            <a:ext cx="52101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coffee every morning.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32099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毎朝コーヒーを飲みます。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114925"/>
            <a:ext cx="3714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なし（冠詞をつけない）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6260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97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81650"/>
            <a:ext cx="53625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液体の 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coffee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は数えないので → 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Q8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619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Can I have</a:t>
            </a:r>
          </a:p>
        </p:txBody>
      </p:sp>
      <p:sp>
        <p:nvSpPr>
          <p:cNvPr id="10" name=""/>
          <p:cNvSpPr/>
          <p:nvPr/>
        </p:nvSpPr>
        <p:spPr>
          <a:xfrm>
            <a:off x="529590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6686550" y="2667000"/>
            <a:ext cx="36957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coffee, please?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31337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コーヒーを1杯ください。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1" name=""/>
          <p:cNvSpPr txBox="1"/>
          <p:nvPr/>
        </p:nvSpPr>
        <p:spPr>
          <a:xfrm>
            <a:off x="5162550" y="53149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Q8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619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Can I have</a:t>
            </a:r>
          </a:p>
        </p:txBody>
      </p:sp>
      <p:sp>
        <p:nvSpPr>
          <p:cNvPr id="10" name=""/>
          <p:cNvSpPr/>
          <p:nvPr/>
        </p:nvSpPr>
        <p:spPr>
          <a:xfrm>
            <a:off x="529590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E8461E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619750" y="2676525"/>
            <a:ext cx="5905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2" name=""/>
          <p:cNvSpPr txBox="1"/>
          <p:nvPr/>
        </p:nvSpPr>
        <p:spPr>
          <a:xfrm>
            <a:off x="6686550" y="2667000"/>
            <a:ext cx="36957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coffee, please?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31337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コーヒーを1杯ください。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095875"/>
            <a:ext cx="514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53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0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72125"/>
            <a:ext cx="49434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「コーヒー1杯」として数えるので →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Q9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inform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257425"/>
            <a:ext cx="23145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We need</a:t>
            </a:r>
          </a:p>
        </p:txBody>
      </p:sp>
      <p:sp>
        <p:nvSpPr>
          <p:cNvPr id="10" name=""/>
          <p:cNvSpPr/>
          <p:nvPr/>
        </p:nvSpPr>
        <p:spPr>
          <a:xfrm>
            <a:off x="5029200" y="21812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6419850" y="2257425"/>
            <a:ext cx="29622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information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076575"/>
            <a:ext cx="39052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about the hotel.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848100"/>
            <a:ext cx="44100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そのホテルについて情報が必要です。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5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6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7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8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9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20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1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2" name=""/>
          <p:cNvSpPr txBox="1"/>
          <p:nvPr/>
        </p:nvSpPr>
        <p:spPr>
          <a:xfrm>
            <a:off x="5162550" y="53149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Q9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inform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257425"/>
            <a:ext cx="23145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We need</a:t>
            </a:r>
          </a:p>
        </p:txBody>
      </p:sp>
      <p:sp>
        <p:nvSpPr>
          <p:cNvPr id="10" name=""/>
          <p:cNvSpPr/>
          <p:nvPr/>
        </p:nvSpPr>
        <p:spPr>
          <a:xfrm>
            <a:off x="5029200" y="21812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9AA1B6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153025" y="2305050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2" name=""/>
          <p:cNvSpPr txBox="1"/>
          <p:nvPr/>
        </p:nvSpPr>
        <p:spPr>
          <a:xfrm>
            <a:off x="6419850" y="2257425"/>
            <a:ext cx="29622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information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076575"/>
            <a:ext cx="39052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about the hotel.</a:t>
            </a:r>
          </a:p>
        </p:txBody>
      </p:sp>
      <p:sp>
        <p:nvSpPr>
          <p:cNvPr id="14" name=""/>
          <p:cNvSpPr txBox="1"/>
          <p:nvPr/>
        </p:nvSpPr>
        <p:spPr>
          <a:xfrm>
            <a:off x="3162300" y="3848100"/>
            <a:ext cx="44100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そのホテルについて情報が必要です。</a:t>
            </a:r>
          </a:p>
        </p:txBody>
      </p:sp>
      <p:sp>
        <p:nvSpPr>
          <p:cNvPr id="15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6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7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8" name=""/>
          <p:cNvSpPr txBox="1"/>
          <p:nvPr/>
        </p:nvSpPr>
        <p:spPr>
          <a:xfrm>
            <a:off x="1809750" y="5114925"/>
            <a:ext cx="3714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なし（冠詞をつけない）</a:t>
            </a:r>
          </a:p>
        </p:txBody>
      </p:sp>
      <p:sp>
        <p:nvSpPr>
          <p:cNvPr id="19" name=""/>
          <p:cNvSpPr/>
          <p:nvPr/>
        </p:nvSpPr>
        <p:spPr>
          <a:xfrm>
            <a:off x="990600" y="556260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20" name=""/>
          <p:cNvSpPr txBox="1"/>
          <p:nvPr/>
        </p:nvSpPr>
        <p:spPr>
          <a:xfrm>
            <a:off x="1162050" y="56197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1" name=""/>
          <p:cNvSpPr txBox="1"/>
          <p:nvPr/>
        </p:nvSpPr>
        <p:spPr>
          <a:xfrm>
            <a:off x="1809750" y="5581650"/>
            <a:ext cx="65055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information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は数えられない名詞なので → 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763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144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Q10</a:t>
            </a:r>
          </a:p>
        </p:txBody>
      </p:sp>
      <p:sp>
        <p:nvSpPr>
          <p:cNvPr id="6" name=""/>
          <p:cNvSpPr txBox="1"/>
          <p:nvPr/>
        </p:nvSpPr>
        <p:spPr>
          <a:xfrm>
            <a:off x="17145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mon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3381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want to save</a:t>
            </a:r>
          </a:p>
        </p:txBody>
      </p:sp>
      <p:sp>
        <p:nvSpPr>
          <p:cNvPr id="10" name=""/>
          <p:cNvSpPr/>
          <p:nvPr/>
        </p:nvSpPr>
        <p:spPr>
          <a:xfrm>
            <a:off x="5953125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7343775" y="2667000"/>
            <a:ext cx="19621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money.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27241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お金を貯めたいです。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1" name=""/>
          <p:cNvSpPr txBox="1"/>
          <p:nvPr/>
        </p:nvSpPr>
        <p:spPr>
          <a:xfrm>
            <a:off x="5162550" y="53149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763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144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Q10</a:t>
            </a:r>
          </a:p>
        </p:txBody>
      </p:sp>
      <p:sp>
        <p:nvSpPr>
          <p:cNvPr id="6" name=""/>
          <p:cNvSpPr txBox="1"/>
          <p:nvPr/>
        </p:nvSpPr>
        <p:spPr>
          <a:xfrm>
            <a:off x="17145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mon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3381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want to save</a:t>
            </a:r>
          </a:p>
        </p:txBody>
      </p:sp>
      <p:sp>
        <p:nvSpPr>
          <p:cNvPr id="10" name=""/>
          <p:cNvSpPr/>
          <p:nvPr/>
        </p:nvSpPr>
        <p:spPr>
          <a:xfrm>
            <a:off x="5953125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9AA1B6"/>
          </a:solidFill>
          <a:ln/>
        </p:spPr>
      </p:sp>
      <p:sp>
        <p:nvSpPr>
          <p:cNvPr id="11" name=""/>
          <p:cNvSpPr txBox="1"/>
          <p:nvPr/>
        </p:nvSpPr>
        <p:spPr>
          <a:xfrm>
            <a:off x="6076950" y="2714625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2" name=""/>
          <p:cNvSpPr txBox="1"/>
          <p:nvPr/>
        </p:nvSpPr>
        <p:spPr>
          <a:xfrm>
            <a:off x="7343775" y="2667000"/>
            <a:ext cx="19621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money.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27241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お金を貯めたいです。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114925"/>
            <a:ext cx="3714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なし（冠詞をつけない）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6260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97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81650"/>
            <a:ext cx="58769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money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は数えられない名詞なので → 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810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001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Q11</a:t>
            </a:r>
          </a:p>
        </p:txBody>
      </p:sp>
      <p:sp>
        <p:nvSpPr>
          <p:cNvPr id="6" name=""/>
          <p:cNvSpPr txBox="1"/>
          <p:nvPr/>
        </p:nvSpPr>
        <p:spPr>
          <a:xfrm>
            <a:off x="161925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hick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4478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saw</a:t>
            </a:r>
          </a:p>
        </p:txBody>
      </p:sp>
      <p:sp>
        <p:nvSpPr>
          <p:cNvPr id="10" name=""/>
          <p:cNvSpPr/>
          <p:nvPr/>
        </p:nvSpPr>
        <p:spPr>
          <a:xfrm>
            <a:off x="4276725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5667375" y="2667000"/>
            <a:ext cx="48958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chicken on the farm.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38576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農場でニワトリを1羽見ました。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1" name=""/>
          <p:cNvSpPr txBox="1"/>
          <p:nvPr/>
        </p:nvSpPr>
        <p:spPr>
          <a:xfrm>
            <a:off x="5162550" y="53149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810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001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Q11</a:t>
            </a:r>
          </a:p>
        </p:txBody>
      </p:sp>
      <p:sp>
        <p:nvSpPr>
          <p:cNvPr id="6" name=""/>
          <p:cNvSpPr txBox="1"/>
          <p:nvPr/>
        </p:nvSpPr>
        <p:spPr>
          <a:xfrm>
            <a:off x="161925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hick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4478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saw</a:t>
            </a:r>
          </a:p>
        </p:txBody>
      </p:sp>
      <p:sp>
        <p:nvSpPr>
          <p:cNvPr id="10" name=""/>
          <p:cNvSpPr/>
          <p:nvPr/>
        </p:nvSpPr>
        <p:spPr>
          <a:xfrm>
            <a:off x="4276725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E8461E"/>
          </a:solidFill>
          <a:ln/>
        </p:spPr>
      </p:sp>
      <p:sp>
        <p:nvSpPr>
          <p:cNvPr id="11" name=""/>
          <p:cNvSpPr txBox="1"/>
          <p:nvPr/>
        </p:nvSpPr>
        <p:spPr>
          <a:xfrm>
            <a:off x="4600575" y="2676525"/>
            <a:ext cx="5905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2" name=""/>
          <p:cNvSpPr txBox="1"/>
          <p:nvPr/>
        </p:nvSpPr>
        <p:spPr>
          <a:xfrm>
            <a:off x="5667375" y="2667000"/>
            <a:ext cx="48958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chicken on the farm.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38576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農場でニワトリを1羽見ました。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095875"/>
            <a:ext cx="514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53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0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72125"/>
            <a:ext cx="74295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1羽のニワトリなので →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（鶏肉の 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chicken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なら数えない）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971550"/>
            <a:ext cx="10820400" cy="546735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1143000" y="1314450"/>
            <a:ext cx="952500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6" name=""/>
          <p:cNvSpPr txBox="1"/>
          <p:nvPr/>
        </p:nvSpPr>
        <p:spPr>
          <a:xfrm>
            <a:off x="1295400" y="1371600"/>
            <a:ext cx="109537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3</a:t>
            </a:r>
          </a:p>
        </p:txBody>
      </p:sp>
      <p:sp>
        <p:nvSpPr>
          <p:cNvPr id="7" name=""/>
          <p:cNvSpPr txBox="1"/>
          <p:nvPr/>
        </p:nvSpPr>
        <p:spPr>
          <a:xfrm>
            <a:off x="1143000" y="1762125"/>
            <a:ext cx="2381250" cy="857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650" b="1">
                <a:solidFill>
                  <a:srgbClr val="1C2340"/>
                </a:solidFill>
                <a:latin typeface="Noto Sans JP"/>
                <a:ea typeface="Noto Sans JP"/>
              </a:rPr>
              <a:t>無冠詞</a:t>
            </a:r>
          </a:p>
        </p:txBody>
      </p:sp>
      <p:sp>
        <p:nvSpPr>
          <p:cNvPr id="8" name=""/>
          <p:cNvSpPr txBox="1"/>
          <p:nvPr/>
        </p:nvSpPr>
        <p:spPr>
          <a:xfrm>
            <a:off x="1143000" y="2676525"/>
            <a:ext cx="31242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動画3のおさらい ・ 6問</a:t>
            </a:r>
          </a:p>
        </p:txBody>
      </p:sp>
      <p:sp>
        <p:nvSpPr>
          <p:cNvPr id="9" name=""/>
          <p:cNvSpPr/>
          <p:nvPr/>
        </p:nvSpPr>
        <p:spPr>
          <a:xfrm>
            <a:off x="1143000" y="3219450"/>
            <a:ext cx="218122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0" name=""/>
          <p:cNvSpPr txBox="1"/>
          <p:nvPr/>
        </p:nvSpPr>
        <p:spPr>
          <a:xfrm>
            <a:off x="1333500" y="3295650"/>
            <a:ext cx="24098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複数名詞（〜全般）</a:t>
            </a:r>
          </a:p>
        </p:txBody>
      </p:sp>
      <p:sp>
        <p:nvSpPr>
          <p:cNvPr id="11" name=""/>
          <p:cNvSpPr/>
          <p:nvPr/>
        </p:nvSpPr>
        <p:spPr>
          <a:xfrm>
            <a:off x="3419475" y="3219450"/>
            <a:ext cx="298132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2" name=""/>
          <p:cNvSpPr txBox="1"/>
          <p:nvPr/>
        </p:nvSpPr>
        <p:spPr>
          <a:xfrm>
            <a:off x="3609975" y="3295650"/>
            <a:ext cx="33337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数えられない名詞（〜全般）</a:t>
            </a:r>
          </a:p>
        </p:txBody>
      </p:sp>
      <p:sp>
        <p:nvSpPr>
          <p:cNvPr id="13" name=""/>
          <p:cNvSpPr/>
          <p:nvPr/>
        </p:nvSpPr>
        <p:spPr>
          <a:xfrm>
            <a:off x="6496050" y="3219450"/>
            <a:ext cx="3562350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4" name=""/>
          <p:cNvSpPr txBox="1"/>
          <p:nvPr/>
        </p:nvSpPr>
        <p:spPr>
          <a:xfrm>
            <a:off x="6686550" y="3295650"/>
            <a:ext cx="400050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固有名詞（</a:t>
            </a:r>
            <a:pPr/>
            <a:r>
              <a:rPr sz="16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 がつく名前もある）</a:t>
            </a:r>
          </a:p>
        </p:txBody>
      </p:sp>
      <p:sp>
        <p:nvSpPr>
          <p:cNvPr id="15" name=""/>
          <p:cNvSpPr/>
          <p:nvPr/>
        </p:nvSpPr>
        <p:spPr>
          <a:xfrm>
            <a:off x="10153650" y="3219450"/>
            <a:ext cx="781050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0344150" y="3295650"/>
            <a:ext cx="8001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言語</a:t>
            </a:r>
          </a:p>
        </p:txBody>
      </p:sp>
      <p:sp>
        <p:nvSpPr>
          <p:cNvPr id="17" name=""/>
          <p:cNvSpPr/>
          <p:nvPr/>
        </p:nvSpPr>
        <p:spPr>
          <a:xfrm>
            <a:off x="1143000" y="3771900"/>
            <a:ext cx="781050" cy="447675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8" name=""/>
          <p:cNvSpPr txBox="1"/>
          <p:nvPr/>
        </p:nvSpPr>
        <p:spPr>
          <a:xfrm>
            <a:off x="1333500" y="3848100"/>
            <a:ext cx="8001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食事</a:t>
            </a:r>
          </a:p>
        </p:txBody>
      </p:sp>
      <p:pic>
        <p:nvPicPr>
          <p:cNvPr id="19" name="Image 0" descr="/home/user/hina-english/matome/img/d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4724400"/>
            <a:ext cx="1428750" cy="1428750"/>
          </a:xfrm>
          <a:prstGeom prst="rect">
            <a:avLst/>
          </a:prstGeom>
        </p:spPr>
      </p:pic>
      <p:pic>
        <p:nvPicPr>
          <p:cNvPr id="20" name="Image 1" descr="/home/user/hina-english/matome/img/musi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4724400"/>
            <a:ext cx="1428750" cy="1428750"/>
          </a:xfrm>
          <a:prstGeom prst="rect">
            <a:avLst/>
          </a:prstGeom>
        </p:spPr>
      </p:pic>
      <p:pic>
        <p:nvPicPr>
          <p:cNvPr id="21" name="Image 2" descr="/home/user/hina-english/matome/img/flag-us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4724400"/>
            <a:ext cx="1428750" cy="1428750"/>
          </a:xfrm>
          <a:prstGeom prst="rect">
            <a:avLst/>
          </a:prstGeom>
        </p:spPr>
      </p:pic>
      <p:pic>
        <p:nvPicPr>
          <p:cNvPr id="22" name="Image 3" descr="/home/user/hina-english/matome/img/lunc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4724400"/>
            <a:ext cx="1428750" cy="142875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382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667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Q12</a:t>
            </a:r>
          </a:p>
        </p:txBody>
      </p:sp>
      <p:sp>
        <p:nvSpPr>
          <p:cNvPr id="6" name=""/>
          <p:cNvSpPr txBox="1"/>
          <p:nvPr/>
        </p:nvSpPr>
        <p:spPr>
          <a:xfrm>
            <a:off x="16764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d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3335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like</a:t>
            </a:r>
          </a:p>
        </p:txBody>
      </p:sp>
      <p:sp>
        <p:nvSpPr>
          <p:cNvPr id="10" name=""/>
          <p:cNvSpPr/>
          <p:nvPr/>
        </p:nvSpPr>
        <p:spPr>
          <a:xfrm>
            <a:off x="41719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5562600" y="2667000"/>
            <a:ext cx="15525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dogs.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2486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私は犬が好きです。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1" name=""/>
          <p:cNvSpPr txBox="1"/>
          <p:nvPr/>
        </p:nvSpPr>
        <p:spPr>
          <a:xfrm>
            <a:off x="5162550" y="53149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382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667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Q12</a:t>
            </a:r>
          </a:p>
        </p:txBody>
      </p:sp>
      <p:sp>
        <p:nvSpPr>
          <p:cNvPr id="6" name=""/>
          <p:cNvSpPr txBox="1"/>
          <p:nvPr/>
        </p:nvSpPr>
        <p:spPr>
          <a:xfrm>
            <a:off x="16764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d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3335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like</a:t>
            </a:r>
          </a:p>
        </p:txBody>
      </p:sp>
      <p:sp>
        <p:nvSpPr>
          <p:cNvPr id="10" name=""/>
          <p:cNvSpPr/>
          <p:nvPr/>
        </p:nvSpPr>
        <p:spPr>
          <a:xfrm>
            <a:off x="41719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9AA1B6"/>
          </a:solidFill>
          <a:ln/>
        </p:spPr>
      </p:sp>
      <p:sp>
        <p:nvSpPr>
          <p:cNvPr id="11" name=""/>
          <p:cNvSpPr txBox="1"/>
          <p:nvPr/>
        </p:nvSpPr>
        <p:spPr>
          <a:xfrm>
            <a:off x="4295775" y="2714625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2" name=""/>
          <p:cNvSpPr txBox="1"/>
          <p:nvPr/>
        </p:nvSpPr>
        <p:spPr>
          <a:xfrm>
            <a:off x="5562600" y="2667000"/>
            <a:ext cx="15525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dogs.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2486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私は犬が好きです。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114925"/>
            <a:ext cx="3714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なし（冠詞をつけない）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6260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97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81650"/>
            <a:ext cx="54483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犬全般の話（複数名詞）なので → 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4772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763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Q13</a:t>
            </a:r>
          </a:p>
        </p:txBody>
      </p:sp>
      <p:sp>
        <p:nvSpPr>
          <p:cNvPr id="6" name=""/>
          <p:cNvSpPr txBox="1"/>
          <p:nvPr/>
        </p:nvSpPr>
        <p:spPr>
          <a:xfrm>
            <a:off x="168592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furni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3145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We need</a:t>
            </a:r>
          </a:p>
        </p:txBody>
      </p:sp>
      <p:sp>
        <p:nvSpPr>
          <p:cNvPr id="10" name=""/>
          <p:cNvSpPr/>
          <p:nvPr/>
        </p:nvSpPr>
        <p:spPr>
          <a:xfrm>
            <a:off x="502920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6419850" y="2667000"/>
            <a:ext cx="34671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new furniture.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2971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新しい家具が必要です。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1" name=""/>
          <p:cNvSpPr txBox="1"/>
          <p:nvPr/>
        </p:nvSpPr>
        <p:spPr>
          <a:xfrm>
            <a:off x="5162550" y="53149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4772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763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Q13</a:t>
            </a:r>
          </a:p>
        </p:txBody>
      </p:sp>
      <p:sp>
        <p:nvSpPr>
          <p:cNvPr id="6" name=""/>
          <p:cNvSpPr txBox="1"/>
          <p:nvPr/>
        </p:nvSpPr>
        <p:spPr>
          <a:xfrm>
            <a:off x="168592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furni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3145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We need</a:t>
            </a:r>
          </a:p>
        </p:txBody>
      </p:sp>
      <p:sp>
        <p:nvSpPr>
          <p:cNvPr id="10" name=""/>
          <p:cNvSpPr/>
          <p:nvPr/>
        </p:nvSpPr>
        <p:spPr>
          <a:xfrm>
            <a:off x="502920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9AA1B6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153025" y="2714625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2" name=""/>
          <p:cNvSpPr txBox="1"/>
          <p:nvPr/>
        </p:nvSpPr>
        <p:spPr>
          <a:xfrm>
            <a:off x="6419850" y="2667000"/>
            <a:ext cx="34671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new furniture.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2971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新しい家具が必要です。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114925"/>
            <a:ext cx="3714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なし（冠詞をつけない）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6260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97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81650"/>
            <a:ext cx="92773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furniture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は数えられない名詞で、特定の家具の話でもないので → 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Q14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flag-jap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5622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He lives in</a:t>
            </a:r>
          </a:p>
        </p:txBody>
      </p:sp>
      <p:sp>
        <p:nvSpPr>
          <p:cNvPr id="10" name=""/>
          <p:cNvSpPr/>
          <p:nvPr/>
        </p:nvSpPr>
        <p:spPr>
          <a:xfrm>
            <a:off x="5248275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6638925" y="2667000"/>
            <a:ext cx="18192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Japan.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32004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彼は日本に住んでいます。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1" name=""/>
          <p:cNvSpPr txBox="1"/>
          <p:nvPr/>
        </p:nvSpPr>
        <p:spPr>
          <a:xfrm>
            <a:off x="5162550" y="53149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Q14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flag-jap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5622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He lives in</a:t>
            </a:r>
          </a:p>
        </p:txBody>
      </p:sp>
      <p:sp>
        <p:nvSpPr>
          <p:cNvPr id="10" name=""/>
          <p:cNvSpPr/>
          <p:nvPr/>
        </p:nvSpPr>
        <p:spPr>
          <a:xfrm>
            <a:off x="5248275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9AA1B6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372100" y="2714625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2" name=""/>
          <p:cNvSpPr txBox="1"/>
          <p:nvPr/>
        </p:nvSpPr>
        <p:spPr>
          <a:xfrm>
            <a:off x="6638925" y="2667000"/>
            <a:ext cx="18192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Japan.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32004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彼は日本に住んでいます。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114925"/>
            <a:ext cx="3714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なし（冠詞をつけない）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6260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97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81650"/>
            <a:ext cx="51816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国の名前（固有名詞）なので → 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4772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763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Q15</a:t>
            </a:r>
          </a:p>
        </p:txBody>
      </p:sp>
      <p:sp>
        <p:nvSpPr>
          <p:cNvPr id="6" name=""/>
          <p:cNvSpPr txBox="1"/>
          <p:nvPr/>
        </p:nvSpPr>
        <p:spPr>
          <a:xfrm>
            <a:off x="168592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eiff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257425"/>
            <a:ext cx="31623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want to see</a:t>
            </a:r>
          </a:p>
        </p:txBody>
      </p:sp>
      <p:sp>
        <p:nvSpPr>
          <p:cNvPr id="10" name=""/>
          <p:cNvSpPr/>
          <p:nvPr/>
        </p:nvSpPr>
        <p:spPr>
          <a:xfrm>
            <a:off x="5762625" y="21812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7153275" y="2257425"/>
            <a:ext cx="28765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Eiffel Tower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076575"/>
            <a:ext cx="24860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someday.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848100"/>
            <a:ext cx="41624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いつかエッフェル塔を見たいです。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5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6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7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8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9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20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1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2" name=""/>
          <p:cNvSpPr txBox="1"/>
          <p:nvPr/>
        </p:nvSpPr>
        <p:spPr>
          <a:xfrm>
            <a:off x="5162550" y="53149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4772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763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Q15</a:t>
            </a:r>
          </a:p>
        </p:txBody>
      </p:sp>
      <p:sp>
        <p:nvSpPr>
          <p:cNvPr id="6" name=""/>
          <p:cNvSpPr txBox="1"/>
          <p:nvPr/>
        </p:nvSpPr>
        <p:spPr>
          <a:xfrm>
            <a:off x="168592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eiff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257425"/>
            <a:ext cx="31623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want to see</a:t>
            </a:r>
          </a:p>
        </p:txBody>
      </p:sp>
      <p:sp>
        <p:nvSpPr>
          <p:cNvPr id="10" name=""/>
          <p:cNvSpPr/>
          <p:nvPr/>
        </p:nvSpPr>
        <p:spPr>
          <a:xfrm>
            <a:off x="5762625" y="21812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2F86C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848350" y="2266950"/>
            <a:ext cx="10668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2" name=""/>
          <p:cNvSpPr txBox="1"/>
          <p:nvPr/>
        </p:nvSpPr>
        <p:spPr>
          <a:xfrm>
            <a:off x="7153275" y="2257425"/>
            <a:ext cx="28765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Eiffel Tower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076575"/>
            <a:ext cx="24860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someday.</a:t>
            </a:r>
          </a:p>
        </p:txBody>
      </p:sp>
      <p:sp>
        <p:nvSpPr>
          <p:cNvPr id="14" name=""/>
          <p:cNvSpPr txBox="1"/>
          <p:nvPr/>
        </p:nvSpPr>
        <p:spPr>
          <a:xfrm>
            <a:off x="3162300" y="3848100"/>
            <a:ext cx="41624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いつかエッフェル塔を見たいです。</a:t>
            </a:r>
          </a:p>
        </p:txBody>
      </p:sp>
      <p:sp>
        <p:nvSpPr>
          <p:cNvPr id="15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6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7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8" name=""/>
          <p:cNvSpPr txBox="1"/>
          <p:nvPr/>
        </p:nvSpPr>
        <p:spPr>
          <a:xfrm>
            <a:off x="1809750" y="5095875"/>
            <a:ext cx="8477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990600" y="5553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20" name=""/>
          <p:cNvSpPr txBox="1"/>
          <p:nvPr/>
        </p:nvSpPr>
        <p:spPr>
          <a:xfrm>
            <a:off x="1162050" y="5610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1" name=""/>
          <p:cNvSpPr txBox="1"/>
          <p:nvPr/>
        </p:nvSpPr>
        <p:spPr>
          <a:xfrm>
            <a:off x="1809750" y="5572125"/>
            <a:ext cx="68865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が名前の一部になっているので →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Eiffel Tower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Q16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hel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8670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She speaks</a:t>
            </a:r>
          </a:p>
        </p:txBody>
      </p:sp>
      <p:sp>
        <p:nvSpPr>
          <p:cNvPr id="10" name=""/>
          <p:cNvSpPr/>
          <p:nvPr/>
        </p:nvSpPr>
        <p:spPr>
          <a:xfrm>
            <a:off x="55054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6896100" y="2667000"/>
            <a:ext cx="20383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English.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2971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彼女は英語を話します。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1" name=""/>
          <p:cNvSpPr txBox="1"/>
          <p:nvPr/>
        </p:nvSpPr>
        <p:spPr>
          <a:xfrm>
            <a:off x="5162550" y="53149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Q16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hel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8670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She speaks</a:t>
            </a:r>
          </a:p>
        </p:txBody>
      </p:sp>
      <p:sp>
        <p:nvSpPr>
          <p:cNvPr id="10" name=""/>
          <p:cNvSpPr/>
          <p:nvPr/>
        </p:nvSpPr>
        <p:spPr>
          <a:xfrm>
            <a:off x="55054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9AA1B6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629275" y="2714625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2" name=""/>
          <p:cNvSpPr txBox="1"/>
          <p:nvPr/>
        </p:nvSpPr>
        <p:spPr>
          <a:xfrm>
            <a:off x="6896100" y="2667000"/>
            <a:ext cx="20383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English.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2971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彼女は英語を話します。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114925"/>
            <a:ext cx="3714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なし（冠詞をつけない）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6260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97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81650"/>
            <a:ext cx="38671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言語の名前なので → 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286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572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Q17</a:t>
            </a:r>
          </a:p>
        </p:txBody>
      </p:sp>
      <p:sp>
        <p:nvSpPr>
          <p:cNvPr id="6" name=""/>
          <p:cNvSpPr txBox="1"/>
          <p:nvPr/>
        </p:nvSpPr>
        <p:spPr>
          <a:xfrm>
            <a:off x="166687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lun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0288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We had</a:t>
            </a:r>
          </a:p>
        </p:txBody>
      </p:sp>
      <p:sp>
        <p:nvSpPr>
          <p:cNvPr id="10" name=""/>
          <p:cNvSpPr/>
          <p:nvPr/>
        </p:nvSpPr>
        <p:spPr>
          <a:xfrm>
            <a:off x="47815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6172200" y="2667000"/>
            <a:ext cx="37242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lunch together.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49244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私たちは一緒にお昼ごはんを食べました。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1" name=""/>
          <p:cNvSpPr txBox="1"/>
          <p:nvPr/>
        </p:nvSpPr>
        <p:spPr>
          <a:xfrm>
            <a:off x="5162550" y="53149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286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572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Q17</a:t>
            </a:r>
          </a:p>
        </p:txBody>
      </p:sp>
      <p:sp>
        <p:nvSpPr>
          <p:cNvPr id="6" name=""/>
          <p:cNvSpPr txBox="1"/>
          <p:nvPr/>
        </p:nvSpPr>
        <p:spPr>
          <a:xfrm>
            <a:off x="166687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lun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0288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We had</a:t>
            </a:r>
          </a:p>
        </p:txBody>
      </p:sp>
      <p:sp>
        <p:nvSpPr>
          <p:cNvPr id="10" name=""/>
          <p:cNvSpPr/>
          <p:nvPr/>
        </p:nvSpPr>
        <p:spPr>
          <a:xfrm>
            <a:off x="47815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9AA1B6"/>
          </a:solidFill>
          <a:ln/>
        </p:spPr>
      </p:sp>
      <p:sp>
        <p:nvSpPr>
          <p:cNvPr id="11" name=""/>
          <p:cNvSpPr txBox="1"/>
          <p:nvPr/>
        </p:nvSpPr>
        <p:spPr>
          <a:xfrm>
            <a:off x="4905375" y="2714625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2" name=""/>
          <p:cNvSpPr txBox="1"/>
          <p:nvPr/>
        </p:nvSpPr>
        <p:spPr>
          <a:xfrm>
            <a:off x="6172200" y="2667000"/>
            <a:ext cx="37242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lunch together.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49244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私たちは一緒にお昼ごはんを食べました。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114925"/>
            <a:ext cx="3714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なし（冠詞をつけない）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6260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97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81650"/>
            <a:ext cx="87630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食事（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breakfast / lunch / dinner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）は基本、無冠詞なので → 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971550"/>
            <a:ext cx="10820400" cy="546735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1143000" y="1314450"/>
            <a:ext cx="962025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6" name=""/>
          <p:cNvSpPr txBox="1"/>
          <p:nvPr/>
        </p:nvSpPr>
        <p:spPr>
          <a:xfrm>
            <a:off x="1295400" y="1371600"/>
            <a:ext cx="1104900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4</a:t>
            </a:r>
          </a:p>
        </p:txBody>
      </p:sp>
      <p:sp>
        <p:nvSpPr>
          <p:cNvPr id="7" name=""/>
          <p:cNvSpPr txBox="1"/>
          <p:nvPr/>
        </p:nvSpPr>
        <p:spPr>
          <a:xfrm>
            <a:off x="1143000" y="1762125"/>
            <a:ext cx="3743325" cy="857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650" b="1">
                <a:solidFill>
                  <a:srgbClr val="1C2340"/>
                </a:solidFill>
                <a:latin typeface="Noto Sans JP"/>
                <a:ea typeface="Noto Sans JP"/>
              </a:rPr>
              <a:t>瞬間英作文</a:t>
            </a:r>
          </a:p>
        </p:txBody>
      </p:sp>
      <p:sp>
        <p:nvSpPr>
          <p:cNvPr id="8" name=""/>
          <p:cNvSpPr txBox="1"/>
          <p:nvPr/>
        </p:nvSpPr>
        <p:spPr>
          <a:xfrm>
            <a:off x="1143000" y="2676525"/>
            <a:ext cx="21812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総まとめ ・ 8問</a:t>
            </a:r>
          </a:p>
        </p:txBody>
      </p:sp>
      <p:sp>
        <p:nvSpPr>
          <p:cNvPr id="9" name=""/>
          <p:cNvSpPr/>
          <p:nvPr/>
        </p:nvSpPr>
        <p:spPr>
          <a:xfrm>
            <a:off x="1143000" y="3219450"/>
            <a:ext cx="4371975" cy="447675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0" name=""/>
          <p:cNvSpPr txBox="1"/>
          <p:nvPr/>
        </p:nvSpPr>
        <p:spPr>
          <a:xfrm>
            <a:off x="1333500" y="3295650"/>
            <a:ext cx="49339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日本語を見たら、すぐに英語で言ってみよう</a:t>
            </a:r>
          </a:p>
        </p:txBody>
      </p:sp>
      <p:sp>
        <p:nvSpPr>
          <p:cNvPr id="11" name=""/>
          <p:cNvSpPr/>
          <p:nvPr/>
        </p:nvSpPr>
        <p:spPr>
          <a:xfrm>
            <a:off x="5610225" y="3219450"/>
            <a:ext cx="2581275" cy="447675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2" name=""/>
          <p:cNvSpPr txBox="1"/>
          <p:nvPr/>
        </p:nvSpPr>
        <p:spPr>
          <a:xfrm>
            <a:off x="5800725" y="3295650"/>
            <a:ext cx="28765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</a:t>
            </a:r>
          </a:p>
        </p:txBody>
      </p:sp>
      <p:pic>
        <p:nvPicPr>
          <p:cNvPr id="13" name="Image 0" descr="/home/user/hina-english/matome/img/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4724400"/>
            <a:ext cx="1428750" cy="1428750"/>
          </a:xfrm>
          <a:prstGeom prst="rect">
            <a:avLst/>
          </a:prstGeom>
        </p:spPr>
      </p:pic>
      <p:pic>
        <p:nvPicPr>
          <p:cNvPr id="14" name="Image 1" descr="/home/user/hina-english/matome/img/musi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4724400"/>
            <a:ext cx="1428750" cy="1428750"/>
          </a:xfrm>
          <a:prstGeom prst="rect">
            <a:avLst/>
          </a:prstGeom>
        </p:spPr>
      </p:pic>
      <p:pic>
        <p:nvPicPr>
          <p:cNvPr id="15" name="Image 2" descr="/home/user/hina-english/matome/img/breakfa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4724400"/>
            <a:ext cx="1428750" cy="1428750"/>
          </a:xfrm>
          <a:prstGeom prst="rect">
            <a:avLst/>
          </a:prstGeom>
        </p:spPr>
      </p:pic>
      <p:pic>
        <p:nvPicPr>
          <p:cNvPr id="16" name="Image 3" descr="/home/user/hina-english/matome/img/caf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4724400"/>
            <a:ext cx="1428750" cy="142875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Q18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4048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彼女は看護師です。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88963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 声に出して、英語で言ってみよう！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Q18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336232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She is </a:t>
            </a:r>
            <a:pPr/>
            <a:r>
              <a:rPr sz="30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nurse.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2486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彼女は看護師です。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30003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職業は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をつける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Q19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engine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44577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彼はエンジニアです。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88963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 声に出して、英語で言ってみよう！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Q19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engine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40671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He is </a:t>
            </a:r>
            <a:pPr/>
            <a:r>
              <a:rPr sz="30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engineer.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27336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彼はエンジニアです。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48196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engineer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は母音の音で始まるので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334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810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Q20</a:t>
            </a:r>
          </a:p>
        </p:txBody>
      </p:sp>
      <p:sp>
        <p:nvSpPr>
          <p:cNvPr id="6" name=""/>
          <p:cNvSpPr txBox="1"/>
          <p:nvPr/>
        </p:nvSpPr>
        <p:spPr>
          <a:xfrm>
            <a:off x="17716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mus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44577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私は音楽が好きです。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88963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 声に出して、英語で言ってみよう！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334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810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Q20</a:t>
            </a:r>
          </a:p>
        </p:txBody>
      </p:sp>
      <p:sp>
        <p:nvSpPr>
          <p:cNvPr id="6" name=""/>
          <p:cNvSpPr txBox="1"/>
          <p:nvPr/>
        </p:nvSpPr>
        <p:spPr>
          <a:xfrm>
            <a:off x="17716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mus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28098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like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music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27336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私は音楽が好きです。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56578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music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は数えられない名詞なので、冠詞なし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382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667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Q21</a:t>
            </a:r>
          </a:p>
        </p:txBody>
      </p:sp>
      <p:sp>
        <p:nvSpPr>
          <p:cNvPr id="6" name=""/>
          <p:cNvSpPr txBox="1"/>
          <p:nvPr/>
        </p:nvSpPr>
        <p:spPr>
          <a:xfrm>
            <a:off x="16764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adv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69913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彼は私にアドバイスをくれました。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88963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 声に出して、英語で言ってみよう！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382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667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Q21</a:t>
            </a:r>
          </a:p>
        </p:txBody>
      </p:sp>
      <p:sp>
        <p:nvSpPr>
          <p:cNvPr id="6" name=""/>
          <p:cNvSpPr txBox="1"/>
          <p:nvPr/>
        </p:nvSpPr>
        <p:spPr>
          <a:xfrm>
            <a:off x="16764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adv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44196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He gave me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advice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41910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彼は私にアドバイスをくれました。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85058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advice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は数えられない名詞なので、冠詞なし（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some advice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も○）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953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334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Q22</a:t>
            </a:r>
          </a:p>
        </p:txBody>
      </p:sp>
      <p:sp>
        <p:nvSpPr>
          <p:cNvPr id="6" name=""/>
          <p:cNvSpPr txBox="1"/>
          <p:nvPr/>
        </p:nvSpPr>
        <p:spPr>
          <a:xfrm>
            <a:off x="17335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breakfa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65436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私は毎朝、朝ごはんを食べます。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88963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 声に出して、英語で言ってみよう！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953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334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Q22</a:t>
            </a:r>
          </a:p>
        </p:txBody>
      </p:sp>
      <p:sp>
        <p:nvSpPr>
          <p:cNvPr id="6" name=""/>
          <p:cNvSpPr txBox="1"/>
          <p:nvPr/>
        </p:nvSpPr>
        <p:spPr>
          <a:xfrm>
            <a:off x="17335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breakfa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667702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eat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breakfast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every morning.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39338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私は毎朝、朝ごはんを食べます。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58959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食事は基本、無冠詞（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I have breakfast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も○）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048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429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Q23</a:t>
            </a:r>
          </a:p>
        </p:txBody>
      </p:sp>
      <p:sp>
        <p:nvSpPr>
          <p:cNvPr id="6" name=""/>
          <p:cNvSpPr txBox="1"/>
          <p:nvPr/>
        </p:nvSpPr>
        <p:spPr>
          <a:xfrm>
            <a:off x="174307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xmastr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65341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クリスマスは家族と過ごします。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88963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 声に出して、英語で言ってみよう！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048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429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Q23</a:t>
            </a:r>
          </a:p>
        </p:txBody>
      </p:sp>
      <p:sp>
        <p:nvSpPr>
          <p:cNvPr id="6" name=""/>
          <p:cNvSpPr txBox="1"/>
          <p:nvPr/>
        </p:nvSpPr>
        <p:spPr>
          <a:xfrm>
            <a:off x="174307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xmastr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74961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spend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Christmas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with my family.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39243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クリスマスは家族と過ごします。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32385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祝日・ホリデーは無冠詞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144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525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Q24</a:t>
            </a:r>
          </a:p>
        </p:txBody>
      </p:sp>
      <p:sp>
        <p:nvSpPr>
          <p:cNvPr id="6" name=""/>
          <p:cNvSpPr txBox="1"/>
          <p:nvPr/>
        </p:nvSpPr>
        <p:spPr>
          <a:xfrm>
            <a:off x="17526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af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19375"/>
            <a:ext cx="74199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私は昨日、あるカフェに行きました。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162300"/>
            <a:ext cx="73628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そのカフェはとても混んでいました。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2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3" name=""/>
          <p:cNvSpPr txBox="1"/>
          <p:nvPr/>
        </p:nvSpPr>
        <p:spPr>
          <a:xfrm>
            <a:off x="1847850" y="5314950"/>
            <a:ext cx="88963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 声に出して、英語で言ってみよう！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144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525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Q24</a:t>
            </a:r>
          </a:p>
        </p:txBody>
      </p:sp>
      <p:sp>
        <p:nvSpPr>
          <p:cNvPr id="6" name=""/>
          <p:cNvSpPr txBox="1"/>
          <p:nvPr/>
        </p:nvSpPr>
        <p:spPr>
          <a:xfrm>
            <a:off x="17526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af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371725"/>
            <a:ext cx="583882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went to </a:t>
            </a:r>
            <a:pPr/>
            <a:r>
              <a:rPr sz="30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cafe yesterday.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2981325"/>
            <a:ext cx="61912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cafe was very crowded.</a:t>
            </a:r>
          </a:p>
        </p:txBody>
      </p:sp>
      <p:sp>
        <p:nvSpPr>
          <p:cNvPr id="11" name=""/>
          <p:cNvSpPr txBox="1"/>
          <p:nvPr/>
        </p:nvSpPr>
        <p:spPr>
          <a:xfrm>
            <a:off x="3162300" y="3638550"/>
            <a:ext cx="85058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私は昨日、あるカフェに行きました。そのカフェはとても混んでいました。</a:t>
            </a:r>
          </a:p>
        </p:txBody>
      </p:sp>
      <p:sp>
        <p:nvSpPr>
          <p:cNvPr id="12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3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4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5" name=""/>
          <p:cNvSpPr txBox="1"/>
          <p:nvPr/>
        </p:nvSpPr>
        <p:spPr>
          <a:xfrm>
            <a:off x="2152650" y="5343525"/>
            <a:ext cx="64579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初登場は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、2回目は「さっきのカフェ」なので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048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429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Q25</a:t>
            </a:r>
          </a:p>
        </p:txBody>
      </p:sp>
      <p:sp>
        <p:nvSpPr>
          <p:cNvPr id="6" name=""/>
          <p:cNvSpPr txBox="1"/>
          <p:nvPr/>
        </p:nvSpPr>
        <p:spPr>
          <a:xfrm>
            <a:off x="174307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77914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私はこのカフェのコーヒーが好きです。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88963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 声に出して、英語で言ってみよう！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048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429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Q25</a:t>
            </a:r>
          </a:p>
        </p:txBody>
      </p:sp>
      <p:sp>
        <p:nvSpPr>
          <p:cNvPr id="6" name=""/>
          <p:cNvSpPr txBox="1"/>
          <p:nvPr/>
        </p:nvSpPr>
        <p:spPr>
          <a:xfrm>
            <a:off x="174307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61722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like </a:t>
            </a:r>
            <a:pPr/>
            <a:r>
              <a:rPr sz="30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coffee at this cafe.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46577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私はこのカフェのコーヒーが好きです。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60960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「このカフェの」コーヒーと特定できるので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