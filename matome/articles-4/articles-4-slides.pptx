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9" Type="http://schemas.openxmlformats.org/officeDocument/2006/relationships/presProps" Target="presProps.xml"/><Relationship Id="rId61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204787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162175"/>
            <a:ext cx="82486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  <a:pPr/>
            <a:r>
              <a:rPr sz="6900" b="1">
                <a:solidFill>
                  <a:srgbClr val="E8461E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371975"/>
            <a:ext cx="67056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Noto Sans JP"/>
                <a:ea typeface="Noto Sans JP"/>
              </a:rPr>
              <a:t>全25問 一緒に声に出して練習しよう！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7720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練習問題（全25問）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514475" y="1952625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666875" y="2009775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038475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257300" y="5200650"/>
            <a:ext cx="1990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9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1828800" y="56483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11" name=""/>
          <p:cNvSpPr txBox="1"/>
          <p:nvPr/>
        </p:nvSpPr>
        <p:spPr>
          <a:xfrm>
            <a:off x="1200150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穴埋め2・瞬間英作文2</a:t>
            </a:r>
          </a:p>
        </p:txBody>
      </p:sp>
      <p:sp>
        <p:nvSpPr>
          <p:cNvPr id="12" name=""/>
          <p:cNvSpPr/>
          <p:nvPr/>
        </p:nvSpPr>
        <p:spPr>
          <a:xfrm>
            <a:off x="34385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42481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44005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pic>
        <p:nvPicPr>
          <p:cNvPr id="15" name="Image 1" descr="/home/user/hina-english/matome/img/infor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04800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3733800" y="52292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7" name=""/>
          <p:cNvSpPr txBox="1"/>
          <p:nvPr/>
        </p:nvSpPr>
        <p:spPr>
          <a:xfrm>
            <a:off x="4572000" y="56483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18" name=""/>
          <p:cNvSpPr txBox="1"/>
          <p:nvPr/>
        </p:nvSpPr>
        <p:spPr>
          <a:xfrm>
            <a:off x="3952875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穴埋め2・瞬間英作文2</a:t>
            </a:r>
          </a:p>
        </p:txBody>
      </p:sp>
      <p:sp>
        <p:nvSpPr>
          <p:cNvPr id="19" name=""/>
          <p:cNvSpPr/>
          <p:nvPr/>
        </p:nvSpPr>
        <p:spPr>
          <a:xfrm>
            <a:off x="61817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69913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1437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pic>
        <p:nvPicPr>
          <p:cNvPr id="22" name="Image 2" descr="/home/user/hina-english/matome/img/eiff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048000"/>
            <a:ext cx="1428750" cy="142875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7096125" y="522922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24" name=""/>
          <p:cNvSpPr txBox="1"/>
          <p:nvPr/>
        </p:nvSpPr>
        <p:spPr>
          <a:xfrm>
            <a:off x="7324725" y="56483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25" name=""/>
          <p:cNvSpPr txBox="1"/>
          <p:nvPr/>
        </p:nvSpPr>
        <p:spPr>
          <a:xfrm>
            <a:off x="6696075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穴埋め2・瞬間英作文2</a:t>
            </a:r>
          </a:p>
        </p:txBody>
      </p:sp>
      <p:sp>
        <p:nvSpPr>
          <p:cNvPr id="26" name=""/>
          <p:cNvSpPr/>
          <p:nvPr/>
        </p:nvSpPr>
        <p:spPr>
          <a:xfrm>
            <a:off x="893445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9734550" y="1952625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9886950" y="2009775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pic>
        <p:nvPicPr>
          <p:cNvPr id="29" name="Image 3" descr="/home/user/hina-english/matome/img/caf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048000"/>
            <a:ext cx="1428750" cy="142875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9725025" y="5229225"/>
            <a:ext cx="1485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総まとめ</a:t>
            </a:r>
          </a:p>
        </p:txBody>
      </p:sp>
      <p:sp>
        <p:nvSpPr>
          <p:cNvPr id="31" name=""/>
          <p:cNvSpPr txBox="1"/>
          <p:nvPr/>
        </p:nvSpPr>
        <p:spPr>
          <a:xfrm>
            <a:off x="10020300" y="5648325"/>
            <a:ext cx="8001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13問</a:t>
            </a:r>
          </a:p>
        </p:txBody>
      </p:sp>
      <p:sp>
        <p:nvSpPr>
          <p:cNvPr id="32" name=""/>
          <p:cNvSpPr txBox="1"/>
          <p:nvPr/>
        </p:nvSpPr>
        <p:spPr>
          <a:xfrm>
            <a:off x="9448800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穴埋め4・瞬間英作文9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4267200" cy="8667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4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733675"/>
            <a:ext cx="6324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動画1のおさらい ・ 4問（穴埋め2・瞬間英作文2）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76600"/>
            <a:ext cx="17621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352800"/>
            <a:ext cx="19335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1" name=""/>
          <p:cNvSpPr/>
          <p:nvPr/>
        </p:nvSpPr>
        <p:spPr>
          <a:xfrm>
            <a:off x="3000375" y="3276600"/>
            <a:ext cx="18764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190875" y="3352800"/>
            <a:ext cx="20669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2回目以降は 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/>
          <p:nvPr/>
        </p:nvSpPr>
        <p:spPr>
          <a:xfrm>
            <a:off x="4972050" y="3276600"/>
            <a:ext cx="26765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162550" y="3352800"/>
            <a:ext cx="29813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は「音」で決まる</a:t>
            </a:r>
          </a:p>
        </p:txBody>
      </p:sp>
      <p:sp>
        <p:nvSpPr>
          <p:cNvPr id="15" name=""/>
          <p:cNvSpPr/>
          <p:nvPr/>
        </p:nvSpPr>
        <p:spPr>
          <a:xfrm>
            <a:off x="7743825" y="3276600"/>
            <a:ext cx="32099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934325" y="33528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＝ どれのことか特定できる</a:t>
            </a:r>
          </a:p>
        </p:txBody>
      </p:sp>
      <p:pic>
        <p:nvPicPr>
          <p:cNvPr id="17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su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univers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3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25780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8199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太陽は1つだけで、どれのことか特定できるので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3629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838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university student.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115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university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は「ユ」の音（子音）で始まるので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39147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862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waited for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hour.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48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hour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 h を読まず「ア」の音で始まるので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57721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6324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4問（穴埋め2・瞬間英作文2）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3181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液体・抽象的なものは数えない</a:t>
            </a:r>
          </a:p>
        </p:txBody>
      </p:sp>
      <p:sp>
        <p:nvSpPr>
          <p:cNvPr id="11" name=""/>
          <p:cNvSpPr/>
          <p:nvPr/>
        </p:nvSpPr>
        <p:spPr>
          <a:xfrm>
            <a:off x="4419600" y="3219450"/>
            <a:ext cx="23526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610100" y="3295650"/>
            <a:ext cx="2609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「1杯」なら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13" name=""/>
          <p:cNvSpPr/>
          <p:nvPr/>
        </p:nvSpPr>
        <p:spPr>
          <a:xfrm>
            <a:off x="6867525" y="3219450"/>
            <a:ext cx="28860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058025" y="3295650"/>
            <a:ext cx="3219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1羽のニワトリは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pic>
        <p:nvPicPr>
          <p:cNvPr id="15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6" name="Image 1" descr="/home/user/hina-english/matome/img/chick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7" name="Image 2" descr="/home/user/hina-english/matome/img/coff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3050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81650"/>
            <a:ext cx="650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00575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7429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1羽のニワトリなので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（鶏肉の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なら数えない）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295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410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drink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coffee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2387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液体の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は数えないので、冠詞なし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162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066925"/>
            <a:ext cx="61817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Can I have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coffee, please?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2676525"/>
            <a:ext cx="38481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coffee, please.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286125"/>
            <a:ext cx="51911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I'd like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coffee, please.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943350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6" name=""/>
          <p:cNvSpPr txBox="1"/>
          <p:nvPr/>
        </p:nvSpPr>
        <p:spPr>
          <a:xfrm>
            <a:off x="2152650" y="5343525"/>
            <a:ext cx="71151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言い方はどれでも○。「コーヒー1杯」として数えるので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23812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6324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動画3のおさらい ・ 4問（穴埋め2・瞬間英作文2）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21812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複数名詞（〜全般）</a:t>
            </a:r>
          </a:p>
        </p:txBody>
      </p:sp>
      <p:sp>
        <p:nvSpPr>
          <p:cNvPr id="11" name=""/>
          <p:cNvSpPr/>
          <p:nvPr/>
        </p:nvSpPr>
        <p:spPr>
          <a:xfrm>
            <a:off x="3419475" y="3219450"/>
            <a:ext cx="29813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609975" y="3295650"/>
            <a:ext cx="33337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数えられない名詞（〜全般）</a:t>
            </a:r>
          </a:p>
        </p:txBody>
      </p:sp>
      <p:sp>
        <p:nvSpPr>
          <p:cNvPr id="13" name=""/>
          <p:cNvSpPr/>
          <p:nvPr/>
        </p:nvSpPr>
        <p:spPr>
          <a:xfrm>
            <a:off x="6496050" y="3219450"/>
            <a:ext cx="3562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686550" y="3295650"/>
            <a:ext cx="40005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固有名詞（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がつく名前もある）</a:t>
            </a:r>
          </a:p>
        </p:txBody>
      </p:sp>
      <p:sp>
        <p:nvSpPr>
          <p:cNvPr id="15" name=""/>
          <p:cNvSpPr/>
          <p:nvPr/>
        </p:nvSpPr>
        <p:spPr>
          <a:xfrm>
            <a:off x="10153650" y="3219450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344150" y="329565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pic>
        <p:nvPicPr>
          <p:cNvPr id="17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furni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d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hel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48350" y="22669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721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927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は数えられない名詞で、特定の家具の話でもないので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5336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dogs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324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犬全般の話（複数名詞）なので、冠詞なし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876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862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speaks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English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752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言語の名前なので、冠詞なし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30575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総まとめ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動画1〜3のミックス ・ 13問（穴埋め4・瞬間英作文9）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403860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45529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・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・なし、全部まざっています</a:t>
            </a:r>
          </a:p>
        </p:txBody>
      </p:sp>
      <p:sp>
        <p:nvSpPr>
          <p:cNvPr id="11" name=""/>
          <p:cNvSpPr/>
          <p:nvPr/>
        </p:nvSpPr>
        <p:spPr>
          <a:xfrm>
            <a:off x="5276850" y="3219450"/>
            <a:ext cx="25812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5467350" y="32956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  <p:pic>
        <p:nvPicPr>
          <p:cNvPr id="13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4" name="Image 1" descr="/home/user/hina-english/matome/img/xmas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5" name="Image 2" descr="/home/user/hina-english/matome/img/nur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6" name="Image 3" descr="/home/user/hina-english/matome/img/eg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669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10" name=""/>
          <p:cNvSpPr/>
          <p:nvPr/>
        </p:nvSpPr>
        <p:spPr>
          <a:xfrm>
            <a:off x="49911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81750" y="2257425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5572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was very crowded.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669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10" name=""/>
          <p:cNvSpPr/>
          <p:nvPr/>
        </p:nvSpPr>
        <p:spPr>
          <a:xfrm>
            <a:off x="49911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31495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81750" y="2257425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5572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was very crowded.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「さっきのカフェ」と分かるので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562600" y="2667000"/>
            <a:ext cx="44767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at this cafe.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257675" y="2676525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5562600" y="2667000"/>
            <a:ext cx="44767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at this cafe.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410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「このカフェの」コーヒーと特定できるので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6886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 next door are very cute.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629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隣の家の犬たちはとてもかわいいです。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6886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 next door are very cute.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629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隣の家の犬たちはとてもかわいいです。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400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「隣の家の犬」と特定できるので、複数でも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9907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spend</a:t>
            </a:r>
          </a:p>
        </p:txBody>
      </p:sp>
      <p:sp>
        <p:nvSpPr>
          <p:cNvPr id="10" name=""/>
          <p:cNvSpPr/>
          <p:nvPr/>
        </p:nvSpPr>
        <p:spPr>
          <a:xfrm>
            <a:off x="4743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134100" y="26670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Christmas with my family.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9907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spend</a:t>
            </a:r>
          </a:p>
        </p:txBody>
      </p:sp>
      <p:sp>
        <p:nvSpPr>
          <p:cNvPr id="10" name=""/>
          <p:cNvSpPr/>
          <p:nvPr/>
        </p:nvSpPr>
        <p:spPr>
          <a:xfrm>
            <a:off x="4743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8672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134100" y="26670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Christmas with my family.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4400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祝日・ホリデーなので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3362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00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職業は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をつける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067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819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engineer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8098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music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657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991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1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gave me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advice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85058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some 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43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6770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95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食事は基本、無冠詞（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have breakfast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953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私は毎朝、卵を1個食べます。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0388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egg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600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私は毎朝、卵を1個食べます。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133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egg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286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私はフィリピン出身です。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4673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I'm from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Philippines.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私はフィリピン出身です。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5721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島の集まり（複数形）を表す国名なので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v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4103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昨日の夜、映画を1本観ました。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v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353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watched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movie last night.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昨日の夜、映画を1本観ました。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67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「1本の映画」なので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gg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荷物が多すぎます。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gg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591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have too much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luggage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荷物が多すぎます。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838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luggage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