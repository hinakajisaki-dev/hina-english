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presProps" Target="presProps.xml"/><Relationship Id="rId18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19621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76450"/>
            <a:ext cx="681990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 </a:t>
            </a:r>
            <a:pPr/>
            <a:r>
              <a:rPr sz="5700" b="1">
                <a:solidFill>
                  <a:srgbClr val="E8461E"/>
                </a:solidFill>
                <a:latin typeface="DM Sans"/>
                <a:ea typeface="DM Sans"/>
              </a:rPr>
              <a:t>Part 3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10050"/>
            <a:ext cx="853440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無冠詞：冠詞をつけないパターン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533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冠詞をつけないパターン：無冠詞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77914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ここまでは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と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。ここからは「どちらもつけない」パターン</a:t>
            </a:r>
          </a:p>
        </p:txBody>
      </p:sp>
      <p:sp>
        <p:nvSpPr>
          <p:cNvPr id="6" name=""/>
          <p:cNvSpPr/>
          <p:nvPr/>
        </p:nvSpPr>
        <p:spPr>
          <a:xfrm>
            <a:off x="68580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1857375" y="2381250"/>
            <a:ext cx="112395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2028825" y="2505075"/>
            <a:ext cx="123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9" name=""/>
          <p:cNvSpPr txBox="1"/>
          <p:nvPr/>
        </p:nvSpPr>
        <p:spPr>
          <a:xfrm>
            <a:off x="2047875" y="3067050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1つの〜</a:t>
            </a:r>
          </a:p>
        </p:txBody>
      </p:sp>
      <p:pic>
        <p:nvPicPr>
          <p:cNvPr id="10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850" y="4000500"/>
            <a:ext cx="1143000" cy="11430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771650" y="5762625"/>
            <a:ext cx="1828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12" name=""/>
          <p:cNvSpPr/>
          <p:nvPr/>
        </p:nvSpPr>
        <p:spPr>
          <a:xfrm>
            <a:off x="436245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5686425" y="2381250"/>
            <a:ext cx="81915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857875" y="2505075"/>
            <a:ext cx="895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5781675" y="3067050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16" name=""/>
          <p:cNvSpPr/>
          <p:nvPr/>
        </p:nvSpPr>
        <p:spPr>
          <a:xfrm>
            <a:off x="5429250" y="3905250"/>
            <a:ext cx="1333500" cy="133350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7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4076700"/>
            <a:ext cx="990600" cy="990600"/>
          </a:xfrm>
          <a:prstGeom prst="rect">
            <a:avLst/>
          </a:prstGeom>
        </p:spPr>
      </p:pic>
      <p:sp>
        <p:nvSpPr>
          <p:cNvPr id="18" name=""/>
          <p:cNvSpPr/>
          <p:nvPr/>
        </p:nvSpPr>
        <p:spPr>
          <a:xfrm>
            <a:off x="5734050" y="50101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5610225" y="50387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0" name=""/>
          <p:cNvSpPr txBox="1"/>
          <p:nvPr/>
        </p:nvSpPr>
        <p:spPr>
          <a:xfrm>
            <a:off x="5267325" y="5762625"/>
            <a:ext cx="22479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21" name=""/>
          <p:cNvSpPr/>
          <p:nvPr/>
        </p:nvSpPr>
        <p:spPr>
          <a:xfrm>
            <a:off x="803910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38100">
            <a:solidFill>
              <a:srgbClr val="E8461E"/>
            </a:solidFill>
            <a:prstDash val="solid"/>
          </a:ln>
        </p:spPr>
      </p:sp>
      <p:sp>
        <p:nvSpPr>
          <p:cNvPr id="22" name=""/>
          <p:cNvSpPr/>
          <p:nvPr/>
        </p:nvSpPr>
        <p:spPr>
          <a:xfrm>
            <a:off x="9334500" y="2419350"/>
            <a:ext cx="876300" cy="609600"/>
          </a:xfrm>
          <a:prstGeom prst="roundRect">
            <a:avLst>
              <a:gd name="adj" fmla="val 28125"/>
            </a:avLst>
          </a:prstGeom>
          <a:solidFill>
            <a:srgbClr val="9AA1B6"/>
          </a:solidFill>
          <a:ln/>
        </p:spPr>
      </p:sp>
      <p:sp>
        <p:nvSpPr>
          <p:cNvPr id="23" name=""/>
          <p:cNvSpPr txBox="1"/>
          <p:nvPr/>
        </p:nvSpPr>
        <p:spPr>
          <a:xfrm>
            <a:off x="9505950" y="2533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4" name=""/>
          <p:cNvSpPr txBox="1"/>
          <p:nvPr/>
        </p:nvSpPr>
        <p:spPr>
          <a:xfrm>
            <a:off x="8524875" y="3105150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どちらもつけない＝</a:t>
            </a:r>
            <a:pPr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無冠詞</a:t>
            </a:r>
          </a:p>
        </p:txBody>
      </p:sp>
      <p:pic>
        <p:nvPicPr>
          <p:cNvPr id="25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075" y="4000500"/>
            <a:ext cx="1143000" cy="1143000"/>
          </a:xfrm>
          <a:prstGeom prst="rect">
            <a:avLst/>
          </a:prstGeom>
        </p:spPr>
      </p:pic>
      <p:pic>
        <p:nvPicPr>
          <p:cNvPr id="26" name="Image 3" descr="映画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1225" y="4000500"/>
            <a:ext cx="1143000" cy="11430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172575" y="5724525"/>
            <a:ext cx="1724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8675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無冠詞になる、6つのパターン</a:t>
            </a:r>
          </a:p>
        </p:txBody>
      </p:sp>
      <p:sp>
        <p:nvSpPr>
          <p:cNvPr id="5" name=""/>
          <p:cNvSpPr/>
          <p:nvPr/>
        </p:nvSpPr>
        <p:spPr>
          <a:xfrm>
            <a:off x="6858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8191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781050" y="1876425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8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362200"/>
            <a:ext cx="952500" cy="9525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057400" y="2524125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0" name=""/>
          <p:cNvSpPr txBox="1"/>
          <p:nvPr/>
        </p:nvSpPr>
        <p:spPr>
          <a:xfrm>
            <a:off x="2057400" y="28765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movies</a:t>
            </a:r>
          </a:p>
        </p:txBody>
      </p:sp>
      <p:sp>
        <p:nvSpPr>
          <p:cNvPr id="11" name=""/>
          <p:cNvSpPr/>
          <p:nvPr/>
        </p:nvSpPr>
        <p:spPr>
          <a:xfrm>
            <a:off x="43434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44767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10075" y="187642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362200"/>
            <a:ext cx="952500" cy="9525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5715000" y="2524125"/>
            <a:ext cx="25336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まとめて指す名詞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5715000" y="2876550"/>
            <a:ext cx="12763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7" name=""/>
          <p:cNvSpPr/>
          <p:nvPr/>
        </p:nvSpPr>
        <p:spPr>
          <a:xfrm>
            <a:off x="80010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81343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8067675" y="187642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0" name="Image 2" descr="鳥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362200"/>
            <a:ext cx="952500" cy="95250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9372600" y="2524125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固有名詞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9372600" y="2876550"/>
            <a:ext cx="952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23" name=""/>
          <p:cNvSpPr/>
          <p:nvPr/>
        </p:nvSpPr>
        <p:spPr>
          <a:xfrm>
            <a:off x="6858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8191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524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6" name="Image 3" descr="英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4810125"/>
            <a:ext cx="952500" cy="9525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2057400" y="498157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28" name=""/>
          <p:cNvSpPr txBox="1"/>
          <p:nvPr/>
        </p:nvSpPr>
        <p:spPr>
          <a:xfrm>
            <a:off x="2057400" y="5334000"/>
            <a:ext cx="1095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English</a:t>
            </a:r>
          </a:p>
        </p:txBody>
      </p:sp>
      <p:sp>
        <p:nvSpPr>
          <p:cNvPr id="29" name=""/>
          <p:cNvSpPr/>
          <p:nvPr/>
        </p:nvSpPr>
        <p:spPr>
          <a:xfrm>
            <a:off x="43434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44767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1" name=""/>
          <p:cNvSpPr txBox="1"/>
          <p:nvPr/>
        </p:nvSpPr>
        <p:spPr>
          <a:xfrm>
            <a:off x="44100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2" name="Image 4" descr="朝食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100" y="4810125"/>
            <a:ext cx="952500" cy="9525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5715000" y="498157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sp>
        <p:nvSpPr>
          <p:cNvPr id="34" name=""/>
          <p:cNvSpPr txBox="1"/>
          <p:nvPr/>
        </p:nvSpPr>
        <p:spPr>
          <a:xfrm>
            <a:off x="5715000" y="5334000"/>
            <a:ext cx="1390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breakfast</a:t>
            </a:r>
          </a:p>
        </p:txBody>
      </p:sp>
      <p:sp>
        <p:nvSpPr>
          <p:cNvPr id="35" name=""/>
          <p:cNvSpPr/>
          <p:nvPr/>
        </p:nvSpPr>
        <p:spPr>
          <a:xfrm>
            <a:off x="80010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81343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0676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6</a:t>
            </a:r>
          </a:p>
        </p:txBody>
      </p:sp>
      <p:pic>
        <p:nvPicPr>
          <p:cNvPr id="38" name="Image 5" descr="ハロウィン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7700" y="4810125"/>
            <a:ext cx="952500" cy="952500"/>
          </a:xfrm>
          <a:prstGeom prst="rect">
            <a:avLst/>
          </a:prstGeom>
        </p:spPr>
      </p:pic>
      <p:sp>
        <p:nvSpPr>
          <p:cNvPr id="39" name=""/>
          <p:cNvSpPr txBox="1"/>
          <p:nvPr/>
        </p:nvSpPr>
        <p:spPr>
          <a:xfrm>
            <a:off x="9372600" y="4981575"/>
            <a:ext cx="22574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祝日・ホリデー</a:t>
            </a:r>
          </a:p>
        </p:txBody>
      </p:sp>
      <p:sp>
        <p:nvSpPr>
          <p:cNvPr id="40" name=""/>
          <p:cNvSpPr txBox="1"/>
          <p:nvPr/>
        </p:nvSpPr>
        <p:spPr>
          <a:xfrm>
            <a:off x="9372600" y="5334000"/>
            <a:ext cx="1438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Halloween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6010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1. 複数名詞のときは、冠詞をつけない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286375" cy="3790950"/>
          </a:xfrm>
          <a:prstGeom prst="roundRect">
            <a:avLst>
              <a:gd name="adj" fmla="val 7035"/>
            </a:avLst>
          </a:prstGeom>
          <a:solidFill>
            <a:srgbClr val="FFE8DC"/>
          </a:solidFill>
          <a:ln/>
        </p:spPr>
      </p:sp>
      <p:sp>
        <p:nvSpPr>
          <p:cNvPr id="6" name=""/>
          <p:cNvSpPr/>
          <p:nvPr/>
        </p:nvSpPr>
        <p:spPr>
          <a:xfrm>
            <a:off x="971550" y="1933575"/>
            <a:ext cx="6191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43000" y="1990725"/>
            <a:ext cx="657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8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4625" y="2381250"/>
            <a:ext cx="1238250" cy="12382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971550" y="3695700"/>
            <a:ext cx="4848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971550" y="414337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昨日の夜、映画を観ました。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971550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43000" y="49149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「1つの映画」と分かる →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6219825" y="1724025"/>
            <a:ext cx="5286375" cy="3790950"/>
          </a:xfrm>
          <a:prstGeom prst="roundRect">
            <a:avLst>
              <a:gd name="adj" fmla="val 7035"/>
            </a:avLst>
          </a:prstGeom>
          <a:solidFill>
            <a:srgbClr val="DDEFFC"/>
          </a:solidFill>
          <a:ln/>
        </p:spPr>
      </p:sp>
      <p:sp>
        <p:nvSpPr>
          <p:cNvPr id="14" name=""/>
          <p:cNvSpPr/>
          <p:nvPr/>
        </p:nvSpPr>
        <p:spPr>
          <a:xfrm>
            <a:off x="6505575" y="19335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677025" y="19907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複数</a:t>
            </a:r>
          </a:p>
        </p:txBody>
      </p:sp>
      <p:pic>
        <p:nvPicPr>
          <p:cNvPr id="16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950" y="2381250"/>
            <a:ext cx="1238250" cy="1238250"/>
          </a:xfrm>
          <a:prstGeom prst="rect">
            <a:avLst/>
          </a:prstGeom>
        </p:spPr>
      </p:pic>
      <p:pic>
        <p:nvPicPr>
          <p:cNvPr id="17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81250"/>
            <a:ext cx="1238250" cy="12382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6505575" y="3695700"/>
            <a:ext cx="23431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movies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9" name=""/>
          <p:cNvSpPr txBox="1"/>
          <p:nvPr/>
        </p:nvSpPr>
        <p:spPr>
          <a:xfrm>
            <a:off x="6505575" y="414337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私は映画が好きです。</a:t>
            </a:r>
          </a:p>
        </p:txBody>
      </p:sp>
      <p:sp>
        <p:nvSpPr>
          <p:cNvPr id="20" name=""/>
          <p:cNvSpPr/>
          <p:nvPr/>
        </p:nvSpPr>
        <p:spPr>
          <a:xfrm>
            <a:off x="6505575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6677025" y="4914900"/>
            <a:ext cx="3752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複数名詞 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 → 冠詞なし</a:t>
            </a:r>
          </a:p>
        </p:txBody>
      </p:sp>
      <p:sp>
        <p:nvSpPr>
          <p:cNvPr id="22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5" name=""/>
          <p:cNvSpPr txBox="1"/>
          <p:nvPr/>
        </p:nvSpPr>
        <p:spPr>
          <a:xfrm>
            <a:off x="2114550" y="5924550"/>
            <a:ext cx="5991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は「1つ」のときだけ。複数名詞にはつけない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4003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8" name=""/>
          <p:cNvSpPr txBox="1"/>
          <p:nvPr/>
        </p:nvSpPr>
        <p:spPr>
          <a:xfrm>
            <a:off x="3162300" y="3219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3143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553200" y="32194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1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67640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6" name=""/>
          <p:cNvSpPr txBox="1"/>
          <p:nvPr/>
        </p:nvSpPr>
        <p:spPr>
          <a:xfrm>
            <a:off x="283845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7" name=""/>
          <p:cNvSpPr txBox="1"/>
          <p:nvPr/>
        </p:nvSpPr>
        <p:spPr>
          <a:xfrm>
            <a:off x="4076700" y="53149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どれ？ 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4003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8" name=""/>
          <p:cNvSpPr txBox="1"/>
          <p:nvPr/>
        </p:nvSpPr>
        <p:spPr>
          <a:xfrm>
            <a:off x="3162300" y="3219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3143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238750" y="32956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553200" y="32194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5" name=""/>
          <p:cNvSpPr txBox="1"/>
          <p:nvPr/>
        </p:nvSpPr>
        <p:spPr>
          <a:xfrm>
            <a:off x="1809750" y="5124450"/>
            <a:ext cx="35718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bought furniture online.</a:t>
            </a:r>
          </a:p>
        </p:txBody>
      </p:sp>
      <p:sp>
        <p:nvSpPr>
          <p:cNvPr id="16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572125"/>
            <a:ext cx="8696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家具は1つとは限らない（一発では分からない）→ 不特定なので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9823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 s がつかないけど、1つとは限らない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048250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914400" y="250507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8" name="Image 0" descr="い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0" y="2562225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781175" y="3552825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chair</a:t>
            </a:r>
          </a:p>
        </p:txBody>
      </p:sp>
      <p:sp>
        <p:nvSpPr>
          <p:cNvPr id="10" name=""/>
          <p:cNvSpPr/>
          <p:nvPr/>
        </p:nvSpPr>
        <p:spPr>
          <a:xfrm>
            <a:off x="3257550" y="250507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1" name="Image 1" descr="テーブ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562225"/>
            <a:ext cx="990600" cy="9906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124325" y="3552825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table</a:t>
            </a:r>
          </a:p>
        </p:txBody>
      </p:sp>
      <p:sp>
        <p:nvSpPr>
          <p:cNvPr id="13" name=""/>
          <p:cNvSpPr/>
          <p:nvPr/>
        </p:nvSpPr>
        <p:spPr>
          <a:xfrm>
            <a:off x="914400" y="40005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4" name="Image 2" descr="ベッ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4057650"/>
            <a:ext cx="990600" cy="9906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1847850" y="5048250"/>
            <a:ext cx="790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bed</a:t>
            </a:r>
          </a:p>
        </p:txBody>
      </p:sp>
      <p:sp>
        <p:nvSpPr>
          <p:cNvPr id="16" name=""/>
          <p:cNvSpPr/>
          <p:nvPr/>
        </p:nvSpPr>
        <p:spPr>
          <a:xfrm>
            <a:off x="3257550" y="40005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7" name="Image 3" descr="ソファ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057650"/>
            <a:ext cx="990600" cy="9906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4162425" y="5048250"/>
            <a:ext cx="84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sofa</a:t>
            </a:r>
          </a:p>
        </p:txBody>
      </p:sp>
      <p:sp>
        <p:nvSpPr>
          <p:cNvPr id="19" name=""/>
          <p:cNvSpPr txBox="1"/>
          <p:nvPr/>
        </p:nvSpPr>
        <p:spPr>
          <a:xfrm>
            <a:off x="1152525" y="5534025"/>
            <a:ext cx="4124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まとめて </a:t>
            </a:r>
            <a:pPr algn="ctr"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（家具）</a:t>
            </a:r>
          </a:p>
        </p:txBody>
      </p:sp>
      <p:sp>
        <p:nvSpPr>
          <p:cNvPr id="20" name=""/>
          <p:cNvSpPr/>
          <p:nvPr/>
        </p:nvSpPr>
        <p:spPr>
          <a:xfrm>
            <a:off x="5943600" y="1962150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6153150" y="24860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124575" y="25431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6648450" y="23812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家具を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まとめて指す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言葉。</a:t>
            </a:r>
          </a:p>
        </p:txBody>
      </p:sp>
      <p:sp>
        <p:nvSpPr>
          <p:cNvPr id="24" name=""/>
          <p:cNvSpPr txBox="1"/>
          <p:nvPr/>
        </p:nvSpPr>
        <p:spPr>
          <a:xfrm>
            <a:off x="6648450" y="2667000"/>
            <a:ext cx="5095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s はつかないけど、いくつかの家具のこともある</a:t>
            </a:r>
          </a:p>
        </p:txBody>
      </p:sp>
      <p:sp>
        <p:nvSpPr>
          <p:cNvPr id="25" name=""/>
          <p:cNvSpPr/>
          <p:nvPr/>
        </p:nvSpPr>
        <p:spPr>
          <a:xfrm>
            <a:off x="5943600" y="3495675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153150" y="401955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105525" y="4076700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8" name=""/>
          <p:cNvSpPr txBox="1"/>
          <p:nvPr/>
        </p:nvSpPr>
        <p:spPr>
          <a:xfrm>
            <a:off x="6648450" y="3905250"/>
            <a:ext cx="4676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数えられない名詞なので、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6648450" y="4229100"/>
            <a:ext cx="3105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DM Sans"/>
                <a:ea typeface="DM Sans"/>
              </a:rPr>
              <a:t>× a furniture × furnitures</a:t>
            </a:r>
          </a:p>
        </p:txBody>
      </p:sp>
      <p:sp>
        <p:nvSpPr>
          <p:cNvPr id="30" name=""/>
          <p:cNvSpPr/>
          <p:nvPr/>
        </p:nvSpPr>
        <p:spPr>
          <a:xfrm>
            <a:off x="5943600" y="5019675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153150" y="555307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105525" y="5600700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3" name=""/>
          <p:cNvSpPr txBox="1"/>
          <p:nvPr/>
        </p:nvSpPr>
        <p:spPr>
          <a:xfrm>
            <a:off x="6648450" y="5438775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1点だけ言いたいときは</a:t>
            </a:r>
          </a:p>
        </p:txBody>
      </p:sp>
      <p:sp>
        <p:nvSpPr>
          <p:cNvPr id="34" name=""/>
          <p:cNvSpPr txBox="1"/>
          <p:nvPr/>
        </p:nvSpPr>
        <p:spPr>
          <a:xfrm>
            <a:off x="6648450" y="5724525"/>
            <a:ext cx="35814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（家具1点）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058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冠詞を変えると、意味が変わる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66925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66950"/>
            <a:ext cx="50673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online.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771775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オンラインで家具を買った。</a:t>
            </a:r>
          </a:p>
        </p:txBody>
      </p:sp>
      <p:sp>
        <p:nvSpPr>
          <p:cNvPr id="10" name=""/>
          <p:cNvSpPr/>
          <p:nvPr/>
        </p:nvSpPr>
        <p:spPr>
          <a:xfrm>
            <a:off x="7981950" y="22479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172450" y="2390775"/>
            <a:ext cx="15906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不特定の家具</a:t>
            </a:r>
          </a:p>
        </p:txBody>
      </p:sp>
      <p:sp>
        <p:nvSpPr>
          <p:cNvPr id="12" name=""/>
          <p:cNvSpPr txBox="1"/>
          <p:nvPr/>
        </p:nvSpPr>
        <p:spPr>
          <a:xfrm>
            <a:off x="8172450" y="2667000"/>
            <a:ext cx="2333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（1つとは限らない）</a:t>
            </a:r>
          </a:p>
        </p:txBody>
      </p:sp>
      <p:sp>
        <p:nvSpPr>
          <p:cNvPr id="13" name=""/>
          <p:cNvSpPr/>
          <p:nvPr/>
        </p:nvSpPr>
        <p:spPr>
          <a:xfrm>
            <a:off x="685800" y="350520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</p:spPr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0997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3810000"/>
            <a:ext cx="58007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4314825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その家具をオンラインで買った。</a:t>
            </a:r>
          </a:p>
        </p:txBody>
      </p:sp>
      <p:sp>
        <p:nvSpPr>
          <p:cNvPr id="17" name=""/>
          <p:cNvSpPr/>
          <p:nvPr/>
        </p:nvSpPr>
        <p:spPr>
          <a:xfrm>
            <a:off x="7981950" y="37909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172450" y="3933825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話し手と聞き手が分かる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8172450" y="421005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特定の家具</a:t>
            </a:r>
          </a:p>
        </p:txBody>
      </p:sp>
      <p:sp>
        <p:nvSpPr>
          <p:cNvPr id="20" name=""/>
          <p:cNvSpPr/>
          <p:nvPr/>
        </p:nvSpPr>
        <p:spPr>
          <a:xfrm>
            <a:off x="685800" y="504825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</p:spPr>
      </p:sp>
      <p:pic>
        <p:nvPicPr>
          <p:cNvPr id="21" name="Image 2" descr="家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53025"/>
            <a:ext cx="1181100" cy="11811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324100" y="5353050"/>
            <a:ext cx="5695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× I bought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24100" y="5857875"/>
            <a:ext cx="4419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1点なら </a:t>
            </a:r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（家具1点）</a:t>
            </a:r>
          </a:p>
        </p:txBody>
      </p:sp>
      <p:sp>
        <p:nvSpPr>
          <p:cNvPr id="24" name=""/>
          <p:cNvSpPr/>
          <p:nvPr/>
        </p:nvSpPr>
        <p:spPr>
          <a:xfrm>
            <a:off x="7981950" y="53340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172450" y="5476875"/>
            <a:ext cx="275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furniture は数えられない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575310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名詞なので a はつけない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1248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3. 固有名詞（人・都市・国・施設）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9715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066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Japan</a:t>
            </a:r>
          </a:p>
        </p:txBody>
      </p:sp>
      <p:sp>
        <p:nvSpPr>
          <p:cNvPr id="7" name=""/>
          <p:cNvSpPr/>
          <p:nvPr/>
        </p:nvSpPr>
        <p:spPr>
          <a:xfrm>
            <a:off x="1752600" y="1666875"/>
            <a:ext cx="9334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1924050" y="1724025"/>
            <a:ext cx="1019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Tokyo</a:t>
            </a:r>
          </a:p>
        </p:txBody>
      </p:sp>
      <p:sp>
        <p:nvSpPr>
          <p:cNvPr id="9" name=""/>
          <p:cNvSpPr/>
          <p:nvPr/>
        </p:nvSpPr>
        <p:spPr>
          <a:xfrm>
            <a:off x="2781300" y="1666875"/>
            <a:ext cx="10477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2952750" y="1724025"/>
            <a:ext cx="1152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France</a:t>
            </a:r>
          </a:p>
        </p:txBody>
      </p:sp>
      <p:sp>
        <p:nvSpPr>
          <p:cNvPr id="11" name=""/>
          <p:cNvSpPr/>
          <p:nvPr/>
        </p:nvSpPr>
        <p:spPr>
          <a:xfrm>
            <a:off x="3924300" y="1666875"/>
            <a:ext cx="9144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095750" y="172402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13" name=""/>
          <p:cNvSpPr/>
          <p:nvPr/>
        </p:nvSpPr>
        <p:spPr>
          <a:xfrm>
            <a:off x="4933950" y="1666875"/>
            <a:ext cx="14859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05400" y="172402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Disneyland</a:t>
            </a:r>
          </a:p>
        </p:txBody>
      </p:sp>
      <p:sp>
        <p:nvSpPr>
          <p:cNvPr id="15" name=""/>
          <p:cNvSpPr/>
          <p:nvPr/>
        </p:nvSpPr>
        <p:spPr>
          <a:xfrm>
            <a:off x="6515100" y="1666875"/>
            <a:ext cx="27813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6686550" y="1724025"/>
            <a:ext cx="3143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Universal Studios Japan</a:t>
            </a:r>
          </a:p>
        </p:txBody>
      </p:sp>
      <p:sp>
        <p:nvSpPr>
          <p:cNvPr id="17" name=""/>
          <p:cNvSpPr/>
          <p:nvPr/>
        </p:nvSpPr>
        <p:spPr>
          <a:xfrm>
            <a:off x="685800" y="2276475"/>
            <a:ext cx="10820400" cy="1285875"/>
          </a:xfrm>
          <a:prstGeom prst="roundRect">
            <a:avLst>
              <a:gd name="adj" fmla="val 20741"/>
            </a:avLst>
          </a:prstGeom>
          <a:solidFill>
            <a:srgbClr val="FFFFFF"/>
          </a:solidFill>
          <a:ln/>
        </p:spPr>
      </p:sp>
      <p:pic>
        <p:nvPicPr>
          <p:cNvPr id="18" name="Image 0" descr="京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33625"/>
            <a:ext cx="1181100" cy="11811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2324100" y="2533650"/>
            <a:ext cx="29146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live in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Kyoto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0" name=""/>
          <p:cNvSpPr txBox="1"/>
          <p:nvPr/>
        </p:nvSpPr>
        <p:spPr>
          <a:xfrm>
            <a:off x="2324100" y="3038475"/>
            <a:ext cx="29432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私は京都に住んでいます。</a:t>
            </a:r>
          </a:p>
        </p:txBody>
      </p:sp>
      <p:sp>
        <p:nvSpPr>
          <p:cNvPr id="21" name=""/>
          <p:cNvSpPr/>
          <p:nvPr/>
        </p:nvSpPr>
        <p:spPr>
          <a:xfrm>
            <a:off x="685800" y="3714750"/>
            <a:ext cx="10820400" cy="1285875"/>
          </a:xfrm>
          <a:prstGeom prst="roundRect">
            <a:avLst>
              <a:gd name="adj" fmla="val 20741"/>
            </a:avLst>
          </a:prstGeom>
          <a:solidFill>
            <a:srgbClr val="FFFFFF"/>
          </a:solidFill>
          <a:ln/>
        </p:spPr>
      </p:sp>
      <p:pic>
        <p:nvPicPr>
          <p:cNvPr id="22" name="Image 1" descr="東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771900"/>
            <a:ext cx="1181100" cy="11811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324100" y="3971925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want to go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Tokyo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4" name=""/>
          <p:cNvSpPr txBox="1"/>
          <p:nvPr/>
        </p:nvSpPr>
        <p:spPr>
          <a:xfrm>
            <a:off x="2324100" y="4476750"/>
            <a:ext cx="2505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東京に行きたいです。</a:t>
            </a:r>
          </a:p>
        </p:txBody>
      </p:sp>
      <p:sp>
        <p:nvSpPr>
          <p:cNvPr id="25" name=""/>
          <p:cNvSpPr/>
          <p:nvPr/>
        </p:nvSpPr>
        <p:spPr>
          <a:xfrm>
            <a:off x="685800" y="5153025"/>
            <a:ext cx="10820400" cy="1285875"/>
          </a:xfrm>
          <a:prstGeom prst="roundRect">
            <a:avLst>
              <a:gd name="adj" fmla="val 20741"/>
            </a:avLst>
          </a:prstGeom>
          <a:solidFill>
            <a:srgbClr val="FFFFFF"/>
          </a:solidFill>
          <a:ln/>
        </p:spPr>
      </p:sp>
      <p:pic>
        <p:nvPicPr>
          <p:cNvPr id="26" name="Image 2" descr="遊園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210175"/>
            <a:ext cx="1181100" cy="11811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2324100" y="5410200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Disneyland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8" name=""/>
          <p:cNvSpPr txBox="1"/>
          <p:nvPr/>
        </p:nvSpPr>
        <p:spPr>
          <a:xfrm>
            <a:off x="2324100" y="5915025"/>
            <a:ext cx="3619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ディズニーランドに行きました。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13538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が名前の一部になっているものもある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240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有名な建物・作品など</a:t>
            </a:r>
          </a:p>
        </p:txBody>
      </p:sp>
      <p:sp>
        <p:nvSpPr>
          <p:cNvPr id="7" name=""/>
          <p:cNvSpPr/>
          <p:nvPr/>
        </p:nvSpPr>
        <p:spPr>
          <a:xfrm>
            <a:off x="685800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8" name=""/>
          <p:cNvSpPr/>
          <p:nvPr/>
        </p:nvSpPr>
        <p:spPr>
          <a:xfrm>
            <a:off x="819150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9" name="Image 0" descr="エッフェル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050" y="3048000"/>
            <a:ext cx="1619250" cy="1619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457325" y="5324475"/>
            <a:ext cx="1533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Eiffel</a:t>
            </a:r>
          </a:p>
        </p:txBody>
      </p:sp>
      <p:sp>
        <p:nvSpPr>
          <p:cNvPr id="11" name=""/>
          <p:cNvSpPr txBox="1"/>
          <p:nvPr/>
        </p:nvSpPr>
        <p:spPr>
          <a:xfrm>
            <a:off x="1400175" y="5619750"/>
            <a:ext cx="1143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457325" y="59817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エッフェル塔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3571875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自由の女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3048000"/>
            <a:ext cx="1619250" cy="16192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105275" y="5324475"/>
            <a:ext cx="17526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Statue</a:t>
            </a:r>
          </a:p>
        </p:txBody>
      </p:sp>
      <p:sp>
        <p:nvSpPr>
          <p:cNvPr id="17" name=""/>
          <p:cNvSpPr txBox="1"/>
          <p:nvPr/>
        </p:nvSpPr>
        <p:spPr>
          <a:xfrm>
            <a:off x="3905250" y="5619750"/>
            <a:ext cx="163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of Liberty</a:t>
            </a:r>
          </a:p>
        </p:txBody>
      </p:sp>
      <p:sp>
        <p:nvSpPr>
          <p:cNvPr id="18" name=""/>
          <p:cNvSpPr txBox="1"/>
          <p:nvPr/>
        </p:nvSpPr>
        <p:spPr>
          <a:xfrm>
            <a:off x="4295775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自由の女神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315075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エンパイア・ステート・ビ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3048000"/>
            <a:ext cx="1619250" cy="16192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562725" y="53244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Empire</a:t>
            </a:r>
          </a:p>
        </p:txBody>
      </p:sp>
      <p:sp>
        <p:nvSpPr>
          <p:cNvPr id="23" name=""/>
          <p:cNvSpPr txBox="1"/>
          <p:nvPr/>
        </p:nvSpPr>
        <p:spPr>
          <a:xfrm>
            <a:off x="6657975" y="5619750"/>
            <a:ext cx="22193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State Building</a:t>
            </a:r>
          </a:p>
        </p:txBody>
      </p:sp>
      <p:sp>
        <p:nvSpPr>
          <p:cNvPr id="24" name=""/>
          <p:cNvSpPr txBox="1"/>
          <p:nvPr/>
        </p:nvSpPr>
        <p:spPr>
          <a:xfrm>
            <a:off x="6353175" y="5981700"/>
            <a:ext cx="2905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エンパイア・ステート・ビル</a:t>
            </a:r>
          </a:p>
        </p:txBody>
      </p:sp>
      <p:sp>
        <p:nvSpPr>
          <p:cNvPr id="25" name=""/>
          <p:cNvSpPr/>
          <p:nvPr/>
        </p:nvSpPr>
        <p:spPr>
          <a:xfrm>
            <a:off x="8934450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9067800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7" name="Image 3" descr="モナ・リザ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700" y="3048000"/>
            <a:ext cx="1619250" cy="16192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677400" y="5324475"/>
            <a:ext cx="1590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Mona</a:t>
            </a:r>
          </a:p>
        </p:txBody>
      </p:sp>
      <p:sp>
        <p:nvSpPr>
          <p:cNvPr id="29" name=""/>
          <p:cNvSpPr txBox="1"/>
          <p:nvPr/>
        </p:nvSpPr>
        <p:spPr>
          <a:xfrm>
            <a:off x="9782175" y="5619750"/>
            <a:ext cx="876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Lisa</a:t>
            </a:r>
          </a:p>
        </p:txBody>
      </p:sp>
      <p:sp>
        <p:nvSpPr>
          <p:cNvPr id="30" name=""/>
          <p:cNvSpPr txBox="1"/>
          <p:nvPr/>
        </p:nvSpPr>
        <p:spPr>
          <a:xfrm>
            <a:off x="9791700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モナ・リザ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2104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4. 言語（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English / Japanese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8002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pic>
        <p:nvPicPr>
          <p:cNvPr id="6" name="Image 0" descr="英語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00250"/>
            <a:ext cx="1333500" cy="1333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76500" y="2238375"/>
            <a:ext cx="4695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studying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8" name=""/>
          <p:cNvSpPr txBox="1"/>
          <p:nvPr/>
        </p:nvSpPr>
        <p:spPr>
          <a:xfrm>
            <a:off x="2476500" y="2790825"/>
            <a:ext cx="3438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私は英語を勉強しています。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714750"/>
            <a:ext cx="10820400" cy="18002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pic>
        <p:nvPicPr>
          <p:cNvPr id="10" name="Image 1" descr="日本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952875"/>
            <a:ext cx="1333500" cy="1333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476500" y="4191000"/>
            <a:ext cx="40957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speak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Japanese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47434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私は日本語を話します。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6" name=""/>
          <p:cNvSpPr txBox="1"/>
          <p:nvPr/>
        </p:nvSpPr>
        <p:spPr>
          <a:xfrm>
            <a:off x="2114550" y="5924550"/>
            <a:ext cx="49149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言語の名前には、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801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5. 食事（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</p:spPr>
      </p:sp>
      <p:pic>
        <p:nvPicPr>
          <p:cNvPr id="6" name="Image 0" descr="朝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857375"/>
            <a:ext cx="952500" cy="952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095500" y="1943100"/>
            <a:ext cx="50006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had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at seven.</a:t>
            </a:r>
          </a:p>
        </p:txBody>
      </p:sp>
      <p:sp>
        <p:nvSpPr>
          <p:cNvPr id="8" name=""/>
          <p:cNvSpPr txBox="1"/>
          <p:nvPr/>
        </p:nvSpPr>
        <p:spPr>
          <a:xfrm>
            <a:off x="2095500" y="2447925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7時に朝ごはんを食べました。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067050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</p:spPr>
      </p:sp>
      <p:pic>
        <p:nvPicPr>
          <p:cNvPr id="10" name="Image 1" descr="昼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162300"/>
            <a:ext cx="952500" cy="952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095500" y="3248025"/>
            <a:ext cx="5229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Let's have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lunch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2095500" y="3752850"/>
            <a:ext cx="3400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一緒にお昼ごはんを食べよう。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362450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</p:spPr>
      </p:sp>
      <p:pic>
        <p:nvPicPr>
          <p:cNvPr id="14" name="Image 2" descr="夕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467225"/>
            <a:ext cx="952500" cy="9525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095500" y="4552950"/>
            <a:ext cx="3829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What's for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dinner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6" name=""/>
          <p:cNvSpPr txBox="1"/>
          <p:nvPr/>
        </p:nvSpPr>
        <p:spPr>
          <a:xfrm>
            <a:off x="2095500" y="505777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夕ごはんは何？</a:t>
            </a:r>
          </a:p>
        </p:txBody>
      </p:sp>
      <p:sp>
        <p:nvSpPr>
          <p:cNvPr id="1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33450" y="5895975"/>
            <a:ext cx="13525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04900" y="5953125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覚えておこう</a:t>
            </a:r>
          </a:p>
        </p:txBody>
      </p:sp>
      <p:sp>
        <p:nvSpPr>
          <p:cNvPr id="20" name=""/>
          <p:cNvSpPr txBox="1"/>
          <p:nvPr/>
        </p:nvSpPr>
        <p:spPr>
          <a:xfrm>
            <a:off x="2438400" y="5934075"/>
            <a:ext cx="4200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朝食・昼食・夕食は、基本は無冠詞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6. 祝日・ホリデー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</p:spPr>
      </p:sp>
      <p:pic>
        <p:nvPicPr>
          <p:cNvPr id="6" name="Image 0" descr="ハロウィ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200275"/>
            <a:ext cx="1333500" cy="1333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76500" y="2438400"/>
            <a:ext cx="95535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What are you dressing up as for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Halloween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476500" y="2990850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ハロウィンはどんな仮装をする？</a:t>
            </a:r>
          </a:p>
        </p:txBody>
      </p:sp>
      <p:sp>
        <p:nvSpPr>
          <p:cNvPr id="9" name=""/>
          <p:cNvSpPr/>
          <p:nvPr/>
        </p:nvSpPr>
        <p:spPr>
          <a:xfrm>
            <a:off x="685800" y="4162425"/>
            <a:ext cx="108204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</p:spPr>
      </p:sp>
      <p:pic>
        <p:nvPicPr>
          <p:cNvPr id="10" name="Image 1" descr="クリスマ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629150"/>
            <a:ext cx="1333500" cy="1333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476500" y="4867275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is my favorite holiday!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5419725"/>
            <a:ext cx="5143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クリスマスは私の一番好きなホリデーです！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