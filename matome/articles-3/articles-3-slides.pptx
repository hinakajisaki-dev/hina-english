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60" Type="http://schemas.openxmlformats.org/officeDocument/2006/relationships/presProps" Target="presProps.xml"/><Relationship Id="rId6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" name=""/>
          <p:cNvSpPr txBox="1"/>
          <p:nvPr/>
        </p:nvSpPr>
        <p:spPr>
          <a:xfrm>
            <a:off x="1181100" y="204787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162175"/>
            <a:ext cx="82486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  <a:pPr/>
            <a:r>
              <a:rPr sz="6900" b="1">
                <a:solidFill>
                  <a:srgbClr val="E8461E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371975"/>
            <a:ext cx="67056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Noto Sans JP"/>
                <a:ea typeface="Noto Sans JP"/>
              </a:rPr>
              <a:t>全25問 一緒に声に出して練習しよう！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266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HOW TO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7907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やり方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534025" cy="1400175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952500" y="2447925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8" name=""/>
          <p:cNvSpPr txBox="1"/>
          <p:nvPr/>
        </p:nvSpPr>
        <p:spPr>
          <a:xfrm>
            <a:off x="952500" y="252412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9" name=""/>
          <p:cNvSpPr txBox="1"/>
          <p:nvPr/>
        </p:nvSpPr>
        <p:spPr>
          <a:xfrm>
            <a:off x="1562100" y="2495550"/>
            <a:ext cx="51149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問題を見て、（ ）に入るものを考える</a:t>
            </a:r>
          </a:p>
        </p:txBody>
      </p:sp>
      <p:sp>
        <p:nvSpPr>
          <p:cNvPr id="10" name=""/>
          <p:cNvSpPr/>
          <p:nvPr/>
        </p:nvSpPr>
        <p:spPr>
          <a:xfrm>
            <a:off x="685800" y="3495675"/>
            <a:ext cx="5534025" cy="1400175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52500" y="3981450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933450" y="406717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3" name=""/>
          <p:cNvSpPr txBox="1"/>
          <p:nvPr/>
        </p:nvSpPr>
        <p:spPr>
          <a:xfrm>
            <a:off x="1562100" y="4029075"/>
            <a:ext cx="251460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声に出して答える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38725"/>
            <a:ext cx="5534025" cy="1400175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52500" y="5514975"/>
            <a:ext cx="438150" cy="4381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933450" y="5600700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17" name=""/>
          <p:cNvSpPr txBox="1"/>
          <p:nvPr/>
        </p:nvSpPr>
        <p:spPr>
          <a:xfrm>
            <a:off x="1562100" y="5562600"/>
            <a:ext cx="362902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次のスライドで答え合わせ</a:t>
            </a:r>
          </a:p>
        </p:txBody>
      </p:sp>
      <p:sp>
        <p:nvSpPr>
          <p:cNvPr id="18" name=""/>
          <p:cNvSpPr/>
          <p:nvPr/>
        </p:nvSpPr>
        <p:spPr>
          <a:xfrm>
            <a:off x="6467475" y="1962150"/>
            <a:ext cx="503872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 txBox="1"/>
          <p:nvPr/>
        </p:nvSpPr>
        <p:spPr>
          <a:xfrm>
            <a:off x="6753225" y="3286125"/>
            <a:ext cx="3790950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答えは、この4つから選ぼう</a:t>
            </a:r>
          </a:p>
        </p:txBody>
      </p:sp>
      <p:sp>
        <p:nvSpPr>
          <p:cNvPr id="20" name=""/>
          <p:cNvSpPr/>
          <p:nvPr/>
        </p:nvSpPr>
        <p:spPr>
          <a:xfrm>
            <a:off x="6753225" y="3838575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6972300" y="406717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2" name=""/>
          <p:cNvSpPr txBox="1"/>
          <p:nvPr/>
        </p:nvSpPr>
        <p:spPr>
          <a:xfrm>
            <a:off x="6981825" y="4886325"/>
            <a:ext cx="1009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23" name=""/>
          <p:cNvSpPr/>
          <p:nvPr/>
        </p:nvSpPr>
        <p:spPr>
          <a:xfrm>
            <a:off x="7905750" y="3838575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E8461E"/>
          </a:solidFill>
          <a:ln/>
        </p:spPr>
      </p:sp>
      <p:sp>
        <p:nvSpPr>
          <p:cNvPr id="24" name=""/>
          <p:cNvSpPr txBox="1"/>
          <p:nvPr/>
        </p:nvSpPr>
        <p:spPr>
          <a:xfrm>
            <a:off x="7981950" y="406717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5" name=""/>
          <p:cNvSpPr txBox="1"/>
          <p:nvPr/>
        </p:nvSpPr>
        <p:spPr>
          <a:xfrm>
            <a:off x="7934325" y="48863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母音の音の前</a:t>
            </a:r>
          </a:p>
        </p:txBody>
      </p:sp>
      <p:sp>
        <p:nvSpPr>
          <p:cNvPr id="26" name=""/>
          <p:cNvSpPr/>
          <p:nvPr/>
        </p:nvSpPr>
        <p:spPr>
          <a:xfrm>
            <a:off x="9048750" y="3838575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2F86CF"/>
          </a:solidFill>
          <a:ln/>
        </p:spPr>
      </p:sp>
      <p:sp>
        <p:nvSpPr>
          <p:cNvPr id="27" name=""/>
          <p:cNvSpPr txBox="1"/>
          <p:nvPr/>
        </p:nvSpPr>
        <p:spPr>
          <a:xfrm>
            <a:off x="9029700" y="4067175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8" name=""/>
          <p:cNvSpPr txBox="1"/>
          <p:nvPr/>
        </p:nvSpPr>
        <p:spPr>
          <a:xfrm>
            <a:off x="9153525" y="488632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特定できる</a:t>
            </a:r>
          </a:p>
        </p:txBody>
      </p:sp>
      <p:sp>
        <p:nvSpPr>
          <p:cNvPr id="29" name=""/>
          <p:cNvSpPr/>
          <p:nvPr/>
        </p:nvSpPr>
        <p:spPr>
          <a:xfrm>
            <a:off x="10191750" y="3838575"/>
            <a:ext cx="1028700" cy="952500"/>
          </a:xfrm>
          <a:prstGeom prst="roundRect">
            <a:avLst>
              <a:gd name="adj" fmla="val 22000"/>
            </a:avLst>
          </a:prstGeom>
          <a:solidFill>
            <a:srgbClr val="9AA1B6"/>
          </a:solidFill>
          <a:ln/>
        </p:spPr>
      </p:sp>
      <p:sp>
        <p:nvSpPr>
          <p:cNvPr id="30" name=""/>
          <p:cNvSpPr txBox="1"/>
          <p:nvPr/>
        </p:nvSpPr>
        <p:spPr>
          <a:xfrm>
            <a:off x="10229850" y="4124325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31" name=""/>
          <p:cNvSpPr txBox="1"/>
          <p:nvPr/>
        </p:nvSpPr>
        <p:spPr>
          <a:xfrm>
            <a:off x="10382250" y="4886325"/>
            <a:ext cx="10858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971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MENU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52482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今日の流れ（全25問）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2581275" cy="447675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1514475" y="2190750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8" name=""/>
          <p:cNvSpPr txBox="1"/>
          <p:nvPr/>
        </p:nvSpPr>
        <p:spPr>
          <a:xfrm>
            <a:off x="1666875" y="2247900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pic>
        <p:nvPicPr>
          <p:cNvPr id="9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286125"/>
            <a:ext cx="1428750" cy="14287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257300" y="5467350"/>
            <a:ext cx="1990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9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18288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6問</a:t>
            </a:r>
          </a:p>
        </p:txBody>
      </p:sp>
      <p:sp>
        <p:nvSpPr>
          <p:cNvPr id="12" name=""/>
          <p:cNvSpPr/>
          <p:nvPr/>
        </p:nvSpPr>
        <p:spPr>
          <a:xfrm>
            <a:off x="3438525" y="1962150"/>
            <a:ext cx="2581275" cy="447675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/>
          <p:nvPr/>
        </p:nvSpPr>
        <p:spPr>
          <a:xfrm>
            <a:off x="4248150" y="21907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4400550" y="22479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pic>
        <p:nvPicPr>
          <p:cNvPr id="15" name="Image 1" descr="/home/user/hina-english/matome/img/coff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305175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3733800" y="54959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7" name=""/>
          <p:cNvSpPr txBox="1"/>
          <p:nvPr/>
        </p:nvSpPr>
        <p:spPr>
          <a:xfrm>
            <a:off x="4572000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5問</a:t>
            </a:r>
          </a:p>
        </p:txBody>
      </p:sp>
      <p:sp>
        <p:nvSpPr>
          <p:cNvPr id="18" name=""/>
          <p:cNvSpPr/>
          <p:nvPr/>
        </p:nvSpPr>
        <p:spPr>
          <a:xfrm>
            <a:off x="6181725" y="1962150"/>
            <a:ext cx="2581275" cy="447675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6991350" y="21907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0" name=""/>
          <p:cNvSpPr txBox="1"/>
          <p:nvPr/>
        </p:nvSpPr>
        <p:spPr>
          <a:xfrm>
            <a:off x="7143750" y="22479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pic>
        <p:nvPicPr>
          <p:cNvPr id="21" name="Image 2" descr="/home/user/hina-english/matome/img/d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305175"/>
            <a:ext cx="1428750" cy="14287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7096125" y="549592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23" name=""/>
          <p:cNvSpPr txBox="1"/>
          <p:nvPr/>
        </p:nvSpPr>
        <p:spPr>
          <a:xfrm>
            <a:off x="7324725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6問</a:t>
            </a:r>
          </a:p>
        </p:txBody>
      </p:sp>
      <p:sp>
        <p:nvSpPr>
          <p:cNvPr id="24" name=""/>
          <p:cNvSpPr/>
          <p:nvPr/>
        </p:nvSpPr>
        <p:spPr>
          <a:xfrm>
            <a:off x="8934450" y="1962150"/>
            <a:ext cx="2581275" cy="4476750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/>
          <p:nvPr/>
        </p:nvSpPr>
        <p:spPr>
          <a:xfrm>
            <a:off x="9734550" y="2190750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9886950" y="2247900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pic>
        <p:nvPicPr>
          <p:cNvPr id="27" name="Image 3" descr="/home/user/hina-english/matome/img/nur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305175"/>
            <a:ext cx="1428750" cy="1428750"/>
          </a:xfrm>
          <a:prstGeom prst="rect">
            <a:avLst/>
          </a:prstGeom>
        </p:spPr>
      </p:pic>
      <p:sp>
        <p:nvSpPr>
          <p:cNvPr id="28" name=""/>
          <p:cNvSpPr txBox="1"/>
          <p:nvPr/>
        </p:nvSpPr>
        <p:spPr>
          <a:xfrm>
            <a:off x="9601200" y="5495925"/>
            <a:ext cx="1771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29" name=""/>
          <p:cNvSpPr txBox="1"/>
          <p:nvPr/>
        </p:nvSpPr>
        <p:spPr>
          <a:xfrm>
            <a:off x="10067925" y="59150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8問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66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5" name=""/>
          <p:cNvSpPr/>
          <p:nvPr/>
        </p:nvSpPr>
        <p:spPr>
          <a:xfrm>
            <a:off x="685800" y="1323975"/>
            <a:ext cx="10820400" cy="5114925"/>
          </a:xfrm>
          <a:prstGeom prst="roundRect">
            <a:avLst>
              <a:gd name="adj" fmla="val 52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/>
          <p:nvPr/>
        </p:nvSpPr>
        <p:spPr>
          <a:xfrm>
            <a:off x="1143000" y="1666875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295400" y="1724025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114550"/>
            <a:ext cx="4267200" cy="8667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4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9" name=""/>
          <p:cNvSpPr txBox="1"/>
          <p:nvPr/>
        </p:nvSpPr>
        <p:spPr>
          <a:xfrm>
            <a:off x="1143000" y="3086100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動画1のおさらい ・ 6問</a:t>
            </a:r>
          </a:p>
        </p:txBody>
      </p:sp>
      <p:sp>
        <p:nvSpPr>
          <p:cNvPr id="10" name=""/>
          <p:cNvSpPr/>
          <p:nvPr/>
        </p:nvSpPr>
        <p:spPr>
          <a:xfrm>
            <a:off x="1143000" y="3629025"/>
            <a:ext cx="17621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333500" y="3705225"/>
            <a:ext cx="19335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2" name=""/>
          <p:cNvSpPr/>
          <p:nvPr/>
        </p:nvSpPr>
        <p:spPr>
          <a:xfrm>
            <a:off x="3000375" y="3629025"/>
            <a:ext cx="18764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190875" y="3705225"/>
            <a:ext cx="20669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2回目以降は 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4" name=""/>
          <p:cNvSpPr/>
          <p:nvPr/>
        </p:nvSpPr>
        <p:spPr>
          <a:xfrm>
            <a:off x="4972050" y="3629025"/>
            <a:ext cx="26765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5" name=""/>
          <p:cNvSpPr txBox="1"/>
          <p:nvPr/>
        </p:nvSpPr>
        <p:spPr>
          <a:xfrm>
            <a:off x="5162550" y="3705225"/>
            <a:ext cx="29813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は「音」で決まる</a:t>
            </a:r>
          </a:p>
        </p:txBody>
      </p:sp>
      <p:sp>
        <p:nvSpPr>
          <p:cNvPr id="16" name=""/>
          <p:cNvSpPr/>
          <p:nvPr/>
        </p:nvSpPr>
        <p:spPr>
          <a:xfrm>
            <a:off x="7743825" y="3629025"/>
            <a:ext cx="32099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7" name=""/>
          <p:cNvSpPr txBox="1"/>
          <p:nvPr/>
        </p:nvSpPr>
        <p:spPr>
          <a:xfrm>
            <a:off x="7934325" y="3705225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＝ どれのことか特定できる</a:t>
            </a:r>
          </a:p>
        </p:txBody>
      </p:sp>
      <p:pic>
        <p:nvPicPr>
          <p:cNvPr id="1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9" name="Image 1" descr="/home/user/hina-english/matome/img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20" name="Image 2" descr="/home/user/hina-english/matome/img/do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1" name="Image 3" descr="/home/user/hina-english/matome/img/s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6954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5241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4933950" y="24479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324600" y="25241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1" name=""/>
          <p:cNvSpPr/>
          <p:nvPr/>
        </p:nvSpPr>
        <p:spPr>
          <a:xfrm>
            <a:off x="3162300" y="32670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2" name=""/>
          <p:cNvSpPr txBox="1"/>
          <p:nvPr/>
        </p:nvSpPr>
        <p:spPr>
          <a:xfrm>
            <a:off x="4552950" y="33432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41148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2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9908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5241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4933950" y="24479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257800" y="25336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6324600" y="25241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2670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209925" y="33528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4" name=""/>
          <p:cNvSpPr txBox="1"/>
          <p:nvPr/>
        </p:nvSpPr>
        <p:spPr>
          <a:xfrm>
            <a:off x="4552950" y="33432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5" name=""/>
          <p:cNvSpPr txBox="1"/>
          <p:nvPr/>
        </p:nvSpPr>
        <p:spPr>
          <a:xfrm>
            <a:off x="3162300" y="41148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6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/>
          <p:nvPr/>
        </p:nvSpPr>
        <p:spPr>
          <a:xfrm>
            <a:off x="990600" y="51244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1816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1339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0" name=""/>
          <p:cNvSpPr/>
          <p:nvPr/>
        </p:nvSpPr>
        <p:spPr>
          <a:xfrm>
            <a:off x="990600" y="55911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162050" y="56483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2" name=""/>
          <p:cNvSpPr txBox="1"/>
          <p:nvPr/>
        </p:nvSpPr>
        <p:spPr>
          <a:xfrm>
            <a:off x="1914525" y="56102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3" name=""/>
          <p:cNvSpPr/>
          <p:nvPr/>
        </p:nvSpPr>
        <p:spPr>
          <a:xfrm>
            <a:off x="990600" y="60579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4" name=""/>
          <p:cNvSpPr txBox="1"/>
          <p:nvPr/>
        </p:nvSpPr>
        <p:spPr>
          <a:xfrm>
            <a:off x="1162050" y="61150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5" name=""/>
          <p:cNvSpPr txBox="1"/>
          <p:nvPr/>
        </p:nvSpPr>
        <p:spPr>
          <a:xfrm>
            <a:off x="1914525" y="60769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733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tea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1647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is</a:t>
            </a:r>
          </a:p>
        </p:txBody>
      </p:sp>
      <p:sp>
        <p:nvSpPr>
          <p:cNvPr id="9" name=""/>
          <p:cNvSpPr/>
          <p:nvPr/>
        </p:nvSpPr>
        <p:spPr>
          <a:xfrm>
            <a:off x="4448175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5838825" y="2933700"/>
            <a:ext cx="3867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 teacher.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彼女は英語の先生です。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19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tea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1647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is</a:t>
            </a:r>
          </a:p>
        </p:txBody>
      </p:sp>
      <p:sp>
        <p:nvSpPr>
          <p:cNvPr id="9" name=""/>
          <p:cNvSpPr/>
          <p:nvPr/>
        </p:nvSpPr>
        <p:spPr>
          <a:xfrm>
            <a:off x="4448175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4629150" y="29432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1" name=""/>
          <p:cNvSpPr txBox="1"/>
          <p:nvPr/>
        </p:nvSpPr>
        <p:spPr>
          <a:xfrm>
            <a:off x="5838825" y="2933700"/>
            <a:ext cx="3867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 teacher.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彼女は英語の先生です。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625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1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7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38825"/>
            <a:ext cx="62103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English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は「イ」の音（母音）で始まるので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743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Q3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9" name=""/>
          <p:cNvSpPr/>
          <p:nvPr/>
        </p:nvSpPr>
        <p:spPr>
          <a:xfrm>
            <a:off x="424815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5638800" y="29337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28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1419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is</a:t>
            </a:r>
          </a:p>
        </p:txBody>
      </p:sp>
      <p:sp>
        <p:nvSpPr>
          <p:cNvPr id="9" name=""/>
          <p:cNvSpPr/>
          <p:nvPr/>
        </p:nvSpPr>
        <p:spPr>
          <a:xfrm>
            <a:off x="424815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4572000" y="29432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5638800" y="2933700"/>
            <a:ext cx="45624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university student.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625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1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7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38825"/>
            <a:ext cx="6429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university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は「ユ」の音（子音）で始まるので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743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Q4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9" name=""/>
          <p:cNvSpPr/>
          <p:nvPr/>
        </p:nvSpPr>
        <p:spPr>
          <a:xfrm>
            <a:off x="546735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858000" y="29337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28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8194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waited for</a:t>
            </a:r>
          </a:p>
        </p:txBody>
      </p:sp>
      <p:sp>
        <p:nvSpPr>
          <p:cNvPr id="9" name=""/>
          <p:cNvSpPr/>
          <p:nvPr/>
        </p:nvSpPr>
        <p:spPr>
          <a:xfrm>
            <a:off x="546735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648325" y="2943225"/>
            <a:ext cx="8667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1" name=""/>
          <p:cNvSpPr txBox="1"/>
          <p:nvPr/>
        </p:nvSpPr>
        <p:spPr>
          <a:xfrm>
            <a:off x="6858000" y="2933700"/>
            <a:ext cx="1466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hour.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62575"/>
            <a:ext cx="704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1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7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38825"/>
            <a:ext cx="6172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hour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 h を読まず「ア」の音で始まるので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743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Q5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Please close</a:t>
            </a:r>
          </a:p>
        </p:txBody>
      </p:sp>
      <p:sp>
        <p:nvSpPr>
          <p:cNvPr id="9" name=""/>
          <p:cNvSpPr/>
          <p:nvPr/>
        </p:nvSpPr>
        <p:spPr>
          <a:xfrm>
            <a:off x="571500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7105650" y="2933700"/>
            <a:ext cx="14954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door.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28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Q5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d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Please close</a:t>
            </a:r>
          </a:p>
        </p:txBody>
      </p:sp>
      <p:sp>
        <p:nvSpPr>
          <p:cNvPr id="9" name=""/>
          <p:cNvSpPr/>
          <p:nvPr/>
        </p:nvSpPr>
        <p:spPr>
          <a:xfrm>
            <a:off x="571500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800725" y="2943225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7105650" y="2933700"/>
            <a:ext cx="14954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door.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625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1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7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38825"/>
            <a:ext cx="6153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その場にいる人が、どのドアか分かるので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743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Q6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/>
          <p:nvPr/>
        </p:nvSpPr>
        <p:spPr>
          <a:xfrm>
            <a:off x="316230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9" name=""/>
          <p:cNvSpPr txBox="1"/>
          <p:nvPr/>
        </p:nvSpPr>
        <p:spPr>
          <a:xfrm>
            <a:off x="4552950" y="29337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7052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3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5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6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8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9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28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Q6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/>
          <p:nvPr/>
        </p:nvSpPr>
        <p:spPr>
          <a:xfrm>
            <a:off x="316230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9" name=""/>
          <p:cNvSpPr txBox="1"/>
          <p:nvPr/>
        </p:nvSpPr>
        <p:spPr>
          <a:xfrm>
            <a:off x="3209925" y="29432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4552950" y="29337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5" name=""/>
          <p:cNvSpPr txBox="1"/>
          <p:nvPr/>
        </p:nvSpPr>
        <p:spPr>
          <a:xfrm>
            <a:off x="1809750" y="53625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6" name=""/>
          <p:cNvSpPr/>
          <p:nvPr/>
        </p:nvSpPr>
        <p:spPr>
          <a:xfrm>
            <a:off x="990600" y="581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87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838825"/>
            <a:ext cx="68199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太陽は1つだけで、どれのことか特定できるので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1049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5" name=""/>
          <p:cNvSpPr/>
          <p:nvPr/>
        </p:nvSpPr>
        <p:spPr>
          <a:xfrm>
            <a:off x="685800" y="1323975"/>
            <a:ext cx="10820400" cy="5114925"/>
          </a:xfrm>
          <a:prstGeom prst="roundRect">
            <a:avLst>
              <a:gd name="adj" fmla="val 52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/>
          <p:nvPr/>
        </p:nvSpPr>
        <p:spPr>
          <a:xfrm>
            <a:off x="1143000" y="166687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295400" y="172402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114550"/>
            <a:ext cx="57721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9" name=""/>
          <p:cNvSpPr txBox="1"/>
          <p:nvPr/>
        </p:nvSpPr>
        <p:spPr>
          <a:xfrm>
            <a:off x="1143000" y="3028950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5問</a:t>
            </a:r>
          </a:p>
        </p:txBody>
      </p:sp>
      <p:sp>
        <p:nvSpPr>
          <p:cNvPr id="10" name=""/>
          <p:cNvSpPr/>
          <p:nvPr/>
        </p:nvSpPr>
        <p:spPr>
          <a:xfrm>
            <a:off x="1143000" y="3571875"/>
            <a:ext cx="3181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333500" y="3648075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液体・抽象的なものは数えない</a:t>
            </a:r>
          </a:p>
        </p:txBody>
      </p:sp>
      <p:sp>
        <p:nvSpPr>
          <p:cNvPr id="12" name=""/>
          <p:cNvSpPr/>
          <p:nvPr/>
        </p:nvSpPr>
        <p:spPr>
          <a:xfrm>
            <a:off x="4419600" y="3571875"/>
            <a:ext cx="23526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3" name=""/>
          <p:cNvSpPr txBox="1"/>
          <p:nvPr/>
        </p:nvSpPr>
        <p:spPr>
          <a:xfrm>
            <a:off x="4610100" y="3648075"/>
            <a:ext cx="2609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「1杯」なら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14" name=""/>
          <p:cNvSpPr/>
          <p:nvPr/>
        </p:nvSpPr>
        <p:spPr>
          <a:xfrm>
            <a:off x="6867525" y="3571875"/>
            <a:ext cx="28860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5" name=""/>
          <p:cNvSpPr txBox="1"/>
          <p:nvPr/>
        </p:nvSpPr>
        <p:spPr>
          <a:xfrm>
            <a:off x="7058025" y="3648075"/>
            <a:ext cx="3219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1羽のニワトリは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pic>
        <p:nvPicPr>
          <p:cNvPr id="16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7" name="Image 1" descr="/home/user/hina-english/matome/img/infor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8" name="Image 2" descr="/home/user/hina-english/matome/img/mon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9" name="Image 3" descr="/home/user/hina-english/matome/img/chick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762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Q7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9" name=""/>
          <p:cNvSpPr/>
          <p:nvPr/>
        </p:nvSpPr>
        <p:spPr>
          <a:xfrm>
            <a:off x="4524375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5915025" y="29337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57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Q7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1733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drink</a:t>
            </a:r>
          </a:p>
        </p:txBody>
      </p:sp>
      <p:sp>
        <p:nvSpPr>
          <p:cNvPr id="9" name=""/>
          <p:cNvSpPr/>
          <p:nvPr/>
        </p:nvSpPr>
        <p:spPr>
          <a:xfrm>
            <a:off x="4524375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4648200" y="29813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5915025" y="2933700"/>
            <a:ext cx="52101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every morning.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816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293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864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48350"/>
            <a:ext cx="5362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液体の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771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Q8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9" name=""/>
          <p:cNvSpPr/>
          <p:nvPr/>
        </p:nvSpPr>
        <p:spPr>
          <a:xfrm>
            <a:off x="529590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686550" y="29337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67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Q8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619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Can I have</a:t>
            </a:r>
          </a:p>
        </p:txBody>
      </p:sp>
      <p:sp>
        <p:nvSpPr>
          <p:cNvPr id="9" name=""/>
          <p:cNvSpPr/>
          <p:nvPr/>
        </p:nvSpPr>
        <p:spPr>
          <a:xfrm>
            <a:off x="529590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619750" y="29432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6686550" y="2933700"/>
            <a:ext cx="3695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coffee, please?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625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1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7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38825"/>
            <a:ext cx="4943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「コーヒー1杯」として数えるので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771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Q9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5241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9" name=""/>
          <p:cNvSpPr/>
          <p:nvPr/>
        </p:nvSpPr>
        <p:spPr>
          <a:xfrm>
            <a:off x="5029200" y="24479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419850" y="25241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3432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41148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67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Q9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5241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9" name=""/>
          <p:cNvSpPr/>
          <p:nvPr/>
        </p:nvSpPr>
        <p:spPr>
          <a:xfrm>
            <a:off x="5029200" y="24479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153025" y="25717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6419850" y="25241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3432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41148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3816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8293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8864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848350"/>
            <a:ext cx="650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85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Q10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338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save</a:t>
            </a:r>
          </a:p>
        </p:txBody>
      </p:sp>
      <p:sp>
        <p:nvSpPr>
          <p:cNvPr id="9" name=""/>
          <p:cNvSpPr/>
          <p:nvPr/>
        </p:nvSpPr>
        <p:spPr>
          <a:xfrm>
            <a:off x="5953125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7343775" y="2933700"/>
            <a:ext cx="1962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money.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2724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お金を貯めたいです。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71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Q10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3381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save</a:t>
            </a:r>
          </a:p>
        </p:txBody>
      </p:sp>
      <p:sp>
        <p:nvSpPr>
          <p:cNvPr id="9" name=""/>
          <p:cNvSpPr/>
          <p:nvPr/>
        </p:nvSpPr>
        <p:spPr>
          <a:xfrm>
            <a:off x="5953125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6076950" y="29813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7343775" y="2933700"/>
            <a:ext cx="1962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money.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2724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お金を貯めたいです。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816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293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864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48350"/>
            <a:ext cx="5876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money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28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Q11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9" name=""/>
          <p:cNvSpPr/>
          <p:nvPr/>
        </p:nvSpPr>
        <p:spPr>
          <a:xfrm>
            <a:off x="4276725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5667375" y="29337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24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9" name=""/>
          <p:cNvSpPr/>
          <p:nvPr/>
        </p:nvSpPr>
        <p:spPr>
          <a:xfrm>
            <a:off x="4276725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4600575" y="29432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5667375" y="29337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625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1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7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38825"/>
            <a:ext cx="7429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1羽のニワトリなので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（鶏肉の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なら数えない）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114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5" name=""/>
          <p:cNvSpPr/>
          <p:nvPr/>
        </p:nvSpPr>
        <p:spPr>
          <a:xfrm>
            <a:off x="685800" y="1323975"/>
            <a:ext cx="10820400" cy="5114925"/>
          </a:xfrm>
          <a:prstGeom prst="roundRect">
            <a:avLst>
              <a:gd name="adj" fmla="val 52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/>
          <p:nvPr/>
        </p:nvSpPr>
        <p:spPr>
          <a:xfrm>
            <a:off x="1143000" y="166687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295400" y="172402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114550"/>
            <a:ext cx="23812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9" name=""/>
          <p:cNvSpPr txBox="1"/>
          <p:nvPr/>
        </p:nvSpPr>
        <p:spPr>
          <a:xfrm>
            <a:off x="1143000" y="3028950"/>
            <a:ext cx="31242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6問</a:t>
            </a:r>
          </a:p>
        </p:txBody>
      </p:sp>
      <p:sp>
        <p:nvSpPr>
          <p:cNvPr id="10" name=""/>
          <p:cNvSpPr/>
          <p:nvPr/>
        </p:nvSpPr>
        <p:spPr>
          <a:xfrm>
            <a:off x="1143000" y="3571875"/>
            <a:ext cx="118110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333500" y="3648075"/>
            <a:ext cx="1266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複数名詞</a:t>
            </a:r>
          </a:p>
        </p:txBody>
      </p:sp>
      <p:sp>
        <p:nvSpPr>
          <p:cNvPr id="12" name=""/>
          <p:cNvSpPr/>
          <p:nvPr/>
        </p:nvSpPr>
        <p:spPr>
          <a:xfrm>
            <a:off x="2419350" y="3571875"/>
            <a:ext cx="12477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3" name=""/>
          <p:cNvSpPr txBox="1"/>
          <p:nvPr/>
        </p:nvSpPr>
        <p:spPr>
          <a:xfrm>
            <a:off x="2609850" y="3676650"/>
            <a:ext cx="1343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</a:p>
        </p:txBody>
      </p:sp>
      <p:sp>
        <p:nvSpPr>
          <p:cNvPr id="14" name=""/>
          <p:cNvSpPr/>
          <p:nvPr/>
        </p:nvSpPr>
        <p:spPr>
          <a:xfrm>
            <a:off x="3762375" y="3571875"/>
            <a:ext cx="3562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5" name=""/>
          <p:cNvSpPr txBox="1"/>
          <p:nvPr/>
        </p:nvSpPr>
        <p:spPr>
          <a:xfrm>
            <a:off x="3952875" y="3648075"/>
            <a:ext cx="40005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固有名詞（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がつく名前もある）</a:t>
            </a:r>
          </a:p>
        </p:txBody>
      </p:sp>
      <p:sp>
        <p:nvSpPr>
          <p:cNvPr id="16" name=""/>
          <p:cNvSpPr/>
          <p:nvPr/>
        </p:nvSpPr>
        <p:spPr>
          <a:xfrm>
            <a:off x="7419975" y="3571875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7" name=""/>
          <p:cNvSpPr txBox="1"/>
          <p:nvPr/>
        </p:nvSpPr>
        <p:spPr>
          <a:xfrm>
            <a:off x="7610475" y="3648075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sp>
        <p:nvSpPr>
          <p:cNvPr id="18" name=""/>
          <p:cNvSpPr/>
          <p:nvPr/>
        </p:nvSpPr>
        <p:spPr>
          <a:xfrm>
            <a:off x="8296275" y="3571875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9" name=""/>
          <p:cNvSpPr txBox="1"/>
          <p:nvPr/>
        </p:nvSpPr>
        <p:spPr>
          <a:xfrm>
            <a:off x="8486775" y="3648075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食事</a:t>
            </a:r>
          </a:p>
        </p:txBody>
      </p:sp>
      <p:pic>
        <p:nvPicPr>
          <p:cNvPr id="20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21" name="Image 1" descr="/home/user/hina-english/matome/img/furni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22" name="Image 2" descr="/home/user/hina-english/matome/img/eiff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3" name="Image 3" descr="/home/user/hina-english/matome/img/lun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669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Q12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9" name=""/>
          <p:cNvSpPr/>
          <p:nvPr/>
        </p:nvSpPr>
        <p:spPr>
          <a:xfrm>
            <a:off x="417195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5562600" y="29337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623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9" name=""/>
          <p:cNvSpPr/>
          <p:nvPr/>
        </p:nvSpPr>
        <p:spPr>
          <a:xfrm>
            <a:off x="417195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4295775" y="29813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5562600" y="2933700"/>
            <a:ext cx="1552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816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293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864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48350"/>
            <a:ext cx="4552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dogs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は複数名詞なので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85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Q13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9" name=""/>
          <p:cNvSpPr/>
          <p:nvPr/>
        </p:nvSpPr>
        <p:spPr>
          <a:xfrm>
            <a:off x="502920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419850" y="29337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71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9" name=""/>
          <p:cNvSpPr/>
          <p:nvPr/>
        </p:nvSpPr>
        <p:spPr>
          <a:xfrm>
            <a:off x="502920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153025" y="29813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6419850" y="29337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816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293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864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48350"/>
            <a:ext cx="8743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は家具をまとめて指す、数えられない名詞なので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85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Q14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tori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562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lives in</a:t>
            </a:r>
          </a:p>
        </p:txBody>
      </p:sp>
      <p:sp>
        <p:nvSpPr>
          <p:cNvPr id="9" name=""/>
          <p:cNvSpPr/>
          <p:nvPr/>
        </p:nvSpPr>
        <p:spPr>
          <a:xfrm>
            <a:off x="5248275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638925" y="2933700"/>
            <a:ext cx="1819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Japan.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彼は日本に住んでいます。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71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tori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5622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He lives in</a:t>
            </a:r>
          </a:p>
        </p:txBody>
      </p:sp>
      <p:sp>
        <p:nvSpPr>
          <p:cNvPr id="9" name=""/>
          <p:cNvSpPr/>
          <p:nvPr/>
        </p:nvSpPr>
        <p:spPr>
          <a:xfrm>
            <a:off x="5248275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372100" y="29813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6638925" y="2933700"/>
            <a:ext cx="1819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Japan.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32004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彼は日本に住んでいます。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816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293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864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48350"/>
            <a:ext cx="5181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国の名前（固有名詞）なので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85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Q15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5241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9" name=""/>
          <p:cNvSpPr/>
          <p:nvPr/>
        </p:nvSpPr>
        <p:spPr>
          <a:xfrm>
            <a:off x="5762625" y="24479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7153275" y="25241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3432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41148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1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71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Q15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5241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9" name=""/>
          <p:cNvSpPr/>
          <p:nvPr/>
        </p:nvSpPr>
        <p:spPr>
          <a:xfrm>
            <a:off x="5762625" y="24479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848350" y="25336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7153275" y="25241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3432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41148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3625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990600" y="58197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8769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8388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85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Q16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9" name=""/>
          <p:cNvSpPr/>
          <p:nvPr/>
        </p:nvSpPr>
        <p:spPr>
          <a:xfrm>
            <a:off x="550545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896100" y="29337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71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Q16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867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She speaks</a:t>
            </a:r>
          </a:p>
        </p:txBody>
      </p:sp>
      <p:sp>
        <p:nvSpPr>
          <p:cNvPr id="9" name=""/>
          <p:cNvSpPr/>
          <p:nvPr/>
        </p:nvSpPr>
        <p:spPr>
          <a:xfrm>
            <a:off x="550545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629275" y="29813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6896100" y="2933700"/>
            <a:ext cx="2038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English.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816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293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864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48350"/>
            <a:ext cx="3867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言語の名前なので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669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Q17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l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028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had</a:t>
            </a:r>
          </a:p>
        </p:txBody>
      </p:sp>
      <p:sp>
        <p:nvSpPr>
          <p:cNvPr id="9" name=""/>
          <p:cNvSpPr/>
          <p:nvPr/>
        </p:nvSpPr>
        <p:spPr>
          <a:xfrm>
            <a:off x="478155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172200" y="2933700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lunch together.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705225"/>
            <a:ext cx="4924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私たちは一緒にお昼ごはんを食べました。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5149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5149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5149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3149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5816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0" name=""/>
          <p:cNvSpPr txBox="1"/>
          <p:nvPr/>
        </p:nvSpPr>
        <p:spPr>
          <a:xfrm>
            <a:off x="5162550" y="55816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623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Q17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lu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33700"/>
            <a:ext cx="2028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had</a:t>
            </a:r>
          </a:p>
        </p:txBody>
      </p:sp>
      <p:sp>
        <p:nvSpPr>
          <p:cNvPr id="9" name=""/>
          <p:cNvSpPr/>
          <p:nvPr/>
        </p:nvSpPr>
        <p:spPr>
          <a:xfrm>
            <a:off x="4781550" y="28575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0" name=""/>
          <p:cNvSpPr txBox="1"/>
          <p:nvPr/>
        </p:nvSpPr>
        <p:spPr>
          <a:xfrm>
            <a:off x="4905375" y="29813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1" name=""/>
          <p:cNvSpPr txBox="1"/>
          <p:nvPr/>
        </p:nvSpPr>
        <p:spPr>
          <a:xfrm>
            <a:off x="6172200" y="2933700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lunch together.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705225"/>
            <a:ext cx="4924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私たちは一緒にお昼ごはんを食べました。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4" name=""/>
          <p:cNvSpPr/>
          <p:nvPr/>
        </p:nvSpPr>
        <p:spPr>
          <a:xfrm>
            <a:off x="990600" y="53530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4102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3816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7" name=""/>
          <p:cNvSpPr/>
          <p:nvPr/>
        </p:nvSpPr>
        <p:spPr>
          <a:xfrm>
            <a:off x="990600" y="58293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8864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848350"/>
            <a:ext cx="8763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breakfast / lunch / dinner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）は基本、無冠詞なので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114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</a:t>
            </a:r>
          </a:p>
        </p:txBody>
      </p:sp>
      <p:sp>
        <p:nvSpPr>
          <p:cNvPr id="5" name=""/>
          <p:cNvSpPr/>
          <p:nvPr/>
        </p:nvSpPr>
        <p:spPr>
          <a:xfrm>
            <a:off x="685800" y="1323975"/>
            <a:ext cx="10820400" cy="5114925"/>
          </a:xfrm>
          <a:prstGeom prst="roundRect">
            <a:avLst>
              <a:gd name="adj" fmla="val 52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6" name=""/>
          <p:cNvSpPr/>
          <p:nvPr/>
        </p:nvSpPr>
        <p:spPr>
          <a:xfrm>
            <a:off x="1143000" y="1666875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295400" y="1724025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114550"/>
            <a:ext cx="37433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9" name=""/>
          <p:cNvSpPr txBox="1"/>
          <p:nvPr/>
        </p:nvSpPr>
        <p:spPr>
          <a:xfrm>
            <a:off x="1143000" y="3028950"/>
            <a:ext cx="21812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総まとめ ・ 8問</a:t>
            </a:r>
          </a:p>
        </p:txBody>
      </p:sp>
      <p:sp>
        <p:nvSpPr>
          <p:cNvPr id="10" name=""/>
          <p:cNvSpPr/>
          <p:nvPr/>
        </p:nvSpPr>
        <p:spPr>
          <a:xfrm>
            <a:off x="1143000" y="3571875"/>
            <a:ext cx="43719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333500" y="3648075"/>
            <a:ext cx="4933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日本語を見たら、すぐに英語で言ってみよう</a:t>
            </a:r>
          </a:p>
        </p:txBody>
      </p:sp>
      <p:sp>
        <p:nvSpPr>
          <p:cNvPr id="12" name=""/>
          <p:cNvSpPr/>
          <p:nvPr/>
        </p:nvSpPr>
        <p:spPr>
          <a:xfrm>
            <a:off x="5610225" y="3571875"/>
            <a:ext cx="2581275" cy="447675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3" name=""/>
          <p:cNvSpPr txBox="1"/>
          <p:nvPr/>
        </p:nvSpPr>
        <p:spPr>
          <a:xfrm>
            <a:off x="5800725" y="3648075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  <p:pic>
        <p:nvPicPr>
          <p:cNvPr id="14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5" name="Image 1" descr="/home/user/hina-english/matome/img/mus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6" name="Image 2" descr="/home/user/hina-english/matome/img/breakf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7" name="Image 3" descr="/home/user/hina-english/matome/img/caf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85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Q18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31623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55911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57250" y="56483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1" name=""/>
          <p:cNvSpPr txBox="1"/>
          <p:nvPr/>
        </p:nvSpPr>
        <p:spPr>
          <a:xfrm>
            <a:off x="1847850" y="55816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71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Q18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43225"/>
            <a:ext cx="3362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6004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90600" y="55911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62050" y="56483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2152650" y="5610225"/>
            <a:ext cx="3000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職業は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をつける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859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Q19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31623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55911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57250" y="56483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1" name=""/>
          <p:cNvSpPr txBox="1"/>
          <p:nvPr/>
        </p:nvSpPr>
        <p:spPr>
          <a:xfrm>
            <a:off x="1847850" y="55816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71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Q19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43225"/>
            <a:ext cx="4067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6004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90600" y="55911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62050" y="56483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2152650" y="5610225"/>
            <a:ext cx="4819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engineer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924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Q20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31623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55911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57250" y="56483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1" name=""/>
          <p:cNvSpPr txBox="1"/>
          <p:nvPr/>
        </p:nvSpPr>
        <p:spPr>
          <a:xfrm>
            <a:off x="1847850" y="55816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194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Q20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43225"/>
            <a:ext cx="28098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music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6004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90600" y="55911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62050" y="56483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2152650" y="5610225"/>
            <a:ext cx="5657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8669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Q21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3162300"/>
            <a:ext cx="6991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55911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57250" y="56483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1" name=""/>
          <p:cNvSpPr txBox="1"/>
          <p:nvPr/>
        </p:nvSpPr>
        <p:spPr>
          <a:xfrm>
            <a:off x="1847850" y="55816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1623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Q21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43225"/>
            <a:ext cx="441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gave me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advice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6004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90600" y="55911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62050" y="56483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2152650" y="5610225"/>
            <a:ext cx="85058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some 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9050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Q22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3162300"/>
            <a:ext cx="6543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55911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57250" y="56483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1" name=""/>
          <p:cNvSpPr txBox="1"/>
          <p:nvPr/>
        </p:nvSpPr>
        <p:spPr>
          <a:xfrm>
            <a:off x="1847850" y="55816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004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Q22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43225"/>
            <a:ext cx="66770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6004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90600" y="55911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62050" y="56483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2152650" y="5610225"/>
            <a:ext cx="5895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食事は基本、無冠詞（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have breakfast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914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Q23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3162300"/>
            <a:ext cx="6534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55911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57250" y="56483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1" name=""/>
          <p:cNvSpPr txBox="1"/>
          <p:nvPr/>
        </p:nvSpPr>
        <p:spPr>
          <a:xfrm>
            <a:off x="1847850" y="55816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099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Q23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43225"/>
            <a:ext cx="7496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spend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Christmas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with my family.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600450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90600" y="55911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62050" y="56483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2152650" y="5610225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祝日・ホリデーは無冠詞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914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Q24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886075"/>
            <a:ext cx="74199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私は昨日、あるカフェに行きました。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429000"/>
            <a:ext cx="73628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そのカフェはとても混んでいました。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5911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6483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5816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099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638425"/>
            <a:ext cx="5838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went to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yesterday.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248025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cafe was very crowded.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90525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2" name=""/>
          <p:cNvSpPr/>
          <p:nvPr/>
        </p:nvSpPr>
        <p:spPr>
          <a:xfrm>
            <a:off x="990600" y="55911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6483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610225"/>
            <a:ext cx="6457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、2回目は「さっきのカフェ」なので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914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Q25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3162300"/>
            <a:ext cx="77914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9" name=""/>
          <p:cNvSpPr/>
          <p:nvPr/>
        </p:nvSpPr>
        <p:spPr>
          <a:xfrm>
            <a:off x="685800" y="55911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0" name=""/>
          <p:cNvSpPr txBox="1"/>
          <p:nvPr/>
        </p:nvSpPr>
        <p:spPr>
          <a:xfrm>
            <a:off x="857250" y="56483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1" name=""/>
          <p:cNvSpPr txBox="1"/>
          <p:nvPr/>
        </p:nvSpPr>
        <p:spPr>
          <a:xfrm>
            <a:off x="1847850" y="5581650"/>
            <a:ext cx="88963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 声に出して、英語で言ってみよう！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2099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STEP 4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Q25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4669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943225"/>
            <a:ext cx="61722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 at this cafe.</a:t>
            </a:r>
          </a:p>
        </p:txBody>
      </p:sp>
      <p:sp>
        <p:nvSpPr>
          <p:cNvPr id="9" name=""/>
          <p:cNvSpPr txBox="1"/>
          <p:nvPr/>
        </p:nvSpPr>
        <p:spPr>
          <a:xfrm>
            <a:off x="3162300" y="3600450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0577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990600" y="55911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62050" y="56483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3" name=""/>
          <p:cNvSpPr txBox="1"/>
          <p:nvPr/>
        </p:nvSpPr>
        <p:spPr>
          <a:xfrm>
            <a:off x="2152650" y="5610225"/>
            <a:ext cx="60960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「このカフェの」コーヒーと特定できるので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