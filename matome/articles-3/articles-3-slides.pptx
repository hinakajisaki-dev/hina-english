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presProps" Target="presProps.xml"/><Relationship Id="rId2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419100" y="419100"/>
            <a:ext cx="11353800" cy="6019800"/>
          </a:xfrm>
          <a:prstGeom prst="roundRect">
            <a:avLst>
              <a:gd name="adj" fmla="val 6962"/>
            </a:avLst>
          </a:prstGeom>
          <a:solidFill>
            <a:srgbClr val="FFDCCB"/>
          </a:solidFill>
          <a:ln/>
        </p:spPr>
      </p:sp>
      <p:sp>
        <p:nvSpPr>
          <p:cNvPr id="3" name=""/>
          <p:cNvSpPr txBox="1"/>
          <p:nvPr/>
        </p:nvSpPr>
        <p:spPr>
          <a:xfrm>
            <a:off x="1181100" y="196215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C8401A"/>
                </a:solidFill>
                <a:latin typeface="Noto Sans JP"/>
                <a:ea typeface="Noto Sans JP"/>
              </a:rPr>
              <a:t>文法解説動画</a:t>
            </a:r>
          </a:p>
        </p:txBody>
      </p:sp>
      <p:sp>
        <p:nvSpPr>
          <p:cNvPr id="4" name=""/>
          <p:cNvSpPr txBox="1"/>
          <p:nvPr/>
        </p:nvSpPr>
        <p:spPr>
          <a:xfrm>
            <a:off x="1181100" y="2076450"/>
            <a:ext cx="6819900" cy="23145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600" b="1">
                <a:solidFill>
                  <a:srgbClr val="1C2340"/>
                </a:solidFill>
                <a:latin typeface="Noto Sans JP"/>
                <a:ea typeface="Noto Sans JP"/>
              </a:rPr>
              <a:t>冠詞 </a:t>
            </a:r>
            <a:pPr/>
            <a:r>
              <a:rPr sz="5700" b="1">
                <a:solidFill>
                  <a:srgbClr val="E8461E"/>
                </a:solidFill>
                <a:latin typeface="DM Sans"/>
                <a:ea typeface="DM Sans"/>
              </a:rPr>
              <a:t>Part 3</a:t>
            </a:r>
          </a:p>
        </p:txBody>
      </p:sp>
      <p:sp>
        <p:nvSpPr>
          <p:cNvPr id="5" name=""/>
          <p:cNvSpPr txBox="1"/>
          <p:nvPr/>
        </p:nvSpPr>
        <p:spPr>
          <a:xfrm>
            <a:off x="1181100" y="4210050"/>
            <a:ext cx="853440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750" b="1">
                <a:solidFill>
                  <a:srgbClr val="1C2340"/>
                </a:solidFill>
                <a:latin typeface="Noto Sans JP"/>
                <a:ea typeface="Noto Sans JP"/>
              </a:rPr>
              <a:t>無冠詞：冠詞をつけないパターン</a:t>
            </a:r>
          </a:p>
        </p:txBody>
      </p:sp>
      <p:pic>
        <p:nvPicPr>
          <p:cNvPr id="6" name="Image 0" descr="/home/user/hina-english/matome/img/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809750"/>
            <a:ext cx="32385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75533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冠詞をつけないパターン：無冠詞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47825"/>
            <a:ext cx="92678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これまでは 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と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をつけるパターン。今回は「どちらもつけない」パターン</a:t>
            </a:r>
          </a:p>
        </p:txBody>
      </p:sp>
      <p:sp>
        <p:nvSpPr>
          <p:cNvPr id="6" name=""/>
          <p:cNvSpPr/>
          <p:nvPr/>
        </p:nvSpPr>
        <p:spPr>
          <a:xfrm>
            <a:off x="685800" y="2152650"/>
            <a:ext cx="3467100" cy="4286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1857375" y="2381250"/>
            <a:ext cx="1123950" cy="609600"/>
          </a:xfrm>
          <a:prstGeom prst="roundRect">
            <a:avLst>
              <a:gd name="adj" fmla="val 28125"/>
            </a:avLst>
          </a:prstGeom>
          <a:solidFill>
            <a:srgbClr val="E8461E"/>
          </a:solidFill>
          <a:ln/>
        </p:spPr>
      </p:sp>
      <p:sp>
        <p:nvSpPr>
          <p:cNvPr id="8" name=""/>
          <p:cNvSpPr txBox="1"/>
          <p:nvPr/>
        </p:nvSpPr>
        <p:spPr>
          <a:xfrm>
            <a:off x="2028825" y="2505075"/>
            <a:ext cx="1238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FFFFFF"/>
                </a:solidFill>
                <a:latin typeface="DM Sans"/>
                <a:ea typeface="DM Sans"/>
              </a:rPr>
              <a:t>a / an</a:t>
            </a:r>
          </a:p>
        </p:txBody>
      </p:sp>
      <p:sp>
        <p:nvSpPr>
          <p:cNvPr id="9" name=""/>
          <p:cNvSpPr txBox="1"/>
          <p:nvPr/>
        </p:nvSpPr>
        <p:spPr>
          <a:xfrm>
            <a:off x="2047875" y="3067050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1つの〜</a:t>
            </a:r>
          </a:p>
        </p:txBody>
      </p:sp>
      <p:pic>
        <p:nvPicPr>
          <p:cNvPr id="10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0" y="4000500"/>
            <a:ext cx="1143000" cy="1143000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1771650" y="5762625"/>
            <a:ext cx="18288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movie</a:t>
            </a:r>
          </a:p>
        </p:txBody>
      </p:sp>
      <p:sp>
        <p:nvSpPr>
          <p:cNvPr id="12" name=""/>
          <p:cNvSpPr/>
          <p:nvPr/>
        </p:nvSpPr>
        <p:spPr>
          <a:xfrm>
            <a:off x="4362450" y="2152650"/>
            <a:ext cx="3467100" cy="4286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5686425" y="2381250"/>
            <a:ext cx="819150" cy="609600"/>
          </a:xfrm>
          <a:prstGeom prst="roundRect">
            <a:avLst>
              <a:gd name="adj" fmla="val 28125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5857875" y="2505075"/>
            <a:ext cx="8953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5" name=""/>
          <p:cNvSpPr txBox="1"/>
          <p:nvPr/>
        </p:nvSpPr>
        <p:spPr>
          <a:xfrm>
            <a:off x="5781675" y="306705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それ！</a:t>
            </a:r>
          </a:p>
        </p:txBody>
      </p:sp>
      <p:sp>
        <p:nvSpPr>
          <p:cNvPr id="16" name=""/>
          <p:cNvSpPr/>
          <p:nvPr/>
        </p:nvSpPr>
        <p:spPr>
          <a:xfrm>
            <a:off x="5429250" y="3905250"/>
            <a:ext cx="1333500" cy="1333500"/>
          </a:xfrm>
          <a:prstGeom prst="ellipse">
            <a:avLst/>
          </a:prstGeom>
          <a:solidFill>
            <a:srgbClr val="DDEFFC"/>
          </a:solidFill>
          <a:ln w="38100">
            <a:solidFill>
              <a:srgbClr val="2F86CF"/>
            </a:solidFill>
            <a:prstDash val="solid"/>
          </a:ln>
        </p:spPr>
      </p:sp>
      <p:pic>
        <p:nvPicPr>
          <p:cNvPr id="17" name="Image 1" descr="映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4076700"/>
            <a:ext cx="990600" cy="990600"/>
          </a:xfrm>
          <a:prstGeom prst="rect">
            <a:avLst/>
          </a:prstGeom>
        </p:spPr>
      </p:pic>
      <p:sp>
        <p:nvSpPr>
          <p:cNvPr id="18" name=""/>
          <p:cNvSpPr/>
          <p:nvPr/>
        </p:nvSpPr>
        <p:spPr>
          <a:xfrm>
            <a:off x="5734050" y="501015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2F86CF"/>
          </a:solidFill>
          <a:ln/>
        </p:spPr>
      </p:sp>
      <p:sp>
        <p:nvSpPr>
          <p:cNvPr id="19" name=""/>
          <p:cNvSpPr txBox="1"/>
          <p:nvPr/>
        </p:nvSpPr>
        <p:spPr>
          <a:xfrm>
            <a:off x="5610225" y="5038725"/>
            <a:ext cx="9715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JP"/>
                <a:ea typeface="Noto Sans JP"/>
              </a:rPr>
              <a:t>それ！</a:t>
            </a:r>
          </a:p>
        </p:txBody>
      </p:sp>
      <p:sp>
        <p:nvSpPr>
          <p:cNvPr id="20" name=""/>
          <p:cNvSpPr txBox="1"/>
          <p:nvPr/>
        </p:nvSpPr>
        <p:spPr>
          <a:xfrm>
            <a:off x="5267325" y="5762625"/>
            <a:ext cx="22479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movie</a:t>
            </a:r>
          </a:p>
        </p:txBody>
      </p:sp>
      <p:sp>
        <p:nvSpPr>
          <p:cNvPr id="21" name=""/>
          <p:cNvSpPr/>
          <p:nvPr/>
        </p:nvSpPr>
        <p:spPr>
          <a:xfrm>
            <a:off x="8039100" y="2152650"/>
            <a:ext cx="3467100" cy="4286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E8461E"/>
            </a:solidFill>
            <a:prstDash val="solid"/>
          </a:ln>
        </p:spPr>
      </p:sp>
      <p:sp>
        <p:nvSpPr>
          <p:cNvPr id="22" name=""/>
          <p:cNvSpPr/>
          <p:nvPr/>
        </p:nvSpPr>
        <p:spPr>
          <a:xfrm>
            <a:off x="9334500" y="2419350"/>
            <a:ext cx="876300" cy="609600"/>
          </a:xfrm>
          <a:prstGeom prst="roundRect">
            <a:avLst>
              <a:gd name="adj" fmla="val 28125"/>
            </a:avLst>
          </a:prstGeom>
          <a:solidFill>
            <a:srgbClr val="9AA1B6"/>
          </a:solidFill>
          <a:ln/>
        </p:spPr>
      </p:sp>
      <p:sp>
        <p:nvSpPr>
          <p:cNvPr id="23" name=""/>
          <p:cNvSpPr txBox="1"/>
          <p:nvPr/>
        </p:nvSpPr>
        <p:spPr>
          <a:xfrm>
            <a:off x="9505950" y="25336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24" name=""/>
          <p:cNvSpPr txBox="1"/>
          <p:nvPr/>
        </p:nvSpPr>
        <p:spPr>
          <a:xfrm>
            <a:off x="8524875" y="3105150"/>
            <a:ext cx="321945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どちらもつけない＝</a:t>
            </a:r>
            <a:pPr/>
            <a:r>
              <a:rPr sz="1650" b="1">
                <a:solidFill>
                  <a:srgbClr val="1C2340"/>
                </a:solidFill>
                <a:highlight>
                  <a:srgbClr val="FFD9C9"/>
                </a:highlight>
                <a:latin typeface="Noto Sans JP"/>
                <a:ea typeface="Noto Sans JP"/>
              </a:rPr>
              <a:t>無冠詞</a:t>
            </a:r>
          </a:p>
        </p:txBody>
      </p:sp>
      <p:pic>
        <p:nvPicPr>
          <p:cNvPr id="25" name="Image 2" descr="映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075" y="4000500"/>
            <a:ext cx="1143000" cy="1143000"/>
          </a:xfrm>
          <a:prstGeom prst="rect">
            <a:avLst/>
          </a:prstGeom>
        </p:spPr>
      </p:pic>
      <p:pic>
        <p:nvPicPr>
          <p:cNvPr id="26" name="Image 3" descr="映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225" y="4000500"/>
            <a:ext cx="1143000" cy="11430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9172575" y="5724525"/>
            <a:ext cx="17240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movies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68675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無冠詞になる、6つのパターン</a:t>
            </a:r>
          </a:p>
        </p:txBody>
      </p:sp>
      <p:sp>
        <p:nvSpPr>
          <p:cNvPr id="5" name=""/>
          <p:cNvSpPr/>
          <p:nvPr/>
        </p:nvSpPr>
        <p:spPr>
          <a:xfrm>
            <a:off x="685800" y="168592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6" name=""/>
          <p:cNvSpPr/>
          <p:nvPr/>
        </p:nvSpPr>
        <p:spPr>
          <a:xfrm>
            <a:off x="819150" y="181927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781050" y="1876425"/>
            <a:ext cx="40957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pic>
        <p:nvPicPr>
          <p:cNvPr id="8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362200"/>
            <a:ext cx="952500" cy="9525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2057400" y="2524125"/>
            <a:ext cx="1438275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複数名詞</a:t>
            </a:r>
          </a:p>
        </p:txBody>
      </p:sp>
      <p:sp>
        <p:nvSpPr>
          <p:cNvPr id="10" name=""/>
          <p:cNvSpPr txBox="1"/>
          <p:nvPr/>
        </p:nvSpPr>
        <p:spPr>
          <a:xfrm>
            <a:off x="2057400" y="2876550"/>
            <a:ext cx="1114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movies</a:t>
            </a:r>
          </a:p>
        </p:txBody>
      </p:sp>
      <p:sp>
        <p:nvSpPr>
          <p:cNvPr id="11" name=""/>
          <p:cNvSpPr/>
          <p:nvPr/>
        </p:nvSpPr>
        <p:spPr>
          <a:xfrm>
            <a:off x="4343400" y="168592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12" name=""/>
          <p:cNvSpPr/>
          <p:nvPr/>
        </p:nvSpPr>
        <p:spPr>
          <a:xfrm>
            <a:off x="4476750" y="181927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3" name=""/>
          <p:cNvSpPr txBox="1"/>
          <p:nvPr/>
        </p:nvSpPr>
        <p:spPr>
          <a:xfrm>
            <a:off x="4410075" y="1876425"/>
            <a:ext cx="4572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pic>
        <p:nvPicPr>
          <p:cNvPr id="14" name="Image 1" descr="家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2362200"/>
            <a:ext cx="952500" cy="9525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5715000" y="2524125"/>
            <a:ext cx="2533650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まとめて指す名詞</a:t>
            </a:r>
          </a:p>
        </p:txBody>
      </p:sp>
      <p:sp>
        <p:nvSpPr>
          <p:cNvPr id="16" name=""/>
          <p:cNvSpPr txBox="1"/>
          <p:nvPr/>
        </p:nvSpPr>
        <p:spPr>
          <a:xfrm>
            <a:off x="5715000" y="2876550"/>
            <a:ext cx="12763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furniture</a:t>
            </a:r>
          </a:p>
        </p:txBody>
      </p:sp>
      <p:sp>
        <p:nvSpPr>
          <p:cNvPr id="17" name=""/>
          <p:cNvSpPr/>
          <p:nvPr/>
        </p:nvSpPr>
        <p:spPr>
          <a:xfrm>
            <a:off x="8001000" y="168592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8134350" y="181927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19" name=""/>
          <p:cNvSpPr txBox="1"/>
          <p:nvPr/>
        </p:nvSpPr>
        <p:spPr>
          <a:xfrm>
            <a:off x="8067675" y="1876425"/>
            <a:ext cx="457200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pic>
        <p:nvPicPr>
          <p:cNvPr id="20" name="Image 2" descr="鳥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2362200"/>
            <a:ext cx="952500" cy="952500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9372600" y="2524125"/>
            <a:ext cx="1438275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固有名詞</a:t>
            </a:r>
          </a:p>
        </p:txBody>
      </p:sp>
      <p:sp>
        <p:nvSpPr>
          <p:cNvPr id="22" name=""/>
          <p:cNvSpPr txBox="1"/>
          <p:nvPr/>
        </p:nvSpPr>
        <p:spPr>
          <a:xfrm>
            <a:off x="9372600" y="2876550"/>
            <a:ext cx="952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Kyoto</a:t>
            </a:r>
          </a:p>
        </p:txBody>
      </p:sp>
      <p:sp>
        <p:nvSpPr>
          <p:cNvPr id="23" name=""/>
          <p:cNvSpPr/>
          <p:nvPr/>
        </p:nvSpPr>
        <p:spPr>
          <a:xfrm>
            <a:off x="685800" y="414337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24" name=""/>
          <p:cNvSpPr/>
          <p:nvPr/>
        </p:nvSpPr>
        <p:spPr>
          <a:xfrm>
            <a:off x="819150" y="427672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5" name=""/>
          <p:cNvSpPr txBox="1"/>
          <p:nvPr/>
        </p:nvSpPr>
        <p:spPr>
          <a:xfrm>
            <a:off x="752475" y="4333875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4</a:t>
            </a:r>
          </a:p>
        </p:txBody>
      </p:sp>
      <p:pic>
        <p:nvPicPr>
          <p:cNvPr id="26" name="Image 3" descr="英語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4810125"/>
            <a:ext cx="952500" cy="9525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2057400" y="4981575"/>
            <a:ext cx="895350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言語</a:t>
            </a:r>
          </a:p>
        </p:txBody>
      </p:sp>
      <p:sp>
        <p:nvSpPr>
          <p:cNvPr id="28" name=""/>
          <p:cNvSpPr txBox="1"/>
          <p:nvPr/>
        </p:nvSpPr>
        <p:spPr>
          <a:xfrm>
            <a:off x="2057400" y="5334000"/>
            <a:ext cx="10953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English</a:t>
            </a:r>
          </a:p>
        </p:txBody>
      </p:sp>
      <p:sp>
        <p:nvSpPr>
          <p:cNvPr id="29" name=""/>
          <p:cNvSpPr/>
          <p:nvPr/>
        </p:nvSpPr>
        <p:spPr>
          <a:xfrm>
            <a:off x="4343400" y="414337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4476750" y="427672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1" name=""/>
          <p:cNvSpPr txBox="1"/>
          <p:nvPr/>
        </p:nvSpPr>
        <p:spPr>
          <a:xfrm>
            <a:off x="4410075" y="4333875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5</a:t>
            </a:r>
          </a:p>
        </p:txBody>
      </p:sp>
      <p:pic>
        <p:nvPicPr>
          <p:cNvPr id="32" name="Image 4" descr="朝食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4810125"/>
            <a:ext cx="952500" cy="952500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5715000" y="4981575"/>
            <a:ext cx="895350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食事</a:t>
            </a:r>
          </a:p>
        </p:txBody>
      </p:sp>
      <p:sp>
        <p:nvSpPr>
          <p:cNvPr id="34" name=""/>
          <p:cNvSpPr txBox="1"/>
          <p:nvPr/>
        </p:nvSpPr>
        <p:spPr>
          <a:xfrm>
            <a:off x="5715000" y="5334000"/>
            <a:ext cx="13906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breakfast</a:t>
            </a:r>
          </a:p>
        </p:txBody>
      </p:sp>
      <p:sp>
        <p:nvSpPr>
          <p:cNvPr id="35" name=""/>
          <p:cNvSpPr/>
          <p:nvPr/>
        </p:nvSpPr>
        <p:spPr>
          <a:xfrm>
            <a:off x="8001000" y="4143375"/>
            <a:ext cx="3505200" cy="229552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8134350" y="4276725"/>
            <a:ext cx="323850" cy="3238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7" name=""/>
          <p:cNvSpPr txBox="1"/>
          <p:nvPr/>
        </p:nvSpPr>
        <p:spPr>
          <a:xfrm>
            <a:off x="8067675" y="4333875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  <a:ea typeface="DM Sans"/>
              </a:rPr>
              <a:t>6</a:t>
            </a:r>
          </a:p>
        </p:txBody>
      </p:sp>
      <p:pic>
        <p:nvPicPr>
          <p:cNvPr id="38" name="Image 5" descr="ハロウィン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700" y="4810125"/>
            <a:ext cx="952500" cy="952500"/>
          </a:xfrm>
          <a:prstGeom prst="rect">
            <a:avLst/>
          </a:prstGeom>
        </p:spPr>
      </p:pic>
      <p:sp>
        <p:nvSpPr>
          <p:cNvPr id="39" name=""/>
          <p:cNvSpPr txBox="1"/>
          <p:nvPr/>
        </p:nvSpPr>
        <p:spPr>
          <a:xfrm>
            <a:off x="9372600" y="4981575"/>
            <a:ext cx="2257425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Noto Sans JP"/>
                <a:ea typeface="Noto Sans JP"/>
              </a:rPr>
              <a:t>祝日・ホリデー</a:t>
            </a:r>
          </a:p>
        </p:txBody>
      </p:sp>
      <p:sp>
        <p:nvSpPr>
          <p:cNvPr id="40" name=""/>
          <p:cNvSpPr txBox="1"/>
          <p:nvPr/>
        </p:nvSpPr>
        <p:spPr>
          <a:xfrm>
            <a:off x="9372600" y="5334000"/>
            <a:ext cx="14382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Halloween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6010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1. 複数名詞のときは、冠詞をつけない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5286375" cy="3790950"/>
          </a:xfrm>
          <a:prstGeom prst="roundRect">
            <a:avLst>
              <a:gd name="adj" fmla="val 7035"/>
            </a:avLst>
          </a:prstGeom>
          <a:solidFill>
            <a:srgbClr val="FFE8DC"/>
          </a:solidFill>
          <a:ln/>
        </p:spPr>
      </p:sp>
      <p:sp>
        <p:nvSpPr>
          <p:cNvPr id="6" name=""/>
          <p:cNvSpPr/>
          <p:nvPr/>
        </p:nvSpPr>
        <p:spPr>
          <a:xfrm>
            <a:off x="971550" y="1933575"/>
            <a:ext cx="61912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7" name=""/>
          <p:cNvSpPr txBox="1"/>
          <p:nvPr/>
        </p:nvSpPr>
        <p:spPr>
          <a:xfrm>
            <a:off x="1143000" y="1990725"/>
            <a:ext cx="6572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1つ</a:t>
            </a:r>
          </a:p>
        </p:txBody>
      </p:sp>
      <p:pic>
        <p:nvPicPr>
          <p:cNvPr id="8" name="Image 0" descr="映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625" y="2381250"/>
            <a:ext cx="1238250" cy="123825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971550" y="3695700"/>
            <a:ext cx="48482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I watched </a:t>
            </a:r>
            <a:pPr/>
            <a:r>
              <a:rPr sz="225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 movie last night.</a:t>
            </a:r>
          </a:p>
        </p:txBody>
      </p:sp>
      <p:sp>
        <p:nvSpPr>
          <p:cNvPr id="10" name=""/>
          <p:cNvSpPr txBox="1"/>
          <p:nvPr/>
        </p:nvSpPr>
        <p:spPr>
          <a:xfrm>
            <a:off x="971550" y="4143375"/>
            <a:ext cx="30480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昨日の夜、映画を観ました。</a:t>
            </a:r>
          </a:p>
        </p:txBody>
      </p:sp>
      <p:sp>
        <p:nvSpPr>
          <p:cNvPr id="11" name=""/>
          <p:cNvSpPr/>
          <p:nvPr/>
        </p:nvSpPr>
        <p:spPr>
          <a:xfrm>
            <a:off x="971550" y="4819650"/>
            <a:ext cx="4714875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</p:spPr>
      </p:sp>
      <p:sp>
        <p:nvSpPr>
          <p:cNvPr id="12" name=""/>
          <p:cNvSpPr txBox="1"/>
          <p:nvPr/>
        </p:nvSpPr>
        <p:spPr>
          <a:xfrm>
            <a:off x="1143000" y="4914900"/>
            <a:ext cx="36004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「1つの映画」と分かる → </a:t>
            </a:r>
            <a:pPr/>
            <a:r>
              <a:rPr sz="16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3" name=""/>
          <p:cNvSpPr/>
          <p:nvPr/>
        </p:nvSpPr>
        <p:spPr>
          <a:xfrm>
            <a:off x="6219825" y="1724025"/>
            <a:ext cx="5286375" cy="3790950"/>
          </a:xfrm>
          <a:prstGeom prst="roundRect">
            <a:avLst>
              <a:gd name="adj" fmla="val 7035"/>
            </a:avLst>
          </a:prstGeom>
          <a:solidFill>
            <a:srgbClr val="DDEFFC"/>
          </a:solidFill>
          <a:ln/>
        </p:spPr>
      </p:sp>
      <p:sp>
        <p:nvSpPr>
          <p:cNvPr id="14" name=""/>
          <p:cNvSpPr/>
          <p:nvPr/>
        </p:nvSpPr>
        <p:spPr>
          <a:xfrm>
            <a:off x="6505575" y="19335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6677025" y="19907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複数</a:t>
            </a:r>
          </a:p>
        </p:txBody>
      </p:sp>
      <p:pic>
        <p:nvPicPr>
          <p:cNvPr id="16" name="Image 1" descr="映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2381250"/>
            <a:ext cx="1238250" cy="1238250"/>
          </a:xfrm>
          <a:prstGeom prst="rect">
            <a:avLst/>
          </a:prstGeom>
        </p:spPr>
      </p:pic>
      <p:pic>
        <p:nvPicPr>
          <p:cNvPr id="17" name="Image 2" descr="映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0" y="2381250"/>
            <a:ext cx="1238250" cy="123825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6505575" y="3695700"/>
            <a:ext cx="23431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I like </a:t>
            </a:r>
            <a:pPr/>
            <a:r>
              <a:rPr sz="22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movies</a:t>
            </a:r>
            <a:pPr/>
            <a:r>
              <a:rPr sz="225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9" name=""/>
          <p:cNvSpPr txBox="1"/>
          <p:nvPr/>
        </p:nvSpPr>
        <p:spPr>
          <a:xfrm>
            <a:off x="6505575" y="4143375"/>
            <a:ext cx="24003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4A5270"/>
                </a:solidFill>
                <a:latin typeface="Noto Sans JP"/>
                <a:ea typeface="Noto Sans JP"/>
              </a:rPr>
              <a:t>私は映画が好きです。</a:t>
            </a:r>
          </a:p>
        </p:txBody>
      </p:sp>
      <p:sp>
        <p:nvSpPr>
          <p:cNvPr id="20" name=""/>
          <p:cNvSpPr/>
          <p:nvPr/>
        </p:nvSpPr>
        <p:spPr>
          <a:xfrm>
            <a:off x="6505575" y="4819650"/>
            <a:ext cx="4714875" cy="485775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/>
        </p:spPr>
      </p:sp>
      <p:sp>
        <p:nvSpPr>
          <p:cNvPr id="21" name=""/>
          <p:cNvSpPr txBox="1"/>
          <p:nvPr/>
        </p:nvSpPr>
        <p:spPr>
          <a:xfrm>
            <a:off x="6677025" y="4914900"/>
            <a:ext cx="3752850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複数名詞 </a:t>
            </a:r>
            <a:pPr/>
            <a:r>
              <a:rPr sz="1600" b="1">
                <a:solidFill>
                  <a:srgbClr val="1C2340"/>
                </a:solidFill>
                <a:latin typeface="DM Sans"/>
                <a:ea typeface="DM Sans"/>
              </a:rPr>
              <a:t>movies</a:t>
            </a:r>
            <a:pPr/>
            <a:r>
              <a:rPr sz="1600" b="1">
                <a:solidFill>
                  <a:srgbClr val="1C2340"/>
                </a:solidFill>
                <a:latin typeface="Noto Sans JP"/>
                <a:ea typeface="Noto Sans JP"/>
              </a:rPr>
              <a:t> → 冠詞なし</a:t>
            </a:r>
          </a:p>
        </p:txBody>
      </p:sp>
      <p:sp>
        <p:nvSpPr>
          <p:cNvPr id="22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3" name=""/>
          <p:cNvSpPr/>
          <p:nvPr/>
        </p:nvSpPr>
        <p:spPr>
          <a:xfrm>
            <a:off x="933450" y="58959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24" name=""/>
          <p:cNvSpPr txBox="1"/>
          <p:nvPr/>
        </p:nvSpPr>
        <p:spPr>
          <a:xfrm>
            <a:off x="1104900" y="59531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25" name=""/>
          <p:cNvSpPr txBox="1"/>
          <p:nvPr/>
        </p:nvSpPr>
        <p:spPr>
          <a:xfrm>
            <a:off x="2114550" y="5924550"/>
            <a:ext cx="59912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は「1つ」のときだけ。複数名詞にはつけない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複数名詞の例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47825"/>
            <a:ext cx="90201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特定のものではなく「〜というもの全般」の話をするときは、複数形で冠詞なし</a:t>
            </a:r>
          </a:p>
        </p:txBody>
      </p:sp>
      <p:sp>
        <p:nvSpPr>
          <p:cNvPr id="6" name=""/>
          <p:cNvSpPr/>
          <p:nvPr/>
        </p:nvSpPr>
        <p:spPr>
          <a:xfrm>
            <a:off x="685800" y="2162175"/>
            <a:ext cx="10820400" cy="1019175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/>
        </p:spPr>
      </p:sp>
      <p:pic>
        <p:nvPicPr>
          <p:cNvPr id="7" name="Image 0" descr="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09800"/>
            <a:ext cx="914400" cy="914400"/>
          </a:xfrm>
          <a:prstGeom prst="rect">
            <a:avLst/>
          </a:prstGeom>
        </p:spPr>
      </p:pic>
      <p:pic>
        <p:nvPicPr>
          <p:cNvPr id="8" name="Image 1" descr="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2209800"/>
            <a:ext cx="914400" cy="9144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3048000" y="2276475"/>
            <a:ext cx="23241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like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dogs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0" name=""/>
          <p:cNvSpPr txBox="1"/>
          <p:nvPr/>
        </p:nvSpPr>
        <p:spPr>
          <a:xfrm>
            <a:off x="3048000" y="2781300"/>
            <a:ext cx="18573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犬が好きです。</a:t>
            </a:r>
          </a:p>
        </p:txBody>
      </p:sp>
      <p:sp>
        <p:nvSpPr>
          <p:cNvPr id="11" name=""/>
          <p:cNvSpPr/>
          <p:nvPr/>
        </p:nvSpPr>
        <p:spPr>
          <a:xfrm>
            <a:off x="8362950" y="2257425"/>
            <a:ext cx="2857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2" name=""/>
          <p:cNvSpPr txBox="1"/>
          <p:nvPr/>
        </p:nvSpPr>
        <p:spPr>
          <a:xfrm>
            <a:off x="8553450" y="2400300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犬全般の話</a:t>
            </a:r>
          </a:p>
        </p:txBody>
      </p:sp>
      <p:sp>
        <p:nvSpPr>
          <p:cNvPr id="13" name=""/>
          <p:cNvSpPr txBox="1"/>
          <p:nvPr/>
        </p:nvSpPr>
        <p:spPr>
          <a:xfrm>
            <a:off x="8553450" y="2676525"/>
            <a:ext cx="24288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（特定の犬ではない）</a:t>
            </a:r>
          </a:p>
        </p:txBody>
      </p:sp>
      <p:sp>
        <p:nvSpPr>
          <p:cNvPr id="14" name=""/>
          <p:cNvSpPr/>
          <p:nvPr/>
        </p:nvSpPr>
        <p:spPr>
          <a:xfrm>
            <a:off x="685800" y="3333750"/>
            <a:ext cx="10820400" cy="1019175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/>
        </p:spPr>
      </p:sp>
      <p:pic>
        <p:nvPicPr>
          <p:cNvPr id="15" name="Image 2" descr="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3381375"/>
            <a:ext cx="914400" cy="914400"/>
          </a:xfrm>
          <a:prstGeom prst="rect">
            <a:avLst/>
          </a:prstGeom>
        </p:spPr>
      </p:pic>
      <p:pic>
        <p:nvPicPr>
          <p:cNvPr id="16" name="Image 3" descr="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3381375"/>
            <a:ext cx="914400" cy="91440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3048000" y="3448050"/>
            <a:ext cx="50006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read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books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before bed.</a:t>
            </a:r>
          </a:p>
        </p:txBody>
      </p:sp>
      <p:sp>
        <p:nvSpPr>
          <p:cNvPr id="18" name=""/>
          <p:cNvSpPr txBox="1"/>
          <p:nvPr/>
        </p:nvSpPr>
        <p:spPr>
          <a:xfrm>
            <a:off x="3048000" y="3952875"/>
            <a:ext cx="27336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寝る前に本を読みます。</a:t>
            </a:r>
          </a:p>
        </p:txBody>
      </p:sp>
      <p:sp>
        <p:nvSpPr>
          <p:cNvPr id="19" name=""/>
          <p:cNvSpPr/>
          <p:nvPr/>
        </p:nvSpPr>
        <p:spPr>
          <a:xfrm>
            <a:off x="8362950" y="3429000"/>
            <a:ext cx="2857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8553450" y="3571875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本全般の話</a:t>
            </a:r>
          </a:p>
        </p:txBody>
      </p:sp>
      <p:sp>
        <p:nvSpPr>
          <p:cNvPr id="21" name=""/>
          <p:cNvSpPr txBox="1"/>
          <p:nvPr/>
        </p:nvSpPr>
        <p:spPr>
          <a:xfrm>
            <a:off x="8553450" y="3848100"/>
            <a:ext cx="24288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（特定の本ではない）</a:t>
            </a:r>
          </a:p>
        </p:txBody>
      </p:sp>
      <p:sp>
        <p:nvSpPr>
          <p:cNvPr id="22" name=""/>
          <p:cNvSpPr/>
          <p:nvPr/>
        </p:nvSpPr>
        <p:spPr>
          <a:xfrm>
            <a:off x="685800" y="4495800"/>
            <a:ext cx="10820400" cy="1019175"/>
          </a:xfrm>
          <a:prstGeom prst="roundRect">
            <a:avLst>
              <a:gd name="adj" fmla="val 26168"/>
            </a:avLst>
          </a:prstGeom>
          <a:solidFill>
            <a:srgbClr val="FFFFFF"/>
          </a:solidFill>
          <a:ln/>
        </p:spPr>
      </p:sp>
      <p:pic>
        <p:nvPicPr>
          <p:cNvPr id="23" name="Image 4" descr="りん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4552950"/>
            <a:ext cx="914400" cy="914400"/>
          </a:xfrm>
          <a:prstGeom prst="rect">
            <a:avLst/>
          </a:prstGeom>
        </p:spPr>
      </p:pic>
      <p:pic>
        <p:nvPicPr>
          <p:cNvPr id="24" name="Image 5" descr="りん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6900" y="4552950"/>
            <a:ext cx="914400" cy="91440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3048000" y="4619625"/>
            <a:ext cx="49625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Apples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are good for you.</a:t>
            </a:r>
          </a:p>
        </p:txBody>
      </p:sp>
      <p:sp>
        <p:nvSpPr>
          <p:cNvPr id="26" name=""/>
          <p:cNvSpPr txBox="1"/>
          <p:nvPr/>
        </p:nvSpPr>
        <p:spPr>
          <a:xfrm>
            <a:off x="3048000" y="5124450"/>
            <a:ext cx="2314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りんごは体にいい。</a:t>
            </a:r>
          </a:p>
        </p:txBody>
      </p:sp>
      <p:sp>
        <p:nvSpPr>
          <p:cNvPr id="27" name=""/>
          <p:cNvSpPr/>
          <p:nvPr/>
        </p:nvSpPr>
        <p:spPr>
          <a:xfrm>
            <a:off x="8362950" y="4591050"/>
            <a:ext cx="2857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8" name=""/>
          <p:cNvSpPr txBox="1"/>
          <p:nvPr/>
        </p:nvSpPr>
        <p:spPr>
          <a:xfrm>
            <a:off x="8553450" y="4733925"/>
            <a:ext cx="18002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りんご全般の話</a:t>
            </a:r>
          </a:p>
        </p:txBody>
      </p:sp>
      <p:sp>
        <p:nvSpPr>
          <p:cNvPr id="29" name=""/>
          <p:cNvSpPr txBox="1"/>
          <p:nvPr/>
        </p:nvSpPr>
        <p:spPr>
          <a:xfrm>
            <a:off x="8553450" y="5019675"/>
            <a:ext cx="28384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（特定のりんごではない）</a:t>
            </a:r>
          </a:p>
        </p:txBody>
      </p:sp>
      <p:sp>
        <p:nvSpPr>
          <p:cNvPr id="30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933450" y="5895975"/>
            <a:ext cx="15430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104900" y="5953125"/>
            <a:ext cx="1724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よくある間違い</a:t>
            </a:r>
          </a:p>
        </p:txBody>
      </p:sp>
      <p:sp>
        <p:nvSpPr>
          <p:cNvPr id="33" name=""/>
          <p:cNvSpPr txBox="1"/>
          <p:nvPr/>
        </p:nvSpPr>
        <p:spPr>
          <a:xfrm>
            <a:off x="2628900" y="5924550"/>
            <a:ext cx="85915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8A90A8"/>
                </a:solidFill>
                <a:latin typeface="DM Sans"/>
                <a:ea typeface="DM Sans"/>
              </a:rPr>
              <a:t>× I like dog. × I like a dog.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→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○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I like dogs.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（「〜が好き」は複数形で）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6010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2. まとめて指す名詞：英語で言うと？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6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3162300" y="2400300"/>
            <a:ext cx="56007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「オンラインで家具を買ったんだ」</a:t>
            </a:r>
          </a:p>
        </p:txBody>
      </p:sp>
      <p:sp>
        <p:nvSpPr>
          <p:cNvPr id="8" name=""/>
          <p:cNvSpPr txBox="1"/>
          <p:nvPr/>
        </p:nvSpPr>
        <p:spPr>
          <a:xfrm>
            <a:off x="3162300" y="321945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9" name=""/>
          <p:cNvSpPr/>
          <p:nvPr/>
        </p:nvSpPr>
        <p:spPr>
          <a:xfrm>
            <a:off x="5067300" y="31432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FFF8F5"/>
          </a:solidFill>
          <a:ln w="28575">
            <a:solidFill>
              <a:srgbClr val="F3A88F"/>
            </a:solidFill>
            <a:prstDash val="dash"/>
          </a:ln>
        </p:spPr>
      </p:sp>
      <p:sp>
        <p:nvSpPr>
          <p:cNvPr id="10" name=""/>
          <p:cNvSpPr txBox="1"/>
          <p:nvPr/>
        </p:nvSpPr>
        <p:spPr>
          <a:xfrm>
            <a:off x="6553200" y="3219450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furniture online.</a:t>
            </a:r>
          </a:p>
        </p:txBody>
      </p:sp>
      <p:sp>
        <p:nvSpPr>
          <p:cNvPr id="11" name=""/>
          <p:cNvSpPr/>
          <p:nvPr/>
        </p:nvSpPr>
        <p:spPr>
          <a:xfrm>
            <a:off x="6858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E8461E"/>
          </a:solidFill>
          <a:ln/>
        </p:spPr>
      </p:sp>
      <p:sp>
        <p:nvSpPr>
          <p:cNvPr id="12" name=""/>
          <p:cNvSpPr txBox="1"/>
          <p:nvPr/>
        </p:nvSpPr>
        <p:spPr>
          <a:xfrm>
            <a:off x="838200" y="5248275"/>
            <a:ext cx="61912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a</a:t>
            </a:r>
          </a:p>
        </p:txBody>
      </p:sp>
      <p:sp>
        <p:nvSpPr>
          <p:cNvPr id="13" name=""/>
          <p:cNvSpPr/>
          <p:nvPr/>
        </p:nvSpPr>
        <p:spPr>
          <a:xfrm>
            <a:off x="177165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2F86C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1676400" y="5248275"/>
            <a:ext cx="1095375" cy="5238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150" b="1">
                <a:solidFill>
                  <a:srgbClr val="FFFFFF"/>
                </a:solidFill>
                <a:latin typeface="DM Sans"/>
                <a:ea typeface="DM Sans"/>
              </a:rPr>
              <a:t>the</a:t>
            </a:r>
          </a:p>
        </p:txBody>
      </p:sp>
      <p:sp>
        <p:nvSpPr>
          <p:cNvPr id="15" name=""/>
          <p:cNvSpPr/>
          <p:nvPr/>
        </p:nvSpPr>
        <p:spPr>
          <a:xfrm>
            <a:off x="2857500" y="5048250"/>
            <a:ext cx="914400" cy="914400"/>
          </a:xfrm>
          <a:prstGeom prst="roundRect">
            <a:avLst>
              <a:gd name="adj" fmla="val 22917"/>
            </a:avLst>
          </a:prstGeom>
          <a:solidFill>
            <a:srgbClr val="9AA1B6"/>
          </a:solidFill>
          <a:ln/>
        </p:spPr>
      </p:sp>
      <p:sp>
        <p:nvSpPr>
          <p:cNvPr id="16" name=""/>
          <p:cNvSpPr txBox="1"/>
          <p:nvPr/>
        </p:nvSpPr>
        <p:spPr>
          <a:xfrm>
            <a:off x="2838450" y="53149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7" name=""/>
          <p:cNvSpPr txBox="1"/>
          <p:nvPr/>
        </p:nvSpPr>
        <p:spPr>
          <a:xfrm>
            <a:off x="4076700" y="531495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C2340"/>
                </a:solidFill>
                <a:latin typeface="Noto Sans JP"/>
                <a:ea typeface="Noto Sans JP"/>
              </a:rPr>
              <a:t>どれ？ 声に出して答えてみよう！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60107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2. まとめて指す名詞：英語で言うと？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10820400" cy="28575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pic>
        <p:nvPicPr>
          <p:cNvPr id="6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200275"/>
            <a:ext cx="1905000" cy="190500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3162300" y="2400300"/>
            <a:ext cx="56007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C2340"/>
                </a:solidFill>
                <a:latin typeface="Noto Sans JP"/>
                <a:ea typeface="Noto Sans JP"/>
              </a:rPr>
              <a:t>「オンラインで家具を買ったんだ」</a:t>
            </a:r>
          </a:p>
        </p:txBody>
      </p:sp>
      <p:sp>
        <p:nvSpPr>
          <p:cNvPr id="8" name=""/>
          <p:cNvSpPr txBox="1"/>
          <p:nvPr/>
        </p:nvSpPr>
        <p:spPr>
          <a:xfrm>
            <a:off x="3162300" y="3219450"/>
            <a:ext cx="2362200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I bought</a:t>
            </a:r>
          </a:p>
        </p:txBody>
      </p:sp>
      <p:sp>
        <p:nvSpPr>
          <p:cNvPr id="9" name=""/>
          <p:cNvSpPr/>
          <p:nvPr/>
        </p:nvSpPr>
        <p:spPr>
          <a:xfrm>
            <a:off x="5067300" y="3143250"/>
            <a:ext cx="1333500" cy="723900"/>
          </a:xfrm>
          <a:prstGeom prst="roundRect">
            <a:avLst>
              <a:gd name="adj" fmla="val 21053"/>
            </a:avLst>
          </a:prstGeom>
          <a:solidFill>
            <a:srgbClr val="9AA1B6"/>
          </a:solidFill>
          <a:ln/>
        </p:spPr>
      </p:sp>
      <p:sp>
        <p:nvSpPr>
          <p:cNvPr id="10" name=""/>
          <p:cNvSpPr txBox="1"/>
          <p:nvPr/>
        </p:nvSpPr>
        <p:spPr>
          <a:xfrm>
            <a:off x="5238750" y="3295650"/>
            <a:ext cx="10001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250" b="1">
                <a:solidFill>
                  <a:srgbClr val="FFFFFF"/>
                </a:solidFill>
                <a:latin typeface="Noto Sans JP"/>
                <a:ea typeface="Noto Sans JP"/>
              </a:rPr>
              <a:t>なし</a:t>
            </a:r>
          </a:p>
        </p:txBody>
      </p:sp>
      <p:sp>
        <p:nvSpPr>
          <p:cNvPr id="11" name=""/>
          <p:cNvSpPr txBox="1"/>
          <p:nvPr/>
        </p:nvSpPr>
        <p:spPr>
          <a:xfrm>
            <a:off x="6553200" y="3219450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450" b="1">
                <a:solidFill>
                  <a:srgbClr val="1C2340"/>
                </a:solidFill>
                <a:latin typeface="DM Sans"/>
                <a:ea typeface="DM Sans"/>
              </a:rPr>
              <a:t>furniture online.</a:t>
            </a:r>
          </a:p>
        </p:txBody>
      </p:sp>
      <p:sp>
        <p:nvSpPr>
          <p:cNvPr id="12" name=""/>
          <p:cNvSpPr/>
          <p:nvPr/>
        </p:nvSpPr>
        <p:spPr>
          <a:xfrm>
            <a:off x="685800" y="4791075"/>
            <a:ext cx="108204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/>
        </p:spPr>
      </p:sp>
      <p:sp>
        <p:nvSpPr>
          <p:cNvPr id="13" name=""/>
          <p:cNvSpPr/>
          <p:nvPr/>
        </p:nvSpPr>
        <p:spPr>
          <a:xfrm>
            <a:off x="990600" y="5086350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4" name=""/>
          <p:cNvSpPr txBox="1"/>
          <p:nvPr/>
        </p:nvSpPr>
        <p:spPr>
          <a:xfrm>
            <a:off x="1162050" y="51435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答え</a:t>
            </a:r>
          </a:p>
        </p:txBody>
      </p:sp>
      <p:sp>
        <p:nvSpPr>
          <p:cNvPr id="15" name=""/>
          <p:cNvSpPr txBox="1"/>
          <p:nvPr/>
        </p:nvSpPr>
        <p:spPr>
          <a:xfrm>
            <a:off x="1809750" y="5124450"/>
            <a:ext cx="3571875" cy="295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 b="1">
                <a:solidFill>
                  <a:srgbClr val="1C2340"/>
                </a:solidFill>
                <a:latin typeface="DM Sans"/>
                <a:ea typeface="DM Sans"/>
              </a:rPr>
              <a:t>I bought furniture online.</a:t>
            </a:r>
          </a:p>
        </p:txBody>
      </p:sp>
      <p:sp>
        <p:nvSpPr>
          <p:cNvPr id="16" name=""/>
          <p:cNvSpPr/>
          <p:nvPr/>
        </p:nvSpPr>
        <p:spPr>
          <a:xfrm>
            <a:off x="990600" y="5553075"/>
            <a:ext cx="685800" cy="371475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/>
        </p:spPr>
      </p:sp>
      <p:sp>
        <p:nvSpPr>
          <p:cNvPr id="17" name=""/>
          <p:cNvSpPr txBox="1"/>
          <p:nvPr/>
        </p:nvSpPr>
        <p:spPr>
          <a:xfrm>
            <a:off x="1162050" y="5610225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1F6FB2"/>
                </a:solidFill>
                <a:latin typeface="Noto Sans JP"/>
                <a:ea typeface="Noto Sans JP"/>
              </a:rPr>
              <a:t>理由</a:t>
            </a:r>
          </a:p>
        </p:txBody>
      </p:sp>
      <p:sp>
        <p:nvSpPr>
          <p:cNvPr id="18" name=""/>
          <p:cNvSpPr txBox="1"/>
          <p:nvPr/>
        </p:nvSpPr>
        <p:spPr>
          <a:xfrm>
            <a:off x="1809750" y="5572125"/>
            <a:ext cx="869632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800">
                <a:solidFill>
                  <a:srgbClr val="1C2340"/>
                </a:solidFill>
                <a:latin typeface="Noto Sans JP"/>
                <a:ea typeface="Noto Sans JP"/>
              </a:rPr>
              <a:t>家具は1つとは限らない（一発では分からない）→ 不特定なので</a:t>
            </a:r>
            <a:pPr/>
            <a:r>
              <a:rPr sz="1800" b="1">
                <a:solidFill>
                  <a:srgbClr val="1C2340"/>
                </a:solidFill>
                <a:latin typeface="Noto Sans JP"/>
                <a:ea typeface="Noto Sans JP"/>
              </a:rPr>
              <a:t>無冠詞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09823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furniture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は s がつかないけど、1つとは限らない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5048250" cy="447675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914400" y="2505075"/>
            <a:ext cx="2247900" cy="1400175"/>
          </a:xfrm>
          <a:prstGeom prst="roundRect">
            <a:avLst>
              <a:gd name="adj" fmla="val 12245"/>
            </a:avLst>
          </a:prstGeom>
          <a:solidFill>
            <a:srgbClr val="FFE8DC"/>
          </a:solidFill>
          <a:ln/>
        </p:spPr>
      </p:sp>
      <p:pic>
        <p:nvPicPr>
          <p:cNvPr id="8" name="Image 0" descr="い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562225"/>
            <a:ext cx="990600" cy="99060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781175" y="3552825"/>
            <a:ext cx="942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chair</a:t>
            </a:r>
          </a:p>
        </p:txBody>
      </p:sp>
      <p:sp>
        <p:nvSpPr>
          <p:cNvPr id="10" name=""/>
          <p:cNvSpPr/>
          <p:nvPr/>
        </p:nvSpPr>
        <p:spPr>
          <a:xfrm>
            <a:off x="3257550" y="2505075"/>
            <a:ext cx="2247900" cy="1400175"/>
          </a:xfrm>
          <a:prstGeom prst="roundRect">
            <a:avLst>
              <a:gd name="adj" fmla="val 12245"/>
            </a:avLst>
          </a:prstGeom>
          <a:solidFill>
            <a:srgbClr val="FFE8DC"/>
          </a:solidFill>
          <a:ln/>
        </p:spPr>
      </p:sp>
      <p:pic>
        <p:nvPicPr>
          <p:cNvPr id="11" name="Image 1" descr="テーブル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562225"/>
            <a:ext cx="990600" cy="990600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4124325" y="3552825"/>
            <a:ext cx="9429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table</a:t>
            </a:r>
          </a:p>
        </p:txBody>
      </p:sp>
      <p:sp>
        <p:nvSpPr>
          <p:cNvPr id="13" name=""/>
          <p:cNvSpPr/>
          <p:nvPr/>
        </p:nvSpPr>
        <p:spPr>
          <a:xfrm>
            <a:off x="914400" y="4000500"/>
            <a:ext cx="2247900" cy="1400175"/>
          </a:xfrm>
          <a:prstGeom prst="roundRect">
            <a:avLst>
              <a:gd name="adj" fmla="val 12245"/>
            </a:avLst>
          </a:prstGeom>
          <a:solidFill>
            <a:srgbClr val="FFE8DC"/>
          </a:solidFill>
          <a:ln/>
        </p:spPr>
      </p:sp>
      <p:pic>
        <p:nvPicPr>
          <p:cNvPr id="14" name="Image 2" descr="ベッ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4057650"/>
            <a:ext cx="990600" cy="9906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1847850" y="5048250"/>
            <a:ext cx="790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bed</a:t>
            </a:r>
          </a:p>
        </p:txBody>
      </p:sp>
      <p:sp>
        <p:nvSpPr>
          <p:cNvPr id="16" name=""/>
          <p:cNvSpPr/>
          <p:nvPr/>
        </p:nvSpPr>
        <p:spPr>
          <a:xfrm>
            <a:off x="3257550" y="4000500"/>
            <a:ext cx="2247900" cy="1400175"/>
          </a:xfrm>
          <a:prstGeom prst="roundRect">
            <a:avLst>
              <a:gd name="adj" fmla="val 12245"/>
            </a:avLst>
          </a:prstGeom>
          <a:solidFill>
            <a:srgbClr val="FFE8DC"/>
          </a:solidFill>
          <a:ln/>
        </p:spPr>
      </p:sp>
      <p:pic>
        <p:nvPicPr>
          <p:cNvPr id="17" name="Image 3" descr="ソファ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057650"/>
            <a:ext cx="990600" cy="9906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4162425" y="5048250"/>
            <a:ext cx="8477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sofa</a:t>
            </a:r>
          </a:p>
        </p:txBody>
      </p:sp>
      <p:sp>
        <p:nvSpPr>
          <p:cNvPr id="19" name=""/>
          <p:cNvSpPr txBox="1"/>
          <p:nvPr/>
        </p:nvSpPr>
        <p:spPr>
          <a:xfrm>
            <a:off x="1152525" y="5534025"/>
            <a:ext cx="41243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まとめて </a:t>
            </a:r>
            <a:pPr algn="ctr"/>
            <a:r>
              <a:rPr sz="22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furniture</a:t>
            </a:r>
            <a:pPr algn="ctr"/>
            <a:r>
              <a:rPr sz="1950" b="1">
                <a:solidFill>
                  <a:srgbClr val="1C2340"/>
                </a:solidFill>
                <a:latin typeface="Noto Sans JP"/>
                <a:ea typeface="Noto Sans JP"/>
              </a:rPr>
              <a:t>（家具）</a:t>
            </a:r>
          </a:p>
        </p:txBody>
      </p:sp>
      <p:sp>
        <p:nvSpPr>
          <p:cNvPr id="20" name=""/>
          <p:cNvSpPr/>
          <p:nvPr/>
        </p:nvSpPr>
        <p:spPr>
          <a:xfrm>
            <a:off x="5943600" y="1962150"/>
            <a:ext cx="5562600" cy="1419225"/>
          </a:xfrm>
          <a:prstGeom prst="roundRect">
            <a:avLst>
              <a:gd name="adj" fmla="val 18792"/>
            </a:avLst>
          </a:pr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6153150" y="2486025"/>
            <a:ext cx="361950" cy="3619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2" name=""/>
          <p:cNvSpPr txBox="1"/>
          <p:nvPr/>
        </p:nvSpPr>
        <p:spPr>
          <a:xfrm>
            <a:off x="6124575" y="2543175"/>
            <a:ext cx="4191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3" name=""/>
          <p:cNvSpPr txBox="1"/>
          <p:nvPr/>
        </p:nvSpPr>
        <p:spPr>
          <a:xfrm>
            <a:off x="6648450" y="2381250"/>
            <a:ext cx="2971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家具を</a:t>
            </a:r>
            <a:pPr/>
            <a:r>
              <a:rPr sz="1500" b="1">
                <a:solidFill>
                  <a:srgbClr val="1C2340"/>
                </a:solidFill>
                <a:latin typeface="Noto Sans JP"/>
                <a:ea typeface="Noto Sans JP"/>
              </a:rPr>
              <a:t>まとめて指す</a:t>
            </a:r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言葉。</a:t>
            </a:r>
          </a:p>
        </p:txBody>
      </p:sp>
      <p:sp>
        <p:nvSpPr>
          <p:cNvPr id="24" name=""/>
          <p:cNvSpPr txBox="1"/>
          <p:nvPr/>
        </p:nvSpPr>
        <p:spPr>
          <a:xfrm>
            <a:off x="6648450" y="2667000"/>
            <a:ext cx="50958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s はつかないけど、いくつかの家具のこともある</a:t>
            </a:r>
          </a:p>
        </p:txBody>
      </p:sp>
      <p:sp>
        <p:nvSpPr>
          <p:cNvPr id="25" name=""/>
          <p:cNvSpPr/>
          <p:nvPr/>
        </p:nvSpPr>
        <p:spPr>
          <a:xfrm>
            <a:off x="5943600" y="3495675"/>
            <a:ext cx="5562600" cy="1419225"/>
          </a:xfrm>
          <a:prstGeom prst="roundRect">
            <a:avLst>
              <a:gd name="adj" fmla="val 18792"/>
            </a:avLst>
          </a:pr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6153150" y="4019550"/>
            <a:ext cx="361950" cy="3619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6105525" y="4076700"/>
            <a:ext cx="466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28" name=""/>
          <p:cNvSpPr txBox="1"/>
          <p:nvPr/>
        </p:nvSpPr>
        <p:spPr>
          <a:xfrm>
            <a:off x="6648450" y="3905250"/>
            <a:ext cx="4676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数えられない名詞なので、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a</a:t>
            </a:r>
            <a:pPr/>
            <a:r>
              <a:rPr sz="1500" b="1">
                <a:solidFill>
                  <a:srgbClr val="1C2340"/>
                </a:solidFill>
                <a:latin typeface="Noto Sans JP"/>
                <a:ea typeface="Noto Sans JP"/>
              </a:rPr>
              <a:t> も </a:t>
            </a:r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s</a:t>
            </a:r>
            <a:pPr/>
            <a:r>
              <a:rPr sz="1500" b="1">
                <a:solidFill>
                  <a:srgbClr val="1C2340"/>
                </a:solidFill>
                <a:latin typeface="Noto Sans JP"/>
                <a:ea typeface="Noto Sans JP"/>
              </a:rPr>
              <a:t> もつけない</a:t>
            </a:r>
          </a:p>
        </p:txBody>
      </p:sp>
      <p:sp>
        <p:nvSpPr>
          <p:cNvPr id="29" name=""/>
          <p:cNvSpPr txBox="1"/>
          <p:nvPr/>
        </p:nvSpPr>
        <p:spPr>
          <a:xfrm>
            <a:off x="6648450" y="422910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8A90A8"/>
                </a:solidFill>
                <a:latin typeface="DM Sans"/>
                <a:ea typeface="DM Sans"/>
              </a:rPr>
              <a:t>× a furniture × furnitures</a:t>
            </a:r>
          </a:p>
        </p:txBody>
      </p:sp>
      <p:sp>
        <p:nvSpPr>
          <p:cNvPr id="30" name=""/>
          <p:cNvSpPr/>
          <p:nvPr/>
        </p:nvSpPr>
        <p:spPr>
          <a:xfrm>
            <a:off x="5943600" y="5019675"/>
            <a:ext cx="5562600" cy="1419225"/>
          </a:xfrm>
          <a:prstGeom prst="roundRect">
            <a:avLst>
              <a:gd name="adj" fmla="val 18792"/>
            </a:avLst>
          </a:pr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6153150" y="5553075"/>
            <a:ext cx="361950" cy="361950"/>
          </a:xfrm>
          <a:prstGeom prst="ellipse">
            <a:avLst/>
          </a:prstGeom>
          <a:solidFill>
            <a:srgbClr val="E8461E"/>
          </a:solidFill>
          <a:ln/>
        </p:spPr>
      </p:sp>
      <p:sp>
        <p:nvSpPr>
          <p:cNvPr id="32" name=""/>
          <p:cNvSpPr txBox="1"/>
          <p:nvPr/>
        </p:nvSpPr>
        <p:spPr>
          <a:xfrm>
            <a:off x="6105525" y="5600700"/>
            <a:ext cx="466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33" name=""/>
          <p:cNvSpPr txBox="1"/>
          <p:nvPr/>
        </p:nvSpPr>
        <p:spPr>
          <a:xfrm>
            <a:off x="6648450" y="5438775"/>
            <a:ext cx="26574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1点だけ言いたいときは</a:t>
            </a:r>
          </a:p>
        </p:txBody>
      </p:sp>
      <p:sp>
        <p:nvSpPr>
          <p:cNvPr id="34" name=""/>
          <p:cNvSpPr txBox="1"/>
          <p:nvPr/>
        </p:nvSpPr>
        <p:spPr>
          <a:xfrm>
            <a:off x="6648450" y="5724525"/>
            <a:ext cx="35814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1C2340"/>
                </a:solidFill>
                <a:latin typeface="DM Sans"/>
                <a:ea typeface="DM Sans"/>
              </a:rPr>
              <a:t>a piece of furniture</a:t>
            </a:r>
            <a:pPr/>
            <a:r>
              <a:rPr sz="1500">
                <a:solidFill>
                  <a:srgbClr val="1C2340"/>
                </a:solidFill>
                <a:latin typeface="Noto Sans JP"/>
                <a:ea typeface="Noto Sans JP"/>
              </a:rPr>
              <a:t>（家具1点）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7058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冠詞を変えると、意味が変わる</a:t>
            </a:r>
          </a:p>
        </p:txBody>
      </p:sp>
      <p:sp>
        <p:nvSpPr>
          <p:cNvPr id="6" name=""/>
          <p:cNvSpPr/>
          <p:nvPr/>
        </p:nvSpPr>
        <p:spPr>
          <a:xfrm>
            <a:off x="685800" y="196215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</p:spPr>
      </p:sp>
      <p:pic>
        <p:nvPicPr>
          <p:cNvPr id="7" name="Image 0" descr="家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66925"/>
            <a:ext cx="1181100" cy="1181100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2324100" y="2266950"/>
            <a:ext cx="506730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bought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furniture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online.</a:t>
            </a:r>
          </a:p>
        </p:txBody>
      </p:sp>
      <p:sp>
        <p:nvSpPr>
          <p:cNvPr id="9" name=""/>
          <p:cNvSpPr txBox="1"/>
          <p:nvPr/>
        </p:nvSpPr>
        <p:spPr>
          <a:xfrm>
            <a:off x="2324100" y="2771775"/>
            <a:ext cx="31908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オンラインで家具を買った。</a:t>
            </a:r>
          </a:p>
        </p:txBody>
      </p:sp>
      <p:sp>
        <p:nvSpPr>
          <p:cNvPr id="10" name=""/>
          <p:cNvSpPr/>
          <p:nvPr/>
        </p:nvSpPr>
        <p:spPr>
          <a:xfrm>
            <a:off x="7981950" y="224790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1" name=""/>
          <p:cNvSpPr txBox="1"/>
          <p:nvPr/>
        </p:nvSpPr>
        <p:spPr>
          <a:xfrm>
            <a:off x="8172450" y="2390775"/>
            <a:ext cx="15906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不特定の家具</a:t>
            </a:r>
          </a:p>
        </p:txBody>
      </p:sp>
      <p:sp>
        <p:nvSpPr>
          <p:cNvPr id="12" name=""/>
          <p:cNvSpPr txBox="1"/>
          <p:nvPr/>
        </p:nvSpPr>
        <p:spPr>
          <a:xfrm>
            <a:off x="8172450" y="2667000"/>
            <a:ext cx="23336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（1つとは限らない）</a:t>
            </a:r>
          </a:p>
        </p:txBody>
      </p:sp>
      <p:sp>
        <p:nvSpPr>
          <p:cNvPr id="13" name=""/>
          <p:cNvSpPr/>
          <p:nvPr/>
        </p:nvSpPr>
        <p:spPr>
          <a:xfrm>
            <a:off x="685800" y="350520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</p:spPr>
      </p:sp>
      <p:pic>
        <p:nvPicPr>
          <p:cNvPr id="14" name="Image 1" descr="家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609975"/>
            <a:ext cx="1181100" cy="11811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2324100" y="3810000"/>
            <a:ext cx="58007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bought </a:t>
            </a:r>
            <a:pPr/>
            <a:r>
              <a:rPr sz="27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furniture online.</a:t>
            </a:r>
          </a:p>
        </p:txBody>
      </p:sp>
      <p:sp>
        <p:nvSpPr>
          <p:cNvPr id="16" name=""/>
          <p:cNvSpPr txBox="1"/>
          <p:nvPr/>
        </p:nvSpPr>
        <p:spPr>
          <a:xfrm>
            <a:off x="2324100" y="4314825"/>
            <a:ext cx="36290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その家具をオンラインで買った。</a:t>
            </a:r>
          </a:p>
        </p:txBody>
      </p:sp>
      <p:sp>
        <p:nvSpPr>
          <p:cNvPr id="17" name=""/>
          <p:cNvSpPr/>
          <p:nvPr/>
        </p:nvSpPr>
        <p:spPr>
          <a:xfrm>
            <a:off x="7981950" y="379095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18" name=""/>
          <p:cNvSpPr txBox="1"/>
          <p:nvPr/>
        </p:nvSpPr>
        <p:spPr>
          <a:xfrm>
            <a:off x="8172450" y="3933825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話し手と聞き手が分かる</a:t>
            </a:r>
          </a:p>
        </p:txBody>
      </p:sp>
      <p:sp>
        <p:nvSpPr>
          <p:cNvPr id="19" name=""/>
          <p:cNvSpPr txBox="1"/>
          <p:nvPr/>
        </p:nvSpPr>
        <p:spPr>
          <a:xfrm>
            <a:off x="8172450" y="4210050"/>
            <a:ext cx="13811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特定の家具</a:t>
            </a:r>
          </a:p>
        </p:txBody>
      </p:sp>
      <p:sp>
        <p:nvSpPr>
          <p:cNvPr id="20" name=""/>
          <p:cNvSpPr/>
          <p:nvPr/>
        </p:nvSpPr>
        <p:spPr>
          <a:xfrm>
            <a:off x="685800" y="5048250"/>
            <a:ext cx="10820400" cy="1390650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/>
        </p:spPr>
      </p:sp>
      <p:pic>
        <p:nvPicPr>
          <p:cNvPr id="21" name="Image 2" descr="家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153025"/>
            <a:ext cx="1181100" cy="118110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2324100" y="5353050"/>
            <a:ext cx="56959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8A90A8"/>
                </a:solidFill>
                <a:latin typeface="DM Sans"/>
                <a:ea typeface="DM Sans"/>
              </a:rPr>
              <a:t>× I bought </a:t>
            </a:r>
            <a:pPr/>
            <a:r>
              <a:rPr sz="2700" b="1">
                <a:solidFill>
                  <a:srgbClr val="E8461E"/>
                </a:solidFill>
                <a:latin typeface="DM Sans"/>
                <a:ea typeface="DM Sans"/>
              </a:rPr>
              <a:t>a</a:t>
            </a:r>
            <a:pPr/>
            <a:r>
              <a:rPr sz="2700" b="1">
                <a:solidFill>
                  <a:srgbClr val="8A90A8"/>
                </a:solidFill>
                <a:latin typeface="DM Sans"/>
                <a:ea typeface="DM Sans"/>
              </a:rPr>
              <a:t> furniture online.</a:t>
            </a:r>
          </a:p>
        </p:txBody>
      </p:sp>
      <p:sp>
        <p:nvSpPr>
          <p:cNvPr id="23" name=""/>
          <p:cNvSpPr txBox="1"/>
          <p:nvPr/>
        </p:nvSpPr>
        <p:spPr>
          <a:xfrm>
            <a:off x="2324100" y="5857875"/>
            <a:ext cx="44196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1点なら </a:t>
            </a:r>
            <a:pPr/>
            <a:r>
              <a:rPr sz="1500" b="1">
                <a:solidFill>
                  <a:srgbClr val="4A5270"/>
                </a:solidFill>
                <a:latin typeface="DM Sans"/>
                <a:ea typeface="DM Sans"/>
              </a:rPr>
              <a:t>a piece of furniture</a:t>
            </a:r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（家具1点）</a:t>
            </a:r>
          </a:p>
        </p:txBody>
      </p:sp>
      <p:sp>
        <p:nvSpPr>
          <p:cNvPr id="24" name=""/>
          <p:cNvSpPr/>
          <p:nvPr/>
        </p:nvSpPr>
        <p:spPr>
          <a:xfrm>
            <a:off x="7981950" y="5334000"/>
            <a:ext cx="3238500" cy="828675"/>
          </a:xfrm>
          <a:prstGeom prst="roundRect">
            <a:avLst>
              <a:gd name="adj" fmla="val 18391"/>
            </a:avLst>
          </a:prstGeom>
          <a:solidFill>
            <a:srgbClr val="DDEFF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8172450" y="5476875"/>
            <a:ext cx="275272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furniture は数えられない</a:t>
            </a:r>
          </a:p>
        </p:txBody>
      </p:sp>
      <p:sp>
        <p:nvSpPr>
          <p:cNvPr id="26" name=""/>
          <p:cNvSpPr txBox="1"/>
          <p:nvPr/>
        </p:nvSpPr>
        <p:spPr>
          <a:xfrm>
            <a:off x="8172450" y="5753100"/>
            <a:ext cx="262890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>
                <a:solidFill>
                  <a:srgbClr val="1F4E79"/>
                </a:solidFill>
                <a:latin typeface="Noto Sans JP"/>
                <a:ea typeface="Noto Sans JP"/>
              </a:rPr>
              <a:t>名詞なので a はつけない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399097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furniture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の仲間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685925"/>
            <a:ext cx="101536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いくつかの物を「まとめて」指す名詞。どれも数えられない名詞なので、</a:t>
            </a:r>
            <a:pPr/>
            <a:r>
              <a:rPr sz="1650" b="1">
                <a:solidFill>
                  <a:srgbClr val="4A5270"/>
                </a:solidFill>
                <a:latin typeface="DM Sans"/>
                <a:ea typeface="DM Sans"/>
              </a:rPr>
              <a:t>a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も </a:t>
            </a:r>
            <a:pPr/>
            <a:r>
              <a:rPr sz="1650" b="1">
                <a:solidFill>
                  <a:srgbClr val="4A5270"/>
                </a:solidFill>
                <a:latin typeface="DM Sans"/>
                <a:ea typeface="DM Sans"/>
              </a:rPr>
              <a:t>s</a:t>
            </a:r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 もつけない</a:t>
            </a:r>
          </a:p>
        </p:txBody>
      </p:sp>
      <p:sp>
        <p:nvSpPr>
          <p:cNvPr id="6" name=""/>
          <p:cNvSpPr/>
          <p:nvPr/>
        </p:nvSpPr>
        <p:spPr>
          <a:xfrm>
            <a:off x="685800" y="2171700"/>
            <a:ext cx="3467100" cy="3343275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/>
        </p:spPr>
      </p:sp>
      <p:sp>
        <p:nvSpPr>
          <p:cNvPr id="7" name=""/>
          <p:cNvSpPr/>
          <p:nvPr/>
        </p:nvSpPr>
        <p:spPr>
          <a:xfrm>
            <a:off x="819150" y="2305050"/>
            <a:ext cx="3200400" cy="1476375"/>
          </a:xfrm>
          <a:prstGeom prst="roundRect">
            <a:avLst>
              <a:gd name="adj" fmla="val 11613"/>
            </a:avLst>
          </a:prstGeom>
          <a:solidFill>
            <a:srgbClr val="DDEFFC"/>
          </a:solidFill>
          <a:ln/>
        </p:spPr>
      </p:sp>
      <p:pic>
        <p:nvPicPr>
          <p:cNvPr id="8" name="Image 0" descr="荷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975" y="2333625"/>
            <a:ext cx="1428750" cy="1428750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800225" y="3876675"/>
            <a:ext cx="1771650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DM Sans"/>
                <a:ea typeface="DM Sans"/>
              </a:rPr>
              <a:t>luggage</a:t>
            </a:r>
          </a:p>
        </p:txBody>
      </p:sp>
      <p:sp>
        <p:nvSpPr>
          <p:cNvPr id="10" name=""/>
          <p:cNvSpPr txBox="1"/>
          <p:nvPr/>
        </p:nvSpPr>
        <p:spPr>
          <a:xfrm>
            <a:off x="1057275" y="4324350"/>
            <a:ext cx="34861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荷物（スーツケース・バッグなど）</a:t>
            </a:r>
          </a:p>
        </p:txBody>
      </p:sp>
      <p:sp>
        <p:nvSpPr>
          <p:cNvPr id="11" name=""/>
          <p:cNvSpPr/>
          <p:nvPr/>
        </p:nvSpPr>
        <p:spPr>
          <a:xfrm>
            <a:off x="819150" y="4686300"/>
            <a:ext cx="3200400" cy="657225"/>
          </a:xfrm>
          <a:prstGeom prst="roundRect">
            <a:avLst>
              <a:gd name="adj" fmla="val 20290"/>
            </a:avLst>
          </a:prstGeom>
          <a:solidFill>
            <a:srgbClr val="F5F8FC"/>
          </a:solidFill>
          <a:ln/>
        </p:spPr>
      </p:sp>
      <p:sp>
        <p:nvSpPr>
          <p:cNvPr id="12" name=""/>
          <p:cNvSpPr txBox="1"/>
          <p:nvPr/>
        </p:nvSpPr>
        <p:spPr>
          <a:xfrm>
            <a:off x="800100" y="4762500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I have too much </a:t>
            </a:r>
            <a:pPr algn="ctr"/>
            <a:r>
              <a:rPr sz="16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luggage</a:t>
            </a:r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3" name=""/>
          <p:cNvSpPr txBox="1"/>
          <p:nvPr/>
        </p:nvSpPr>
        <p:spPr>
          <a:xfrm>
            <a:off x="1543050" y="503872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荷物が多すぎる。</a:t>
            </a:r>
          </a:p>
        </p:txBody>
      </p:sp>
      <p:sp>
        <p:nvSpPr>
          <p:cNvPr id="14" name=""/>
          <p:cNvSpPr/>
          <p:nvPr/>
        </p:nvSpPr>
        <p:spPr>
          <a:xfrm>
            <a:off x="4362450" y="2171700"/>
            <a:ext cx="3467100" cy="3343275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/>
        </p:spPr>
      </p:sp>
      <p:sp>
        <p:nvSpPr>
          <p:cNvPr id="15" name=""/>
          <p:cNvSpPr/>
          <p:nvPr/>
        </p:nvSpPr>
        <p:spPr>
          <a:xfrm>
            <a:off x="4495800" y="2305050"/>
            <a:ext cx="3200400" cy="1476375"/>
          </a:xfrm>
          <a:prstGeom prst="roundRect">
            <a:avLst>
              <a:gd name="adj" fmla="val 11613"/>
            </a:avLst>
          </a:prstGeom>
          <a:solidFill>
            <a:srgbClr val="FFE4EC"/>
          </a:solidFill>
          <a:ln/>
        </p:spPr>
      </p:sp>
      <p:pic>
        <p:nvPicPr>
          <p:cNvPr id="16" name="Image 1" descr="アクセサリ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5" y="2333625"/>
            <a:ext cx="1428750" cy="1428750"/>
          </a:xfrm>
          <a:prstGeom prst="rect">
            <a:avLst/>
          </a:prstGeom>
        </p:spPr>
      </p:pic>
      <p:sp>
        <p:nvSpPr>
          <p:cNvPr id="17" name=""/>
          <p:cNvSpPr txBox="1"/>
          <p:nvPr/>
        </p:nvSpPr>
        <p:spPr>
          <a:xfrm>
            <a:off x="5524500" y="3876675"/>
            <a:ext cx="166687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DM Sans"/>
                <a:ea typeface="DM Sans"/>
              </a:rPr>
              <a:t>jewelry</a:t>
            </a:r>
          </a:p>
        </p:txBody>
      </p:sp>
      <p:sp>
        <p:nvSpPr>
          <p:cNvPr id="18" name=""/>
          <p:cNvSpPr txBox="1"/>
          <p:nvPr/>
        </p:nvSpPr>
        <p:spPr>
          <a:xfrm>
            <a:off x="4562475" y="4324350"/>
            <a:ext cx="38766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アクセサリー（指輪・ネックレスなど）</a:t>
            </a:r>
          </a:p>
        </p:txBody>
      </p:sp>
      <p:sp>
        <p:nvSpPr>
          <p:cNvPr id="19" name=""/>
          <p:cNvSpPr/>
          <p:nvPr/>
        </p:nvSpPr>
        <p:spPr>
          <a:xfrm>
            <a:off x="4495800" y="4686300"/>
            <a:ext cx="3200400" cy="657225"/>
          </a:xfrm>
          <a:prstGeom prst="roundRect">
            <a:avLst>
              <a:gd name="adj" fmla="val 20290"/>
            </a:avLst>
          </a:prstGeom>
          <a:solidFill>
            <a:srgbClr val="F5F8FC"/>
          </a:solidFill>
          <a:ln/>
        </p:spPr>
      </p:sp>
      <p:sp>
        <p:nvSpPr>
          <p:cNvPr id="20" name=""/>
          <p:cNvSpPr txBox="1"/>
          <p:nvPr/>
        </p:nvSpPr>
        <p:spPr>
          <a:xfrm>
            <a:off x="4895850" y="4762500"/>
            <a:ext cx="2390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She loves </a:t>
            </a:r>
            <a:pPr algn="ctr"/>
            <a:r>
              <a:rPr sz="16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jewelry</a:t>
            </a:r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1" name=""/>
          <p:cNvSpPr txBox="1"/>
          <p:nvPr/>
        </p:nvSpPr>
        <p:spPr>
          <a:xfrm>
            <a:off x="4543425" y="5038725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彼女はアクセサリーが大好きです。</a:t>
            </a:r>
          </a:p>
        </p:txBody>
      </p:sp>
      <p:sp>
        <p:nvSpPr>
          <p:cNvPr id="22" name=""/>
          <p:cNvSpPr/>
          <p:nvPr/>
        </p:nvSpPr>
        <p:spPr>
          <a:xfrm>
            <a:off x="8039100" y="2171700"/>
            <a:ext cx="3467100" cy="3343275"/>
          </a:xfrm>
          <a:prstGeom prst="roundRect">
            <a:avLst>
              <a:gd name="adj" fmla="val 7977"/>
            </a:avLst>
          </a:prstGeom>
          <a:solidFill>
            <a:srgbClr val="FFFFFF"/>
          </a:solidFill>
          <a:ln/>
        </p:spPr>
      </p:sp>
      <p:sp>
        <p:nvSpPr>
          <p:cNvPr id="23" name=""/>
          <p:cNvSpPr/>
          <p:nvPr/>
        </p:nvSpPr>
        <p:spPr>
          <a:xfrm>
            <a:off x="8172450" y="2305050"/>
            <a:ext cx="3200400" cy="1476375"/>
          </a:xfrm>
          <a:prstGeom prst="roundRect">
            <a:avLst>
              <a:gd name="adj" fmla="val 11613"/>
            </a:avLst>
          </a:prstGeom>
          <a:solidFill>
            <a:srgbClr val="FFF2C9"/>
          </a:solidFill>
          <a:ln/>
        </p:spPr>
      </p:sp>
      <p:pic>
        <p:nvPicPr>
          <p:cNvPr id="24" name="Image 2" descr="郵便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75" y="2333625"/>
            <a:ext cx="1428750" cy="1428750"/>
          </a:xfrm>
          <a:prstGeom prst="rect">
            <a:avLst/>
          </a:prstGeom>
        </p:spPr>
      </p:pic>
      <p:sp>
        <p:nvSpPr>
          <p:cNvPr id="25" name=""/>
          <p:cNvSpPr txBox="1"/>
          <p:nvPr/>
        </p:nvSpPr>
        <p:spPr>
          <a:xfrm>
            <a:off x="9439275" y="3876675"/>
            <a:ext cx="1114425" cy="4286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C2340"/>
                </a:solidFill>
                <a:latin typeface="DM Sans"/>
                <a:ea typeface="DM Sans"/>
              </a:rPr>
              <a:t>mail</a:t>
            </a:r>
          </a:p>
        </p:txBody>
      </p:sp>
      <p:sp>
        <p:nvSpPr>
          <p:cNvPr id="26" name=""/>
          <p:cNvSpPr txBox="1"/>
          <p:nvPr/>
        </p:nvSpPr>
        <p:spPr>
          <a:xfrm>
            <a:off x="8743950" y="4324350"/>
            <a:ext cx="27051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郵便物（手紙・小包など）</a:t>
            </a:r>
          </a:p>
        </p:txBody>
      </p:sp>
      <p:sp>
        <p:nvSpPr>
          <p:cNvPr id="27" name=""/>
          <p:cNvSpPr/>
          <p:nvPr/>
        </p:nvSpPr>
        <p:spPr>
          <a:xfrm>
            <a:off x="8172450" y="4686300"/>
            <a:ext cx="3200400" cy="657225"/>
          </a:xfrm>
          <a:prstGeom prst="roundRect">
            <a:avLst>
              <a:gd name="adj" fmla="val 20290"/>
            </a:avLst>
          </a:prstGeom>
          <a:solidFill>
            <a:srgbClr val="F5F8FC"/>
          </a:solidFill>
          <a:ln/>
        </p:spPr>
      </p:sp>
      <p:sp>
        <p:nvSpPr>
          <p:cNvPr id="28" name=""/>
          <p:cNvSpPr txBox="1"/>
          <p:nvPr/>
        </p:nvSpPr>
        <p:spPr>
          <a:xfrm>
            <a:off x="8686800" y="4762500"/>
            <a:ext cx="2171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I got </a:t>
            </a:r>
            <a:pPr algn="ctr"/>
            <a:r>
              <a:rPr sz="165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mail</a:t>
            </a:r>
            <a:pPr algn="ctr"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today.</a:t>
            </a:r>
          </a:p>
        </p:txBody>
      </p:sp>
      <p:sp>
        <p:nvSpPr>
          <p:cNvPr id="29" name=""/>
          <p:cNvSpPr txBox="1"/>
          <p:nvPr/>
        </p:nvSpPr>
        <p:spPr>
          <a:xfrm>
            <a:off x="8458200" y="503872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200">
                <a:solidFill>
                  <a:srgbClr val="4A5270"/>
                </a:solidFill>
                <a:latin typeface="Noto Sans JP"/>
                <a:ea typeface="Noto Sans JP"/>
              </a:rPr>
              <a:t>今日、郵便物が届きました。</a:t>
            </a:r>
          </a:p>
        </p:txBody>
      </p:sp>
      <p:sp>
        <p:nvSpPr>
          <p:cNvPr id="30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933450" y="5895975"/>
            <a:ext cx="1304925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104900" y="5953125"/>
            <a:ext cx="14478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1つだけなら</a:t>
            </a:r>
          </a:p>
        </p:txBody>
      </p:sp>
      <p:sp>
        <p:nvSpPr>
          <p:cNvPr id="33" name=""/>
          <p:cNvSpPr txBox="1"/>
          <p:nvPr/>
        </p:nvSpPr>
        <p:spPr>
          <a:xfrm>
            <a:off x="2390775" y="5962650"/>
            <a:ext cx="68865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a piece of luggage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a piece of jewelry </a:t>
            </a:r>
            <a:pPr/>
            <a:r>
              <a:rPr sz="1650" b="1">
                <a:solidFill>
                  <a:srgbClr val="1C2340"/>
                </a:solidFill>
                <a:latin typeface="Noto Sans JP"/>
                <a:ea typeface="Noto Sans JP"/>
              </a:rPr>
              <a:t>／</a:t>
            </a:r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 a piece of mail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1248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3. 固有名詞（人・都市・国・施設）</a:t>
            </a:r>
          </a:p>
        </p:txBody>
      </p:sp>
      <p:sp>
        <p:nvSpPr>
          <p:cNvPr id="5" name=""/>
          <p:cNvSpPr/>
          <p:nvPr/>
        </p:nvSpPr>
        <p:spPr>
          <a:xfrm>
            <a:off x="685800" y="1666875"/>
            <a:ext cx="9715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7250" y="1724025"/>
            <a:ext cx="10668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Japan</a:t>
            </a:r>
          </a:p>
        </p:txBody>
      </p:sp>
      <p:sp>
        <p:nvSpPr>
          <p:cNvPr id="7" name=""/>
          <p:cNvSpPr/>
          <p:nvPr/>
        </p:nvSpPr>
        <p:spPr>
          <a:xfrm>
            <a:off x="1752600" y="1666875"/>
            <a:ext cx="9334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"/>
          <p:cNvSpPr txBox="1"/>
          <p:nvPr/>
        </p:nvSpPr>
        <p:spPr>
          <a:xfrm>
            <a:off x="1924050" y="1724025"/>
            <a:ext cx="10191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Tokyo</a:t>
            </a:r>
          </a:p>
        </p:txBody>
      </p:sp>
      <p:sp>
        <p:nvSpPr>
          <p:cNvPr id="9" name=""/>
          <p:cNvSpPr/>
          <p:nvPr/>
        </p:nvSpPr>
        <p:spPr>
          <a:xfrm>
            <a:off x="2781300" y="1666875"/>
            <a:ext cx="1047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"/>
          <p:cNvSpPr txBox="1"/>
          <p:nvPr/>
        </p:nvSpPr>
        <p:spPr>
          <a:xfrm>
            <a:off x="2952750" y="1724025"/>
            <a:ext cx="11525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France</a:t>
            </a:r>
          </a:p>
        </p:txBody>
      </p:sp>
      <p:sp>
        <p:nvSpPr>
          <p:cNvPr id="11" name=""/>
          <p:cNvSpPr/>
          <p:nvPr/>
        </p:nvSpPr>
        <p:spPr>
          <a:xfrm>
            <a:off x="3924300" y="1666875"/>
            <a:ext cx="9144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"/>
          <p:cNvSpPr txBox="1"/>
          <p:nvPr/>
        </p:nvSpPr>
        <p:spPr>
          <a:xfrm>
            <a:off x="4095750" y="1724025"/>
            <a:ext cx="10001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Kyoto</a:t>
            </a:r>
          </a:p>
        </p:txBody>
      </p:sp>
      <p:sp>
        <p:nvSpPr>
          <p:cNvPr id="13" name=""/>
          <p:cNvSpPr/>
          <p:nvPr/>
        </p:nvSpPr>
        <p:spPr>
          <a:xfrm>
            <a:off x="4933950" y="1666875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"/>
          <p:cNvSpPr txBox="1"/>
          <p:nvPr/>
        </p:nvSpPr>
        <p:spPr>
          <a:xfrm>
            <a:off x="5105400" y="1724025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Disneyland</a:t>
            </a:r>
          </a:p>
        </p:txBody>
      </p:sp>
      <p:sp>
        <p:nvSpPr>
          <p:cNvPr id="15" name=""/>
          <p:cNvSpPr/>
          <p:nvPr/>
        </p:nvSpPr>
        <p:spPr>
          <a:xfrm>
            <a:off x="6515100" y="1666875"/>
            <a:ext cx="27813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"/>
          <p:cNvSpPr txBox="1"/>
          <p:nvPr/>
        </p:nvSpPr>
        <p:spPr>
          <a:xfrm>
            <a:off x="6686550" y="1724025"/>
            <a:ext cx="314325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 b="1">
                <a:solidFill>
                  <a:srgbClr val="1C2340"/>
                </a:solidFill>
                <a:latin typeface="DM Sans"/>
                <a:ea typeface="DM Sans"/>
              </a:rPr>
              <a:t>Universal Studios Japan</a:t>
            </a:r>
          </a:p>
        </p:txBody>
      </p:sp>
      <p:sp>
        <p:nvSpPr>
          <p:cNvPr id="17" name=""/>
          <p:cNvSpPr/>
          <p:nvPr/>
        </p:nvSpPr>
        <p:spPr>
          <a:xfrm>
            <a:off x="685800" y="2276475"/>
            <a:ext cx="10820400" cy="1285875"/>
          </a:xfrm>
          <a:prstGeom prst="roundRect">
            <a:avLst>
              <a:gd name="adj" fmla="val 20741"/>
            </a:avLst>
          </a:prstGeom>
          <a:solidFill>
            <a:srgbClr val="FFFFFF"/>
          </a:solidFill>
          <a:ln/>
        </p:spPr>
      </p:sp>
      <p:pic>
        <p:nvPicPr>
          <p:cNvPr id="18" name="Image 0" descr="京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333625"/>
            <a:ext cx="1181100" cy="1181100"/>
          </a:xfrm>
          <a:prstGeom prst="rect">
            <a:avLst/>
          </a:prstGeom>
        </p:spPr>
      </p:pic>
      <p:sp>
        <p:nvSpPr>
          <p:cNvPr id="19" name=""/>
          <p:cNvSpPr txBox="1"/>
          <p:nvPr/>
        </p:nvSpPr>
        <p:spPr>
          <a:xfrm>
            <a:off x="2324100" y="2533650"/>
            <a:ext cx="29146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live in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Kyoto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0" name=""/>
          <p:cNvSpPr txBox="1"/>
          <p:nvPr/>
        </p:nvSpPr>
        <p:spPr>
          <a:xfrm>
            <a:off x="2324100" y="3038475"/>
            <a:ext cx="29432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私は京都に住んでいます。</a:t>
            </a:r>
          </a:p>
        </p:txBody>
      </p:sp>
      <p:sp>
        <p:nvSpPr>
          <p:cNvPr id="21" name=""/>
          <p:cNvSpPr/>
          <p:nvPr/>
        </p:nvSpPr>
        <p:spPr>
          <a:xfrm>
            <a:off x="685800" y="3714750"/>
            <a:ext cx="10820400" cy="1285875"/>
          </a:xfrm>
          <a:prstGeom prst="roundRect">
            <a:avLst>
              <a:gd name="adj" fmla="val 20741"/>
            </a:avLst>
          </a:prstGeom>
          <a:solidFill>
            <a:srgbClr val="FFFFFF"/>
          </a:solidFill>
          <a:ln/>
        </p:spPr>
      </p:sp>
      <p:pic>
        <p:nvPicPr>
          <p:cNvPr id="22" name="Image 1" descr="東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771900"/>
            <a:ext cx="1181100" cy="1181100"/>
          </a:xfrm>
          <a:prstGeom prst="rect">
            <a:avLst/>
          </a:prstGeom>
        </p:spPr>
      </p:pic>
      <p:sp>
        <p:nvSpPr>
          <p:cNvPr id="23" name=""/>
          <p:cNvSpPr txBox="1"/>
          <p:nvPr/>
        </p:nvSpPr>
        <p:spPr>
          <a:xfrm>
            <a:off x="2324100" y="3971925"/>
            <a:ext cx="43338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want to go to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Tokyo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4" name=""/>
          <p:cNvSpPr txBox="1"/>
          <p:nvPr/>
        </p:nvSpPr>
        <p:spPr>
          <a:xfrm>
            <a:off x="2324100" y="4476750"/>
            <a:ext cx="25050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東京に行きたいです。</a:t>
            </a:r>
          </a:p>
        </p:txBody>
      </p:sp>
      <p:sp>
        <p:nvSpPr>
          <p:cNvPr id="25" name=""/>
          <p:cNvSpPr/>
          <p:nvPr/>
        </p:nvSpPr>
        <p:spPr>
          <a:xfrm>
            <a:off x="685800" y="5153025"/>
            <a:ext cx="10820400" cy="1285875"/>
          </a:xfrm>
          <a:prstGeom prst="roundRect">
            <a:avLst>
              <a:gd name="adj" fmla="val 20741"/>
            </a:avLst>
          </a:prstGeom>
          <a:solidFill>
            <a:srgbClr val="FFFFFF"/>
          </a:solidFill>
          <a:ln/>
        </p:spPr>
      </p:sp>
      <p:pic>
        <p:nvPicPr>
          <p:cNvPr id="26" name="Image 2" descr="遊園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5210175"/>
            <a:ext cx="1181100" cy="1181100"/>
          </a:xfrm>
          <a:prstGeom prst="rect">
            <a:avLst/>
          </a:prstGeom>
        </p:spPr>
      </p:pic>
      <p:sp>
        <p:nvSpPr>
          <p:cNvPr id="27" name=""/>
          <p:cNvSpPr txBox="1"/>
          <p:nvPr/>
        </p:nvSpPr>
        <p:spPr>
          <a:xfrm>
            <a:off x="2324100" y="5410200"/>
            <a:ext cx="433387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went to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Disneyland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28" name=""/>
          <p:cNvSpPr txBox="1"/>
          <p:nvPr/>
        </p:nvSpPr>
        <p:spPr>
          <a:xfrm>
            <a:off x="2324100" y="5915025"/>
            <a:ext cx="36195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ディズニーランドに行きました。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525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E8461E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1171575"/>
            <a:ext cx="113538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ただし、</a:t>
            </a:r>
            <a:pPr/>
            <a:r>
              <a:rPr sz="33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 が名前の一部になっているものもある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1924050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有名な建物・作品など</a:t>
            </a:r>
          </a:p>
        </p:txBody>
      </p:sp>
      <p:sp>
        <p:nvSpPr>
          <p:cNvPr id="7" name=""/>
          <p:cNvSpPr/>
          <p:nvPr/>
        </p:nvSpPr>
        <p:spPr>
          <a:xfrm>
            <a:off x="685800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8" name=""/>
          <p:cNvSpPr/>
          <p:nvPr/>
        </p:nvSpPr>
        <p:spPr>
          <a:xfrm>
            <a:off x="819150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E8DC"/>
          </a:solidFill>
          <a:ln/>
        </p:spPr>
      </p:sp>
      <p:pic>
        <p:nvPicPr>
          <p:cNvPr id="9" name="Image 0" descr="エッフェル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3048000"/>
            <a:ext cx="1619250" cy="1619250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457325" y="5324475"/>
            <a:ext cx="15335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Eiffel</a:t>
            </a:r>
          </a:p>
        </p:txBody>
      </p:sp>
      <p:sp>
        <p:nvSpPr>
          <p:cNvPr id="11" name=""/>
          <p:cNvSpPr txBox="1"/>
          <p:nvPr/>
        </p:nvSpPr>
        <p:spPr>
          <a:xfrm>
            <a:off x="1400175" y="5619750"/>
            <a:ext cx="11430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Tower</a:t>
            </a:r>
          </a:p>
        </p:txBody>
      </p:sp>
      <p:sp>
        <p:nvSpPr>
          <p:cNvPr id="12" name=""/>
          <p:cNvSpPr txBox="1"/>
          <p:nvPr/>
        </p:nvSpPr>
        <p:spPr>
          <a:xfrm>
            <a:off x="1457325" y="5981700"/>
            <a:ext cx="15240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エッフェル塔</a:t>
            </a:r>
          </a:p>
        </p:txBody>
      </p:sp>
      <p:sp>
        <p:nvSpPr>
          <p:cNvPr id="13" name=""/>
          <p:cNvSpPr/>
          <p:nvPr/>
        </p:nvSpPr>
        <p:spPr>
          <a:xfrm>
            <a:off x="3438525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3571875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DDEFFC"/>
          </a:solidFill>
          <a:ln/>
        </p:spPr>
      </p:sp>
      <p:pic>
        <p:nvPicPr>
          <p:cNvPr id="15" name="Image 1" descr="自由の女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3048000"/>
            <a:ext cx="1619250" cy="1619250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4105275" y="5324475"/>
            <a:ext cx="17526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Statue</a:t>
            </a:r>
          </a:p>
        </p:txBody>
      </p:sp>
      <p:sp>
        <p:nvSpPr>
          <p:cNvPr id="17" name=""/>
          <p:cNvSpPr txBox="1"/>
          <p:nvPr/>
        </p:nvSpPr>
        <p:spPr>
          <a:xfrm>
            <a:off x="3905250" y="5619750"/>
            <a:ext cx="1638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of Liberty</a:t>
            </a:r>
          </a:p>
        </p:txBody>
      </p:sp>
      <p:sp>
        <p:nvSpPr>
          <p:cNvPr id="18" name=""/>
          <p:cNvSpPr txBox="1"/>
          <p:nvPr/>
        </p:nvSpPr>
        <p:spPr>
          <a:xfrm>
            <a:off x="4295775" y="598170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自由の女神</a:t>
            </a:r>
          </a:p>
        </p:txBody>
      </p:sp>
      <p:sp>
        <p:nvSpPr>
          <p:cNvPr id="19" name=""/>
          <p:cNvSpPr/>
          <p:nvPr/>
        </p:nvSpPr>
        <p:spPr>
          <a:xfrm>
            <a:off x="6181725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6315075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F2C9"/>
          </a:solidFill>
          <a:ln/>
        </p:spPr>
      </p:sp>
      <p:pic>
        <p:nvPicPr>
          <p:cNvPr id="21" name="Image 2" descr="エンパイア・ステート・ビル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3048000"/>
            <a:ext cx="1619250" cy="1619250"/>
          </a:xfrm>
          <a:prstGeom prst="rect">
            <a:avLst/>
          </a:prstGeom>
        </p:spPr>
      </p:pic>
      <p:sp>
        <p:nvSpPr>
          <p:cNvPr id="22" name=""/>
          <p:cNvSpPr txBox="1"/>
          <p:nvPr/>
        </p:nvSpPr>
        <p:spPr>
          <a:xfrm>
            <a:off x="6562725" y="5324475"/>
            <a:ext cx="18097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Empire</a:t>
            </a:r>
          </a:p>
        </p:txBody>
      </p:sp>
      <p:sp>
        <p:nvSpPr>
          <p:cNvPr id="23" name=""/>
          <p:cNvSpPr txBox="1"/>
          <p:nvPr/>
        </p:nvSpPr>
        <p:spPr>
          <a:xfrm>
            <a:off x="6657975" y="5619750"/>
            <a:ext cx="22193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State Building</a:t>
            </a:r>
          </a:p>
        </p:txBody>
      </p:sp>
      <p:sp>
        <p:nvSpPr>
          <p:cNvPr id="24" name=""/>
          <p:cNvSpPr txBox="1"/>
          <p:nvPr/>
        </p:nvSpPr>
        <p:spPr>
          <a:xfrm>
            <a:off x="6353175" y="5981700"/>
            <a:ext cx="29051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エンパイア・ステート・ビル</a:t>
            </a:r>
          </a:p>
        </p:txBody>
      </p:sp>
      <p:sp>
        <p:nvSpPr>
          <p:cNvPr id="25" name=""/>
          <p:cNvSpPr/>
          <p:nvPr/>
        </p:nvSpPr>
        <p:spPr>
          <a:xfrm>
            <a:off x="8934450" y="2400300"/>
            <a:ext cx="2581275" cy="4038600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/>
        </p:spPr>
      </p:sp>
      <p:sp>
        <p:nvSpPr>
          <p:cNvPr id="26" name=""/>
          <p:cNvSpPr/>
          <p:nvPr/>
        </p:nvSpPr>
        <p:spPr>
          <a:xfrm>
            <a:off x="9067800" y="2533650"/>
            <a:ext cx="2314575" cy="2638425"/>
          </a:xfrm>
          <a:prstGeom prst="roundRect">
            <a:avLst>
              <a:gd name="adj" fmla="val 7407"/>
            </a:avLst>
          </a:prstGeom>
          <a:solidFill>
            <a:srgbClr val="FFE4EC"/>
          </a:solidFill>
          <a:ln/>
        </p:spPr>
      </p:sp>
      <p:pic>
        <p:nvPicPr>
          <p:cNvPr id="27" name="Image 3" descr="モナ・リザ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0700" y="3048000"/>
            <a:ext cx="1619250" cy="1619250"/>
          </a:xfrm>
          <a:prstGeom prst="rect">
            <a:avLst/>
          </a:prstGeom>
        </p:spPr>
      </p:pic>
      <p:sp>
        <p:nvSpPr>
          <p:cNvPr id="28" name=""/>
          <p:cNvSpPr txBox="1"/>
          <p:nvPr/>
        </p:nvSpPr>
        <p:spPr>
          <a:xfrm>
            <a:off x="9677400" y="5324475"/>
            <a:ext cx="15906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 Mona</a:t>
            </a:r>
          </a:p>
        </p:txBody>
      </p:sp>
      <p:sp>
        <p:nvSpPr>
          <p:cNvPr id="29" name=""/>
          <p:cNvSpPr txBox="1"/>
          <p:nvPr/>
        </p:nvSpPr>
        <p:spPr>
          <a:xfrm>
            <a:off x="9782175" y="5619750"/>
            <a:ext cx="876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1C2340"/>
                </a:solidFill>
                <a:latin typeface="DM Sans"/>
                <a:ea typeface="DM Sans"/>
              </a:rPr>
              <a:t>Lisa</a:t>
            </a:r>
          </a:p>
        </p:txBody>
      </p:sp>
      <p:sp>
        <p:nvSpPr>
          <p:cNvPr id="30" name=""/>
          <p:cNvSpPr txBox="1"/>
          <p:nvPr/>
        </p:nvSpPr>
        <p:spPr>
          <a:xfrm>
            <a:off x="9791700" y="598170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>
                <a:solidFill>
                  <a:srgbClr val="4A5270"/>
                </a:solidFill>
                <a:latin typeface="Noto Sans JP"/>
                <a:ea typeface="Noto Sans JP"/>
              </a:rPr>
              <a:t>モナ・リザ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7210425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4. 言語（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English / Japanese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）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10820400" cy="18002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pic>
        <p:nvPicPr>
          <p:cNvPr id="6" name="Image 0" descr="英語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000250"/>
            <a:ext cx="1333500" cy="133350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476500" y="2238375"/>
            <a:ext cx="46958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I'm studying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English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8" name=""/>
          <p:cNvSpPr txBox="1"/>
          <p:nvPr/>
        </p:nvSpPr>
        <p:spPr>
          <a:xfrm>
            <a:off x="2476500" y="2790825"/>
            <a:ext cx="34385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私は英語を勉強しています。</a:t>
            </a:r>
          </a:p>
        </p:txBody>
      </p:sp>
      <p:sp>
        <p:nvSpPr>
          <p:cNvPr id="9" name=""/>
          <p:cNvSpPr/>
          <p:nvPr/>
        </p:nvSpPr>
        <p:spPr>
          <a:xfrm>
            <a:off x="685800" y="3714750"/>
            <a:ext cx="10820400" cy="18002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pic>
        <p:nvPicPr>
          <p:cNvPr id="10" name="Image 1" descr="日本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952875"/>
            <a:ext cx="1333500" cy="1333500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2476500" y="4191000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I speak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Japanese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.</a:t>
            </a:r>
          </a:p>
        </p:txBody>
      </p:sp>
      <p:sp>
        <p:nvSpPr>
          <p:cNvPr id="12" name=""/>
          <p:cNvSpPr txBox="1"/>
          <p:nvPr/>
        </p:nvSpPr>
        <p:spPr>
          <a:xfrm>
            <a:off x="2476500" y="474345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私は日本語を話します。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4" name=""/>
          <p:cNvSpPr/>
          <p:nvPr/>
        </p:nvSpPr>
        <p:spPr>
          <a:xfrm>
            <a:off x="933450" y="5895975"/>
            <a:ext cx="102870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1104900" y="5953125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ポイント</a:t>
            </a:r>
          </a:p>
        </p:txBody>
      </p:sp>
      <p:sp>
        <p:nvSpPr>
          <p:cNvPr id="16" name=""/>
          <p:cNvSpPr txBox="1"/>
          <p:nvPr/>
        </p:nvSpPr>
        <p:spPr>
          <a:xfrm>
            <a:off x="2114550" y="5924550"/>
            <a:ext cx="49149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言語の名前には、</a:t>
            </a:r>
            <a:pPr/>
            <a:r>
              <a:rPr sz="1650" b="1">
                <a:solidFill>
                  <a:srgbClr val="E8461E"/>
                </a:solidFill>
                <a:latin typeface="DM Sans"/>
                <a:ea typeface="DM Sans"/>
              </a:rPr>
              <a:t>a / an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も </a:t>
            </a:r>
            <a:pPr/>
            <a:r>
              <a:rPr sz="1650" b="1">
                <a:solidFill>
                  <a:srgbClr val="2F86CF"/>
                </a:solidFill>
                <a:latin typeface="DM Sans"/>
                <a:ea typeface="DM Sans"/>
              </a:rPr>
              <a:t>the</a:t>
            </a:r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 もつけない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8801100" cy="619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5. 食事（</a:t>
            </a:r>
            <a:pPr/>
            <a:r>
              <a:rPr sz="3300" b="1">
                <a:solidFill>
                  <a:srgbClr val="1C2340"/>
                </a:solidFill>
                <a:latin typeface="DM Sans"/>
                <a:ea typeface="DM Sans"/>
              </a:rPr>
              <a:t>breakfast / lunch / dinner</a:t>
            </a:r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）</a:t>
            </a:r>
          </a:p>
        </p:txBody>
      </p:sp>
      <p:sp>
        <p:nvSpPr>
          <p:cNvPr id="5" name=""/>
          <p:cNvSpPr/>
          <p:nvPr/>
        </p:nvSpPr>
        <p:spPr>
          <a:xfrm>
            <a:off x="685800" y="1762125"/>
            <a:ext cx="10820400" cy="1152525"/>
          </a:xfrm>
          <a:prstGeom prst="roundRect">
            <a:avLst>
              <a:gd name="adj" fmla="val 23140"/>
            </a:avLst>
          </a:prstGeom>
          <a:solidFill>
            <a:srgbClr val="FFFFFF"/>
          </a:solidFill>
          <a:ln/>
        </p:spPr>
      </p:sp>
      <p:pic>
        <p:nvPicPr>
          <p:cNvPr id="6" name="Image 0" descr="朝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857375"/>
            <a:ext cx="952500" cy="95250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095500" y="1943100"/>
            <a:ext cx="50006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I had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breakfast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at seven.</a:t>
            </a:r>
          </a:p>
        </p:txBody>
      </p:sp>
      <p:sp>
        <p:nvSpPr>
          <p:cNvPr id="8" name=""/>
          <p:cNvSpPr txBox="1"/>
          <p:nvPr/>
        </p:nvSpPr>
        <p:spPr>
          <a:xfrm>
            <a:off x="2095500" y="2447925"/>
            <a:ext cx="3314700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7時に朝ごはんを食べました。</a:t>
            </a:r>
          </a:p>
        </p:txBody>
      </p:sp>
      <p:sp>
        <p:nvSpPr>
          <p:cNvPr id="9" name=""/>
          <p:cNvSpPr/>
          <p:nvPr/>
        </p:nvSpPr>
        <p:spPr>
          <a:xfrm>
            <a:off x="685800" y="3067050"/>
            <a:ext cx="10820400" cy="1152525"/>
          </a:xfrm>
          <a:prstGeom prst="roundRect">
            <a:avLst>
              <a:gd name="adj" fmla="val 23140"/>
            </a:avLst>
          </a:prstGeom>
          <a:solidFill>
            <a:srgbClr val="FFFFFF"/>
          </a:solidFill>
          <a:ln/>
        </p:spPr>
      </p:sp>
      <p:pic>
        <p:nvPicPr>
          <p:cNvPr id="10" name="Image 1" descr="昼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162300"/>
            <a:ext cx="952500" cy="952500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2095500" y="3248025"/>
            <a:ext cx="5229225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Let's have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lunch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 together.</a:t>
            </a:r>
          </a:p>
        </p:txBody>
      </p:sp>
      <p:sp>
        <p:nvSpPr>
          <p:cNvPr id="12" name=""/>
          <p:cNvSpPr txBox="1"/>
          <p:nvPr/>
        </p:nvSpPr>
        <p:spPr>
          <a:xfrm>
            <a:off x="2095500" y="3752850"/>
            <a:ext cx="34004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一緒にお昼ごはんを食べよう。</a:t>
            </a:r>
          </a:p>
        </p:txBody>
      </p:sp>
      <p:sp>
        <p:nvSpPr>
          <p:cNvPr id="13" name=""/>
          <p:cNvSpPr/>
          <p:nvPr/>
        </p:nvSpPr>
        <p:spPr>
          <a:xfrm>
            <a:off x="685800" y="4362450"/>
            <a:ext cx="10820400" cy="1152525"/>
          </a:xfrm>
          <a:prstGeom prst="roundRect">
            <a:avLst>
              <a:gd name="adj" fmla="val 23140"/>
            </a:avLst>
          </a:prstGeom>
          <a:solidFill>
            <a:srgbClr val="FFFFFF"/>
          </a:solidFill>
          <a:ln/>
        </p:spPr>
      </p:sp>
      <p:pic>
        <p:nvPicPr>
          <p:cNvPr id="14" name="Image 2" descr="夕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4467225"/>
            <a:ext cx="952500" cy="952500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2095500" y="4552950"/>
            <a:ext cx="3829050" cy="447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What's for </a:t>
            </a:r>
            <a:pPr/>
            <a:r>
              <a:rPr sz="27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dinner</a:t>
            </a:r>
            <a:pPr/>
            <a:r>
              <a:rPr sz="2700" b="1">
                <a:solidFill>
                  <a:srgbClr val="1C2340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6" name=""/>
          <p:cNvSpPr txBox="1"/>
          <p:nvPr/>
        </p:nvSpPr>
        <p:spPr>
          <a:xfrm>
            <a:off x="2095500" y="5057775"/>
            <a:ext cx="18764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>
                <a:solidFill>
                  <a:srgbClr val="4A5270"/>
                </a:solidFill>
                <a:latin typeface="Noto Sans JP"/>
                <a:ea typeface="Noto Sans JP"/>
              </a:rPr>
              <a:t>夕ごはんは何？</a:t>
            </a:r>
          </a:p>
        </p:txBody>
      </p:sp>
      <p:sp>
        <p:nvSpPr>
          <p:cNvPr id="17" name=""/>
          <p:cNvSpPr/>
          <p:nvPr/>
        </p:nvSpPr>
        <p:spPr>
          <a:xfrm>
            <a:off x="685800" y="5724525"/>
            <a:ext cx="10820400" cy="71437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933450" y="5895975"/>
            <a:ext cx="1352550" cy="371475"/>
          </a:xfrm>
          <a:prstGeom prst="roundRect">
            <a:avLst>
              <a:gd name="adj" fmla="val 50000"/>
            </a:avLst>
          </a:prstGeom>
          <a:solidFill>
            <a:srgbClr val="FFE3D8"/>
          </a:solidFill>
          <a:ln/>
        </p:spPr>
      </p:sp>
      <p:sp>
        <p:nvSpPr>
          <p:cNvPr id="19" name=""/>
          <p:cNvSpPr txBox="1"/>
          <p:nvPr/>
        </p:nvSpPr>
        <p:spPr>
          <a:xfrm>
            <a:off x="1104900" y="5953125"/>
            <a:ext cx="15049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8401A"/>
                </a:solidFill>
                <a:latin typeface="Noto Sans JP"/>
                <a:ea typeface="Noto Sans JP"/>
              </a:rPr>
              <a:t>覚えておこう</a:t>
            </a:r>
          </a:p>
        </p:txBody>
      </p:sp>
      <p:sp>
        <p:nvSpPr>
          <p:cNvPr id="20" name=""/>
          <p:cNvSpPr txBox="1"/>
          <p:nvPr/>
        </p:nvSpPr>
        <p:spPr>
          <a:xfrm>
            <a:off x="2438400" y="5934075"/>
            <a:ext cx="420052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1C2340"/>
                </a:solidFill>
                <a:latin typeface="Noto Sans JP"/>
                <a:ea typeface="Noto Sans JP"/>
              </a:rPr>
              <a:t>朝食・昼食・夕食は、基本は無冠詞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685800" y="219075"/>
            <a:ext cx="2190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>
                <a:solidFill>
                  <a:srgbClr val="4A5270"/>
                </a:solidFill>
                <a:latin typeface="Noto Sans JP"/>
                <a:ea typeface="Noto Sans JP"/>
              </a:rPr>
              <a:t>文法解説 / 冠詞 Part 3</a:t>
            </a:r>
          </a:p>
        </p:txBody>
      </p:sp>
      <p:sp>
        <p:nvSpPr>
          <p:cNvPr id="3" name="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solid"/>
          </a:ln>
        </p:spPr>
      </p:sp>
      <p:sp>
        <p:nvSpPr>
          <p:cNvPr id="4" name=""/>
          <p:cNvSpPr txBox="1"/>
          <p:nvPr/>
        </p:nvSpPr>
        <p:spPr>
          <a:xfrm>
            <a:off x="685800" y="93345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1C2340"/>
                </a:solidFill>
                <a:latin typeface="Noto Sans JP"/>
                <a:ea typeface="Noto Sans JP"/>
              </a:rPr>
              <a:t>6. 祝日・ホリデー</a:t>
            </a:r>
          </a:p>
        </p:txBody>
      </p:sp>
      <p:sp>
        <p:nvSpPr>
          <p:cNvPr id="5" name=""/>
          <p:cNvSpPr/>
          <p:nvPr/>
        </p:nvSpPr>
        <p:spPr>
          <a:xfrm>
            <a:off x="685800" y="1724025"/>
            <a:ext cx="10820400" cy="2276475"/>
          </a:xfrm>
          <a:prstGeom prst="roundRect">
            <a:avLst>
              <a:gd name="adj" fmla="val 11715"/>
            </a:avLst>
          </a:prstGeom>
          <a:solidFill>
            <a:srgbClr val="FFFFFF"/>
          </a:solidFill>
          <a:ln/>
        </p:spPr>
      </p:sp>
      <p:pic>
        <p:nvPicPr>
          <p:cNvPr id="6" name="Image 0" descr="ハロウィ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2200275"/>
            <a:ext cx="1333500" cy="1333500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476500" y="2438400"/>
            <a:ext cx="95535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What are you dressing up as for </a:t>
            </a:r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Halloween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8" name=""/>
          <p:cNvSpPr txBox="1"/>
          <p:nvPr/>
        </p:nvSpPr>
        <p:spPr>
          <a:xfrm>
            <a:off x="2476500" y="2990850"/>
            <a:ext cx="39624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ハロウィンはどんな仮装をする？</a:t>
            </a:r>
          </a:p>
        </p:txBody>
      </p:sp>
      <p:sp>
        <p:nvSpPr>
          <p:cNvPr id="9" name=""/>
          <p:cNvSpPr/>
          <p:nvPr/>
        </p:nvSpPr>
        <p:spPr>
          <a:xfrm>
            <a:off x="685800" y="4162425"/>
            <a:ext cx="10820400" cy="2276475"/>
          </a:xfrm>
          <a:prstGeom prst="roundRect">
            <a:avLst>
              <a:gd name="adj" fmla="val 11715"/>
            </a:avLst>
          </a:prstGeom>
          <a:solidFill>
            <a:srgbClr val="FFFFFF"/>
          </a:solidFill>
          <a:ln/>
        </p:spPr>
      </p:sp>
      <p:pic>
        <p:nvPicPr>
          <p:cNvPr id="10" name="Image 1" descr="クリスマ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4629150"/>
            <a:ext cx="1333500" cy="1333500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2476500" y="4867275"/>
            <a:ext cx="72771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C2340"/>
                </a:solidFill>
                <a:highlight>
                  <a:srgbClr val="FFD9C9"/>
                </a:highlight>
                <a:latin typeface="DM Sans"/>
                <a:ea typeface="DM Sans"/>
              </a:rPr>
              <a:t>Christmas</a:t>
            </a:r>
            <a:pPr/>
            <a:r>
              <a:rPr sz="3000" b="1">
                <a:solidFill>
                  <a:srgbClr val="1C2340"/>
                </a:solidFill>
                <a:latin typeface="DM Sans"/>
                <a:ea typeface="DM Sans"/>
              </a:rPr>
              <a:t> is my favorite holiday!</a:t>
            </a:r>
          </a:p>
        </p:txBody>
      </p:sp>
      <p:sp>
        <p:nvSpPr>
          <p:cNvPr id="12" name=""/>
          <p:cNvSpPr txBox="1"/>
          <p:nvPr/>
        </p:nvSpPr>
        <p:spPr>
          <a:xfrm>
            <a:off x="2476500" y="5419725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">
                <a:solidFill>
                  <a:srgbClr val="4A5270"/>
                </a:solidFill>
                <a:latin typeface="Noto Sans JP"/>
                <a:ea typeface="Noto Sans JP"/>
              </a:rPr>
              <a:t>クリスマスは私の一番好きなホリデーです！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