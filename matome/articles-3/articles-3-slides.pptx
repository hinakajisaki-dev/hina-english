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3" Type="http://schemas.openxmlformats.org/officeDocument/2006/relationships/presProps" Target="presProps.xml"/><Relationship Id="rId25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1.png"/><Relationship Id="rId5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3.png"/><Relationship Id="rId4" Type="http://schemas.openxmlformats.org/officeDocument/2006/relationships/image" Target="../media/image-5-3.png"/><Relationship Id="rId5" Type="http://schemas.openxmlformats.org/officeDocument/2006/relationships/image" Target="../media/image-5-5.png"/><Relationship Id="rId6" Type="http://schemas.openxmlformats.org/officeDocument/2006/relationships/image" Target="../media/image-5-5.png"/><Relationship Id="rId7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3.png"/><Relationship Id="rId4" Type="http://schemas.openxmlformats.org/officeDocument/2006/relationships/image" Target="../media/image-6-1.png"/><Relationship Id="rId5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FFDCCB"/>
          </a:solidFill>
          <a:ln/>
        </p:spPr>
      </p:sp>
      <p:sp>
        <p:nvSpPr>
          <p:cNvPr id="3" name=""/>
          <p:cNvSpPr txBox="1"/>
          <p:nvPr/>
        </p:nvSpPr>
        <p:spPr>
          <a:xfrm>
            <a:off x="1181100" y="1962150"/>
            <a:ext cx="207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文法解説動画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2076450"/>
            <a:ext cx="6819900" cy="2314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600" b="1">
                <a:solidFill>
                  <a:srgbClr val="1C2340"/>
                </a:solidFill>
                <a:latin typeface="Noto Sans JP"/>
                <a:ea typeface="Noto Sans JP"/>
              </a:rPr>
              <a:t>冠詞 </a:t>
            </a:r>
            <a:pPr/>
            <a:r>
              <a:rPr sz="5700" b="1">
                <a:solidFill>
                  <a:srgbClr val="E8461E"/>
                </a:solidFill>
                <a:latin typeface="DM Sans"/>
                <a:ea typeface="DM Sans"/>
              </a:rPr>
              <a:t>Part 3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4210050"/>
            <a:ext cx="8534400" cy="685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C2340"/>
                </a:solidFill>
                <a:latin typeface="Noto Sans JP"/>
                <a:ea typeface="Noto Sans JP"/>
              </a:rPr>
              <a:t>無冠詞：冠詞をつけないパターン</a:t>
            </a:r>
          </a:p>
        </p:txBody>
      </p:sp>
      <p:pic>
        <p:nvPicPr>
          <p:cNvPr id="6" name="Image 0" descr="/home/user/hina-english/matom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5533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冠詞をつけないパターン：無冠詞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647825"/>
            <a:ext cx="92678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これまでは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 と </a:t>
            </a:r>
            <a:pPr/>
            <a:r>
              <a:rPr sz="1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 をつけるパターン。今回は「どちらもつけない」パターン</a:t>
            </a:r>
          </a:p>
        </p:txBody>
      </p:sp>
      <p:sp>
        <p:nvSpPr>
          <p:cNvPr id="6" name=""/>
          <p:cNvSpPr/>
          <p:nvPr/>
        </p:nvSpPr>
        <p:spPr>
          <a:xfrm>
            <a:off x="685800" y="2152650"/>
            <a:ext cx="3467100" cy="428625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</p:spPr>
      </p:sp>
      <p:sp>
        <p:nvSpPr>
          <p:cNvPr id="7" name=""/>
          <p:cNvSpPr/>
          <p:nvPr/>
        </p:nvSpPr>
        <p:spPr>
          <a:xfrm>
            <a:off x="1857375" y="2381250"/>
            <a:ext cx="1123950" cy="609600"/>
          </a:xfrm>
          <a:prstGeom prst="roundRect">
            <a:avLst>
              <a:gd name="adj" fmla="val 28125"/>
            </a:avLst>
          </a:prstGeom>
          <a:solidFill>
            <a:srgbClr val="E8461E"/>
          </a:solidFill>
          <a:ln/>
        </p:spPr>
      </p:sp>
      <p:sp>
        <p:nvSpPr>
          <p:cNvPr id="8" name=""/>
          <p:cNvSpPr txBox="1"/>
          <p:nvPr/>
        </p:nvSpPr>
        <p:spPr>
          <a:xfrm>
            <a:off x="2028825" y="2505075"/>
            <a:ext cx="1238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FFFFF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9" name=""/>
          <p:cNvSpPr txBox="1"/>
          <p:nvPr/>
        </p:nvSpPr>
        <p:spPr>
          <a:xfrm>
            <a:off x="2047875" y="3067050"/>
            <a:ext cx="1209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1つの〜</a:t>
            </a:r>
          </a:p>
        </p:txBody>
      </p:sp>
      <p:pic>
        <p:nvPicPr>
          <p:cNvPr id="10" name="Image 0" descr="映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850" y="4000500"/>
            <a:ext cx="1143000" cy="114300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1771650" y="5762625"/>
            <a:ext cx="18288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movie</a:t>
            </a:r>
          </a:p>
        </p:txBody>
      </p:sp>
      <p:sp>
        <p:nvSpPr>
          <p:cNvPr id="12" name=""/>
          <p:cNvSpPr/>
          <p:nvPr/>
        </p:nvSpPr>
        <p:spPr>
          <a:xfrm>
            <a:off x="4362450" y="2152650"/>
            <a:ext cx="3467100" cy="428625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5686425" y="2381250"/>
            <a:ext cx="819150" cy="609600"/>
          </a:xfrm>
          <a:prstGeom prst="roundRect">
            <a:avLst>
              <a:gd name="adj" fmla="val 28125"/>
            </a:avLst>
          </a:prstGeom>
          <a:solidFill>
            <a:srgbClr val="2F86C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5857875" y="2505075"/>
            <a:ext cx="8953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5" name=""/>
          <p:cNvSpPr txBox="1"/>
          <p:nvPr/>
        </p:nvSpPr>
        <p:spPr>
          <a:xfrm>
            <a:off x="5781675" y="3067050"/>
            <a:ext cx="1066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それ！</a:t>
            </a:r>
          </a:p>
        </p:txBody>
      </p:sp>
      <p:sp>
        <p:nvSpPr>
          <p:cNvPr id="16" name=""/>
          <p:cNvSpPr/>
          <p:nvPr/>
        </p:nvSpPr>
        <p:spPr>
          <a:xfrm>
            <a:off x="5429250" y="3905250"/>
            <a:ext cx="1333500" cy="1333500"/>
          </a:xfrm>
          <a:prstGeom prst="ellipse">
            <a:avLst/>
          </a:prstGeom>
          <a:solidFill>
            <a:srgbClr val="DDEFFC"/>
          </a:solidFill>
          <a:ln w="38100">
            <a:solidFill>
              <a:srgbClr val="2F86CF"/>
            </a:solidFill>
            <a:prstDash val="solid"/>
          </a:ln>
        </p:spPr>
      </p:sp>
      <p:pic>
        <p:nvPicPr>
          <p:cNvPr id="17" name="Image 1" descr="映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4076700"/>
            <a:ext cx="990600" cy="990600"/>
          </a:xfrm>
          <a:prstGeom prst="rect">
            <a:avLst/>
          </a:prstGeom>
        </p:spPr>
      </p:pic>
      <p:sp>
        <p:nvSpPr>
          <p:cNvPr id="18" name=""/>
          <p:cNvSpPr/>
          <p:nvPr/>
        </p:nvSpPr>
        <p:spPr>
          <a:xfrm>
            <a:off x="5734050" y="501015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5610225" y="5038725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それ！</a:t>
            </a:r>
          </a:p>
        </p:txBody>
      </p:sp>
      <p:sp>
        <p:nvSpPr>
          <p:cNvPr id="20" name=""/>
          <p:cNvSpPr txBox="1"/>
          <p:nvPr/>
        </p:nvSpPr>
        <p:spPr>
          <a:xfrm>
            <a:off x="5267325" y="5762625"/>
            <a:ext cx="22479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movie</a:t>
            </a:r>
          </a:p>
        </p:txBody>
      </p:sp>
      <p:sp>
        <p:nvSpPr>
          <p:cNvPr id="21" name=""/>
          <p:cNvSpPr/>
          <p:nvPr/>
        </p:nvSpPr>
        <p:spPr>
          <a:xfrm>
            <a:off x="8039100" y="2152650"/>
            <a:ext cx="3467100" cy="428625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38100">
            <a:solidFill>
              <a:srgbClr val="E8461E"/>
            </a:solidFill>
            <a:prstDash val="solid"/>
          </a:ln>
        </p:spPr>
      </p:sp>
      <p:sp>
        <p:nvSpPr>
          <p:cNvPr id="22" name=""/>
          <p:cNvSpPr/>
          <p:nvPr/>
        </p:nvSpPr>
        <p:spPr>
          <a:xfrm>
            <a:off x="9334500" y="2419350"/>
            <a:ext cx="876300" cy="609600"/>
          </a:xfrm>
          <a:prstGeom prst="roundRect">
            <a:avLst>
              <a:gd name="adj" fmla="val 28125"/>
            </a:avLst>
          </a:prstGeom>
          <a:solidFill>
            <a:srgbClr val="9AA1B6"/>
          </a:solidFill>
          <a:ln/>
        </p:spPr>
      </p:sp>
      <p:sp>
        <p:nvSpPr>
          <p:cNvPr id="23" name=""/>
          <p:cNvSpPr txBox="1"/>
          <p:nvPr/>
        </p:nvSpPr>
        <p:spPr>
          <a:xfrm>
            <a:off x="9505950" y="2533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4" name=""/>
          <p:cNvSpPr txBox="1"/>
          <p:nvPr/>
        </p:nvSpPr>
        <p:spPr>
          <a:xfrm>
            <a:off x="8524875" y="3105150"/>
            <a:ext cx="3219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どちらもつけない＝</a:t>
            </a:r>
            <a:pPr/>
            <a:r>
              <a:rPr sz="165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無冠詞</a:t>
            </a:r>
          </a:p>
        </p:txBody>
      </p:sp>
      <p:pic>
        <p:nvPicPr>
          <p:cNvPr id="25" name="Image 2" descr="映画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1075" y="4000500"/>
            <a:ext cx="1143000" cy="1143000"/>
          </a:xfrm>
          <a:prstGeom prst="rect">
            <a:avLst/>
          </a:prstGeom>
        </p:spPr>
      </p:pic>
      <p:pic>
        <p:nvPicPr>
          <p:cNvPr id="26" name="Image 3" descr="映画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1225" y="4000500"/>
            <a:ext cx="1143000" cy="114300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9172575" y="5724525"/>
            <a:ext cx="17240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movies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68675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無冠詞になる、6つのパターン</a:t>
            </a:r>
          </a:p>
        </p:txBody>
      </p:sp>
      <p:sp>
        <p:nvSpPr>
          <p:cNvPr id="5" name=""/>
          <p:cNvSpPr/>
          <p:nvPr/>
        </p:nvSpPr>
        <p:spPr>
          <a:xfrm>
            <a:off x="685800" y="1685925"/>
            <a:ext cx="3505200" cy="2295525"/>
          </a:xfrm>
          <a:prstGeom prst="roundRect">
            <a:avLst>
              <a:gd name="adj" fmla="val 11618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819150" y="181927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781050" y="1876425"/>
            <a:ext cx="4095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pic>
        <p:nvPicPr>
          <p:cNvPr id="8" name="Image 0" descr="映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2362200"/>
            <a:ext cx="952500" cy="9525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2057400" y="2524125"/>
            <a:ext cx="14382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複数名詞</a:t>
            </a:r>
          </a:p>
        </p:txBody>
      </p:sp>
      <p:sp>
        <p:nvSpPr>
          <p:cNvPr id="10" name=""/>
          <p:cNvSpPr txBox="1"/>
          <p:nvPr/>
        </p:nvSpPr>
        <p:spPr>
          <a:xfrm>
            <a:off x="2057400" y="2876550"/>
            <a:ext cx="1114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movies</a:t>
            </a:r>
          </a:p>
        </p:txBody>
      </p:sp>
      <p:sp>
        <p:nvSpPr>
          <p:cNvPr id="11" name=""/>
          <p:cNvSpPr/>
          <p:nvPr/>
        </p:nvSpPr>
        <p:spPr>
          <a:xfrm>
            <a:off x="4343400" y="1685925"/>
            <a:ext cx="3505200" cy="2295525"/>
          </a:xfrm>
          <a:prstGeom prst="roundRect">
            <a:avLst>
              <a:gd name="adj" fmla="val 11618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4476750" y="181927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4410075" y="1876425"/>
            <a:ext cx="4572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pic>
        <p:nvPicPr>
          <p:cNvPr id="14" name="Image 1" descr="音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0100" y="2362200"/>
            <a:ext cx="952500" cy="9525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5715000" y="2524125"/>
            <a:ext cx="25336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6" name=""/>
          <p:cNvSpPr txBox="1"/>
          <p:nvPr/>
        </p:nvSpPr>
        <p:spPr>
          <a:xfrm>
            <a:off x="5715000" y="2876550"/>
            <a:ext cx="21240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music / furniture</a:t>
            </a:r>
          </a:p>
        </p:txBody>
      </p:sp>
      <p:sp>
        <p:nvSpPr>
          <p:cNvPr id="17" name=""/>
          <p:cNvSpPr/>
          <p:nvPr/>
        </p:nvSpPr>
        <p:spPr>
          <a:xfrm>
            <a:off x="8001000" y="1685925"/>
            <a:ext cx="3505200" cy="2295525"/>
          </a:xfrm>
          <a:prstGeom prst="roundRect">
            <a:avLst>
              <a:gd name="adj" fmla="val 11618"/>
            </a:avLst>
          </a:pr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8134350" y="181927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9" name=""/>
          <p:cNvSpPr txBox="1"/>
          <p:nvPr/>
        </p:nvSpPr>
        <p:spPr>
          <a:xfrm>
            <a:off x="8067675" y="1876425"/>
            <a:ext cx="4572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pic>
        <p:nvPicPr>
          <p:cNvPr id="20" name="Image 2" descr="鳥居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700" y="2362200"/>
            <a:ext cx="952500" cy="95250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9372600" y="2524125"/>
            <a:ext cx="14382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固有名詞</a:t>
            </a:r>
          </a:p>
        </p:txBody>
      </p:sp>
      <p:sp>
        <p:nvSpPr>
          <p:cNvPr id="22" name=""/>
          <p:cNvSpPr txBox="1"/>
          <p:nvPr/>
        </p:nvSpPr>
        <p:spPr>
          <a:xfrm>
            <a:off x="9372600" y="2876550"/>
            <a:ext cx="952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Kyoto</a:t>
            </a:r>
          </a:p>
        </p:txBody>
      </p:sp>
      <p:sp>
        <p:nvSpPr>
          <p:cNvPr id="23" name=""/>
          <p:cNvSpPr/>
          <p:nvPr/>
        </p:nvSpPr>
        <p:spPr>
          <a:xfrm>
            <a:off x="685800" y="4143375"/>
            <a:ext cx="3505200" cy="2295525"/>
          </a:xfrm>
          <a:prstGeom prst="roundRect">
            <a:avLst>
              <a:gd name="adj" fmla="val 11618"/>
            </a:avLst>
          </a:prstGeom>
          <a:solidFill>
            <a:srgbClr val="FFFFFF"/>
          </a:solidFill>
          <a:ln/>
        </p:spPr>
      </p:sp>
      <p:sp>
        <p:nvSpPr>
          <p:cNvPr id="24" name=""/>
          <p:cNvSpPr/>
          <p:nvPr/>
        </p:nvSpPr>
        <p:spPr>
          <a:xfrm>
            <a:off x="819150" y="427672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5" name=""/>
          <p:cNvSpPr txBox="1"/>
          <p:nvPr/>
        </p:nvSpPr>
        <p:spPr>
          <a:xfrm>
            <a:off x="752475" y="43338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pic>
        <p:nvPicPr>
          <p:cNvPr id="26" name="Image 3" descr="英語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4810125"/>
            <a:ext cx="952500" cy="95250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2057400" y="4981575"/>
            <a:ext cx="8953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言語</a:t>
            </a:r>
          </a:p>
        </p:txBody>
      </p:sp>
      <p:sp>
        <p:nvSpPr>
          <p:cNvPr id="28" name=""/>
          <p:cNvSpPr txBox="1"/>
          <p:nvPr/>
        </p:nvSpPr>
        <p:spPr>
          <a:xfrm>
            <a:off x="2057400" y="5334000"/>
            <a:ext cx="10953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English</a:t>
            </a:r>
          </a:p>
        </p:txBody>
      </p:sp>
      <p:sp>
        <p:nvSpPr>
          <p:cNvPr id="29" name=""/>
          <p:cNvSpPr/>
          <p:nvPr/>
        </p:nvSpPr>
        <p:spPr>
          <a:xfrm>
            <a:off x="4343400" y="4143375"/>
            <a:ext cx="3505200" cy="2295525"/>
          </a:xfrm>
          <a:prstGeom prst="roundRect">
            <a:avLst>
              <a:gd name="adj" fmla="val 11618"/>
            </a:avLst>
          </a:prstGeom>
          <a:solidFill>
            <a:srgbClr val="FFFFFF"/>
          </a:solidFill>
          <a:ln/>
        </p:spPr>
      </p:sp>
      <p:sp>
        <p:nvSpPr>
          <p:cNvPr id="30" name=""/>
          <p:cNvSpPr/>
          <p:nvPr/>
        </p:nvSpPr>
        <p:spPr>
          <a:xfrm>
            <a:off x="4476750" y="427672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1" name=""/>
          <p:cNvSpPr txBox="1"/>
          <p:nvPr/>
        </p:nvSpPr>
        <p:spPr>
          <a:xfrm>
            <a:off x="4410075" y="43338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5</a:t>
            </a:r>
          </a:p>
        </p:txBody>
      </p:sp>
      <p:pic>
        <p:nvPicPr>
          <p:cNvPr id="32" name="Image 4" descr="朝食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0100" y="4810125"/>
            <a:ext cx="952500" cy="952500"/>
          </a:xfrm>
          <a:prstGeom prst="rect">
            <a:avLst/>
          </a:prstGeom>
        </p:spPr>
      </p:pic>
      <p:sp>
        <p:nvSpPr>
          <p:cNvPr id="33" name=""/>
          <p:cNvSpPr txBox="1"/>
          <p:nvPr/>
        </p:nvSpPr>
        <p:spPr>
          <a:xfrm>
            <a:off x="5715000" y="4981575"/>
            <a:ext cx="8953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食事</a:t>
            </a:r>
          </a:p>
        </p:txBody>
      </p:sp>
      <p:sp>
        <p:nvSpPr>
          <p:cNvPr id="34" name=""/>
          <p:cNvSpPr txBox="1"/>
          <p:nvPr/>
        </p:nvSpPr>
        <p:spPr>
          <a:xfrm>
            <a:off x="5715000" y="5334000"/>
            <a:ext cx="13906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breakfast</a:t>
            </a:r>
          </a:p>
        </p:txBody>
      </p:sp>
      <p:sp>
        <p:nvSpPr>
          <p:cNvPr id="35" name=""/>
          <p:cNvSpPr/>
          <p:nvPr/>
        </p:nvSpPr>
        <p:spPr>
          <a:xfrm>
            <a:off x="8001000" y="4143375"/>
            <a:ext cx="3505200" cy="2295525"/>
          </a:xfrm>
          <a:prstGeom prst="roundRect">
            <a:avLst>
              <a:gd name="adj" fmla="val 11618"/>
            </a:avLst>
          </a:pr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8134350" y="4276725"/>
            <a:ext cx="323850" cy="3238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7" name=""/>
          <p:cNvSpPr txBox="1"/>
          <p:nvPr/>
        </p:nvSpPr>
        <p:spPr>
          <a:xfrm>
            <a:off x="8067675" y="4333875"/>
            <a:ext cx="46672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6</a:t>
            </a:r>
          </a:p>
        </p:txBody>
      </p:sp>
      <p:pic>
        <p:nvPicPr>
          <p:cNvPr id="38" name="Image 5" descr="ハロウィン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7700" y="4810125"/>
            <a:ext cx="952500" cy="952500"/>
          </a:xfrm>
          <a:prstGeom prst="rect">
            <a:avLst/>
          </a:prstGeom>
        </p:spPr>
      </p:pic>
      <p:sp>
        <p:nvSpPr>
          <p:cNvPr id="39" name=""/>
          <p:cNvSpPr txBox="1"/>
          <p:nvPr/>
        </p:nvSpPr>
        <p:spPr>
          <a:xfrm>
            <a:off x="9372600" y="4981575"/>
            <a:ext cx="225742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祝日・ホリデー</a:t>
            </a:r>
          </a:p>
        </p:txBody>
      </p:sp>
      <p:sp>
        <p:nvSpPr>
          <p:cNvPr id="40" name=""/>
          <p:cNvSpPr txBox="1"/>
          <p:nvPr/>
        </p:nvSpPr>
        <p:spPr>
          <a:xfrm>
            <a:off x="9372600" y="5334000"/>
            <a:ext cx="14382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Halloween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81248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1. 複数名詞で「〜全般」を言うとき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5286375" cy="3790950"/>
          </a:xfrm>
          <a:prstGeom prst="roundRect">
            <a:avLst>
              <a:gd name="adj" fmla="val 7035"/>
            </a:avLst>
          </a:prstGeom>
          <a:solidFill>
            <a:srgbClr val="FFE8DC"/>
          </a:solidFill>
          <a:ln/>
        </p:spPr>
      </p:sp>
      <p:sp>
        <p:nvSpPr>
          <p:cNvPr id="6" name=""/>
          <p:cNvSpPr/>
          <p:nvPr/>
        </p:nvSpPr>
        <p:spPr>
          <a:xfrm>
            <a:off x="971550" y="1933575"/>
            <a:ext cx="61912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7" name=""/>
          <p:cNvSpPr txBox="1"/>
          <p:nvPr/>
        </p:nvSpPr>
        <p:spPr>
          <a:xfrm>
            <a:off x="1143000" y="1990725"/>
            <a:ext cx="6572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1つ</a:t>
            </a:r>
          </a:p>
        </p:txBody>
      </p:sp>
      <p:pic>
        <p:nvPicPr>
          <p:cNvPr id="8" name="Image 0" descr="映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4625" y="2381250"/>
            <a:ext cx="1238250" cy="123825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971550" y="3695700"/>
            <a:ext cx="48482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watched </a:t>
            </a:r>
            <a:pPr/>
            <a:r>
              <a:rPr sz="22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movie last night.</a:t>
            </a:r>
          </a:p>
        </p:txBody>
      </p:sp>
      <p:sp>
        <p:nvSpPr>
          <p:cNvPr id="10" name=""/>
          <p:cNvSpPr txBox="1"/>
          <p:nvPr/>
        </p:nvSpPr>
        <p:spPr>
          <a:xfrm>
            <a:off x="971550" y="4143375"/>
            <a:ext cx="3048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昨日の夜、映画を観ました。</a:t>
            </a:r>
          </a:p>
        </p:txBody>
      </p:sp>
      <p:sp>
        <p:nvSpPr>
          <p:cNvPr id="11" name=""/>
          <p:cNvSpPr/>
          <p:nvPr/>
        </p:nvSpPr>
        <p:spPr>
          <a:xfrm>
            <a:off x="971550" y="4819650"/>
            <a:ext cx="4714875" cy="485775"/>
          </a:xfrm>
          <a:prstGeom prst="roundRect">
            <a:avLst>
              <a:gd name="adj" fmla="val 27451"/>
            </a:avLst>
          </a:prstGeom>
          <a:solidFill>
            <a:srgbClr val="FFFFF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143000" y="4914900"/>
            <a:ext cx="3600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「1つの映画」と分かる →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3" name=""/>
          <p:cNvSpPr/>
          <p:nvPr/>
        </p:nvSpPr>
        <p:spPr>
          <a:xfrm>
            <a:off x="6219825" y="1724025"/>
            <a:ext cx="5286375" cy="3790950"/>
          </a:xfrm>
          <a:prstGeom prst="roundRect">
            <a:avLst>
              <a:gd name="adj" fmla="val 7035"/>
            </a:avLst>
          </a:prstGeom>
          <a:solidFill>
            <a:srgbClr val="DDEFFC"/>
          </a:solidFill>
          <a:ln/>
        </p:spPr>
      </p:sp>
      <p:sp>
        <p:nvSpPr>
          <p:cNvPr id="14" name=""/>
          <p:cNvSpPr/>
          <p:nvPr/>
        </p:nvSpPr>
        <p:spPr>
          <a:xfrm>
            <a:off x="6505575" y="19335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5" name=""/>
          <p:cNvSpPr txBox="1"/>
          <p:nvPr/>
        </p:nvSpPr>
        <p:spPr>
          <a:xfrm>
            <a:off x="6677025" y="19907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複数</a:t>
            </a:r>
          </a:p>
        </p:txBody>
      </p:sp>
      <p:pic>
        <p:nvPicPr>
          <p:cNvPr id="16" name="Image 1" descr="映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0950" y="2381250"/>
            <a:ext cx="1238250" cy="1238250"/>
          </a:xfrm>
          <a:prstGeom prst="rect">
            <a:avLst/>
          </a:prstGeom>
        </p:spPr>
      </p:pic>
      <p:pic>
        <p:nvPicPr>
          <p:cNvPr id="17" name="Image 2" descr="映画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6350" y="2381250"/>
            <a:ext cx="1238250" cy="1238250"/>
          </a:xfrm>
          <a:prstGeom prst="rect">
            <a:avLst/>
          </a:prstGeom>
        </p:spPr>
      </p:pic>
      <p:sp>
        <p:nvSpPr>
          <p:cNvPr id="18" name=""/>
          <p:cNvSpPr txBox="1"/>
          <p:nvPr/>
        </p:nvSpPr>
        <p:spPr>
          <a:xfrm>
            <a:off x="6505575" y="3695700"/>
            <a:ext cx="23431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22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movies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9" name=""/>
          <p:cNvSpPr txBox="1"/>
          <p:nvPr/>
        </p:nvSpPr>
        <p:spPr>
          <a:xfrm>
            <a:off x="6505575" y="4143375"/>
            <a:ext cx="24003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私は映画が好きです。</a:t>
            </a:r>
          </a:p>
        </p:txBody>
      </p:sp>
      <p:sp>
        <p:nvSpPr>
          <p:cNvPr id="20" name=""/>
          <p:cNvSpPr/>
          <p:nvPr/>
        </p:nvSpPr>
        <p:spPr>
          <a:xfrm>
            <a:off x="6505575" y="4829175"/>
            <a:ext cx="4714875" cy="47625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sp>
        <p:nvSpPr>
          <p:cNvPr id="21" name=""/>
          <p:cNvSpPr txBox="1"/>
          <p:nvPr/>
        </p:nvSpPr>
        <p:spPr>
          <a:xfrm>
            <a:off x="6677025" y="4924425"/>
            <a:ext cx="33337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映画全般の話 → 冠詞なし</a:t>
            </a:r>
          </a:p>
        </p:txBody>
      </p:sp>
      <p:sp>
        <p:nvSpPr>
          <p:cNvPr id="22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23" name=""/>
          <p:cNvSpPr/>
          <p:nvPr/>
        </p:nvSpPr>
        <p:spPr>
          <a:xfrm>
            <a:off x="933450" y="58959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24" name=""/>
          <p:cNvSpPr txBox="1"/>
          <p:nvPr/>
        </p:nvSpPr>
        <p:spPr>
          <a:xfrm>
            <a:off x="1104900" y="59531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25" name=""/>
          <p:cNvSpPr txBox="1"/>
          <p:nvPr/>
        </p:nvSpPr>
        <p:spPr>
          <a:xfrm>
            <a:off x="2114550" y="5924550"/>
            <a:ext cx="59912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は「1つ」のときだけ。複数名詞にはつけない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2385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複数名詞の例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647825"/>
            <a:ext cx="90201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特定のものではなく「〜というもの全般」の話をするときは、複数形で冠詞なし</a:t>
            </a:r>
          </a:p>
        </p:txBody>
      </p:sp>
      <p:sp>
        <p:nvSpPr>
          <p:cNvPr id="6" name=""/>
          <p:cNvSpPr/>
          <p:nvPr/>
        </p:nvSpPr>
        <p:spPr>
          <a:xfrm>
            <a:off x="685800" y="2162175"/>
            <a:ext cx="10820400" cy="1019175"/>
          </a:xfrm>
          <a:prstGeom prst="roundRect">
            <a:avLst>
              <a:gd name="adj" fmla="val 26168"/>
            </a:avLst>
          </a:prstGeom>
          <a:solidFill>
            <a:srgbClr val="FFFFFF"/>
          </a:solidFill>
          <a:ln/>
        </p:spPr>
      </p:sp>
      <p:pic>
        <p:nvPicPr>
          <p:cNvPr id="7" name="Image 0" descr="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875" y="2209800"/>
            <a:ext cx="914400" cy="914400"/>
          </a:xfrm>
          <a:prstGeom prst="rect">
            <a:avLst/>
          </a:prstGeom>
        </p:spPr>
      </p:pic>
      <p:pic>
        <p:nvPicPr>
          <p:cNvPr id="8" name="Image 1" descr="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425" y="2209800"/>
            <a:ext cx="914400" cy="9144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048000" y="2276475"/>
            <a:ext cx="23241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dogs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048000" y="2781300"/>
            <a:ext cx="18573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犬が好きです。</a:t>
            </a:r>
          </a:p>
        </p:txBody>
      </p:sp>
      <p:sp>
        <p:nvSpPr>
          <p:cNvPr id="11" name=""/>
          <p:cNvSpPr/>
          <p:nvPr/>
        </p:nvSpPr>
        <p:spPr>
          <a:xfrm>
            <a:off x="8362950" y="2257425"/>
            <a:ext cx="2857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553450" y="2400300"/>
            <a:ext cx="13811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犬全般の話</a:t>
            </a:r>
          </a:p>
        </p:txBody>
      </p:sp>
      <p:sp>
        <p:nvSpPr>
          <p:cNvPr id="13" name=""/>
          <p:cNvSpPr txBox="1"/>
          <p:nvPr/>
        </p:nvSpPr>
        <p:spPr>
          <a:xfrm>
            <a:off x="8553450" y="2676525"/>
            <a:ext cx="24288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（特定の犬ではない）</a:t>
            </a:r>
          </a:p>
        </p:txBody>
      </p:sp>
      <p:sp>
        <p:nvSpPr>
          <p:cNvPr id="14" name=""/>
          <p:cNvSpPr/>
          <p:nvPr/>
        </p:nvSpPr>
        <p:spPr>
          <a:xfrm>
            <a:off x="685800" y="3333750"/>
            <a:ext cx="10820400" cy="1019175"/>
          </a:xfrm>
          <a:prstGeom prst="roundRect">
            <a:avLst>
              <a:gd name="adj" fmla="val 26168"/>
            </a:avLst>
          </a:prstGeom>
          <a:solidFill>
            <a:srgbClr val="FFFFFF"/>
          </a:solidFill>
          <a:ln/>
        </p:spPr>
      </p:sp>
      <p:pic>
        <p:nvPicPr>
          <p:cNvPr id="15" name="Image 2" descr="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75" y="3381375"/>
            <a:ext cx="914400" cy="914400"/>
          </a:xfrm>
          <a:prstGeom prst="rect">
            <a:avLst/>
          </a:prstGeom>
        </p:spPr>
      </p:pic>
      <p:pic>
        <p:nvPicPr>
          <p:cNvPr id="16" name="Image 3" descr="本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6425" y="3381375"/>
            <a:ext cx="914400" cy="91440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3048000" y="3448050"/>
            <a:ext cx="50006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read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books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before bed.</a:t>
            </a:r>
          </a:p>
        </p:txBody>
      </p:sp>
      <p:sp>
        <p:nvSpPr>
          <p:cNvPr id="18" name=""/>
          <p:cNvSpPr txBox="1"/>
          <p:nvPr/>
        </p:nvSpPr>
        <p:spPr>
          <a:xfrm>
            <a:off x="3048000" y="3952875"/>
            <a:ext cx="27336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寝る前に本を読みます。</a:t>
            </a:r>
          </a:p>
        </p:txBody>
      </p:sp>
      <p:sp>
        <p:nvSpPr>
          <p:cNvPr id="19" name=""/>
          <p:cNvSpPr/>
          <p:nvPr/>
        </p:nvSpPr>
        <p:spPr>
          <a:xfrm>
            <a:off x="8362950" y="3429000"/>
            <a:ext cx="2857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8553450" y="3571875"/>
            <a:ext cx="13811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本全般の話</a:t>
            </a:r>
          </a:p>
        </p:txBody>
      </p:sp>
      <p:sp>
        <p:nvSpPr>
          <p:cNvPr id="21" name=""/>
          <p:cNvSpPr txBox="1"/>
          <p:nvPr/>
        </p:nvSpPr>
        <p:spPr>
          <a:xfrm>
            <a:off x="8553450" y="3848100"/>
            <a:ext cx="24288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（特定の本ではない）</a:t>
            </a:r>
          </a:p>
        </p:txBody>
      </p:sp>
      <p:sp>
        <p:nvSpPr>
          <p:cNvPr id="22" name=""/>
          <p:cNvSpPr/>
          <p:nvPr/>
        </p:nvSpPr>
        <p:spPr>
          <a:xfrm>
            <a:off x="685800" y="4495800"/>
            <a:ext cx="10820400" cy="1019175"/>
          </a:xfrm>
          <a:prstGeom prst="roundRect">
            <a:avLst>
              <a:gd name="adj" fmla="val 26168"/>
            </a:avLst>
          </a:prstGeom>
          <a:solidFill>
            <a:srgbClr val="FFFFFF"/>
          </a:solidFill>
          <a:ln/>
        </p:spPr>
      </p:sp>
      <p:pic>
        <p:nvPicPr>
          <p:cNvPr id="23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875" y="4552950"/>
            <a:ext cx="914400" cy="914400"/>
          </a:xfrm>
          <a:prstGeom prst="rect">
            <a:avLst/>
          </a:prstGeom>
        </p:spPr>
      </p:pic>
      <p:pic>
        <p:nvPicPr>
          <p:cNvPr id="24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76425" y="4552950"/>
            <a:ext cx="914400" cy="914400"/>
          </a:xfrm>
          <a:prstGeom prst="rect">
            <a:avLst/>
          </a:prstGeom>
        </p:spPr>
      </p:pic>
      <p:sp>
        <p:nvSpPr>
          <p:cNvPr id="25" name=""/>
          <p:cNvSpPr txBox="1"/>
          <p:nvPr/>
        </p:nvSpPr>
        <p:spPr>
          <a:xfrm>
            <a:off x="3048000" y="4619625"/>
            <a:ext cx="49625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Apples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are good for you.</a:t>
            </a:r>
          </a:p>
        </p:txBody>
      </p:sp>
      <p:sp>
        <p:nvSpPr>
          <p:cNvPr id="26" name=""/>
          <p:cNvSpPr txBox="1"/>
          <p:nvPr/>
        </p:nvSpPr>
        <p:spPr>
          <a:xfrm>
            <a:off x="3048000" y="5124450"/>
            <a:ext cx="2314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りんごは体にいい。</a:t>
            </a:r>
          </a:p>
        </p:txBody>
      </p:sp>
      <p:sp>
        <p:nvSpPr>
          <p:cNvPr id="27" name=""/>
          <p:cNvSpPr/>
          <p:nvPr/>
        </p:nvSpPr>
        <p:spPr>
          <a:xfrm>
            <a:off x="8362950" y="4591050"/>
            <a:ext cx="2857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28" name=""/>
          <p:cNvSpPr txBox="1"/>
          <p:nvPr/>
        </p:nvSpPr>
        <p:spPr>
          <a:xfrm>
            <a:off x="8553450" y="4733925"/>
            <a:ext cx="18002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りんご全般の話</a:t>
            </a:r>
          </a:p>
        </p:txBody>
      </p:sp>
      <p:sp>
        <p:nvSpPr>
          <p:cNvPr id="29" name=""/>
          <p:cNvSpPr txBox="1"/>
          <p:nvPr/>
        </p:nvSpPr>
        <p:spPr>
          <a:xfrm>
            <a:off x="8553450" y="5019675"/>
            <a:ext cx="28384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（特定のりんごではない）</a:t>
            </a:r>
          </a:p>
        </p:txBody>
      </p:sp>
      <p:sp>
        <p:nvSpPr>
          <p:cNvPr id="30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933450" y="5895975"/>
            <a:ext cx="15430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104900" y="5953125"/>
            <a:ext cx="1724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よくある間違い</a:t>
            </a:r>
          </a:p>
        </p:txBody>
      </p:sp>
      <p:sp>
        <p:nvSpPr>
          <p:cNvPr id="33" name=""/>
          <p:cNvSpPr txBox="1"/>
          <p:nvPr/>
        </p:nvSpPr>
        <p:spPr>
          <a:xfrm>
            <a:off x="2628900" y="5924550"/>
            <a:ext cx="85915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8A90A8"/>
                </a:solidFill>
                <a:latin typeface="DM Sans"/>
                <a:ea typeface="DM Sans"/>
              </a:rPr>
              <a:t>× I like dog. × I like a dog.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→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○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I like dogs.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（「〜が好き」は複数形で）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79914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複数名詞でも、特定のものなら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6" name=""/>
          <p:cNvSpPr/>
          <p:nvPr/>
        </p:nvSpPr>
        <p:spPr>
          <a:xfrm>
            <a:off x="685800" y="2000250"/>
            <a:ext cx="10820400" cy="167640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/>
        </p:spPr>
      </p:sp>
      <p:pic>
        <p:nvPicPr>
          <p:cNvPr id="7" name="Image 0" descr="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875" y="2381250"/>
            <a:ext cx="914400" cy="914400"/>
          </a:xfrm>
          <a:prstGeom prst="rect">
            <a:avLst/>
          </a:prstGeom>
        </p:spPr>
      </p:pic>
      <p:pic>
        <p:nvPicPr>
          <p:cNvPr id="8" name="Image 1" descr="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425" y="2381250"/>
            <a:ext cx="914400" cy="9144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048000" y="2447925"/>
            <a:ext cx="23241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dogs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048000" y="2952750"/>
            <a:ext cx="18573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犬が好きです。</a:t>
            </a:r>
          </a:p>
        </p:txBody>
      </p:sp>
      <p:sp>
        <p:nvSpPr>
          <p:cNvPr id="11" name=""/>
          <p:cNvSpPr/>
          <p:nvPr/>
        </p:nvSpPr>
        <p:spPr>
          <a:xfrm>
            <a:off x="8362950" y="2428875"/>
            <a:ext cx="2857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553450" y="2571750"/>
            <a:ext cx="13811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犬全般の話</a:t>
            </a:r>
          </a:p>
        </p:txBody>
      </p:sp>
      <p:sp>
        <p:nvSpPr>
          <p:cNvPr id="13" name=""/>
          <p:cNvSpPr txBox="1"/>
          <p:nvPr/>
        </p:nvSpPr>
        <p:spPr>
          <a:xfrm>
            <a:off x="8553450" y="2847975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→ 冠詞なし</a:t>
            </a:r>
          </a:p>
        </p:txBody>
      </p:sp>
      <p:sp>
        <p:nvSpPr>
          <p:cNvPr id="14" name=""/>
          <p:cNvSpPr/>
          <p:nvPr/>
        </p:nvSpPr>
        <p:spPr>
          <a:xfrm>
            <a:off x="685800" y="3838575"/>
            <a:ext cx="10820400" cy="167640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/>
        </p:spPr>
      </p:sp>
      <p:pic>
        <p:nvPicPr>
          <p:cNvPr id="15" name="Image 2" descr="隣の家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75" y="4219575"/>
            <a:ext cx="914400" cy="914400"/>
          </a:xfrm>
          <a:prstGeom prst="rect">
            <a:avLst/>
          </a:prstGeom>
        </p:spPr>
      </p:pic>
      <p:pic>
        <p:nvPicPr>
          <p:cNvPr id="16" name="Image 3" descr="犬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6425" y="4219575"/>
            <a:ext cx="914400" cy="91440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3048000" y="4286250"/>
            <a:ext cx="59055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dogs next door are noisy.</a:t>
            </a:r>
          </a:p>
        </p:txBody>
      </p:sp>
      <p:sp>
        <p:nvSpPr>
          <p:cNvPr id="18" name=""/>
          <p:cNvSpPr txBox="1"/>
          <p:nvPr/>
        </p:nvSpPr>
        <p:spPr>
          <a:xfrm>
            <a:off x="3048000" y="4791075"/>
            <a:ext cx="31908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隣の家の犬たちはうるさい。</a:t>
            </a:r>
          </a:p>
        </p:txBody>
      </p:sp>
      <p:sp>
        <p:nvSpPr>
          <p:cNvPr id="19" name=""/>
          <p:cNvSpPr/>
          <p:nvPr/>
        </p:nvSpPr>
        <p:spPr>
          <a:xfrm>
            <a:off x="8362950" y="4248150"/>
            <a:ext cx="2857500" cy="847725"/>
          </a:xfrm>
          <a:prstGeom prst="roundRect">
            <a:avLst>
              <a:gd name="adj" fmla="val 17978"/>
            </a:avLst>
          </a:prstGeom>
          <a:solidFill>
            <a:srgbClr val="DD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8553450" y="4391025"/>
            <a:ext cx="3048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「隣の家の犬」と特定できる</a:t>
            </a:r>
          </a:p>
        </p:txBody>
      </p:sp>
      <p:sp>
        <p:nvSpPr>
          <p:cNvPr id="21" name=""/>
          <p:cNvSpPr txBox="1"/>
          <p:nvPr/>
        </p:nvSpPr>
        <p:spPr>
          <a:xfrm>
            <a:off x="8553450" y="4676775"/>
            <a:ext cx="9334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→ </a:t>
            </a:r>
            <a:pPr/>
            <a:r>
              <a:rPr sz="14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2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23" name=""/>
          <p:cNvSpPr/>
          <p:nvPr/>
        </p:nvSpPr>
        <p:spPr>
          <a:xfrm>
            <a:off x="933450" y="58959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24" name=""/>
          <p:cNvSpPr txBox="1"/>
          <p:nvPr/>
        </p:nvSpPr>
        <p:spPr>
          <a:xfrm>
            <a:off x="1104900" y="59531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25" name=""/>
          <p:cNvSpPr txBox="1"/>
          <p:nvPr/>
        </p:nvSpPr>
        <p:spPr>
          <a:xfrm>
            <a:off x="2114550" y="5924550"/>
            <a:ext cx="81819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どれのことか分かるときは、複数でも </a:t>
            </a:r>
            <a:pPr/>
            <a:r>
              <a:rPr sz="1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（動画1の </a:t>
            </a:r>
            <a:pPr/>
            <a:r>
              <a:rPr sz="1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と同じルール）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100488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2. 数えられない名詞で「〜全般」を言うとき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647825"/>
            <a:ext cx="73437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動画2で学んだ数えられない名詞も、「〜全般」の話なら冠詞なし</a:t>
            </a:r>
          </a:p>
        </p:txBody>
      </p:sp>
      <p:sp>
        <p:nvSpPr>
          <p:cNvPr id="6" name=""/>
          <p:cNvSpPr/>
          <p:nvPr/>
        </p:nvSpPr>
        <p:spPr>
          <a:xfrm>
            <a:off x="685800" y="2162175"/>
            <a:ext cx="10820400" cy="1019175"/>
          </a:xfrm>
          <a:prstGeom prst="roundRect">
            <a:avLst>
              <a:gd name="adj" fmla="val 26168"/>
            </a:avLst>
          </a:prstGeom>
          <a:solidFill>
            <a:srgbClr val="FFFFFF"/>
          </a:solidFill>
          <a:ln/>
        </p:spPr>
      </p:sp>
      <p:pic>
        <p:nvPicPr>
          <p:cNvPr id="7" name="Image 0" descr="音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0650" y="2209800"/>
            <a:ext cx="914400" cy="9144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048000" y="2276475"/>
            <a:ext cx="26860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love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music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9" name=""/>
          <p:cNvSpPr txBox="1"/>
          <p:nvPr/>
        </p:nvSpPr>
        <p:spPr>
          <a:xfrm>
            <a:off x="3048000" y="2781300"/>
            <a:ext cx="22955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音楽が大好きです。</a:t>
            </a:r>
          </a:p>
        </p:txBody>
      </p:sp>
      <p:sp>
        <p:nvSpPr>
          <p:cNvPr id="10" name=""/>
          <p:cNvSpPr/>
          <p:nvPr/>
        </p:nvSpPr>
        <p:spPr>
          <a:xfrm>
            <a:off x="8362950" y="2257425"/>
            <a:ext cx="2857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53450" y="2400300"/>
            <a:ext cx="15906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音楽全般の話</a:t>
            </a:r>
          </a:p>
        </p:txBody>
      </p:sp>
      <p:sp>
        <p:nvSpPr>
          <p:cNvPr id="12" name=""/>
          <p:cNvSpPr txBox="1"/>
          <p:nvPr/>
        </p:nvSpPr>
        <p:spPr>
          <a:xfrm>
            <a:off x="8553450" y="2676525"/>
            <a:ext cx="24288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（特定の曲ではない）</a:t>
            </a:r>
          </a:p>
        </p:txBody>
      </p:sp>
      <p:sp>
        <p:nvSpPr>
          <p:cNvPr id="13" name=""/>
          <p:cNvSpPr/>
          <p:nvPr/>
        </p:nvSpPr>
        <p:spPr>
          <a:xfrm>
            <a:off x="685800" y="3333750"/>
            <a:ext cx="10820400" cy="1019175"/>
          </a:xfrm>
          <a:prstGeom prst="roundRect">
            <a:avLst>
              <a:gd name="adj" fmla="val 26168"/>
            </a:avLst>
          </a:prstGeom>
          <a:solidFill>
            <a:srgbClr val="FFFFFF"/>
          </a:solidFill>
          <a:ln/>
        </p:spPr>
      </p:sp>
      <p:pic>
        <p:nvPicPr>
          <p:cNvPr id="14" name="Image 1" descr="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650" y="3381375"/>
            <a:ext cx="914400" cy="9144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3048000" y="3448050"/>
            <a:ext cx="475297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drink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water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every day.</a:t>
            </a:r>
          </a:p>
        </p:txBody>
      </p:sp>
      <p:sp>
        <p:nvSpPr>
          <p:cNvPr id="16" name=""/>
          <p:cNvSpPr txBox="1"/>
          <p:nvPr/>
        </p:nvSpPr>
        <p:spPr>
          <a:xfrm>
            <a:off x="3048000" y="3952875"/>
            <a:ext cx="25146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毎日、水を飲みます。</a:t>
            </a:r>
          </a:p>
        </p:txBody>
      </p:sp>
      <p:sp>
        <p:nvSpPr>
          <p:cNvPr id="17" name=""/>
          <p:cNvSpPr/>
          <p:nvPr/>
        </p:nvSpPr>
        <p:spPr>
          <a:xfrm>
            <a:off x="8362950" y="3429000"/>
            <a:ext cx="2857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8553450" y="3571875"/>
            <a:ext cx="13811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水全般の話</a:t>
            </a:r>
          </a:p>
        </p:txBody>
      </p:sp>
      <p:sp>
        <p:nvSpPr>
          <p:cNvPr id="19" name=""/>
          <p:cNvSpPr txBox="1"/>
          <p:nvPr/>
        </p:nvSpPr>
        <p:spPr>
          <a:xfrm>
            <a:off x="8553450" y="3848100"/>
            <a:ext cx="24288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（特定の水ではない）</a:t>
            </a:r>
          </a:p>
        </p:txBody>
      </p:sp>
      <p:sp>
        <p:nvSpPr>
          <p:cNvPr id="20" name=""/>
          <p:cNvSpPr/>
          <p:nvPr/>
        </p:nvSpPr>
        <p:spPr>
          <a:xfrm>
            <a:off x="685800" y="4495800"/>
            <a:ext cx="10820400" cy="1019175"/>
          </a:xfrm>
          <a:prstGeom prst="roundRect">
            <a:avLst>
              <a:gd name="adj" fmla="val 26168"/>
            </a:avLst>
          </a:prstGeom>
          <a:solidFill>
            <a:srgbClr val="FFFFFF"/>
          </a:solidFill>
          <a:ln/>
        </p:spPr>
      </p:sp>
      <p:pic>
        <p:nvPicPr>
          <p:cNvPr id="21" name="Image 2" descr="時間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75" y="4552950"/>
            <a:ext cx="914400" cy="914400"/>
          </a:xfrm>
          <a:prstGeom prst="rect">
            <a:avLst/>
          </a:prstGeom>
        </p:spPr>
      </p:pic>
      <p:pic>
        <p:nvPicPr>
          <p:cNvPr id="22" name="Image 3" descr="お金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6425" y="4552950"/>
            <a:ext cx="914400" cy="914400"/>
          </a:xfrm>
          <a:prstGeom prst="rect">
            <a:avLst/>
          </a:prstGeom>
        </p:spPr>
      </p:pic>
      <p:sp>
        <p:nvSpPr>
          <p:cNvPr id="23" name=""/>
          <p:cNvSpPr txBox="1"/>
          <p:nvPr/>
        </p:nvSpPr>
        <p:spPr>
          <a:xfrm>
            <a:off x="3048000" y="4619625"/>
            <a:ext cx="32099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Time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is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money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24" name=""/>
          <p:cNvSpPr txBox="1"/>
          <p:nvPr/>
        </p:nvSpPr>
        <p:spPr>
          <a:xfrm>
            <a:off x="3048000" y="5124450"/>
            <a:ext cx="16573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時は金なり。</a:t>
            </a:r>
          </a:p>
        </p:txBody>
      </p:sp>
      <p:sp>
        <p:nvSpPr>
          <p:cNvPr id="25" name=""/>
          <p:cNvSpPr/>
          <p:nvPr/>
        </p:nvSpPr>
        <p:spPr>
          <a:xfrm>
            <a:off x="8362950" y="4591050"/>
            <a:ext cx="2857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26" name=""/>
          <p:cNvSpPr txBox="1"/>
          <p:nvPr/>
        </p:nvSpPr>
        <p:spPr>
          <a:xfrm>
            <a:off x="8553450" y="4733925"/>
            <a:ext cx="13811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ことわざ。</a:t>
            </a:r>
          </a:p>
        </p:txBody>
      </p:sp>
      <p:sp>
        <p:nvSpPr>
          <p:cNvPr id="27" name=""/>
          <p:cNvSpPr txBox="1"/>
          <p:nvPr/>
        </p:nvSpPr>
        <p:spPr>
          <a:xfrm>
            <a:off x="8553450" y="5019675"/>
            <a:ext cx="28384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どちらも数えられない名詞</a:t>
            </a:r>
          </a:p>
        </p:txBody>
      </p:sp>
      <p:sp>
        <p:nvSpPr>
          <p:cNvPr id="28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29" name=""/>
          <p:cNvSpPr/>
          <p:nvPr/>
        </p:nvSpPr>
        <p:spPr>
          <a:xfrm>
            <a:off x="933450" y="58959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30" name=""/>
          <p:cNvSpPr txBox="1"/>
          <p:nvPr/>
        </p:nvSpPr>
        <p:spPr>
          <a:xfrm>
            <a:off x="1104900" y="59531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31" name=""/>
          <p:cNvSpPr txBox="1"/>
          <p:nvPr/>
        </p:nvSpPr>
        <p:spPr>
          <a:xfrm>
            <a:off x="2114550" y="5924550"/>
            <a:ext cx="76485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特定のものなら </a:t>
            </a:r>
            <a:pPr/>
            <a:r>
              <a:rPr sz="1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：</a:t>
            </a:r>
            <a:pPr/>
            <a:r>
              <a:rPr sz="1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music in this cafe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（このカフェの音楽）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6" name="Image 0" descr="家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3162300" y="2400300"/>
            <a:ext cx="56007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Noto Sans JP"/>
                <a:ea typeface="Noto Sans JP"/>
              </a:rPr>
              <a:t>「オンラインで家具を買ったんだ」</a:t>
            </a:r>
          </a:p>
        </p:txBody>
      </p:sp>
      <p:sp>
        <p:nvSpPr>
          <p:cNvPr id="8" name=""/>
          <p:cNvSpPr txBox="1"/>
          <p:nvPr/>
        </p:nvSpPr>
        <p:spPr>
          <a:xfrm>
            <a:off x="3162300" y="321945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9" name=""/>
          <p:cNvSpPr/>
          <p:nvPr/>
        </p:nvSpPr>
        <p:spPr>
          <a:xfrm>
            <a:off x="5067300" y="31432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6553200" y="3219450"/>
            <a:ext cx="42576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furniture online.</a:t>
            </a:r>
          </a:p>
        </p:txBody>
      </p:sp>
      <p:sp>
        <p:nvSpPr>
          <p:cNvPr id="11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3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67640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5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6" name=""/>
          <p:cNvSpPr txBox="1"/>
          <p:nvPr/>
        </p:nvSpPr>
        <p:spPr>
          <a:xfrm>
            <a:off x="283845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7" name=""/>
          <p:cNvSpPr txBox="1"/>
          <p:nvPr/>
        </p:nvSpPr>
        <p:spPr>
          <a:xfrm>
            <a:off x="4076700" y="5314950"/>
            <a:ext cx="49911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どれ？ 声に出して答えてみよう！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6" name="Image 0" descr="家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3162300" y="2400300"/>
            <a:ext cx="56007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Noto Sans JP"/>
                <a:ea typeface="Noto Sans JP"/>
              </a:rPr>
              <a:t>「オンラインで家具を買ったんだ」</a:t>
            </a:r>
          </a:p>
        </p:txBody>
      </p:sp>
      <p:sp>
        <p:nvSpPr>
          <p:cNvPr id="8" name=""/>
          <p:cNvSpPr txBox="1"/>
          <p:nvPr/>
        </p:nvSpPr>
        <p:spPr>
          <a:xfrm>
            <a:off x="3162300" y="321945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9" name=""/>
          <p:cNvSpPr/>
          <p:nvPr/>
        </p:nvSpPr>
        <p:spPr>
          <a:xfrm>
            <a:off x="5067300" y="31432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9AA1B6"/>
          </a:solidFill>
          <a:ln/>
        </p:spPr>
      </p:sp>
      <p:sp>
        <p:nvSpPr>
          <p:cNvPr id="10" name=""/>
          <p:cNvSpPr txBox="1"/>
          <p:nvPr/>
        </p:nvSpPr>
        <p:spPr>
          <a:xfrm>
            <a:off x="5238750" y="3295650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1" name=""/>
          <p:cNvSpPr txBox="1"/>
          <p:nvPr/>
        </p:nvSpPr>
        <p:spPr>
          <a:xfrm>
            <a:off x="6553200" y="3219450"/>
            <a:ext cx="42576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furniture online.</a:t>
            </a:r>
          </a:p>
        </p:txBody>
      </p:sp>
      <p:sp>
        <p:nvSpPr>
          <p:cNvPr id="12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990600" y="48577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162050" y="49149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5" name=""/>
          <p:cNvSpPr txBox="1"/>
          <p:nvPr/>
        </p:nvSpPr>
        <p:spPr>
          <a:xfrm>
            <a:off x="1809750" y="4895850"/>
            <a:ext cx="357187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 bought furniture online.</a:t>
            </a:r>
          </a:p>
        </p:txBody>
      </p:sp>
      <p:sp>
        <p:nvSpPr>
          <p:cNvPr id="16" name=""/>
          <p:cNvSpPr/>
          <p:nvPr/>
        </p:nvSpPr>
        <p:spPr>
          <a:xfrm>
            <a:off x="9906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理由①</a:t>
            </a:r>
          </a:p>
        </p:txBody>
      </p:sp>
      <p:sp>
        <p:nvSpPr>
          <p:cNvPr id="18" name=""/>
          <p:cNvSpPr txBox="1"/>
          <p:nvPr/>
        </p:nvSpPr>
        <p:spPr>
          <a:xfrm>
            <a:off x="1981200" y="5343525"/>
            <a:ext cx="62388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furniture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はつけない</a:t>
            </a:r>
          </a:p>
        </p:txBody>
      </p:sp>
      <p:sp>
        <p:nvSpPr>
          <p:cNvPr id="19" name=""/>
          <p:cNvSpPr/>
          <p:nvPr/>
        </p:nvSpPr>
        <p:spPr>
          <a:xfrm>
            <a:off x="990600" y="5791200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8483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理由②</a:t>
            </a:r>
          </a:p>
        </p:txBody>
      </p:sp>
      <p:sp>
        <p:nvSpPr>
          <p:cNvPr id="21" name=""/>
          <p:cNvSpPr txBox="1"/>
          <p:nvPr/>
        </p:nvSpPr>
        <p:spPr>
          <a:xfrm>
            <a:off x="1981200" y="5810250"/>
            <a:ext cx="58197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特定の家具の話ではない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もつけない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109823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furniture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は s がつかないけど、1つとは限らない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5048250" cy="447675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</p:spPr>
      </p:sp>
      <p:sp>
        <p:nvSpPr>
          <p:cNvPr id="7" name=""/>
          <p:cNvSpPr/>
          <p:nvPr/>
        </p:nvSpPr>
        <p:spPr>
          <a:xfrm>
            <a:off x="914400" y="2505075"/>
            <a:ext cx="2247900" cy="1400175"/>
          </a:xfrm>
          <a:prstGeom prst="roundRect">
            <a:avLst>
              <a:gd name="adj" fmla="val 12245"/>
            </a:avLst>
          </a:prstGeom>
          <a:solidFill>
            <a:srgbClr val="FFE8DC"/>
          </a:solidFill>
          <a:ln/>
        </p:spPr>
      </p:sp>
      <p:pic>
        <p:nvPicPr>
          <p:cNvPr id="8" name="Image 0" descr="い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050" y="2562225"/>
            <a:ext cx="990600" cy="9906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1781175" y="3552825"/>
            <a:ext cx="942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chair</a:t>
            </a:r>
          </a:p>
        </p:txBody>
      </p:sp>
      <p:sp>
        <p:nvSpPr>
          <p:cNvPr id="10" name=""/>
          <p:cNvSpPr/>
          <p:nvPr/>
        </p:nvSpPr>
        <p:spPr>
          <a:xfrm>
            <a:off x="3257550" y="2505075"/>
            <a:ext cx="2247900" cy="1400175"/>
          </a:xfrm>
          <a:prstGeom prst="roundRect">
            <a:avLst>
              <a:gd name="adj" fmla="val 12245"/>
            </a:avLst>
          </a:prstGeom>
          <a:solidFill>
            <a:srgbClr val="FFE8DC"/>
          </a:solidFill>
          <a:ln/>
        </p:spPr>
      </p:sp>
      <p:pic>
        <p:nvPicPr>
          <p:cNvPr id="11" name="Image 1" descr="テーブ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2562225"/>
            <a:ext cx="990600" cy="9906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4124325" y="3552825"/>
            <a:ext cx="942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table</a:t>
            </a:r>
          </a:p>
        </p:txBody>
      </p:sp>
      <p:sp>
        <p:nvSpPr>
          <p:cNvPr id="13" name=""/>
          <p:cNvSpPr/>
          <p:nvPr/>
        </p:nvSpPr>
        <p:spPr>
          <a:xfrm>
            <a:off x="914400" y="4000500"/>
            <a:ext cx="2247900" cy="1400175"/>
          </a:xfrm>
          <a:prstGeom prst="roundRect">
            <a:avLst>
              <a:gd name="adj" fmla="val 12245"/>
            </a:avLst>
          </a:prstGeom>
          <a:solidFill>
            <a:srgbClr val="FFE8DC"/>
          </a:solidFill>
          <a:ln/>
        </p:spPr>
      </p:sp>
      <p:pic>
        <p:nvPicPr>
          <p:cNvPr id="14" name="Image 2" descr="ベッド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3050" y="4057650"/>
            <a:ext cx="990600" cy="9906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1847850" y="5048250"/>
            <a:ext cx="790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bed</a:t>
            </a:r>
          </a:p>
        </p:txBody>
      </p:sp>
      <p:sp>
        <p:nvSpPr>
          <p:cNvPr id="16" name=""/>
          <p:cNvSpPr/>
          <p:nvPr/>
        </p:nvSpPr>
        <p:spPr>
          <a:xfrm>
            <a:off x="3257550" y="4000500"/>
            <a:ext cx="2247900" cy="1400175"/>
          </a:xfrm>
          <a:prstGeom prst="roundRect">
            <a:avLst>
              <a:gd name="adj" fmla="val 12245"/>
            </a:avLst>
          </a:prstGeom>
          <a:solidFill>
            <a:srgbClr val="FFE8DC"/>
          </a:solidFill>
          <a:ln/>
        </p:spPr>
      </p:sp>
      <p:pic>
        <p:nvPicPr>
          <p:cNvPr id="17" name="Image 3" descr="ソファ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4057650"/>
            <a:ext cx="990600" cy="990600"/>
          </a:xfrm>
          <a:prstGeom prst="rect">
            <a:avLst/>
          </a:prstGeom>
        </p:spPr>
      </p:pic>
      <p:sp>
        <p:nvSpPr>
          <p:cNvPr id="18" name=""/>
          <p:cNvSpPr txBox="1"/>
          <p:nvPr/>
        </p:nvSpPr>
        <p:spPr>
          <a:xfrm>
            <a:off x="4162425" y="5048250"/>
            <a:ext cx="847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sofa</a:t>
            </a:r>
          </a:p>
        </p:txBody>
      </p:sp>
      <p:sp>
        <p:nvSpPr>
          <p:cNvPr id="19" name=""/>
          <p:cNvSpPr txBox="1"/>
          <p:nvPr/>
        </p:nvSpPr>
        <p:spPr>
          <a:xfrm>
            <a:off x="1152525" y="5534025"/>
            <a:ext cx="41243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まとめて </a:t>
            </a:r>
            <a:pPr algn="ctr"/>
            <a:r>
              <a:rPr sz="22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furniture</a:t>
            </a:r>
            <a:pPr algn="ctr"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（家具）</a:t>
            </a:r>
          </a:p>
        </p:txBody>
      </p:sp>
      <p:sp>
        <p:nvSpPr>
          <p:cNvPr id="20" name=""/>
          <p:cNvSpPr/>
          <p:nvPr/>
        </p:nvSpPr>
        <p:spPr>
          <a:xfrm>
            <a:off x="5943600" y="1962150"/>
            <a:ext cx="5562600" cy="1419225"/>
          </a:xfrm>
          <a:prstGeom prst="roundRect">
            <a:avLst>
              <a:gd name="adj" fmla="val 18792"/>
            </a:avLst>
          </a:prstGeom>
          <a:solidFill>
            <a:srgbClr val="FFFFFF"/>
          </a:solidFill>
          <a:ln/>
        </p:spPr>
      </p:sp>
      <p:sp>
        <p:nvSpPr>
          <p:cNvPr id="21" name=""/>
          <p:cNvSpPr/>
          <p:nvPr/>
        </p:nvSpPr>
        <p:spPr>
          <a:xfrm>
            <a:off x="6153150" y="2486025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2" name=""/>
          <p:cNvSpPr txBox="1"/>
          <p:nvPr/>
        </p:nvSpPr>
        <p:spPr>
          <a:xfrm>
            <a:off x="6124575" y="2543175"/>
            <a:ext cx="419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3" name=""/>
          <p:cNvSpPr txBox="1"/>
          <p:nvPr/>
        </p:nvSpPr>
        <p:spPr>
          <a:xfrm>
            <a:off x="6648450" y="2381250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家具を</a:t>
            </a:r>
            <a:pPr/>
            <a:r>
              <a:rPr sz="1500" b="1">
                <a:solidFill>
                  <a:srgbClr val="1C2340"/>
                </a:solidFill>
                <a:latin typeface="Noto Sans JP"/>
                <a:ea typeface="Noto Sans JP"/>
              </a:rPr>
              <a:t>まとめて指す</a:t>
            </a:r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言葉。</a:t>
            </a:r>
          </a:p>
        </p:txBody>
      </p:sp>
      <p:sp>
        <p:nvSpPr>
          <p:cNvPr id="24" name=""/>
          <p:cNvSpPr txBox="1"/>
          <p:nvPr/>
        </p:nvSpPr>
        <p:spPr>
          <a:xfrm>
            <a:off x="6648450" y="2667000"/>
            <a:ext cx="50958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s はつかないけど、いくつかの家具のこともある</a:t>
            </a:r>
          </a:p>
        </p:txBody>
      </p:sp>
      <p:sp>
        <p:nvSpPr>
          <p:cNvPr id="25" name=""/>
          <p:cNvSpPr/>
          <p:nvPr/>
        </p:nvSpPr>
        <p:spPr>
          <a:xfrm>
            <a:off x="5943600" y="3495675"/>
            <a:ext cx="5562600" cy="1419225"/>
          </a:xfrm>
          <a:prstGeom prst="roundRect">
            <a:avLst>
              <a:gd name="adj" fmla="val 18792"/>
            </a:avLst>
          </a:prstGeom>
          <a:solidFill>
            <a:srgbClr val="FFFFFF"/>
          </a:solidFill>
          <a:ln/>
        </p:spPr>
      </p:sp>
      <p:sp>
        <p:nvSpPr>
          <p:cNvPr id="26" name=""/>
          <p:cNvSpPr/>
          <p:nvPr/>
        </p:nvSpPr>
        <p:spPr>
          <a:xfrm>
            <a:off x="6153150" y="4019550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6105525" y="4076700"/>
            <a:ext cx="46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8" name=""/>
          <p:cNvSpPr txBox="1"/>
          <p:nvPr/>
        </p:nvSpPr>
        <p:spPr>
          <a:xfrm>
            <a:off x="6648450" y="3905250"/>
            <a:ext cx="4676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数えられない名詞なので、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  <a:pPr/>
            <a:r>
              <a:rPr sz="1500" b="1">
                <a:solidFill>
                  <a:srgbClr val="1C2340"/>
                </a:solidFill>
                <a:latin typeface="Noto Sans JP"/>
                <a:ea typeface="Noto Sans JP"/>
              </a:rPr>
              <a:t> も 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s</a:t>
            </a:r>
            <a:pPr/>
            <a:r>
              <a:rPr sz="1500" b="1">
                <a:solidFill>
                  <a:srgbClr val="1C2340"/>
                </a:solidFill>
                <a:latin typeface="Noto Sans JP"/>
                <a:ea typeface="Noto Sans JP"/>
              </a:rPr>
              <a:t> もつけない</a:t>
            </a:r>
          </a:p>
        </p:txBody>
      </p:sp>
      <p:sp>
        <p:nvSpPr>
          <p:cNvPr id="29" name=""/>
          <p:cNvSpPr txBox="1"/>
          <p:nvPr/>
        </p:nvSpPr>
        <p:spPr>
          <a:xfrm>
            <a:off x="6648450" y="4229100"/>
            <a:ext cx="31051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8A90A8"/>
                </a:solidFill>
                <a:latin typeface="DM Sans"/>
                <a:ea typeface="DM Sans"/>
              </a:rPr>
              <a:t>× a furniture × furnitures</a:t>
            </a:r>
          </a:p>
        </p:txBody>
      </p:sp>
      <p:sp>
        <p:nvSpPr>
          <p:cNvPr id="30" name=""/>
          <p:cNvSpPr/>
          <p:nvPr/>
        </p:nvSpPr>
        <p:spPr>
          <a:xfrm>
            <a:off x="5943600" y="5019675"/>
            <a:ext cx="5562600" cy="1419225"/>
          </a:xfrm>
          <a:prstGeom prst="roundRect">
            <a:avLst>
              <a:gd name="adj" fmla="val 18792"/>
            </a:avLst>
          </a:pr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6153150" y="5553075"/>
            <a:ext cx="361950" cy="3619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2" name=""/>
          <p:cNvSpPr txBox="1"/>
          <p:nvPr/>
        </p:nvSpPr>
        <p:spPr>
          <a:xfrm>
            <a:off x="6105525" y="5600700"/>
            <a:ext cx="46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3" name=""/>
          <p:cNvSpPr txBox="1"/>
          <p:nvPr/>
        </p:nvSpPr>
        <p:spPr>
          <a:xfrm>
            <a:off x="6648450" y="5438775"/>
            <a:ext cx="26574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1点だけ言いたいときは</a:t>
            </a:r>
          </a:p>
        </p:txBody>
      </p:sp>
      <p:sp>
        <p:nvSpPr>
          <p:cNvPr id="34" name=""/>
          <p:cNvSpPr txBox="1"/>
          <p:nvPr/>
        </p:nvSpPr>
        <p:spPr>
          <a:xfrm>
            <a:off x="6648450" y="5724525"/>
            <a:ext cx="35814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a piece of furniture</a:t>
            </a:r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（家具1点）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70580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冠詞を変えると、意味が変わる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10820400" cy="1390650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/>
        </p:spPr>
      </p:sp>
      <p:pic>
        <p:nvPicPr>
          <p:cNvPr id="7" name="Image 0" descr="家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066925"/>
            <a:ext cx="1181100" cy="11811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324100" y="2266950"/>
            <a:ext cx="50673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bought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furniture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online.</a:t>
            </a:r>
          </a:p>
        </p:txBody>
      </p:sp>
      <p:sp>
        <p:nvSpPr>
          <p:cNvPr id="9" name=""/>
          <p:cNvSpPr txBox="1"/>
          <p:nvPr/>
        </p:nvSpPr>
        <p:spPr>
          <a:xfrm>
            <a:off x="2324100" y="2771775"/>
            <a:ext cx="31908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オンラインで家具を買った。</a:t>
            </a:r>
          </a:p>
        </p:txBody>
      </p:sp>
      <p:sp>
        <p:nvSpPr>
          <p:cNvPr id="10" name=""/>
          <p:cNvSpPr/>
          <p:nvPr/>
        </p:nvSpPr>
        <p:spPr>
          <a:xfrm>
            <a:off x="7981950" y="2247900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172450" y="2390775"/>
            <a:ext cx="15906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不特定の家具</a:t>
            </a:r>
          </a:p>
        </p:txBody>
      </p:sp>
      <p:sp>
        <p:nvSpPr>
          <p:cNvPr id="12" name=""/>
          <p:cNvSpPr txBox="1"/>
          <p:nvPr/>
        </p:nvSpPr>
        <p:spPr>
          <a:xfrm>
            <a:off x="8172450" y="2667000"/>
            <a:ext cx="23336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（1つとは限らない）</a:t>
            </a:r>
          </a:p>
        </p:txBody>
      </p:sp>
      <p:sp>
        <p:nvSpPr>
          <p:cNvPr id="13" name=""/>
          <p:cNvSpPr/>
          <p:nvPr/>
        </p:nvSpPr>
        <p:spPr>
          <a:xfrm>
            <a:off x="685800" y="3505200"/>
            <a:ext cx="10820400" cy="1390650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/>
        </p:spPr>
      </p:sp>
      <p:pic>
        <p:nvPicPr>
          <p:cNvPr id="14" name="Image 1" descr="家具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609975"/>
            <a:ext cx="1181100" cy="11811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2324100" y="3810000"/>
            <a:ext cx="58007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bought </a:t>
            </a:r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furniture online.</a:t>
            </a:r>
          </a:p>
        </p:txBody>
      </p:sp>
      <p:sp>
        <p:nvSpPr>
          <p:cNvPr id="16" name=""/>
          <p:cNvSpPr txBox="1"/>
          <p:nvPr/>
        </p:nvSpPr>
        <p:spPr>
          <a:xfrm>
            <a:off x="2324100" y="4314825"/>
            <a:ext cx="36290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その家具をオンラインで買った。</a:t>
            </a:r>
          </a:p>
        </p:txBody>
      </p:sp>
      <p:sp>
        <p:nvSpPr>
          <p:cNvPr id="17" name=""/>
          <p:cNvSpPr/>
          <p:nvPr/>
        </p:nvSpPr>
        <p:spPr>
          <a:xfrm>
            <a:off x="7981950" y="3790950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8172450" y="3933825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話し手と聞き手が分かる</a:t>
            </a:r>
          </a:p>
        </p:txBody>
      </p:sp>
      <p:sp>
        <p:nvSpPr>
          <p:cNvPr id="19" name=""/>
          <p:cNvSpPr txBox="1"/>
          <p:nvPr/>
        </p:nvSpPr>
        <p:spPr>
          <a:xfrm>
            <a:off x="8172450" y="4210050"/>
            <a:ext cx="13811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特定の家具</a:t>
            </a:r>
          </a:p>
        </p:txBody>
      </p:sp>
      <p:sp>
        <p:nvSpPr>
          <p:cNvPr id="20" name=""/>
          <p:cNvSpPr/>
          <p:nvPr/>
        </p:nvSpPr>
        <p:spPr>
          <a:xfrm>
            <a:off x="685800" y="5048250"/>
            <a:ext cx="10820400" cy="1390650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/>
        </p:spPr>
      </p:sp>
      <p:pic>
        <p:nvPicPr>
          <p:cNvPr id="21" name="Image 2" descr="家具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153025"/>
            <a:ext cx="1181100" cy="118110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2324100" y="5353050"/>
            <a:ext cx="56959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8A90A8"/>
                </a:solidFill>
                <a:latin typeface="DM Sans"/>
                <a:ea typeface="DM Sans"/>
              </a:rPr>
              <a:t>× I bought </a:t>
            </a:r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700" b="1">
                <a:solidFill>
                  <a:srgbClr val="8A90A8"/>
                </a:solidFill>
                <a:latin typeface="DM Sans"/>
                <a:ea typeface="DM Sans"/>
              </a:rPr>
              <a:t> furniture online.</a:t>
            </a:r>
          </a:p>
        </p:txBody>
      </p:sp>
      <p:sp>
        <p:nvSpPr>
          <p:cNvPr id="23" name=""/>
          <p:cNvSpPr txBox="1"/>
          <p:nvPr/>
        </p:nvSpPr>
        <p:spPr>
          <a:xfrm>
            <a:off x="2324100" y="5857875"/>
            <a:ext cx="44196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1点なら </a:t>
            </a:r>
            <a:pPr/>
            <a:r>
              <a:rPr sz="1500" b="1">
                <a:solidFill>
                  <a:srgbClr val="4A5270"/>
                </a:solidFill>
                <a:latin typeface="DM Sans"/>
                <a:ea typeface="DM Sans"/>
              </a:rPr>
              <a:t>a piece of furniture</a:t>
            </a:r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（家具1点）</a:t>
            </a:r>
          </a:p>
        </p:txBody>
      </p:sp>
      <p:sp>
        <p:nvSpPr>
          <p:cNvPr id="24" name=""/>
          <p:cNvSpPr/>
          <p:nvPr/>
        </p:nvSpPr>
        <p:spPr>
          <a:xfrm>
            <a:off x="7981950" y="5334000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25" name=""/>
          <p:cNvSpPr txBox="1"/>
          <p:nvPr/>
        </p:nvSpPr>
        <p:spPr>
          <a:xfrm>
            <a:off x="8172450" y="5476875"/>
            <a:ext cx="27527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furniture は数えられない</a:t>
            </a:r>
          </a:p>
        </p:txBody>
      </p:sp>
      <p:sp>
        <p:nvSpPr>
          <p:cNvPr id="26" name=""/>
          <p:cNvSpPr txBox="1"/>
          <p:nvPr/>
        </p:nvSpPr>
        <p:spPr>
          <a:xfrm>
            <a:off x="8172450" y="5753100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名詞なので a はつけない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9909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furniture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の仲間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685925"/>
            <a:ext cx="101536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いくつかの物を「まとめて」指す名詞。どれも数えられない名詞なので、</a:t>
            </a:r>
            <a:pPr/>
            <a:r>
              <a:rPr sz="1650" b="1">
                <a:solidFill>
                  <a:srgbClr val="4A5270"/>
                </a:solidFill>
                <a:latin typeface="DM Sans"/>
                <a:ea typeface="DM Sans"/>
              </a:rPr>
              <a:t>a</a:t>
            </a:r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 も </a:t>
            </a:r>
            <a:pPr/>
            <a:r>
              <a:rPr sz="1650" b="1">
                <a:solidFill>
                  <a:srgbClr val="4A5270"/>
                </a:solidFill>
                <a:latin typeface="DM Sans"/>
                <a:ea typeface="DM Sans"/>
              </a:rPr>
              <a:t>s</a:t>
            </a:r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 もつけない</a:t>
            </a:r>
          </a:p>
        </p:txBody>
      </p:sp>
      <p:sp>
        <p:nvSpPr>
          <p:cNvPr id="6" name=""/>
          <p:cNvSpPr/>
          <p:nvPr/>
        </p:nvSpPr>
        <p:spPr>
          <a:xfrm>
            <a:off x="685800" y="2171700"/>
            <a:ext cx="3467100" cy="3343275"/>
          </a:xfrm>
          <a:prstGeom prst="roundRect">
            <a:avLst>
              <a:gd name="adj" fmla="val 7977"/>
            </a:avLst>
          </a:prstGeom>
          <a:solidFill>
            <a:srgbClr val="FFFFFF"/>
          </a:solidFill>
          <a:ln/>
        </p:spPr>
      </p:sp>
      <p:sp>
        <p:nvSpPr>
          <p:cNvPr id="7" name=""/>
          <p:cNvSpPr/>
          <p:nvPr/>
        </p:nvSpPr>
        <p:spPr>
          <a:xfrm>
            <a:off x="819150" y="2305050"/>
            <a:ext cx="3200400" cy="1476375"/>
          </a:xfrm>
          <a:prstGeom prst="roundRect">
            <a:avLst>
              <a:gd name="adj" fmla="val 11613"/>
            </a:avLst>
          </a:prstGeom>
          <a:solidFill>
            <a:srgbClr val="DDEFFC"/>
          </a:solidFill>
          <a:ln/>
        </p:spPr>
      </p:sp>
      <p:pic>
        <p:nvPicPr>
          <p:cNvPr id="8" name="Image 0" descr="荷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4975" y="2333625"/>
            <a:ext cx="1428750" cy="142875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1800225" y="3876675"/>
            <a:ext cx="1771650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C2340"/>
                </a:solidFill>
                <a:latin typeface="DM Sans"/>
                <a:ea typeface="DM Sans"/>
              </a:rPr>
              <a:t>luggage</a:t>
            </a:r>
          </a:p>
        </p:txBody>
      </p:sp>
      <p:sp>
        <p:nvSpPr>
          <p:cNvPr id="10" name=""/>
          <p:cNvSpPr txBox="1"/>
          <p:nvPr/>
        </p:nvSpPr>
        <p:spPr>
          <a:xfrm>
            <a:off x="1057275" y="4324350"/>
            <a:ext cx="34861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荷物（スーツケース・バッグなど）</a:t>
            </a:r>
          </a:p>
        </p:txBody>
      </p:sp>
      <p:sp>
        <p:nvSpPr>
          <p:cNvPr id="11" name=""/>
          <p:cNvSpPr/>
          <p:nvPr/>
        </p:nvSpPr>
        <p:spPr>
          <a:xfrm>
            <a:off x="819150" y="4686300"/>
            <a:ext cx="3200400" cy="657225"/>
          </a:xfrm>
          <a:prstGeom prst="roundRect">
            <a:avLst>
              <a:gd name="adj" fmla="val 20290"/>
            </a:avLst>
          </a:prstGeom>
          <a:solidFill>
            <a:srgbClr val="F5F8FC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00100" y="4762500"/>
            <a:ext cx="3238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I have too much </a:t>
            </a:r>
            <a:pPr algn="ctr"/>
            <a:r>
              <a:rPr sz="16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luggage</a:t>
            </a:r>
            <a:pPr algn="ctr"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3" name=""/>
          <p:cNvSpPr txBox="1"/>
          <p:nvPr/>
        </p:nvSpPr>
        <p:spPr>
          <a:xfrm>
            <a:off x="1543050" y="5038725"/>
            <a:ext cx="17430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荷物が多すぎる。</a:t>
            </a:r>
          </a:p>
        </p:txBody>
      </p:sp>
      <p:sp>
        <p:nvSpPr>
          <p:cNvPr id="14" name=""/>
          <p:cNvSpPr/>
          <p:nvPr/>
        </p:nvSpPr>
        <p:spPr>
          <a:xfrm>
            <a:off x="4362450" y="2171700"/>
            <a:ext cx="3467100" cy="3343275"/>
          </a:xfrm>
          <a:prstGeom prst="roundRect">
            <a:avLst>
              <a:gd name="adj" fmla="val 797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4495800" y="2305050"/>
            <a:ext cx="3200400" cy="1476375"/>
          </a:xfrm>
          <a:prstGeom prst="roundRect">
            <a:avLst>
              <a:gd name="adj" fmla="val 11613"/>
            </a:avLst>
          </a:prstGeom>
          <a:solidFill>
            <a:srgbClr val="FFE4EC"/>
          </a:solidFill>
          <a:ln/>
        </p:spPr>
      </p:sp>
      <p:pic>
        <p:nvPicPr>
          <p:cNvPr id="16" name="Image 1" descr="アクセサリ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625" y="2333625"/>
            <a:ext cx="1428750" cy="142875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5524500" y="3876675"/>
            <a:ext cx="166687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C2340"/>
                </a:solidFill>
                <a:latin typeface="DM Sans"/>
                <a:ea typeface="DM Sans"/>
              </a:rPr>
              <a:t>jewelry</a:t>
            </a:r>
          </a:p>
        </p:txBody>
      </p:sp>
      <p:sp>
        <p:nvSpPr>
          <p:cNvPr id="18" name=""/>
          <p:cNvSpPr txBox="1"/>
          <p:nvPr/>
        </p:nvSpPr>
        <p:spPr>
          <a:xfrm>
            <a:off x="4562475" y="4324350"/>
            <a:ext cx="38766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アクセサリー（指輪・ネックレスなど）</a:t>
            </a:r>
          </a:p>
        </p:txBody>
      </p:sp>
      <p:sp>
        <p:nvSpPr>
          <p:cNvPr id="19" name=""/>
          <p:cNvSpPr/>
          <p:nvPr/>
        </p:nvSpPr>
        <p:spPr>
          <a:xfrm>
            <a:off x="4495800" y="4686300"/>
            <a:ext cx="3200400" cy="657225"/>
          </a:xfrm>
          <a:prstGeom prst="roundRect">
            <a:avLst>
              <a:gd name="adj" fmla="val 20290"/>
            </a:avLst>
          </a:prstGeom>
          <a:solidFill>
            <a:srgbClr val="F5F8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4895850" y="4762500"/>
            <a:ext cx="2390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She loves </a:t>
            </a:r>
            <a:pPr algn="ctr"/>
            <a:r>
              <a:rPr sz="16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jewelry</a:t>
            </a:r>
            <a:pPr algn="ctr"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21" name=""/>
          <p:cNvSpPr txBox="1"/>
          <p:nvPr/>
        </p:nvSpPr>
        <p:spPr>
          <a:xfrm>
            <a:off x="4543425" y="5038725"/>
            <a:ext cx="31146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彼女はアクセサリーが大好きです。</a:t>
            </a:r>
          </a:p>
        </p:txBody>
      </p:sp>
      <p:sp>
        <p:nvSpPr>
          <p:cNvPr id="22" name=""/>
          <p:cNvSpPr/>
          <p:nvPr/>
        </p:nvSpPr>
        <p:spPr>
          <a:xfrm>
            <a:off x="8039100" y="2171700"/>
            <a:ext cx="3467100" cy="3343275"/>
          </a:xfrm>
          <a:prstGeom prst="roundRect">
            <a:avLst>
              <a:gd name="adj" fmla="val 7977"/>
            </a:avLst>
          </a:prstGeom>
          <a:solidFill>
            <a:srgbClr val="FFFFFF"/>
          </a:solidFill>
          <a:ln/>
        </p:spPr>
      </p:sp>
      <p:sp>
        <p:nvSpPr>
          <p:cNvPr id="23" name=""/>
          <p:cNvSpPr/>
          <p:nvPr/>
        </p:nvSpPr>
        <p:spPr>
          <a:xfrm>
            <a:off x="8172450" y="2305050"/>
            <a:ext cx="3200400" cy="1476375"/>
          </a:xfrm>
          <a:prstGeom prst="roundRect">
            <a:avLst>
              <a:gd name="adj" fmla="val 11613"/>
            </a:avLst>
          </a:prstGeom>
          <a:solidFill>
            <a:srgbClr val="FFF2C9"/>
          </a:solidFill>
          <a:ln/>
        </p:spPr>
      </p:sp>
      <p:pic>
        <p:nvPicPr>
          <p:cNvPr id="24" name="Image 2" descr="郵便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8275" y="2333625"/>
            <a:ext cx="1428750" cy="1428750"/>
          </a:xfrm>
          <a:prstGeom prst="rect">
            <a:avLst/>
          </a:prstGeom>
        </p:spPr>
      </p:pic>
      <p:sp>
        <p:nvSpPr>
          <p:cNvPr id="25" name=""/>
          <p:cNvSpPr txBox="1"/>
          <p:nvPr/>
        </p:nvSpPr>
        <p:spPr>
          <a:xfrm>
            <a:off x="9439275" y="3876675"/>
            <a:ext cx="111442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C2340"/>
                </a:solidFill>
                <a:latin typeface="DM Sans"/>
                <a:ea typeface="DM Sans"/>
              </a:rPr>
              <a:t>mail</a:t>
            </a:r>
          </a:p>
        </p:txBody>
      </p:sp>
      <p:sp>
        <p:nvSpPr>
          <p:cNvPr id="26" name=""/>
          <p:cNvSpPr txBox="1"/>
          <p:nvPr/>
        </p:nvSpPr>
        <p:spPr>
          <a:xfrm>
            <a:off x="8743950" y="4324350"/>
            <a:ext cx="27051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郵便物（手紙・小包など）</a:t>
            </a:r>
          </a:p>
        </p:txBody>
      </p:sp>
      <p:sp>
        <p:nvSpPr>
          <p:cNvPr id="27" name=""/>
          <p:cNvSpPr/>
          <p:nvPr/>
        </p:nvSpPr>
        <p:spPr>
          <a:xfrm>
            <a:off x="8172450" y="4686300"/>
            <a:ext cx="3200400" cy="657225"/>
          </a:xfrm>
          <a:prstGeom prst="roundRect">
            <a:avLst>
              <a:gd name="adj" fmla="val 20290"/>
            </a:avLst>
          </a:prstGeom>
          <a:solidFill>
            <a:srgbClr val="F5F8FC"/>
          </a:solidFill>
          <a:ln/>
        </p:spPr>
      </p:sp>
      <p:sp>
        <p:nvSpPr>
          <p:cNvPr id="28" name=""/>
          <p:cNvSpPr txBox="1"/>
          <p:nvPr/>
        </p:nvSpPr>
        <p:spPr>
          <a:xfrm>
            <a:off x="8686800" y="4762500"/>
            <a:ext cx="21717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I got </a:t>
            </a:r>
            <a:pPr algn="ctr"/>
            <a:r>
              <a:rPr sz="16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mail</a:t>
            </a:r>
            <a:pPr algn="ctr"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today.</a:t>
            </a:r>
          </a:p>
        </p:txBody>
      </p:sp>
      <p:sp>
        <p:nvSpPr>
          <p:cNvPr id="29" name=""/>
          <p:cNvSpPr txBox="1"/>
          <p:nvPr/>
        </p:nvSpPr>
        <p:spPr>
          <a:xfrm>
            <a:off x="8458200" y="5038725"/>
            <a:ext cx="26193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今日、郵便物が届きました。</a:t>
            </a:r>
          </a:p>
        </p:txBody>
      </p:sp>
      <p:sp>
        <p:nvSpPr>
          <p:cNvPr id="30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933450" y="5895975"/>
            <a:ext cx="130492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104900" y="5953125"/>
            <a:ext cx="14478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1つだけなら</a:t>
            </a:r>
          </a:p>
        </p:txBody>
      </p:sp>
      <p:sp>
        <p:nvSpPr>
          <p:cNvPr id="33" name=""/>
          <p:cNvSpPr txBox="1"/>
          <p:nvPr/>
        </p:nvSpPr>
        <p:spPr>
          <a:xfrm>
            <a:off x="2390775" y="5962650"/>
            <a:ext cx="6886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a piece of luggage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a piece of jewelry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a piece of mail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81248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3. 固有名詞（人・都市・国・施設）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666875"/>
            <a:ext cx="9715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7250" y="1724025"/>
            <a:ext cx="1066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Japan</a:t>
            </a:r>
          </a:p>
        </p:txBody>
      </p:sp>
      <p:sp>
        <p:nvSpPr>
          <p:cNvPr id="7" name=""/>
          <p:cNvSpPr/>
          <p:nvPr/>
        </p:nvSpPr>
        <p:spPr>
          <a:xfrm>
            <a:off x="1752600" y="1666875"/>
            <a:ext cx="9334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"/>
          <p:cNvSpPr txBox="1"/>
          <p:nvPr/>
        </p:nvSpPr>
        <p:spPr>
          <a:xfrm>
            <a:off x="1924050" y="1724025"/>
            <a:ext cx="10191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Tokyo</a:t>
            </a:r>
          </a:p>
        </p:txBody>
      </p:sp>
      <p:sp>
        <p:nvSpPr>
          <p:cNvPr id="9" name=""/>
          <p:cNvSpPr/>
          <p:nvPr/>
        </p:nvSpPr>
        <p:spPr>
          <a:xfrm>
            <a:off x="2781300" y="1666875"/>
            <a:ext cx="10477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2952750" y="1724025"/>
            <a:ext cx="11525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France</a:t>
            </a:r>
          </a:p>
        </p:txBody>
      </p:sp>
      <p:sp>
        <p:nvSpPr>
          <p:cNvPr id="11" name=""/>
          <p:cNvSpPr/>
          <p:nvPr/>
        </p:nvSpPr>
        <p:spPr>
          <a:xfrm>
            <a:off x="3924300" y="1666875"/>
            <a:ext cx="91440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4095750" y="1724025"/>
            <a:ext cx="1000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Kyoto</a:t>
            </a:r>
          </a:p>
        </p:txBody>
      </p:sp>
      <p:sp>
        <p:nvSpPr>
          <p:cNvPr id="13" name=""/>
          <p:cNvSpPr/>
          <p:nvPr/>
        </p:nvSpPr>
        <p:spPr>
          <a:xfrm>
            <a:off x="4933950" y="1666875"/>
            <a:ext cx="148590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5105400" y="1724025"/>
            <a:ext cx="16573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Disneyland</a:t>
            </a:r>
          </a:p>
        </p:txBody>
      </p:sp>
      <p:sp>
        <p:nvSpPr>
          <p:cNvPr id="15" name=""/>
          <p:cNvSpPr/>
          <p:nvPr/>
        </p:nvSpPr>
        <p:spPr>
          <a:xfrm>
            <a:off x="6515100" y="1666875"/>
            <a:ext cx="278130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6" name=""/>
          <p:cNvSpPr txBox="1"/>
          <p:nvPr/>
        </p:nvSpPr>
        <p:spPr>
          <a:xfrm>
            <a:off x="6686550" y="1724025"/>
            <a:ext cx="31432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Universal Studios Japan</a:t>
            </a:r>
          </a:p>
        </p:txBody>
      </p:sp>
      <p:sp>
        <p:nvSpPr>
          <p:cNvPr id="17" name=""/>
          <p:cNvSpPr/>
          <p:nvPr/>
        </p:nvSpPr>
        <p:spPr>
          <a:xfrm>
            <a:off x="685800" y="2276475"/>
            <a:ext cx="10820400" cy="9525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18" name="Image 0" descr="ケ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352675"/>
            <a:ext cx="800100" cy="80010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1943100" y="2438400"/>
            <a:ext cx="37623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Ken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is my best friend.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2828925"/>
            <a:ext cx="2286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ケンは私の親友です。</a:t>
            </a:r>
          </a:p>
        </p:txBody>
      </p:sp>
      <p:sp>
        <p:nvSpPr>
          <p:cNvPr id="21" name=""/>
          <p:cNvSpPr/>
          <p:nvPr/>
        </p:nvSpPr>
        <p:spPr>
          <a:xfrm>
            <a:off x="10306050" y="2562225"/>
            <a:ext cx="914400" cy="39052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2" name=""/>
          <p:cNvSpPr txBox="1"/>
          <p:nvPr/>
        </p:nvSpPr>
        <p:spPr>
          <a:xfrm>
            <a:off x="10487025" y="2619375"/>
            <a:ext cx="561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1F6FB2"/>
                </a:solidFill>
                <a:latin typeface="Noto Sans JP"/>
                <a:ea typeface="Noto Sans JP"/>
              </a:rPr>
              <a:t>人</a:t>
            </a:r>
          </a:p>
        </p:txBody>
      </p:sp>
      <p:sp>
        <p:nvSpPr>
          <p:cNvPr id="23" name=""/>
          <p:cNvSpPr/>
          <p:nvPr/>
        </p:nvSpPr>
        <p:spPr>
          <a:xfrm>
            <a:off x="685800" y="3343275"/>
            <a:ext cx="10820400" cy="9525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24" name="Image 1" descr="京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419475"/>
            <a:ext cx="800100" cy="800100"/>
          </a:xfrm>
          <a:prstGeom prst="rect">
            <a:avLst/>
          </a:prstGeom>
        </p:spPr>
      </p:pic>
      <p:sp>
        <p:nvSpPr>
          <p:cNvPr id="25" name=""/>
          <p:cNvSpPr txBox="1"/>
          <p:nvPr/>
        </p:nvSpPr>
        <p:spPr>
          <a:xfrm>
            <a:off x="1943100" y="3505200"/>
            <a:ext cx="24765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live in </a:t>
            </a:r>
            <a:pPr/>
            <a:r>
              <a:rPr sz="22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Kyoto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26" name=""/>
          <p:cNvSpPr txBox="1"/>
          <p:nvPr/>
        </p:nvSpPr>
        <p:spPr>
          <a:xfrm>
            <a:off x="1943100" y="3895725"/>
            <a:ext cx="26765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私は京都に住んでいます。</a:t>
            </a:r>
          </a:p>
        </p:txBody>
      </p:sp>
      <p:sp>
        <p:nvSpPr>
          <p:cNvPr id="27" name=""/>
          <p:cNvSpPr/>
          <p:nvPr/>
        </p:nvSpPr>
        <p:spPr>
          <a:xfrm>
            <a:off x="10306050" y="3629025"/>
            <a:ext cx="914400" cy="39052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8" name=""/>
          <p:cNvSpPr txBox="1"/>
          <p:nvPr/>
        </p:nvSpPr>
        <p:spPr>
          <a:xfrm>
            <a:off x="10372725" y="3686175"/>
            <a:ext cx="7810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1F6FB2"/>
                </a:solidFill>
                <a:latin typeface="Noto Sans JP"/>
                <a:ea typeface="Noto Sans JP"/>
              </a:rPr>
              <a:t>都市</a:t>
            </a:r>
          </a:p>
        </p:txBody>
      </p:sp>
      <p:sp>
        <p:nvSpPr>
          <p:cNvPr id="29" name=""/>
          <p:cNvSpPr/>
          <p:nvPr/>
        </p:nvSpPr>
        <p:spPr>
          <a:xfrm>
            <a:off x="685800" y="4419600"/>
            <a:ext cx="10820400" cy="9525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30" name="Image 2" descr="日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4495800"/>
            <a:ext cx="800100" cy="800100"/>
          </a:xfrm>
          <a:prstGeom prst="rect">
            <a:avLst/>
          </a:prstGeom>
        </p:spPr>
      </p:pic>
      <p:sp>
        <p:nvSpPr>
          <p:cNvPr id="31" name=""/>
          <p:cNvSpPr txBox="1"/>
          <p:nvPr/>
        </p:nvSpPr>
        <p:spPr>
          <a:xfrm>
            <a:off x="1943100" y="4572000"/>
            <a:ext cx="27527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I'm from </a:t>
            </a:r>
            <a:pPr/>
            <a:r>
              <a:rPr sz="22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Japan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32" name=""/>
          <p:cNvSpPr txBox="1"/>
          <p:nvPr/>
        </p:nvSpPr>
        <p:spPr>
          <a:xfrm>
            <a:off x="1943100" y="4962525"/>
            <a:ext cx="2095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私は日本出身です。</a:t>
            </a:r>
          </a:p>
        </p:txBody>
      </p:sp>
      <p:sp>
        <p:nvSpPr>
          <p:cNvPr id="33" name=""/>
          <p:cNvSpPr/>
          <p:nvPr/>
        </p:nvSpPr>
        <p:spPr>
          <a:xfrm>
            <a:off x="10306050" y="4695825"/>
            <a:ext cx="914400" cy="39052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0487025" y="4752975"/>
            <a:ext cx="561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1F6FB2"/>
                </a:solidFill>
                <a:latin typeface="Noto Sans JP"/>
                <a:ea typeface="Noto Sans JP"/>
              </a:rPr>
              <a:t>国</a:t>
            </a:r>
          </a:p>
        </p:txBody>
      </p:sp>
      <p:sp>
        <p:nvSpPr>
          <p:cNvPr id="35" name=""/>
          <p:cNvSpPr/>
          <p:nvPr/>
        </p:nvSpPr>
        <p:spPr>
          <a:xfrm>
            <a:off x="685800" y="5486400"/>
            <a:ext cx="10820400" cy="9525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36" name="Image 3" descr="遊園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50" y="5562600"/>
            <a:ext cx="800100" cy="800100"/>
          </a:xfrm>
          <a:prstGeom prst="rect">
            <a:avLst/>
          </a:prstGeom>
        </p:spPr>
      </p:pic>
      <p:sp>
        <p:nvSpPr>
          <p:cNvPr id="37" name=""/>
          <p:cNvSpPr txBox="1"/>
          <p:nvPr/>
        </p:nvSpPr>
        <p:spPr>
          <a:xfrm>
            <a:off x="1943100" y="5638800"/>
            <a:ext cx="36290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went to </a:t>
            </a:r>
            <a:pPr/>
            <a:r>
              <a:rPr sz="225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Disneyland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38" name=""/>
          <p:cNvSpPr txBox="1"/>
          <p:nvPr/>
        </p:nvSpPr>
        <p:spPr>
          <a:xfrm>
            <a:off x="1943100" y="6029325"/>
            <a:ext cx="32861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ディズニーランドに行きました。</a:t>
            </a:r>
          </a:p>
        </p:txBody>
      </p:sp>
      <p:sp>
        <p:nvSpPr>
          <p:cNvPr id="39" name=""/>
          <p:cNvSpPr/>
          <p:nvPr/>
        </p:nvSpPr>
        <p:spPr>
          <a:xfrm>
            <a:off x="10306050" y="5762625"/>
            <a:ext cx="914400" cy="39052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40" name=""/>
          <p:cNvSpPr txBox="1"/>
          <p:nvPr/>
        </p:nvSpPr>
        <p:spPr>
          <a:xfrm>
            <a:off x="10372725" y="5819775"/>
            <a:ext cx="7810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1F6FB2"/>
                </a:solidFill>
                <a:latin typeface="Noto Sans JP"/>
                <a:ea typeface="Noto Sans JP"/>
              </a:rPr>
              <a:t>施設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113538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ただし、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が名前の一部になっているものもある</a:t>
            </a:r>
          </a:p>
        </p:txBody>
      </p:sp>
      <p:sp>
        <p:nvSpPr>
          <p:cNvPr id="6" name=""/>
          <p:cNvSpPr txBox="1"/>
          <p:nvPr/>
        </p:nvSpPr>
        <p:spPr>
          <a:xfrm>
            <a:off x="685800" y="1924050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有名な建物・作品など</a:t>
            </a:r>
          </a:p>
        </p:txBody>
      </p:sp>
      <p:sp>
        <p:nvSpPr>
          <p:cNvPr id="7" name=""/>
          <p:cNvSpPr/>
          <p:nvPr/>
        </p:nvSpPr>
        <p:spPr>
          <a:xfrm>
            <a:off x="685800" y="2400300"/>
            <a:ext cx="2581275" cy="40386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8" name=""/>
          <p:cNvSpPr/>
          <p:nvPr/>
        </p:nvSpPr>
        <p:spPr>
          <a:xfrm>
            <a:off x="819150" y="2533650"/>
            <a:ext cx="2314575" cy="2638425"/>
          </a:xfrm>
          <a:prstGeom prst="roundRect">
            <a:avLst>
              <a:gd name="adj" fmla="val 7407"/>
            </a:avLst>
          </a:prstGeom>
          <a:solidFill>
            <a:srgbClr val="FFE8DC"/>
          </a:solidFill>
          <a:ln/>
        </p:spPr>
      </p:sp>
      <p:pic>
        <p:nvPicPr>
          <p:cNvPr id="9" name="Image 0" descr="エッフェル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2050" y="3048000"/>
            <a:ext cx="1619250" cy="161925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1457325" y="5324475"/>
            <a:ext cx="15335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 Eiffel</a:t>
            </a:r>
          </a:p>
        </p:txBody>
      </p:sp>
      <p:sp>
        <p:nvSpPr>
          <p:cNvPr id="11" name=""/>
          <p:cNvSpPr txBox="1"/>
          <p:nvPr/>
        </p:nvSpPr>
        <p:spPr>
          <a:xfrm>
            <a:off x="1400175" y="5619750"/>
            <a:ext cx="11430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Tower</a:t>
            </a:r>
          </a:p>
        </p:txBody>
      </p:sp>
      <p:sp>
        <p:nvSpPr>
          <p:cNvPr id="12" name=""/>
          <p:cNvSpPr txBox="1"/>
          <p:nvPr/>
        </p:nvSpPr>
        <p:spPr>
          <a:xfrm>
            <a:off x="1457325" y="598170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エッフェル塔</a:t>
            </a:r>
          </a:p>
        </p:txBody>
      </p:sp>
      <p:sp>
        <p:nvSpPr>
          <p:cNvPr id="13" name=""/>
          <p:cNvSpPr/>
          <p:nvPr/>
        </p:nvSpPr>
        <p:spPr>
          <a:xfrm>
            <a:off x="3438525" y="2400300"/>
            <a:ext cx="2581275" cy="40386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3571875" y="2533650"/>
            <a:ext cx="2314575" cy="2638425"/>
          </a:xfrm>
          <a:prstGeom prst="roundRect">
            <a:avLst>
              <a:gd name="adj" fmla="val 7407"/>
            </a:avLst>
          </a:prstGeom>
          <a:solidFill>
            <a:srgbClr val="DDEFFC"/>
          </a:solidFill>
          <a:ln/>
        </p:spPr>
      </p:sp>
      <p:pic>
        <p:nvPicPr>
          <p:cNvPr id="15" name="Image 1" descr="自由の女神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4775" y="3048000"/>
            <a:ext cx="1619250" cy="16192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4105275" y="5324475"/>
            <a:ext cx="17526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 Statue</a:t>
            </a:r>
          </a:p>
        </p:txBody>
      </p:sp>
      <p:sp>
        <p:nvSpPr>
          <p:cNvPr id="17" name=""/>
          <p:cNvSpPr txBox="1"/>
          <p:nvPr/>
        </p:nvSpPr>
        <p:spPr>
          <a:xfrm>
            <a:off x="3905250" y="5619750"/>
            <a:ext cx="16383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of Liberty</a:t>
            </a:r>
          </a:p>
        </p:txBody>
      </p:sp>
      <p:sp>
        <p:nvSpPr>
          <p:cNvPr id="18" name=""/>
          <p:cNvSpPr txBox="1"/>
          <p:nvPr/>
        </p:nvSpPr>
        <p:spPr>
          <a:xfrm>
            <a:off x="4295775" y="5981700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自由の女神</a:t>
            </a:r>
          </a:p>
        </p:txBody>
      </p:sp>
      <p:sp>
        <p:nvSpPr>
          <p:cNvPr id="19" name=""/>
          <p:cNvSpPr/>
          <p:nvPr/>
        </p:nvSpPr>
        <p:spPr>
          <a:xfrm>
            <a:off x="6181725" y="2400300"/>
            <a:ext cx="2581275" cy="40386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20" name=""/>
          <p:cNvSpPr/>
          <p:nvPr/>
        </p:nvSpPr>
        <p:spPr>
          <a:xfrm>
            <a:off x="6315075" y="2533650"/>
            <a:ext cx="2314575" cy="2638425"/>
          </a:xfrm>
          <a:prstGeom prst="roundRect">
            <a:avLst>
              <a:gd name="adj" fmla="val 7407"/>
            </a:avLst>
          </a:prstGeom>
          <a:solidFill>
            <a:srgbClr val="FFF2C9"/>
          </a:solidFill>
          <a:ln/>
        </p:spPr>
      </p:sp>
      <p:pic>
        <p:nvPicPr>
          <p:cNvPr id="21" name="Image 2" descr="エンパイア・ステート・ビ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7975" y="3048000"/>
            <a:ext cx="1619250" cy="161925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6562725" y="5324475"/>
            <a:ext cx="1809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 algn="ctr"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 Empire</a:t>
            </a:r>
          </a:p>
        </p:txBody>
      </p:sp>
      <p:sp>
        <p:nvSpPr>
          <p:cNvPr id="23" name=""/>
          <p:cNvSpPr txBox="1"/>
          <p:nvPr/>
        </p:nvSpPr>
        <p:spPr>
          <a:xfrm>
            <a:off x="6657975" y="5619750"/>
            <a:ext cx="22193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State Building</a:t>
            </a:r>
          </a:p>
        </p:txBody>
      </p:sp>
      <p:sp>
        <p:nvSpPr>
          <p:cNvPr id="24" name=""/>
          <p:cNvSpPr txBox="1"/>
          <p:nvPr/>
        </p:nvSpPr>
        <p:spPr>
          <a:xfrm>
            <a:off x="6353175" y="5981700"/>
            <a:ext cx="29051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エンパイア・ステート・ビル</a:t>
            </a:r>
          </a:p>
        </p:txBody>
      </p:sp>
      <p:sp>
        <p:nvSpPr>
          <p:cNvPr id="25" name=""/>
          <p:cNvSpPr/>
          <p:nvPr/>
        </p:nvSpPr>
        <p:spPr>
          <a:xfrm>
            <a:off x="8934450" y="2400300"/>
            <a:ext cx="2581275" cy="403860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26" name=""/>
          <p:cNvSpPr/>
          <p:nvPr/>
        </p:nvSpPr>
        <p:spPr>
          <a:xfrm>
            <a:off x="9067800" y="2533650"/>
            <a:ext cx="2314575" cy="2638425"/>
          </a:xfrm>
          <a:prstGeom prst="roundRect">
            <a:avLst>
              <a:gd name="adj" fmla="val 7407"/>
            </a:avLst>
          </a:prstGeom>
          <a:solidFill>
            <a:srgbClr val="FFE4EC"/>
          </a:solidFill>
          <a:ln/>
        </p:spPr>
      </p:sp>
      <p:pic>
        <p:nvPicPr>
          <p:cNvPr id="27" name="Image 3" descr="モナ・リザ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0700" y="3048000"/>
            <a:ext cx="1619250" cy="1619250"/>
          </a:xfrm>
          <a:prstGeom prst="rect">
            <a:avLst/>
          </a:prstGeom>
        </p:spPr>
      </p:pic>
      <p:sp>
        <p:nvSpPr>
          <p:cNvPr id="28" name=""/>
          <p:cNvSpPr txBox="1"/>
          <p:nvPr/>
        </p:nvSpPr>
        <p:spPr>
          <a:xfrm>
            <a:off x="9677400" y="5324475"/>
            <a:ext cx="15906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 Mona</a:t>
            </a:r>
          </a:p>
        </p:txBody>
      </p:sp>
      <p:sp>
        <p:nvSpPr>
          <p:cNvPr id="29" name=""/>
          <p:cNvSpPr txBox="1"/>
          <p:nvPr/>
        </p:nvSpPr>
        <p:spPr>
          <a:xfrm>
            <a:off x="9782175" y="5619750"/>
            <a:ext cx="8763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Lisa</a:t>
            </a:r>
          </a:p>
        </p:txBody>
      </p:sp>
      <p:sp>
        <p:nvSpPr>
          <p:cNvPr id="30" name=""/>
          <p:cNvSpPr txBox="1"/>
          <p:nvPr/>
        </p:nvSpPr>
        <p:spPr>
          <a:xfrm>
            <a:off x="9791700" y="5981700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モナ・リザ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84677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国の名前にも、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がつくものがある</a:t>
            </a:r>
          </a:p>
        </p:txBody>
      </p:sp>
      <p:sp>
        <p:nvSpPr>
          <p:cNvPr id="6" name=""/>
          <p:cNvSpPr txBox="1"/>
          <p:nvPr/>
        </p:nvSpPr>
        <p:spPr>
          <a:xfrm>
            <a:off x="685800" y="1924050"/>
            <a:ext cx="63912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州・国・島などの「集まり」を表す国名には </a:t>
            </a:r>
            <a:pPr/>
            <a:r>
              <a:rPr sz="1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 がつく</a:t>
            </a:r>
          </a:p>
        </p:txBody>
      </p:sp>
      <p:sp>
        <p:nvSpPr>
          <p:cNvPr id="7" name=""/>
          <p:cNvSpPr/>
          <p:nvPr/>
        </p:nvSpPr>
        <p:spPr>
          <a:xfrm>
            <a:off x="685800" y="2409825"/>
            <a:ext cx="3495675" cy="3105150"/>
          </a:xfrm>
          <a:prstGeom prst="roundRect">
            <a:avLst>
              <a:gd name="adj" fmla="val 8589"/>
            </a:avLst>
          </a:prstGeom>
          <a:solidFill>
            <a:srgbClr val="FFFFFF"/>
          </a:solidFill>
          <a:ln/>
        </p:spPr>
      </p:sp>
      <p:sp>
        <p:nvSpPr>
          <p:cNvPr id="8" name=""/>
          <p:cNvSpPr/>
          <p:nvPr/>
        </p:nvSpPr>
        <p:spPr>
          <a:xfrm>
            <a:off x="819150" y="2543175"/>
            <a:ext cx="3228975" cy="1943100"/>
          </a:xfrm>
          <a:prstGeom prst="roundRect">
            <a:avLst>
              <a:gd name="adj" fmla="val 8824"/>
            </a:avLst>
          </a:prstGeom>
          <a:solidFill>
            <a:srgbClr val="FFF2C9"/>
          </a:solidFill>
          <a:ln/>
        </p:spPr>
      </p:sp>
      <p:pic>
        <p:nvPicPr>
          <p:cNvPr id="9" name="Image 0" descr="アメリカの国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9250" y="2705100"/>
            <a:ext cx="1619250" cy="161925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1200150" y="4638675"/>
            <a:ext cx="31813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United States</a:t>
            </a:r>
          </a:p>
        </p:txBody>
      </p:sp>
      <p:sp>
        <p:nvSpPr>
          <p:cNvPr id="11" name=""/>
          <p:cNvSpPr txBox="1"/>
          <p:nvPr/>
        </p:nvSpPr>
        <p:spPr>
          <a:xfrm>
            <a:off x="1200150" y="5057775"/>
            <a:ext cx="3171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アメリカ（State＝州の集まり）</a:t>
            </a:r>
          </a:p>
        </p:txBody>
      </p:sp>
      <p:sp>
        <p:nvSpPr>
          <p:cNvPr id="12" name=""/>
          <p:cNvSpPr/>
          <p:nvPr/>
        </p:nvSpPr>
        <p:spPr>
          <a:xfrm>
            <a:off x="4352925" y="2409825"/>
            <a:ext cx="3495675" cy="3105150"/>
          </a:xfrm>
          <a:prstGeom prst="roundRect">
            <a:avLst>
              <a:gd name="adj" fmla="val 8589"/>
            </a:avLst>
          </a:pr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4486275" y="2543175"/>
            <a:ext cx="3228975" cy="1943100"/>
          </a:xfrm>
          <a:prstGeom prst="roundRect">
            <a:avLst>
              <a:gd name="adj" fmla="val 8824"/>
            </a:avLst>
          </a:prstGeom>
          <a:solidFill>
            <a:srgbClr val="DDEFFC"/>
          </a:solidFill>
          <a:ln/>
        </p:spPr>
      </p:sp>
      <p:pic>
        <p:nvPicPr>
          <p:cNvPr id="14" name="Image 1" descr="イギリスの国旗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6375" y="2705100"/>
            <a:ext cx="1619250" cy="161925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5629275" y="4638675"/>
            <a:ext cx="14192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UK</a:t>
            </a:r>
          </a:p>
        </p:txBody>
      </p:sp>
      <p:sp>
        <p:nvSpPr>
          <p:cNvPr id="16" name=""/>
          <p:cNvSpPr txBox="1"/>
          <p:nvPr/>
        </p:nvSpPr>
        <p:spPr>
          <a:xfrm>
            <a:off x="4495800" y="5057775"/>
            <a:ext cx="40195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イギリス（United Kingdom＝連合王国）</a:t>
            </a:r>
          </a:p>
        </p:txBody>
      </p:sp>
      <p:sp>
        <p:nvSpPr>
          <p:cNvPr id="17" name=""/>
          <p:cNvSpPr/>
          <p:nvPr/>
        </p:nvSpPr>
        <p:spPr>
          <a:xfrm>
            <a:off x="8010525" y="2409825"/>
            <a:ext cx="3495675" cy="3105150"/>
          </a:xfrm>
          <a:prstGeom prst="roundRect">
            <a:avLst>
              <a:gd name="adj" fmla="val 8589"/>
            </a:avLst>
          </a:pr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8143875" y="2543175"/>
            <a:ext cx="3228975" cy="1943100"/>
          </a:xfrm>
          <a:prstGeom prst="roundRect">
            <a:avLst>
              <a:gd name="adj" fmla="val 8824"/>
            </a:avLst>
          </a:prstGeom>
          <a:solidFill>
            <a:srgbClr val="FFE4EC"/>
          </a:solidFill>
          <a:ln/>
        </p:spPr>
      </p:sp>
      <p:pic>
        <p:nvPicPr>
          <p:cNvPr id="19" name="Image 2" descr="フィリピンの国旗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0" y="2705100"/>
            <a:ext cx="1619250" cy="1619250"/>
          </a:xfrm>
          <a:prstGeom prst="rect">
            <a:avLst/>
          </a:prstGeom>
        </p:spPr>
      </p:pic>
      <p:sp>
        <p:nvSpPr>
          <p:cNvPr id="20" name=""/>
          <p:cNvSpPr txBox="1"/>
          <p:nvPr/>
        </p:nvSpPr>
        <p:spPr>
          <a:xfrm>
            <a:off x="8715375" y="4638675"/>
            <a:ext cx="27432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Philippines</a:t>
            </a:r>
          </a:p>
        </p:txBody>
      </p:sp>
      <p:sp>
        <p:nvSpPr>
          <p:cNvPr id="21" name=""/>
          <p:cNvSpPr txBox="1"/>
          <p:nvPr/>
        </p:nvSpPr>
        <p:spPr>
          <a:xfrm>
            <a:off x="8391525" y="5057775"/>
            <a:ext cx="34956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フィリピン（島の集まり＝複数形）</a:t>
            </a:r>
          </a:p>
        </p:txBody>
      </p:sp>
      <p:sp>
        <p:nvSpPr>
          <p:cNvPr id="22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23" name=""/>
          <p:cNvSpPr/>
          <p:nvPr/>
        </p:nvSpPr>
        <p:spPr>
          <a:xfrm>
            <a:off x="933450" y="58959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24" name=""/>
          <p:cNvSpPr txBox="1"/>
          <p:nvPr/>
        </p:nvSpPr>
        <p:spPr>
          <a:xfrm>
            <a:off x="1104900" y="59531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25" name=""/>
          <p:cNvSpPr txBox="1"/>
          <p:nvPr/>
        </p:nvSpPr>
        <p:spPr>
          <a:xfrm>
            <a:off x="2114550" y="5924550"/>
            <a:ext cx="76866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Japan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France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China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のような普通の国名には </a:t>
            </a:r>
            <a:pPr/>
            <a:r>
              <a:rPr sz="1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はつかない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2104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4. 言語（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English / Japanese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10820400" cy="1800225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</p:sp>
      <p:pic>
        <p:nvPicPr>
          <p:cNvPr id="6" name="Image 0" descr="英語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000250"/>
            <a:ext cx="1333500" cy="13335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2476500" y="2238375"/>
            <a:ext cx="46958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I'm studying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English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8" name=""/>
          <p:cNvSpPr txBox="1"/>
          <p:nvPr/>
        </p:nvSpPr>
        <p:spPr>
          <a:xfrm>
            <a:off x="2476500" y="2790825"/>
            <a:ext cx="34385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私は英語を勉強しています。</a:t>
            </a:r>
          </a:p>
        </p:txBody>
      </p:sp>
      <p:sp>
        <p:nvSpPr>
          <p:cNvPr id="9" name=""/>
          <p:cNvSpPr/>
          <p:nvPr/>
        </p:nvSpPr>
        <p:spPr>
          <a:xfrm>
            <a:off x="685800" y="3714750"/>
            <a:ext cx="10820400" cy="1800225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</p:sp>
      <p:pic>
        <p:nvPicPr>
          <p:cNvPr id="10" name="Image 1" descr="日本語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952875"/>
            <a:ext cx="1333500" cy="133350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2476500" y="4191000"/>
            <a:ext cx="40957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speak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Japanese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2" name=""/>
          <p:cNvSpPr txBox="1"/>
          <p:nvPr/>
        </p:nvSpPr>
        <p:spPr>
          <a:xfrm>
            <a:off x="2476500" y="4743450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私は日本語を話します。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933450" y="58959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04900" y="59531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6" name=""/>
          <p:cNvSpPr txBox="1"/>
          <p:nvPr/>
        </p:nvSpPr>
        <p:spPr>
          <a:xfrm>
            <a:off x="2114550" y="5924550"/>
            <a:ext cx="49149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言語の名前には、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も </a:t>
            </a:r>
            <a:pPr/>
            <a:r>
              <a:rPr sz="1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もつけない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88011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5. 食事（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breakfast / lunch / dinner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10820400" cy="1152525"/>
          </a:xfrm>
          <a:prstGeom prst="roundRect">
            <a:avLst>
              <a:gd name="adj" fmla="val 23140"/>
            </a:avLst>
          </a:prstGeom>
          <a:solidFill>
            <a:srgbClr val="FFFFFF"/>
          </a:solidFill>
          <a:ln/>
        </p:spPr>
      </p:sp>
      <p:pic>
        <p:nvPicPr>
          <p:cNvPr id="6" name="Image 0" descr="朝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1857375"/>
            <a:ext cx="952500" cy="9525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2095500" y="1943100"/>
            <a:ext cx="50006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 had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breakfast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at seven.</a:t>
            </a:r>
          </a:p>
        </p:txBody>
      </p:sp>
      <p:sp>
        <p:nvSpPr>
          <p:cNvPr id="8" name=""/>
          <p:cNvSpPr txBox="1"/>
          <p:nvPr/>
        </p:nvSpPr>
        <p:spPr>
          <a:xfrm>
            <a:off x="2095500" y="2447925"/>
            <a:ext cx="33147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7時に朝ごはんを食べました。</a:t>
            </a:r>
          </a:p>
        </p:txBody>
      </p:sp>
      <p:sp>
        <p:nvSpPr>
          <p:cNvPr id="9" name=""/>
          <p:cNvSpPr/>
          <p:nvPr/>
        </p:nvSpPr>
        <p:spPr>
          <a:xfrm>
            <a:off x="685800" y="3067050"/>
            <a:ext cx="10820400" cy="1152525"/>
          </a:xfrm>
          <a:prstGeom prst="roundRect">
            <a:avLst>
              <a:gd name="adj" fmla="val 23140"/>
            </a:avLst>
          </a:prstGeom>
          <a:solidFill>
            <a:srgbClr val="FFFFFF"/>
          </a:solidFill>
          <a:ln/>
        </p:spPr>
      </p:sp>
      <p:pic>
        <p:nvPicPr>
          <p:cNvPr id="10" name="Image 1" descr="昼食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162300"/>
            <a:ext cx="952500" cy="95250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2095500" y="3248025"/>
            <a:ext cx="52292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Let's have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lunch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 together.</a:t>
            </a:r>
          </a:p>
        </p:txBody>
      </p:sp>
      <p:sp>
        <p:nvSpPr>
          <p:cNvPr id="12" name=""/>
          <p:cNvSpPr txBox="1"/>
          <p:nvPr/>
        </p:nvSpPr>
        <p:spPr>
          <a:xfrm>
            <a:off x="2095500" y="3752850"/>
            <a:ext cx="3400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一緒にお昼ごはんを食べよう。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4362450"/>
            <a:ext cx="10820400" cy="1152525"/>
          </a:xfrm>
          <a:prstGeom prst="roundRect">
            <a:avLst>
              <a:gd name="adj" fmla="val 23140"/>
            </a:avLst>
          </a:prstGeom>
          <a:solidFill>
            <a:srgbClr val="FFFFFF"/>
          </a:solidFill>
          <a:ln/>
        </p:spPr>
      </p:sp>
      <p:pic>
        <p:nvPicPr>
          <p:cNvPr id="14" name="Image 2" descr="夕食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4467225"/>
            <a:ext cx="952500" cy="9525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2095500" y="4552950"/>
            <a:ext cx="38290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What's for </a:t>
            </a:r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dinner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16" name=""/>
          <p:cNvSpPr txBox="1"/>
          <p:nvPr/>
        </p:nvSpPr>
        <p:spPr>
          <a:xfrm>
            <a:off x="2095500" y="505777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夕ごはんは何？</a:t>
            </a:r>
          </a:p>
        </p:txBody>
      </p:sp>
      <p:sp>
        <p:nvSpPr>
          <p:cNvPr id="17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933450" y="5895975"/>
            <a:ext cx="13525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04900" y="5953125"/>
            <a:ext cx="15049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覚えておこう</a:t>
            </a:r>
          </a:p>
        </p:txBody>
      </p:sp>
      <p:sp>
        <p:nvSpPr>
          <p:cNvPr id="20" name=""/>
          <p:cNvSpPr txBox="1"/>
          <p:nvPr/>
        </p:nvSpPr>
        <p:spPr>
          <a:xfrm>
            <a:off x="2438400" y="5924550"/>
            <a:ext cx="104679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基本は無冠詞。でも形容詞がつくと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：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I had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big breakfast.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（朝ごはんをしっかり食べた）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42672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6. 祝日・ホリデー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10820400" cy="2276475"/>
          </a:xfrm>
          <a:prstGeom prst="roundRect">
            <a:avLst>
              <a:gd name="adj" fmla="val 11715"/>
            </a:avLst>
          </a:prstGeom>
          <a:solidFill>
            <a:srgbClr val="FFFFFF"/>
          </a:solidFill>
          <a:ln/>
        </p:spPr>
      </p:sp>
      <p:pic>
        <p:nvPicPr>
          <p:cNvPr id="6" name="Image 0" descr="ハロウィ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200275"/>
            <a:ext cx="1333500" cy="13335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2476500" y="2438400"/>
            <a:ext cx="95535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What are you dressing up as for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Halloween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8" name=""/>
          <p:cNvSpPr txBox="1"/>
          <p:nvPr/>
        </p:nvSpPr>
        <p:spPr>
          <a:xfrm>
            <a:off x="2476500" y="2990850"/>
            <a:ext cx="3962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ハロウィンはどんな仮装をする？</a:t>
            </a:r>
          </a:p>
        </p:txBody>
      </p:sp>
      <p:sp>
        <p:nvSpPr>
          <p:cNvPr id="9" name=""/>
          <p:cNvSpPr/>
          <p:nvPr/>
        </p:nvSpPr>
        <p:spPr>
          <a:xfrm>
            <a:off x="685800" y="4162425"/>
            <a:ext cx="10820400" cy="2276475"/>
          </a:xfrm>
          <a:prstGeom prst="roundRect">
            <a:avLst>
              <a:gd name="adj" fmla="val 11715"/>
            </a:avLst>
          </a:prstGeom>
          <a:solidFill>
            <a:srgbClr val="FFFFFF"/>
          </a:solidFill>
          <a:ln/>
        </p:spPr>
      </p:sp>
      <p:pic>
        <p:nvPicPr>
          <p:cNvPr id="10" name="Image 1" descr="クリスマス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4629150"/>
            <a:ext cx="1333500" cy="133350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2476500" y="4867275"/>
            <a:ext cx="72771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Christmas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is my favorite holiday!</a:t>
            </a:r>
          </a:p>
        </p:txBody>
      </p:sp>
      <p:sp>
        <p:nvSpPr>
          <p:cNvPr id="12" name=""/>
          <p:cNvSpPr txBox="1"/>
          <p:nvPr/>
        </p:nvSpPr>
        <p:spPr>
          <a:xfrm>
            <a:off x="2476500" y="5419725"/>
            <a:ext cx="51435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クリスマスは私の一番好きなホリデーです！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0866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ほかにもある、よく使う無冠詞</a:t>
            </a:r>
          </a:p>
        </p:txBody>
      </p:sp>
      <p:sp>
        <p:nvSpPr>
          <p:cNvPr id="5" name=""/>
          <p:cNvSpPr/>
          <p:nvPr/>
        </p:nvSpPr>
        <p:spPr>
          <a:xfrm>
            <a:off x="685800" y="1704975"/>
            <a:ext cx="5324475" cy="1819275"/>
          </a:xfrm>
          <a:prstGeom prst="roundRect">
            <a:avLst>
              <a:gd name="adj" fmla="val 14660"/>
            </a:avLst>
          </a:prstGeom>
          <a:solidFill>
            <a:srgbClr val="FFFFFF"/>
          </a:solidFill>
          <a:ln/>
        </p:spPr>
      </p:sp>
      <p:pic>
        <p:nvPicPr>
          <p:cNvPr id="6" name="Image 0" descr="学校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2028825"/>
            <a:ext cx="1181100" cy="1181100"/>
          </a:xfrm>
          <a:prstGeom prst="rect">
            <a:avLst/>
          </a:prstGeom>
        </p:spPr>
      </p:pic>
      <p:sp>
        <p:nvSpPr>
          <p:cNvPr id="7" name=""/>
          <p:cNvSpPr/>
          <p:nvPr/>
        </p:nvSpPr>
        <p:spPr>
          <a:xfrm>
            <a:off x="2343150" y="1943100"/>
            <a:ext cx="1885950" cy="2952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8" name=""/>
          <p:cNvSpPr txBox="1"/>
          <p:nvPr/>
        </p:nvSpPr>
        <p:spPr>
          <a:xfrm>
            <a:off x="2476500" y="1971675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F6FB2"/>
                </a:solidFill>
                <a:latin typeface="Noto Sans JP"/>
                <a:ea typeface="Noto Sans JP"/>
              </a:rPr>
              <a:t>本来の目的で使う場所</a:t>
            </a:r>
          </a:p>
        </p:txBody>
      </p:sp>
      <p:sp>
        <p:nvSpPr>
          <p:cNvPr id="9" name=""/>
          <p:cNvSpPr txBox="1"/>
          <p:nvPr/>
        </p:nvSpPr>
        <p:spPr>
          <a:xfrm>
            <a:off x="2343150" y="2305050"/>
            <a:ext cx="2152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go to school</a:t>
            </a:r>
          </a:p>
        </p:txBody>
      </p:sp>
      <p:sp>
        <p:nvSpPr>
          <p:cNvPr id="10" name=""/>
          <p:cNvSpPr txBox="1"/>
          <p:nvPr/>
        </p:nvSpPr>
        <p:spPr>
          <a:xfrm>
            <a:off x="2343150" y="2657475"/>
            <a:ext cx="17335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go to bed</a:t>
            </a:r>
          </a:p>
        </p:txBody>
      </p:sp>
      <p:sp>
        <p:nvSpPr>
          <p:cNvPr id="11" name=""/>
          <p:cNvSpPr txBox="1"/>
          <p:nvPr/>
        </p:nvSpPr>
        <p:spPr>
          <a:xfrm>
            <a:off x="2343150" y="3048000"/>
            <a:ext cx="30384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学校に行く（勉強しに） ／ 寝る</a:t>
            </a:r>
          </a:p>
        </p:txBody>
      </p:sp>
      <p:sp>
        <p:nvSpPr>
          <p:cNvPr id="12" name=""/>
          <p:cNvSpPr/>
          <p:nvPr/>
        </p:nvSpPr>
        <p:spPr>
          <a:xfrm>
            <a:off x="6181725" y="1704975"/>
            <a:ext cx="5324475" cy="1819275"/>
          </a:xfrm>
          <a:prstGeom prst="roundRect">
            <a:avLst>
              <a:gd name="adj" fmla="val 14660"/>
            </a:avLst>
          </a:prstGeom>
          <a:solidFill>
            <a:srgbClr val="FFFFFF"/>
          </a:solidFill>
          <a:ln/>
        </p:spPr>
      </p:sp>
      <p:pic>
        <p:nvPicPr>
          <p:cNvPr id="13" name="Image 1" descr="バス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425" y="2028825"/>
            <a:ext cx="1181100" cy="1181100"/>
          </a:xfrm>
          <a:prstGeom prst="rect">
            <a:avLst/>
          </a:prstGeom>
        </p:spPr>
      </p:pic>
      <p:sp>
        <p:nvSpPr>
          <p:cNvPr id="14" name=""/>
          <p:cNvSpPr/>
          <p:nvPr/>
        </p:nvSpPr>
        <p:spPr>
          <a:xfrm>
            <a:off x="7839075" y="1943100"/>
            <a:ext cx="1638300" cy="2952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5" name=""/>
          <p:cNvSpPr txBox="1"/>
          <p:nvPr/>
        </p:nvSpPr>
        <p:spPr>
          <a:xfrm>
            <a:off x="7972425" y="1971675"/>
            <a:ext cx="19240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F6FB2"/>
                </a:solidFill>
                <a:latin typeface="Noto Sans JP"/>
                <a:ea typeface="Noto Sans JP"/>
              </a:rPr>
              <a:t>交通手段（by 〜）</a:t>
            </a:r>
          </a:p>
        </p:txBody>
      </p:sp>
      <p:sp>
        <p:nvSpPr>
          <p:cNvPr id="16" name=""/>
          <p:cNvSpPr txBox="1"/>
          <p:nvPr/>
        </p:nvSpPr>
        <p:spPr>
          <a:xfrm>
            <a:off x="7839075" y="2305050"/>
            <a:ext cx="1333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by bus</a:t>
            </a:r>
          </a:p>
        </p:txBody>
      </p:sp>
      <p:sp>
        <p:nvSpPr>
          <p:cNvPr id="17" name=""/>
          <p:cNvSpPr txBox="1"/>
          <p:nvPr/>
        </p:nvSpPr>
        <p:spPr>
          <a:xfrm>
            <a:off x="7839075" y="2657475"/>
            <a:ext cx="1485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by train</a:t>
            </a:r>
          </a:p>
        </p:txBody>
      </p:sp>
      <p:sp>
        <p:nvSpPr>
          <p:cNvPr id="18" name=""/>
          <p:cNvSpPr txBox="1"/>
          <p:nvPr/>
        </p:nvSpPr>
        <p:spPr>
          <a:xfrm>
            <a:off x="7839075" y="3048000"/>
            <a:ext cx="17335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バスで ／ 電車で</a:t>
            </a:r>
          </a:p>
        </p:txBody>
      </p:sp>
      <p:sp>
        <p:nvSpPr>
          <p:cNvPr id="19" name=""/>
          <p:cNvSpPr/>
          <p:nvPr/>
        </p:nvSpPr>
        <p:spPr>
          <a:xfrm>
            <a:off x="685800" y="3695700"/>
            <a:ext cx="5324475" cy="1819275"/>
          </a:xfrm>
          <a:prstGeom prst="roundRect">
            <a:avLst>
              <a:gd name="adj" fmla="val 14660"/>
            </a:avLst>
          </a:prstGeom>
          <a:solidFill>
            <a:srgbClr val="FFFFFF"/>
          </a:solidFill>
          <a:ln/>
        </p:spPr>
      </p:sp>
      <p:pic>
        <p:nvPicPr>
          <p:cNvPr id="20" name="Image 2" descr="テニス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019550"/>
            <a:ext cx="1181100" cy="1181100"/>
          </a:xfrm>
          <a:prstGeom prst="rect">
            <a:avLst/>
          </a:prstGeom>
        </p:spPr>
      </p:pic>
      <p:sp>
        <p:nvSpPr>
          <p:cNvPr id="21" name=""/>
          <p:cNvSpPr/>
          <p:nvPr/>
        </p:nvSpPr>
        <p:spPr>
          <a:xfrm>
            <a:off x="2343150" y="3933825"/>
            <a:ext cx="914400" cy="2952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2" name=""/>
          <p:cNvSpPr txBox="1"/>
          <p:nvPr/>
        </p:nvSpPr>
        <p:spPr>
          <a:xfrm>
            <a:off x="2476500" y="3962400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F6FB2"/>
                </a:solidFill>
                <a:latin typeface="Noto Sans JP"/>
                <a:ea typeface="Noto Sans JP"/>
              </a:rPr>
              <a:t>スポーツ</a:t>
            </a:r>
          </a:p>
        </p:txBody>
      </p:sp>
      <p:sp>
        <p:nvSpPr>
          <p:cNvPr id="23" name=""/>
          <p:cNvSpPr txBox="1"/>
          <p:nvPr/>
        </p:nvSpPr>
        <p:spPr>
          <a:xfrm>
            <a:off x="2343150" y="4295775"/>
            <a:ext cx="1990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play tennis</a:t>
            </a:r>
          </a:p>
        </p:txBody>
      </p:sp>
      <p:sp>
        <p:nvSpPr>
          <p:cNvPr id="24" name=""/>
          <p:cNvSpPr txBox="1"/>
          <p:nvPr/>
        </p:nvSpPr>
        <p:spPr>
          <a:xfrm>
            <a:off x="2343150" y="4648200"/>
            <a:ext cx="2076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play soccer</a:t>
            </a:r>
          </a:p>
        </p:txBody>
      </p:sp>
      <p:sp>
        <p:nvSpPr>
          <p:cNvPr id="25" name=""/>
          <p:cNvSpPr txBox="1"/>
          <p:nvPr/>
        </p:nvSpPr>
        <p:spPr>
          <a:xfrm>
            <a:off x="2343150" y="5038725"/>
            <a:ext cx="30384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テニスをする ／ サッカーをする</a:t>
            </a:r>
          </a:p>
        </p:txBody>
      </p:sp>
      <p:sp>
        <p:nvSpPr>
          <p:cNvPr id="26" name=""/>
          <p:cNvSpPr/>
          <p:nvPr/>
        </p:nvSpPr>
        <p:spPr>
          <a:xfrm>
            <a:off x="6181725" y="3695700"/>
            <a:ext cx="5324475" cy="1819275"/>
          </a:xfrm>
          <a:prstGeom prst="roundRect">
            <a:avLst>
              <a:gd name="adj" fmla="val 14660"/>
            </a:avLst>
          </a:prstGeom>
          <a:solidFill>
            <a:srgbClr val="FFFFFF"/>
          </a:solidFill>
          <a:ln/>
        </p:spPr>
      </p:sp>
      <p:pic>
        <p:nvPicPr>
          <p:cNvPr id="27" name="Image 3" descr="数学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8425" y="4019550"/>
            <a:ext cx="1181100" cy="1181100"/>
          </a:xfrm>
          <a:prstGeom prst="rect">
            <a:avLst/>
          </a:prstGeom>
        </p:spPr>
      </p:pic>
      <p:sp>
        <p:nvSpPr>
          <p:cNvPr id="28" name=""/>
          <p:cNvSpPr/>
          <p:nvPr/>
        </p:nvSpPr>
        <p:spPr>
          <a:xfrm>
            <a:off x="7839075" y="3933825"/>
            <a:ext cx="590550" cy="2952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9" name=""/>
          <p:cNvSpPr txBox="1"/>
          <p:nvPr/>
        </p:nvSpPr>
        <p:spPr>
          <a:xfrm>
            <a:off x="7972425" y="396240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F6FB2"/>
                </a:solidFill>
                <a:latin typeface="Noto Sans JP"/>
                <a:ea typeface="Noto Sans JP"/>
              </a:rPr>
              <a:t>教科</a:t>
            </a:r>
          </a:p>
        </p:txBody>
      </p:sp>
      <p:sp>
        <p:nvSpPr>
          <p:cNvPr id="30" name=""/>
          <p:cNvSpPr txBox="1"/>
          <p:nvPr/>
        </p:nvSpPr>
        <p:spPr>
          <a:xfrm>
            <a:off x="7839075" y="4295775"/>
            <a:ext cx="20669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study math</a:t>
            </a:r>
          </a:p>
        </p:txBody>
      </p:sp>
      <p:sp>
        <p:nvSpPr>
          <p:cNvPr id="31" name=""/>
          <p:cNvSpPr txBox="1"/>
          <p:nvPr/>
        </p:nvSpPr>
        <p:spPr>
          <a:xfrm>
            <a:off x="7839075" y="4648200"/>
            <a:ext cx="2457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study science</a:t>
            </a:r>
          </a:p>
        </p:txBody>
      </p:sp>
      <p:sp>
        <p:nvSpPr>
          <p:cNvPr id="32" name=""/>
          <p:cNvSpPr txBox="1"/>
          <p:nvPr/>
        </p:nvSpPr>
        <p:spPr>
          <a:xfrm>
            <a:off x="7839075" y="5038725"/>
            <a:ext cx="32194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数学を勉強する ／ 理科を勉強する</a:t>
            </a:r>
          </a:p>
        </p:txBody>
      </p:sp>
      <p:sp>
        <p:nvSpPr>
          <p:cNvPr id="33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34" name=""/>
          <p:cNvSpPr/>
          <p:nvPr/>
        </p:nvSpPr>
        <p:spPr>
          <a:xfrm>
            <a:off x="933450" y="58959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35" name=""/>
          <p:cNvSpPr txBox="1"/>
          <p:nvPr/>
        </p:nvSpPr>
        <p:spPr>
          <a:xfrm>
            <a:off x="1104900" y="59531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注意</a:t>
            </a:r>
          </a:p>
        </p:txBody>
      </p:sp>
      <p:sp>
        <p:nvSpPr>
          <p:cNvPr id="36" name=""/>
          <p:cNvSpPr txBox="1"/>
          <p:nvPr/>
        </p:nvSpPr>
        <p:spPr>
          <a:xfrm>
            <a:off x="1771650" y="5924550"/>
            <a:ext cx="98488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go to </a:t>
            </a:r>
            <a:pPr/>
            <a:r>
              <a:rPr sz="1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school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だと「（授業以外の用事で）その学校の建物に行く」という意味になる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190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Part 3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3432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無冠詞 まとめ</a:t>
            </a:r>
          </a:p>
        </p:txBody>
      </p:sp>
      <p:sp>
        <p:nvSpPr>
          <p:cNvPr id="5" name=""/>
          <p:cNvSpPr/>
          <p:nvPr/>
        </p:nvSpPr>
        <p:spPr>
          <a:xfrm>
            <a:off x="685800" y="1685925"/>
            <a:ext cx="10820400" cy="3981450"/>
          </a:xfrm>
          <a:prstGeom prst="roundRect">
            <a:avLst>
              <a:gd name="adj" fmla="val 6699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933450" y="183832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7" name=""/>
          <p:cNvSpPr txBox="1"/>
          <p:nvPr/>
        </p:nvSpPr>
        <p:spPr>
          <a:xfrm>
            <a:off x="1104900" y="189547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無冠詞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943100" y="1885950"/>
            <a:ext cx="36385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 も </a:t>
            </a:r>
            <a:pPr/>
            <a:r>
              <a:rPr sz="15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500">
                <a:solidFill>
                  <a:srgbClr val="1C2340"/>
                </a:solidFill>
                <a:latin typeface="Noto Sans JP"/>
                <a:ea typeface="Noto Sans JP"/>
              </a:rPr>
              <a:t> もつけないパターン</a:t>
            </a:r>
          </a:p>
        </p:txBody>
      </p:sp>
      <p:sp>
        <p:nvSpPr>
          <p:cNvPr id="9" name=""/>
          <p:cNvSpPr/>
          <p:nvPr/>
        </p:nvSpPr>
        <p:spPr>
          <a:xfrm>
            <a:off x="933450" y="2314575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10" name=""/>
          <p:cNvSpPr txBox="1"/>
          <p:nvPr/>
        </p:nvSpPr>
        <p:spPr>
          <a:xfrm>
            <a:off x="1314450" y="2419350"/>
            <a:ext cx="2219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複数名詞（〜全般）</a:t>
            </a:r>
          </a:p>
        </p:txBody>
      </p:sp>
      <p:sp>
        <p:nvSpPr>
          <p:cNvPr id="11" name=""/>
          <p:cNvSpPr/>
          <p:nvPr/>
        </p:nvSpPr>
        <p:spPr>
          <a:xfrm>
            <a:off x="933450" y="2409825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76300" y="2457450"/>
            <a:ext cx="4000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3" name=""/>
          <p:cNvSpPr txBox="1"/>
          <p:nvPr/>
        </p:nvSpPr>
        <p:spPr>
          <a:xfrm>
            <a:off x="4076700" y="2428875"/>
            <a:ext cx="33051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I like dogs. </a:t>
            </a:r>
            <a:pPr/>
            <a:r>
              <a:rPr sz="1600" b="1">
                <a:solidFill>
                  <a:srgbClr val="4A5270"/>
                </a:solidFill>
                <a:latin typeface="Noto Sans JP"/>
                <a:ea typeface="Noto Sans JP"/>
              </a:rPr>
              <a:t>／</a:t>
            </a:r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 I like movies.</a:t>
            </a:r>
          </a:p>
        </p:txBody>
      </p:sp>
      <p:sp>
        <p:nvSpPr>
          <p:cNvPr id="14" name=""/>
          <p:cNvSpPr/>
          <p:nvPr/>
        </p:nvSpPr>
        <p:spPr>
          <a:xfrm>
            <a:off x="933450" y="2781300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15" name=""/>
          <p:cNvSpPr txBox="1"/>
          <p:nvPr/>
        </p:nvSpPr>
        <p:spPr>
          <a:xfrm>
            <a:off x="1314450" y="2886075"/>
            <a:ext cx="3048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数えられない名詞（〜全般）</a:t>
            </a:r>
          </a:p>
        </p:txBody>
      </p:sp>
      <p:sp>
        <p:nvSpPr>
          <p:cNvPr id="16" name=""/>
          <p:cNvSpPr/>
          <p:nvPr/>
        </p:nvSpPr>
        <p:spPr>
          <a:xfrm>
            <a:off x="933450" y="2867025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857250" y="2914650"/>
            <a:ext cx="4381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8" name=""/>
          <p:cNvSpPr txBox="1"/>
          <p:nvPr/>
        </p:nvSpPr>
        <p:spPr>
          <a:xfrm>
            <a:off x="4076700" y="2895600"/>
            <a:ext cx="59340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I love music. </a:t>
            </a:r>
            <a:pPr/>
            <a:r>
              <a:rPr sz="1600" b="1">
                <a:solidFill>
                  <a:srgbClr val="4A5270"/>
                </a:solidFill>
                <a:latin typeface="Noto Sans JP"/>
                <a:ea typeface="Noto Sans JP"/>
              </a:rPr>
              <a:t>／</a:t>
            </a:r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 furniture / luggage / jewelry / mail</a:t>
            </a:r>
          </a:p>
        </p:txBody>
      </p:sp>
      <p:sp>
        <p:nvSpPr>
          <p:cNvPr id="19" name=""/>
          <p:cNvSpPr/>
          <p:nvPr/>
        </p:nvSpPr>
        <p:spPr>
          <a:xfrm>
            <a:off x="933450" y="3248025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20" name=""/>
          <p:cNvSpPr txBox="1"/>
          <p:nvPr/>
        </p:nvSpPr>
        <p:spPr>
          <a:xfrm>
            <a:off x="1314450" y="3343275"/>
            <a:ext cx="11715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固有名詞</a:t>
            </a:r>
          </a:p>
        </p:txBody>
      </p:sp>
      <p:sp>
        <p:nvSpPr>
          <p:cNvPr id="21" name=""/>
          <p:cNvSpPr/>
          <p:nvPr/>
        </p:nvSpPr>
        <p:spPr>
          <a:xfrm>
            <a:off x="933450" y="3333750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2" name=""/>
          <p:cNvSpPr txBox="1"/>
          <p:nvPr/>
        </p:nvSpPr>
        <p:spPr>
          <a:xfrm>
            <a:off x="857250" y="3381375"/>
            <a:ext cx="4381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3" name=""/>
          <p:cNvSpPr txBox="1"/>
          <p:nvPr/>
        </p:nvSpPr>
        <p:spPr>
          <a:xfrm>
            <a:off x="4076700" y="3343275"/>
            <a:ext cx="39909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Ken / Kyoto / Japan / Disneyland</a:t>
            </a:r>
          </a:p>
        </p:txBody>
      </p:sp>
      <p:sp>
        <p:nvSpPr>
          <p:cNvPr id="24" name=""/>
          <p:cNvSpPr/>
          <p:nvPr/>
        </p:nvSpPr>
        <p:spPr>
          <a:xfrm>
            <a:off x="933450" y="3705225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25" name=""/>
          <p:cNvSpPr txBox="1"/>
          <p:nvPr/>
        </p:nvSpPr>
        <p:spPr>
          <a:xfrm>
            <a:off x="1314450" y="3810000"/>
            <a:ext cx="762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言語</a:t>
            </a:r>
          </a:p>
        </p:txBody>
      </p:sp>
      <p:sp>
        <p:nvSpPr>
          <p:cNvPr id="26" name=""/>
          <p:cNvSpPr/>
          <p:nvPr/>
        </p:nvSpPr>
        <p:spPr>
          <a:xfrm>
            <a:off x="933450" y="3800475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847725" y="3848100"/>
            <a:ext cx="4572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28" name=""/>
          <p:cNvSpPr txBox="1"/>
          <p:nvPr/>
        </p:nvSpPr>
        <p:spPr>
          <a:xfrm>
            <a:off x="4076700" y="3810000"/>
            <a:ext cx="24479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English / Japanese</a:t>
            </a:r>
          </a:p>
        </p:txBody>
      </p:sp>
      <p:sp>
        <p:nvSpPr>
          <p:cNvPr id="29" name=""/>
          <p:cNvSpPr/>
          <p:nvPr/>
        </p:nvSpPr>
        <p:spPr>
          <a:xfrm>
            <a:off x="933450" y="4171950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30" name=""/>
          <p:cNvSpPr txBox="1"/>
          <p:nvPr/>
        </p:nvSpPr>
        <p:spPr>
          <a:xfrm>
            <a:off x="1314450" y="4276725"/>
            <a:ext cx="762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食事</a:t>
            </a:r>
          </a:p>
        </p:txBody>
      </p:sp>
      <p:sp>
        <p:nvSpPr>
          <p:cNvPr id="31" name=""/>
          <p:cNvSpPr/>
          <p:nvPr/>
        </p:nvSpPr>
        <p:spPr>
          <a:xfrm>
            <a:off x="933450" y="4257675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2" name=""/>
          <p:cNvSpPr txBox="1"/>
          <p:nvPr/>
        </p:nvSpPr>
        <p:spPr>
          <a:xfrm>
            <a:off x="857250" y="4305300"/>
            <a:ext cx="4381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5</a:t>
            </a:r>
          </a:p>
        </p:txBody>
      </p:sp>
      <p:sp>
        <p:nvSpPr>
          <p:cNvPr id="33" name=""/>
          <p:cNvSpPr txBox="1"/>
          <p:nvPr/>
        </p:nvSpPr>
        <p:spPr>
          <a:xfrm>
            <a:off x="4076700" y="4267200"/>
            <a:ext cx="32099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breakfast / lunch / dinner</a:t>
            </a:r>
          </a:p>
        </p:txBody>
      </p:sp>
      <p:sp>
        <p:nvSpPr>
          <p:cNvPr id="34" name=""/>
          <p:cNvSpPr/>
          <p:nvPr/>
        </p:nvSpPr>
        <p:spPr>
          <a:xfrm>
            <a:off x="933450" y="4638675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35" name=""/>
          <p:cNvSpPr txBox="1"/>
          <p:nvPr/>
        </p:nvSpPr>
        <p:spPr>
          <a:xfrm>
            <a:off x="1314450" y="4733925"/>
            <a:ext cx="18002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祝日・ホリデー</a:t>
            </a:r>
          </a:p>
        </p:txBody>
      </p:sp>
      <p:sp>
        <p:nvSpPr>
          <p:cNvPr id="36" name=""/>
          <p:cNvSpPr/>
          <p:nvPr/>
        </p:nvSpPr>
        <p:spPr>
          <a:xfrm>
            <a:off x="933450" y="4724400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7" name=""/>
          <p:cNvSpPr txBox="1"/>
          <p:nvPr/>
        </p:nvSpPr>
        <p:spPr>
          <a:xfrm>
            <a:off x="847725" y="4772025"/>
            <a:ext cx="4572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6</a:t>
            </a:r>
          </a:p>
        </p:txBody>
      </p:sp>
      <p:sp>
        <p:nvSpPr>
          <p:cNvPr id="38" name=""/>
          <p:cNvSpPr txBox="1"/>
          <p:nvPr/>
        </p:nvSpPr>
        <p:spPr>
          <a:xfrm>
            <a:off x="4076700" y="4733925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Halloween / Christmas</a:t>
            </a:r>
          </a:p>
        </p:txBody>
      </p:sp>
      <p:sp>
        <p:nvSpPr>
          <p:cNvPr id="39" name=""/>
          <p:cNvSpPr/>
          <p:nvPr/>
        </p:nvSpPr>
        <p:spPr>
          <a:xfrm>
            <a:off x="933450" y="5095875"/>
            <a:ext cx="10325100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sp>
        <p:nvSpPr>
          <p:cNvPr id="40" name=""/>
          <p:cNvSpPr txBox="1"/>
          <p:nvPr/>
        </p:nvSpPr>
        <p:spPr>
          <a:xfrm>
            <a:off x="1314450" y="5200650"/>
            <a:ext cx="11715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1C2340"/>
                </a:solidFill>
                <a:latin typeface="Noto Sans JP"/>
                <a:ea typeface="Noto Sans JP"/>
              </a:rPr>
              <a:t>ほかにも</a:t>
            </a:r>
          </a:p>
        </p:txBody>
      </p:sp>
      <p:sp>
        <p:nvSpPr>
          <p:cNvPr id="41" name=""/>
          <p:cNvSpPr/>
          <p:nvPr/>
        </p:nvSpPr>
        <p:spPr>
          <a:xfrm>
            <a:off x="933450" y="5191125"/>
            <a:ext cx="285750" cy="2857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42" name=""/>
          <p:cNvSpPr txBox="1"/>
          <p:nvPr/>
        </p:nvSpPr>
        <p:spPr>
          <a:xfrm>
            <a:off x="857250" y="5238750"/>
            <a:ext cx="4381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DM Sans"/>
                <a:ea typeface="DM Sans"/>
              </a:rPr>
              <a:t>+</a:t>
            </a:r>
          </a:p>
        </p:txBody>
      </p:sp>
      <p:sp>
        <p:nvSpPr>
          <p:cNvPr id="43" name=""/>
          <p:cNvSpPr txBox="1"/>
          <p:nvPr/>
        </p:nvSpPr>
        <p:spPr>
          <a:xfrm>
            <a:off x="4076700" y="5200650"/>
            <a:ext cx="567690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go to school / by bus / play tennis / study math</a:t>
            </a:r>
          </a:p>
        </p:txBody>
      </p:sp>
      <p:sp>
        <p:nvSpPr>
          <p:cNvPr id="44" name=""/>
          <p:cNvSpPr/>
          <p:nvPr/>
        </p:nvSpPr>
        <p:spPr>
          <a:xfrm>
            <a:off x="685800" y="5800725"/>
            <a:ext cx="10820400" cy="638175"/>
          </a:xfrm>
          <a:prstGeom prst="roundRect">
            <a:avLst>
              <a:gd name="adj" fmla="val 41791"/>
            </a:avLst>
          </a:prstGeom>
          <a:solidFill>
            <a:srgbClr val="FFFFFF"/>
          </a:solidFill>
          <a:ln/>
        </p:spPr>
      </p:sp>
      <p:sp>
        <p:nvSpPr>
          <p:cNvPr id="45" name=""/>
          <p:cNvSpPr/>
          <p:nvPr/>
        </p:nvSpPr>
        <p:spPr>
          <a:xfrm>
            <a:off x="914400" y="5934075"/>
            <a:ext cx="15240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46" name=""/>
          <p:cNvSpPr txBox="1"/>
          <p:nvPr/>
        </p:nvSpPr>
        <p:spPr>
          <a:xfrm>
            <a:off x="1085850" y="5991225"/>
            <a:ext cx="1704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the がつくとき</a:t>
            </a:r>
          </a:p>
        </p:txBody>
      </p:sp>
      <p:sp>
        <p:nvSpPr>
          <p:cNvPr id="47" name=""/>
          <p:cNvSpPr txBox="1"/>
          <p:nvPr/>
        </p:nvSpPr>
        <p:spPr>
          <a:xfrm>
            <a:off x="2571750" y="5991225"/>
            <a:ext cx="92297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 dogs next door</a:t>
            </a:r>
            <a:pPr/>
            <a:r>
              <a:rPr sz="1450">
                <a:solidFill>
                  <a:srgbClr val="1C2340"/>
                </a:solidFill>
                <a:latin typeface="Noto Sans JP"/>
                <a:ea typeface="Noto Sans JP"/>
              </a:rPr>
              <a:t>（特定できる） </a:t>
            </a:r>
            <a:pPr/>
            <a:r>
              <a:rPr sz="15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 United States </a:t>
            </a:r>
            <a:pPr/>
            <a:r>
              <a:rPr sz="150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5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500" b="1">
                <a:solidFill>
                  <a:srgbClr val="1C2340"/>
                </a:solidFill>
                <a:latin typeface="DM Sans"/>
                <a:ea typeface="DM Sans"/>
              </a:rPr>
              <a:t> Eiffel Tower</a:t>
            </a:r>
            <a:pPr/>
            <a:r>
              <a:rPr sz="1450">
                <a:solidFill>
                  <a:srgbClr val="1C2340"/>
                </a:solidFill>
                <a:latin typeface="Noto Sans JP"/>
                <a:ea typeface="Noto Sans JP"/>
              </a:rPr>
              <a:t>（名前の一部）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