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9" Type="http://schemas.openxmlformats.org/officeDocument/2006/relationships/presProps" Target="presProps.xml"/><Relationship Id="rId2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4.png"/><Relationship Id="rId5" Type="http://schemas.openxmlformats.org/officeDocument/2006/relationships/image" Target="../media/image-4-4.png"/><Relationship Id="rId6" Type="http://schemas.openxmlformats.org/officeDocument/2006/relationships/image" Target="../media/image-4-4.png"/><Relationship Id="rId7" Type="http://schemas.openxmlformats.org/officeDocument/2006/relationships/image" Target="../media/image-4-7.png"/><Relationship Id="rId8" Type="http://schemas.openxmlformats.org/officeDocument/2006/relationships/image" Target="../media/image-4-7.png"/><Relationship Id="rId9" Type="http://schemas.openxmlformats.org/officeDocument/2006/relationships/image" Target="../media/image-4-7.png"/><Relationship Id="rId10" Type="http://schemas.openxmlformats.org/officeDocument/2006/relationships/image" Target="../media/image-4-10.png"/><Relationship Id="rId11" Type="http://schemas.openxmlformats.org/officeDocument/2006/relationships/image" Target="../media/image-4-10.png"/><Relationship Id="rId12" Type="http://schemas.openxmlformats.org/officeDocument/2006/relationships/image" Target="../media/image-4-10.png"/><Relationship Id="rId13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1962150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76450"/>
            <a:ext cx="678180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 </a:t>
            </a:r>
            <a:pPr/>
            <a:r>
              <a:rPr sz="5700" b="1">
                <a:solidFill>
                  <a:srgbClr val="E8461E"/>
                </a:solidFill>
                <a:latin typeface="DM Sans"/>
                <a:ea typeface="DM Sans"/>
              </a:rPr>
              <a:t>Part 2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10050"/>
            <a:ext cx="5819775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不可算名詞と可算名詞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前回のおさらい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4695825" cy="4714875"/>
          </a:xfrm>
          <a:prstGeom prst="roundRect">
            <a:avLst>
              <a:gd name="adj" fmla="val 5680"/>
            </a:avLst>
          </a:prstGeom>
          <a:solidFill>
            <a:srgbClr val="FFE8DC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47750" y="2714625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7" name=""/>
          <p:cNvSpPr txBox="1"/>
          <p:nvPr/>
        </p:nvSpPr>
        <p:spPr>
          <a:xfrm>
            <a:off x="1047750" y="3429000"/>
            <a:ext cx="31718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1つの〜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8" name=""/>
          <p:cNvSpPr/>
          <p:nvPr/>
        </p:nvSpPr>
        <p:spPr>
          <a:xfrm>
            <a:off x="1047750" y="4248150"/>
            <a:ext cx="3971925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/>
        </p:spPr>
      </p:sp>
      <p:sp>
        <p:nvSpPr>
          <p:cNvPr id="9" name=""/>
          <p:cNvSpPr/>
          <p:nvPr/>
        </p:nvSpPr>
        <p:spPr>
          <a:xfrm>
            <a:off x="1200150" y="434340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171575" y="44100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676400" y="4371975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初めて会話に出てきたとき</a:t>
            </a:r>
          </a:p>
        </p:txBody>
      </p:sp>
      <p:sp>
        <p:nvSpPr>
          <p:cNvPr id="12" name=""/>
          <p:cNvSpPr/>
          <p:nvPr/>
        </p:nvSpPr>
        <p:spPr>
          <a:xfrm>
            <a:off x="1047750" y="4895850"/>
            <a:ext cx="3971925" cy="552450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1200150" y="499110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52525" y="50577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5" name=""/>
          <p:cNvSpPr txBox="1"/>
          <p:nvPr/>
        </p:nvSpPr>
        <p:spPr>
          <a:xfrm>
            <a:off x="1676400" y="501967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一般的なものをさすとき</a:t>
            </a:r>
          </a:p>
        </p:txBody>
      </p:sp>
      <p:sp>
        <p:nvSpPr>
          <p:cNvPr id="16" name=""/>
          <p:cNvSpPr/>
          <p:nvPr/>
        </p:nvSpPr>
        <p:spPr>
          <a:xfrm>
            <a:off x="5629275" y="1724025"/>
            <a:ext cx="5876925" cy="22669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pic>
        <p:nvPicPr>
          <p:cNvPr id="17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5025" y="2143125"/>
            <a:ext cx="1428750" cy="14287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7591425" y="2409825"/>
            <a:ext cx="16287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9" name=""/>
          <p:cNvSpPr txBox="1"/>
          <p:nvPr/>
        </p:nvSpPr>
        <p:spPr>
          <a:xfrm>
            <a:off x="7591425" y="3000375"/>
            <a:ext cx="2028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一般的な犬の話</a:t>
            </a:r>
          </a:p>
        </p:txBody>
      </p:sp>
      <p:sp>
        <p:nvSpPr>
          <p:cNvPr id="20" name=""/>
          <p:cNvSpPr/>
          <p:nvPr/>
        </p:nvSpPr>
        <p:spPr>
          <a:xfrm>
            <a:off x="5629275" y="4171950"/>
            <a:ext cx="5876925" cy="22669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5915025" y="4591050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22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772025"/>
            <a:ext cx="1066800" cy="1066800"/>
          </a:xfrm>
          <a:prstGeom prst="rect">
            <a:avLst/>
          </a:prstGeom>
        </p:spPr>
      </p:pic>
      <p:sp>
        <p:nvSpPr>
          <p:cNvPr id="23" name=""/>
          <p:cNvSpPr/>
          <p:nvPr/>
        </p:nvSpPr>
        <p:spPr>
          <a:xfrm>
            <a:off x="6267450" y="5791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153150" y="581977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5" name=""/>
          <p:cNvSpPr txBox="1"/>
          <p:nvPr/>
        </p:nvSpPr>
        <p:spPr>
          <a:xfrm>
            <a:off x="7591425" y="4857750"/>
            <a:ext cx="21431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6" name=""/>
          <p:cNvSpPr txBox="1"/>
          <p:nvPr/>
        </p:nvSpPr>
        <p:spPr>
          <a:xfrm>
            <a:off x="7591425" y="5448300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特定の犬の話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85925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大切なのは、この2つ</a:t>
            </a:r>
          </a:p>
        </p:txBody>
      </p:sp>
      <p:sp>
        <p:nvSpPr>
          <p:cNvPr id="6" name=""/>
          <p:cNvSpPr/>
          <p:nvPr/>
        </p:nvSpPr>
        <p:spPr>
          <a:xfrm>
            <a:off x="685800" y="2200275"/>
            <a:ext cx="5286375" cy="4238625"/>
          </a:xfrm>
          <a:prstGeom prst="roundRect">
            <a:avLst>
              <a:gd name="adj" fmla="val 6292"/>
            </a:avLst>
          </a:prstGeom>
          <a:solidFill>
            <a:srgbClr val="FFE8DC"/>
          </a:solidFill>
          <a:ln/>
        </p:spPr>
      </p:sp>
      <p:sp>
        <p:nvSpPr>
          <p:cNvPr id="7" name=""/>
          <p:cNvSpPr txBox="1"/>
          <p:nvPr/>
        </p:nvSpPr>
        <p:spPr>
          <a:xfrm>
            <a:off x="1028700" y="2466975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028700" y="3048000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9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0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1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2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6219825" y="2200275"/>
            <a:ext cx="5286375" cy="4238625"/>
          </a:xfrm>
          <a:prstGeom prst="roundRect">
            <a:avLst>
              <a:gd name="adj" fmla="val 6292"/>
            </a:avLst>
          </a:prstGeom>
          <a:solidFill>
            <a:srgbClr val="DDEFF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562725" y="2466975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5" name=""/>
          <p:cNvSpPr txBox="1"/>
          <p:nvPr/>
        </p:nvSpPr>
        <p:spPr>
          <a:xfrm>
            <a:off x="6562725" y="3048000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6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7" name="Image 3" descr="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18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19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6" name=""/>
          <p:cNvSpPr/>
          <p:nvPr/>
        </p:nvSpPr>
        <p:spPr>
          <a:xfrm>
            <a:off x="685800" y="2162175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</p:spPr>
      </p:sp>
      <p:sp>
        <p:nvSpPr>
          <p:cNvPr id="7" name=""/>
          <p:cNvSpPr txBox="1"/>
          <p:nvPr/>
        </p:nvSpPr>
        <p:spPr>
          <a:xfrm>
            <a:off x="933450" y="2762250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8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5575" y="2486025"/>
            <a:ext cx="647700" cy="6477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562225" y="3152775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0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575" y="2486025"/>
            <a:ext cx="647700" cy="647700"/>
          </a:xfrm>
          <a:prstGeom prst="rect">
            <a:avLst/>
          </a:prstGeom>
        </p:spPr>
      </p:pic>
      <p:pic>
        <p:nvPicPr>
          <p:cNvPr id="11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2486025"/>
            <a:ext cx="647700" cy="6477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371975" y="3152775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3" name=""/>
          <p:cNvSpPr/>
          <p:nvPr/>
        </p:nvSpPr>
        <p:spPr>
          <a:xfrm>
            <a:off x="6200775" y="2162175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448425" y="2762250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5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2486025"/>
            <a:ext cx="647700" cy="6477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8048625" y="3152775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17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2486025"/>
            <a:ext cx="647700" cy="647700"/>
          </a:xfrm>
          <a:prstGeom prst="rect">
            <a:avLst/>
          </a:prstGeom>
        </p:spPr>
      </p:pic>
      <p:pic>
        <p:nvPicPr>
          <p:cNvPr id="18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486025"/>
            <a:ext cx="647700" cy="6477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9848850" y="3152775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0" name=""/>
          <p:cNvSpPr/>
          <p:nvPr/>
        </p:nvSpPr>
        <p:spPr>
          <a:xfrm>
            <a:off x="685800" y="3943350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33450" y="4543425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2" name="Image 6" descr="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5575" y="4267200"/>
            <a:ext cx="647700" cy="6477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2628900" y="4933950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4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9575" y="4267200"/>
            <a:ext cx="647700" cy="647700"/>
          </a:xfrm>
          <a:prstGeom prst="rect">
            <a:avLst/>
          </a:prstGeom>
        </p:spPr>
      </p:pic>
      <p:pic>
        <p:nvPicPr>
          <p:cNvPr id="25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6325" y="4267200"/>
            <a:ext cx="647700" cy="6477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4429125" y="4933950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27" name=""/>
          <p:cNvSpPr/>
          <p:nvPr/>
        </p:nvSpPr>
        <p:spPr>
          <a:xfrm>
            <a:off x="6200775" y="3943350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448425" y="4543425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29" name="Image 9" descr="学生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0550" y="4267200"/>
            <a:ext cx="647700" cy="6477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7934325" y="4933950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1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4550" y="4267200"/>
            <a:ext cx="647700" cy="647700"/>
          </a:xfrm>
          <a:prstGeom prst="rect">
            <a:avLst/>
          </a:prstGeom>
        </p:spPr>
      </p:pic>
      <p:pic>
        <p:nvPicPr>
          <p:cNvPr id="32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1300" y="4267200"/>
            <a:ext cx="647700" cy="64770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9734550" y="4933950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35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6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7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7" name=""/>
          <p:cNvSpPr txBox="1"/>
          <p:nvPr/>
        </p:nvSpPr>
        <p:spPr>
          <a:xfrm>
            <a:off x="1676400" y="1676400"/>
            <a:ext cx="85915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はつけられない</a:t>
            </a:r>
          </a:p>
        </p:txBody>
      </p:sp>
      <p:sp>
        <p:nvSpPr>
          <p:cNvPr id="8" name=""/>
          <p:cNvSpPr txBox="1"/>
          <p:nvPr/>
        </p:nvSpPr>
        <p:spPr>
          <a:xfrm>
            <a:off x="685800" y="2171700"/>
            <a:ext cx="4914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不可算名詞には、よくあるパターンがある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</p:spPr>
      </p:sp>
      <p:sp>
        <p:nvSpPr>
          <p:cNvPr id="10" name=""/>
          <p:cNvSpPr/>
          <p:nvPr/>
        </p:nvSpPr>
        <p:spPr>
          <a:xfrm>
            <a:off x="1514475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495425" y="2905125"/>
            <a:ext cx="419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12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275" y="3933825"/>
            <a:ext cx="1295400" cy="129540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1504950" y="594360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液体</a:t>
            </a:r>
          </a:p>
        </p:txBody>
      </p:sp>
      <p:sp>
        <p:nvSpPr>
          <p:cNvPr id="14" name=""/>
          <p:cNvSpPr/>
          <p:nvPr/>
        </p:nvSpPr>
        <p:spPr>
          <a:xfrm>
            <a:off x="2876550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3714750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3667125" y="2905125"/>
            <a:ext cx="466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7" name="Image 1" descr="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50" y="3790950"/>
            <a:ext cx="1295400" cy="12954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3305175" y="5648325"/>
            <a:ext cx="1724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抽象的なもの</a:t>
            </a:r>
          </a:p>
        </p:txBody>
      </p:sp>
      <p:sp>
        <p:nvSpPr>
          <p:cNvPr id="19" name=""/>
          <p:cNvSpPr txBox="1"/>
          <p:nvPr/>
        </p:nvSpPr>
        <p:spPr>
          <a:xfrm>
            <a:off x="3152775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情報・概念</a:t>
            </a:r>
          </a:p>
        </p:txBody>
      </p:sp>
      <p:sp>
        <p:nvSpPr>
          <p:cNvPr id="20" name=""/>
          <p:cNvSpPr/>
          <p:nvPr/>
        </p:nvSpPr>
        <p:spPr>
          <a:xfrm>
            <a:off x="5076825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5905500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5857875" y="2905125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3" name="Image 2" descr="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0" y="3790950"/>
            <a:ext cx="1295400" cy="12954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5591175" y="5648325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気体・粉末</a:t>
            </a:r>
          </a:p>
        </p:txBody>
      </p:sp>
      <p:sp>
        <p:nvSpPr>
          <p:cNvPr id="25" name=""/>
          <p:cNvSpPr txBox="1"/>
          <p:nvPr/>
        </p:nvSpPr>
        <p:spPr>
          <a:xfrm>
            <a:off x="5591175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粒状のもの</a:t>
            </a:r>
          </a:p>
        </p:txBody>
      </p:sp>
      <p:sp>
        <p:nvSpPr>
          <p:cNvPr id="26" name=""/>
          <p:cNvSpPr/>
          <p:nvPr/>
        </p:nvSpPr>
        <p:spPr>
          <a:xfrm>
            <a:off x="7267575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8096250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048625" y="2905125"/>
            <a:ext cx="485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29" name="Image 3" descr="木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050" y="3933825"/>
            <a:ext cx="1295400" cy="12954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7791450" y="594360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素材・材料</a:t>
            </a:r>
          </a:p>
        </p:txBody>
      </p:sp>
      <p:sp>
        <p:nvSpPr>
          <p:cNvPr id="31" name=""/>
          <p:cNvSpPr/>
          <p:nvPr/>
        </p:nvSpPr>
        <p:spPr>
          <a:xfrm>
            <a:off x="9467850" y="2647950"/>
            <a:ext cx="2038350" cy="3790950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10296525" y="28384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0248900" y="2905125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4" name="Image 4" descr="雨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9325" y="3790950"/>
            <a:ext cx="1295400" cy="1295400"/>
          </a:xfrm>
          <a:prstGeom prst="rect">
            <a:avLst/>
          </a:prstGeom>
        </p:spPr>
      </p:pic>
      <p:sp>
        <p:nvSpPr>
          <p:cNvPr id="35" name=""/>
          <p:cNvSpPr txBox="1"/>
          <p:nvPr/>
        </p:nvSpPr>
        <p:spPr>
          <a:xfrm>
            <a:off x="10086975" y="564832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天候</a:t>
            </a:r>
          </a:p>
        </p:txBody>
      </p:sp>
      <p:sp>
        <p:nvSpPr>
          <p:cNvPr id="36" name=""/>
          <p:cNvSpPr txBox="1"/>
          <p:nvPr/>
        </p:nvSpPr>
        <p:spPr>
          <a:xfrm>
            <a:off x="10086975" y="5943600"/>
            <a:ext cx="1266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自然現象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8954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① 液体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8096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液体そのものは 1つ・2つと数えず、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ひとまとまり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として扱う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9" name=""/>
          <p:cNvSpPr/>
          <p:nvPr/>
        </p:nvSpPr>
        <p:spPr>
          <a:xfrm>
            <a:off x="819150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0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81350"/>
            <a:ext cx="1428750" cy="14287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543050" y="5581650"/>
            <a:ext cx="13335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2" name=""/>
          <p:cNvSpPr txBox="1"/>
          <p:nvPr/>
        </p:nvSpPr>
        <p:spPr>
          <a:xfrm>
            <a:off x="18859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3571875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15" name="Image 1" descr="コーヒ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248150" y="5581650"/>
            <a:ext cx="14382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</a:p>
        </p:txBody>
      </p:sp>
      <p:sp>
        <p:nvSpPr>
          <p:cNvPr id="17" name=""/>
          <p:cNvSpPr txBox="1"/>
          <p:nvPr/>
        </p:nvSpPr>
        <p:spPr>
          <a:xfrm>
            <a:off x="4381500" y="60007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コーヒー</a:t>
            </a:r>
          </a:p>
        </p:txBody>
      </p:sp>
      <p:sp>
        <p:nvSpPr>
          <p:cNvPr id="18" name=""/>
          <p:cNvSpPr/>
          <p:nvPr/>
        </p:nvSpPr>
        <p:spPr>
          <a:xfrm>
            <a:off x="6181725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6315075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0" name="Image 2" descr="牛乳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153275" y="5581650"/>
            <a:ext cx="10763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milk</a:t>
            </a:r>
          </a:p>
        </p:txBody>
      </p:sp>
      <p:sp>
        <p:nvSpPr>
          <p:cNvPr id="22" name=""/>
          <p:cNvSpPr txBox="1"/>
          <p:nvPr/>
        </p:nvSpPr>
        <p:spPr>
          <a:xfrm>
            <a:off x="7296150" y="6000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牛乳</a:t>
            </a:r>
          </a:p>
        </p:txBody>
      </p:sp>
      <p:sp>
        <p:nvSpPr>
          <p:cNvPr id="23" name=""/>
          <p:cNvSpPr/>
          <p:nvPr/>
        </p:nvSpPr>
        <p:spPr>
          <a:xfrm>
            <a:off x="8934450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9067800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5" name="Image 3" descr="ジュー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9858375" y="5581650"/>
            <a:ext cx="1171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juice</a:t>
            </a:r>
          </a:p>
        </p:txBody>
      </p:sp>
      <p:sp>
        <p:nvSpPr>
          <p:cNvPr id="27" name=""/>
          <p:cNvSpPr txBox="1"/>
          <p:nvPr/>
        </p:nvSpPr>
        <p:spPr>
          <a:xfrm>
            <a:off x="9886950" y="6000750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ジュース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7251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ただし、飲み物を「1杯」として数えるときは…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E8DC"/>
          </a:solidFill>
          <a:ln/>
        </p:spPr>
      </p:sp>
      <p:pic>
        <p:nvPicPr>
          <p:cNvPr id="7" name="Image 0" descr="コーヒ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8875" y="2305050"/>
            <a:ext cx="1809750" cy="180975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90775" y="4210050"/>
            <a:ext cx="25050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75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9" name=""/>
          <p:cNvSpPr txBox="1"/>
          <p:nvPr/>
        </p:nvSpPr>
        <p:spPr>
          <a:xfrm>
            <a:off x="2743200" y="487680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コーヒー1杯</a:t>
            </a:r>
          </a:p>
        </p:txBody>
      </p:sp>
      <p:sp>
        <p:nvSpPr>
          <p:cNvPr id="10" name=""/>
          <p:cNvSpPr/>
          <p:nvPr/>
        </p:nvSpPr>
        <p:spPr>
          <a:xfrm>
            <a:off x="6219825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F2C9"/>
          </a:solidFill>
          <a:ln/>
        </p:spPr>
      </p:sp>
      <p:pic>
        <p:nvPicPr>
          <p:cNvPr id="11" name="Image 1" descr="コーヒ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305050"/>
            <a:ext cx="1809750" cy="1809750"/>
          </a:xfrm>
          <a:prstGeom prst="rect">
            <a:avLst/>
          </a:prstGeom>
        </p:spPr>
      </p:pic>
      <p:pic>
        <p:nvPicPr>
          <p:cNvPr id="12" name="Image 2" descr="コーヒ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305050"/>
            <a:ext cx="1809750" cy="180975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7496175" y="4210050"/>
            <a:ext cx="34956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DM Sans"/>
                <a:ea typeface="DM Sans"/>
              </a:rPr>
              <a:t>two coffees</a:t>
            </a:r>
          </a:p>
        </p:txBody>
      </p:sp>
      <p:sp>
        <p:nvSpPr>
          <p:cNvPr id="14" name=""/>
          <p:cNvSpPr txBox="1"/>
          <p:nvPr/>
        </p:nvSpPr>
        <p:spPr>
          <a:xfrm>
            <a:off x="8277225" y="487680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コーヒー2杯</a:t>
            </a:r>
          </a:p>
        </p:txBody>
      </p:sp>
      <p:sp>
        <p:nvSpPr>
          <p:cNvPr id="15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33450" y="58959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04900" y="59531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まとめ</a:t>
            </a:r>
          </a:p>
        </p:txBody>
      </p:sp>
      <p:sp>
        <p:nvSpPr>
          <p:cNvPr id="18" name=""/>
          <p:cNvSpPr txBox="1"/>
          <p:nvPr/>
        </p:nvSpPr>
        <p:spPr>
          <a:xfrm>
            <a:off x="1943100" y="5924550"/>
            <a:ext cx="10182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液体としての 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は数えない ／ 「1杯」として数えるときは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と言うことがある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715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② 抽象的なもの・情報・概念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5610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形のある「1個」として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区切りにくい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もの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</p:spPr>
      </p:sp>
      <p:sp>
        <p:nvSpPr>
          <p:cNvPr id="9" name=""/>
          <p:cNvSpPr/>
          <p:nvPr/>
        </p:nvSpPr>
        <p:spPr>
          <a:xfrm>
            <a:off x="819150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DDEFFC"/>
          </a:solidFill>
          <a:ln/>
        </p:spPr>
      </p:sp>
      <p:pic>
        <p:nvPicPr>
          <p:cNvPr id="10" name="Image 0" descr="音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3400425"/>
            <a:ext cx="1123950" cy="11239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209675" y="5715000"/>
            <a:ext cx="10858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</a:p>
        </p:txBody>
      </p:sp>
      <p:sp>
        <p:nvSpPr>
          <p:cNvPr id="12" name=""/>
          <p:cNvSpPr txBox="1"/>
          <p:nvPr/>
        </p:nvSpPr>
        <p:spPr>
          <a:xfrm>
            <a:off x="1381125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音楽</a:t>
            </a:r>
          </a:p>
        </p:txBody>
      </p:sp>
      <p:sp>
        <p:nvSpPr>
          <p:cNvPr id="13" name=""/>
          <p:cNvSpPr/>
          <p:nvPr/>
        </p:nvSpPr>
        <p:spPr>
          <a:xfrm>
            <a:off x="2514600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2647950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F2C9"/>
          </a:solidFill>
          <a:ln/>
        </p:spPr>
      </p:sp>
      <p:pic>
        <p:nvPicPr>
          <p:cNvPr id="15" name="Image 1" descr="情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825" y="3400425"/>
            <a:ext cx="1123950" cy="11239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733675" y="5715000"/>
            <a:ext cx="17716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7" name=""/>
          <p:cNvSpPr txBox="1"/>
          <p:nvPr/>
        </p:nvSpPr>
        <p:spPr>
          <a:xfrm>
            <a:off x="3200400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情報</a:t>
            </a:r>
          </a:p>
        </p:txBody>
      </p:sp>
      <p:sp>
        <p:nvSpPr>
          <p:cNvPr id="18" name=""/>
          <p:cNvSpPr/>
          <p:nvPr/>
        </p:nvSpPr>
        <p:spPr>
          <a:xfrm>
            <a:off x="4333875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4467225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E4EC"/>
          </a:solidFill>
          <a:ln/>
        </p:spPr>
      </p:sp>
      <p:pic>
        <p:nvPicPr>
          <p:cNvPr id="20" name="Image 2" descr="アドバイ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400425"/>
            <a:ext cx="1123950" cy="11239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4829175" y="5715000"/>
            <a:ext cx="1162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</a:p>
        </p:txBody>
      </p:sp>
      <p:sp>
        <p:nvSpPr>
          <p:cNvPr id="22" name=""/>
          <p:cNvSpPr txBox="1"/>
          <p:nvPr/>
        </p:nvSpPr>
        <p:spPr>
          <a:xfrm>
            <a:off x="4800600" y="6019800"/>
            <a:ext cx="1219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アドバイス</a:t>
            </a:r>
          </a:p>
        </p:txBody>
      </p:sp>
      <p:sp>
        <p:nvSpPr>
          <p:cNvPr id="23" name=""/>
          <p:cNvSpPr/>
          <p:nvPr/>
        </p:nvSpPr>
        <p:spPr>
          <a:xfrm>
            <a:off x="6162675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6296025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E8DC"/>
          </a:solidFill>
          <a:ln/>
        </p:spPr>
      </p:sp>
      <p:pic>
        <p:nvPicPr>
          <p:cNvPr id="25" name="Image 3" descr="お金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425" y="3400425"/>
            <a:ext cx="1123950" cy="11239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6638925" y="5715000"/>
            <a:ext cx="1190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</a:p>
        </p:txBody>
      </p:sp>
      <p:sp>
        <p:nvSpPr>
          <p:cNvPr id="27" name=""/>
          <p:cNvSpPr txBox="1"/>
          <p:nvPr/>
        </p:nvSpPr>
        <p:spPr>
          <a:xfrm>
            <a:off x="6858000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お金</a:t>
            </a:r>
          </a:p>
        </p:txBody>
      </p:sp>
      <p:sp>
        <p:nvSpPr>
          <p:cNvPr id="28" name=""/>
          <p:cNvSpPr/>
          <p:nvPr/>
        </p:nvSpPr>
        <p:spPr>
          <a:xfrm>
            <a:off x="7991475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8124825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E4EC"/>
          </a:solidFill>
          <a:ln/>
        </p:spPr>
      </p:sp>
      <p:pic>
        <p:nvPicPr>
          <p:cNvPr id="30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7700" y="3400425"/>
            <a:ext cx="1123950" cy="112395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8620125" y="5715000"/>
            <a:ext cx="838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32" name=""/>
          <p:cNvSpPr txBox="1"/>
          <p:nvPr/>
        </p:nvSpPr>
        <p:spPr>
          <a:xfrm>
            <a:off x="8753475" y="60198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33" name=""/>
          <p:cNvSpPr/>
          <p:nvPr/>
        </p:nvSpPr>
        <p:spPr>
          <a:xfrm>
            <a:off x="9810750" y="2209800"/>
            <a:ext cx="1695450" cy="4229100"/>
          </a:xfrm>
          <a:prstGeom prst="roundRect">
            <a:avLst>
              <a:gd name="adj" fmla="val 15730"/>
            </a:avLst>
          </a:prstGeom>
          <a:solidFill>
            <a:srgbClr val="FFFFFF"/>
          </a:solidFill>
          <a:ln/>
        </p:spPr>
      </p:sp>
      <p:sp>
        <p:nvSpPr>
          <p:cNvPr id="34" name=""/>
          <p:cNvSpPr/>
          <p:nvPr/>
        </p:nvSpPr>
        <p:spPr>
          <a:xfrm>
            <a:off x="9944100" y="2343150"/>
            <a:ext cx="1428750" cy="3238500"/>
          </a:xfrm>
          <a:prstGeom prst="roundRect">
            <a:avLst>
              <a:gd name="adj" fmla="val 12000"/>
            </a:avLst>
          </a:prstGeom>
          <a:solidFill>
            <a:srgbClr val="FFF2C9"/>
          </a:solidFill>
          <a:ln/>
        </p:spPr>
      </p:sp>
      <p:pic>
        <p:nvPicPr>
          <p:cNvPr id="35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6500" y="3400425"/>
            <a:ext cx="1123950" cy="1123950"/>
          </a:xfrm>
          <a:prstGeom prst="rect">
            <a:avLst/>
          </a:prstGeom>
        </p:spPr>
      </p:pic>
      <p:sp>
        <p:nvSpPr>
          <p:cNvPr id="36" name=""/>
          <p:cNvSpPr txBox="1"/>
          <p:nvPr/>
        </p:nvSpPr>
        <p:spPr>
          <a:xfrm>
            <a:off x="10115550" y="5715000"/>
            <a:ext cx="1600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37" name=""/>
          <p:cNvSpPr txBox="1"/>
          <p:nvPr/>
        </p:nvSpPr>
        <p:spPr>
          <a:xfrm>
            <a:off x="10506075" y="6019800"/>
            <a:ext cx="6953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5457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は不可算名詞！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pic>
        <p:nvPicPr>
          <p:cNvPr id="7" name="Image 0" descr="ド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28850"/>
            <a:ext cx="990600" cy="990600"/>
          </a:xfrm>
          <a:prstGeom prst="rect">
            <a:avLst/>
          </a:prstGeom>
        </p:spPr>
      </p:pic>
      <p:pic>
        <p:nvPicPr>
          <p:cNvPr id="8" name="Image 1" descr="円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300" y="2228850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81350" y="23717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お金の「単位」は</a:t>
            </a:r>
          </a:p>
        </p:txBody>
      </p:sp>
      <p:sp>
        <p:nvSpPr>
          <p:cNvPr id="10" name=""/>
          <p:cNvSpPr txBox="1"/>
          <p:nvPr/>
        </p:nvSpPr>
        <p:spPr>
          <a:xfrm>
            <a:off x="3181350" y="27146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数えられる</a:t>
            </a:r>
          </a:p>
        </p:txBody>
      </p:sp>
      <p:sp>
        <p:nvSpPr>
          <p:cNvPr id="11" name=""/>
          <p:cNvSpPr/>
          <p:nvPr/>
        </p:nvSpPr>
        <p:spPr>
          <a:xfrm>
            <a:off x="971550" y="3333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1143000" y="3524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038225" y="3562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"/>
          <p:cNvSpPr txBox="1"/>
          <p:nvPr/>
        </p:nvSpPr>
        <p:spPr>
          <a:xfrm>
            <a:off x="1657350" y="3429000"/>
            <a:ext cx="1771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one dollar</a:t>
            </a:r>
          </a:p>
        </p:txBody>
      </p:sp>
      <p:sp>
        <p:nvSpPr>
          <p:cNvPr id="15" name=""/>
          <p:cNvSpPr txBox="1"/>
          <p:nvPr/>
        </p:nvSpPr>
        <p:spPr>
          <a:xfrm>
            <a:off x="1657350" y="3762375"/>
            <a:ext cx="8286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1ドル</a:t>
            </a:r>
          </a:p>
        </p:txBody>
      </p:sp>
      <p:sp>
        <p:nvSpPr>
          <p:cNvPr id="16" name=""/>
          <p:cNvSpPr/>
          <p:nvPr/>
        </p:nvSpPr>
        <p:spPr>
          <a:xfrm>
            <a:off x="971550" y="4210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1143000" y="4400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038225" y="4438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9" name=""/>
          <p:cNvSpPr txBox="1"/>
          <p:nvPr/>
        </p:nvSpPr>
        <p:spPr>
          <a:xfrm>
            <a:off x="1657350" y="4305300"/>
            <a:ext cx="1447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100 yen</a:t>
            </a:r>
          </a:p>
        </p:txBody>
      </p:sp>
      <p:sp>
        <p:nvSpPr>
          <p:cNvPr id="20" name=""/>
          <p:cNvSpPr txBox="1"/>
          <p:nvPr/>
        </p:nvSpPr>
        <p:spPr>
          <a:xfrm>
            <a:off x="1657350" y="4638675"/>
            <a:ext cx="857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100円</a:t>
            </a:r>
          </a:p>
        </p:txBody>
      </p:sp>
      <p:sp>
        <p:nvSpPr>
          <p:cNvPr id="21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pic>
        <p:nvPicPr>
          <p:cNvPr id="22" name="Image 2" descr="お金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75" y="2228850"/>
            <a:ext cx="1066800" cy="10668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7743825" y="2409825"/>
            <a:ext cx="3190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「お金」という概念は</a:t>
            </a:r>
          </a:p>
        </p:txBody>
      </p:sp>
      <p:sp>
        <p:nvSpPr>
          <p:cNvPr id="24" name=""/>
          <p:cNvSpPr txBox="1"/>
          <p:nvPr/>
        </p:nvSpPr>
        <p:spPr>
          <a:xfrm>
            <a:off x="7743825" y="2752725"/>
            <a:ext cx="2047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</a:t>
            </a:r>
          </a:p>
        </p:txBody>
      </p:sp>
      <p:sp>
        <p:nvSpPr>
          <p:cNvPr id="25" name=""/>
          <p:cNvSpPr/>
          <p:nvPr/>
        </p:nvSpPr>
        <p:spPr>
          <a:xfrm>
            <a:off x="6505575" y="34099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677025" y="360045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572250" y="36385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28" name=""/>
          <p:cNvSpPr txBox="1"/>
          <p:nvPr/>
        </p:nvSpPr>
        <p:spPr>
          <a:xfrm>
            <a:off x="7191375" y="3505200"/>
            <a:ext cx="1562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 money</a:t>
            </a:r>
          </a:p>
        </p:txBody>
      </p:sp>
      <p:sp>
        <p:nvSpPr>
          <p:cNvPr id="29" name=""/>
          <p:cNvSpPr txBox="1"/>
          <p:nvPr/>
        </p:nvSpPr>
        <p:spPr>
          <a:xfrm>
            <a:off x="7191375" y="3838575"/>
            <a:ext cx="2600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1つ、2つ…と数えられない</a:t>
            </a:r>
          </a:p>
        </p:txBody>
      </p:sp>
      <p:sp>
        <p:nvSpPr>
          <p:cNvPr id="30" name=""/>
          <p:cNvSpPr/>
          <p:nvPr/>
        </p:nvSpPr>
        <p:spPr>
          <a:xfrm>
            <a:off x="6505575" y="42862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677025" y="447675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57225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33" name=""/>
          <p:cNvSpPr txBox="1"/>
          <p:nvPr/>
        </p:nvSpPr>
        <p:spPr>
          <a:xfrm>
            <a:off x="7191375" y="4381500"/>
            <a:ext cx="2076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two moneys</a:t>
            </a:r>
          </a:p>
        </p:txBody>
      </p:sp>
      <p:sp>
        <p:nvSpPr>
          <p:cNvPr id="34" name=""/>
          <p:cNvSpPr txBox="1"/>
          <p:nvPr/>
        </p:nvSpPr>
        <p:spPr>
          <a:xfrm>
            <a:off x="7191375" y="471487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複数形にもしない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2388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③ 気体・粉末・粒状のもの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88296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一つひとつの粒ではなく、全体を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ひとまとまりの物質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として捉える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9" name=""/>
          <p:cNvSpPr/>
          <p:nvPr/>
        </p:nvSpPr>
        <p:spPr>
          <a:xfrm>
            <a:off x="819150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10" name="Image 0" descr="空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2724150"/>
            <a:ext cx="1428750" cy="14287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504950" y="4657725"/>
            <a:ext cx="790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air</a:t>
            </a:r>
          </a:p>
        </p:txBody>
      </p:sp>
      <p:sp>
        <p:nvSpPr>
          <p:cNvPr id="12" name=""/>
          <p:cNvSpPr txBox="1"/>
          <p:nvPr/>
        </p:nvSpPr>
        <p:spPr>
          <a:xfrm>
            <a:off x="1524000" y="50768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空気</a:t>
            </a:r>
          </a:p>
        </p:txBody>
      </p:sp>
      <p:sp>
        <p:nvSpPr>
          <p:cNvPr id="13" name=""/>
          <p:cNvSpPr/>
          <p:nvPr/>
        </p:nvSpPr>
        <p:spPr>
          <a:xfrm>
            <a:off x="2886075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3019425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FFE4EC"/>
          </a:solidFill>
          <a:ln/>
        </p:spPr>
      </p:sp>
      <p:pic>
        <p:nvPicPr>
          <p:cNvPr id="15" name="Image 1" descr="砂糖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272415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3476625" y="4657725"/>
            <a:ext cx="1304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sugar</a:t>
            </a:r>
          </a:p>
        </p:txBody>
      </p:sp>
      <p:sp>
        <p:nvSpPr>
          <p:cNvPr id="17" name=""/>
          <p:cNvSpPr txBox="1"/>
          <p:nvPr/>
        </p:nvSpPr>
        <p:spPr>
          <a:xfrm>
            <a:off x="3724275" y="50768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砂糖</a:t>
            </a:r>
          </a:p>
        </p:txBody>
      </p:sp>
      <p:sp>
        <p:nvSpPr>
          <p:cNvPr id="18" name=""/>
          <p:cNvSpPr/>
          <p:nvPr/>
        </p:nvSpPr>
        <p:spPr>
          <a:xfrm>
            <a:off x="5086350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5219700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20" name="Image 2" descr="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27241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5810250" y="4657725"/>
            <a:ext cx="990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salt</a:t>
            </a:r>
          </a:p>
        </p:txBody>
      </p:sp>
      <p:sp>
        <p:nvSpPr>
          <p:cNvPr id="22" name=""/>
          <p:cNvSpPr txBox="1"/>
          <p:nvPr/>
        </p:nvSpPr>
        <p:spPr>
          <a:xfrm>
            <a:off x="6010275" y="5076825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塩</a:t>
            </a:r>
          </a:p>
        </p:txBody>
      </p:sp>
      <p:sp>
        <p:nvSpPr>
          <p:cNvPr id="23" name=""/>
          <p:cNvSpPr/>
          <p:nvPr/>
        </p:nvSpPr>
        <p:spPr>
          <a:xfrm>
            <a:off x="7277100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7410450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FFE8DC"/>
          </a:solidFill>
          <a:ln/>
        </p:spPr>
      </p:sp>
      <p:pic>
        <p:nvPicPr>
          <p:cNvPr id="25" name="Image 3" descr="米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2724150"/>
            <a:ext cx="1428750" cy="14287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8010525" y="4657725"/>
            <a:ext cx="10001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rice</a:t>
            </a:r>
          </a:p>
        </p:txBody>
      </p:sp>
      <p:sp>
        <p:nvSpPr>
          <p:cNvPr id="27" name=""/>
          <p:cNvSpPr txBox="1"/>
          <p:nvPr/>
        </p:nvSpPr>
        <p:spPr>
          <a:xfrm>
            <a:off x="7867650" y="50768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米・ごはん</a:t>
            </a:r>
          </a:p>
        </p:txBody>
      </p:sp>
      <p:sp>
        <p:nvSpPr>
          <p:cNvPr id="28" name=""/>
          <p:cNvSpPr/>
          <p:nvPr/>
        </p:nvSpPr>
        <p:spPr>
          <a:xfrm>
            <a:off x="9477375" y="2209800"/>
            <a:ext cx="2028825" cy="33051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9610725" y="2343150"/>
            <a:ext cx="1762125" cy="2181225"/>
          </a:xfrm>
          <a:prstGeom prst="roundRect">
            <a:avLst>
              <a:gd name="adj" fmla="val 9730"/>
            </a:avLst>
          </a:prstGeom>
          <a:solidFill>
            <a:srgbClr val="FFF2C9"/>
          </a:solidFill>
          <a:ln/>
        </p:spPr>
      </p:sp>
      <p:pic>
        <p:nvPicPr>
          <p:cNvPr id="30" name="Image 4" descr="小麦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75" y="2724150"/>
            <a:ext cx="1428750" cy="142875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10144125" y="46577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flour</a:t>
            </a:r>
          </a:p>
        </p:txBody>
      </p:sp>
      <p:sp>
        <p:nvSpPr>
          <p:cNvPr id="32" name=""/>
          <p:cNvSpPr txBox="1"/>
          <p:nvPr/>
        </p:nvSpPr>
        <p:spPr>
          <a:xfrm>
            <a:off x="10239375" y="50768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小麦粉</a:t>
            </a:r>
          </a:p>
        </p:txBody>
      </p:sp>
      <p:sp>
        <p:nvSpPr>
          <p:cNvPr id="3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34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5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36" name=""/>
          <p:cNvSpPr txBox="1"/>
          <p:nvPr/>
        </p:nvSpPr>
        <p:spPr>
          <a:xfrm>
            <a:off x="1771650" y="5924550"/>
            <a:ext cx="925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rice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は米粒を実際には数えられるけど、英語では「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米というまとまり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」として扱う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343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④ 素材・材料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7439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材料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として捉えるときは、不可算名詞になることが多い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9" name=""/>
          <p:cNvSpPr/>
          <p:nvPr/>
        </p:nvSpPr>
        <p:spPr>
          <a:xfrm>
            <a:off x="819150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FFE8DC"/>
          </a:solidFill>
          <a:ln/>
        </p:spPr>
      </p:sp>
      <p:pic>
        <p:nvPicPr>
          <p:cNvPr id="10" name="Image 0" descr="木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" y="3181350"/>
            <a:ext cx="1428750" cy="14287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285875" y="5581650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wood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600075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木・木材</a:t>
            </a:r>
          </a:p>
        </p:txBody>
      </p:sp>
      <p:sp>
        <p:nvSpPr>
          <p:cNvPr id="13" name=""/>
          <p:cNvSpPr/>
          <p:nvPr/>
        </p:nvSpPr>
        <p:spPr>
          <a:xfrm>
            <a:off x="2886075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3019425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15" name="Image 1" descr="紙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318135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3457575" y="5581650"/>
            <a:ext cx="1362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paper</a:t>
            </a:r>
          </a:p>
        </p:txBody>
      </p:sp>
      <p:sp>
        <p:nvSpPr>
          <p:cNvPr id="17" name=""/>
          <p:cNvSpPr txBox="1"/>
          <p:nvPr/>
        </p:nvSpPr>
        <p:spPr>
          <a:xfrm>
            <a:off x="381000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紙</a:t>
            </a:r>
          </a:p>
        </p:txBody>
      </p:sp>
      <p:sp>
        <p:nvSpPr>
          <p:cNvPr id="18" name=""/>
          <p:cNvSpPr/>
          <p:nvPr/>
        </p:nvSpPr>
        <p:spPr>
          <a:xfrm>
            <a:off x="5086350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5219700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FFF2C9"/>
          </a:solidFill>
          <a:ln/>
        </p:spPr>
      </p:sp>
      <p:pic>
        <p:nvPicPr>
          <p:cNvPr id="20" name="Image 2" descr="金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5772150" y="5581650"/>
            <a:ext cx="1085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gold</a:t>
            </a:r>
          </a:p>
        </p:txBody>
      </p:sp>
      <p:sp>
        <p:nvSpPr>
          <p:cNvPr id="22" name=""/>
          <p:cNvSpPr txBox="1"/>
          <p:nvPr/>
        </p:nvSpPr>
        <p:spPr>
          <a:xfrm>
            <a:off x="6010275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金</a:t>
            </a:r>
          </a:p>
        </p:txBody>
      </p:sp>
      <p:sp>
        <p:nvSpPr>
          <p:cNvPr id="23" name=""/>
          <p:cNvSpPr/>
          <p:nvPr/>
        </p:nvSpPr>
        <p:spPr>
          <a:xfrm>
            <a:off x="7277100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7410450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FFE4EC"/>
          </a:solidFill>
          <a:ln/>
        </p:spPr>
      </p:sp>
      <p:pic>
        <p:nvPicPr>
          <p:cNvPr id="25" name="Image 3" descr="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3181350"/>
            <a:ext cx="1428750" cy="14287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7905750" y="5581650"/>
            <a:ext cx="12382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meat</a:t>
            </a:r>
          </a:p>
        </p:txBody>
      </p:sp>
      <p:sp>
        <p:nvSpPr>
          <p:cNvPr id="27" name=""/>
          <p:cNvSpPr txBox="1"/>
          <p:nvPr/>
        </p:nvSpPr>
        <p:spPr>
          <a:xfrm>
            <a:off x="82105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肉</a:t>
            </a:r>
          </a:p>
        </p:txBody>
      </p:sp>
      <p:sp>
        <p:nvSpPr>
          <p:cNvPr id="28" name=""/>
          <p:cNvSpPr/>
          <p:nvPr/>
        </p:nvSpPr>
        <p:spPr>
          <a:xfrm>
            <a:off x="9477375" y="2209800"/>
            <a:ext cx="2028825" cy="4229100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9610725" y="2343150"/>
            <a:ext cx="1762125" cy="3105150"/>
          </a:xfrm>
          <a:prstGeom prst="roundRect">
            <a:avLst>
              <a:gd name="adj" fmla="val 9730"/>
            </a:avLst>
          </a:prstGeom>
          <a:solidFill>
            <a:srgbClr val="DDEFFC"/>
          </a:solidFill>
          <a:ln/>
        </p:spPr>
      </p:sp>
      <p:pic>
        <p:nvPicPr>
          <p:cNvPr id="30" name="Image 4" descr="ガラ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75" y="3181350"/>
            <a:ext cx="1428750" cy="142875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10106025" y="5581650"/>
            <a:ext cx="12287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glass</a:t>
            </a:r>
          </a:p>
        </p:txBody>
      </p:sp>
      <p:sp>
        <p:nvSpPr>
          <p:cNvPr id="32" name=""/>
          <p:cNvSpPr txBox="1"/>
          <p:nvPr/>
        </p:nvSpPr>
        <p:spPr>
          <a:xfrm>
            <a:off x="10239375" y="60007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ガラス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4489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同じ単語でも、意味が変わると可算名詞になる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24050"/>
            <a:ext cx="5343525" cy="533400"/>
          </a:xfrm>
          <a:prstGeom prst="roundRect">
            <a:avLst>
              <a:gd name="adj" fmla="val 32143"/>
            </a:avLst>
          </a:prstGeom>
          <a:solidFill>
            <a:srgbClr val="DDEFFC"/>
          </a:solidFill>
          <a:ln/>
        </p:spPr>
      </p:sp>
      <p:sp>
        <p:nvSpPr>
          <p:cNvPr id="7" name=""/>
          <p:cNvSpPr/>
          <p:nvPr/>
        </p:nvSpPr>
        <p:spPr>
          <a:xfrm>
            <a:off x="895350" y="20097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66800" y="20669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不可算</a:t>
            </a:r>
          </a:p>
        </p:txBody>
      </p:sp>
      <p:sp>
        <p:nvSpPr>
          <p:cNvPr id="9" name=""/>
          <p:cNvSpPr txBox="1"/>
          <p:nvPr/>
        </p:nvSpPr>
        <p:spPr>
          <a:xfrm>
            <a:off x="1866900" y="2047875"/>
            <a:ext cx="21717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素材・食材として</a:t>
            </a:r>
          </a:p>
        </p:txBody>
      </p:sp>
      <p:sp>
        <p:nvSpPr>
          <p:cNvPr id="10" name=""/>
          <p:cNvSpPr/>
          <p:nvPr/>
        </p:nvSpPr>
        <p:spPr>
          <a:xfrm>
            <a:off x="6162675" y="1924050"/>
            <a:ext cx="5343525" cy="533400"/>
          </a:xfrm>
          <a:prstGeom prst="roundRect">
            <a:avLst>
              <a:gd name="adj" fmla="val 32143"/>
            </a:avLst>
          </a:prstGeom>
          <a:solidFill>
            <a:srgbClr val="FFE8DC"/>
          </a:solidFill>
          <a:ln/>
        </p:spPr>
      </p:sp>
      <p:sp>
        <p:nvSpPr>
          <p:cNvPr id="11" name=""/>
          <p:cNvSpPr/>
          <p:nvPr/>
        </p:nvSpPr>
        <p:spPr>
          <a:xfrm>
            <a:off x="6372225" y="200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543675" y="206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可算</a:t>
            </a:r>
          </a:p>
        </p:txBody>
      </p:sp>
      <p:sp>
        <p:nvSpPr>
          <p:cNvPr id="13" name=""/>
          <p:cNvSpPr txBox="1"/>
          <p:nvPr/>
        </p:nvSpPr>
        <p:spPr>
          <a:xfrm>
            <a:off x="7172325" y="2047875"/>
            <a:ext cx="2076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1つのものとして</a:t>
            </a:r>
          </a:p>
        </p:txBody>
      </p:sp>
      <p:sp>
        <p:nvSpPr>
          <p:cNvPr id="14" name=""/>
          <p:cNvSpPr/>
          <p:nvPr/>
        </p:nvSpPr>
        <p:spPr>
          <a:xfrm>
            <a:off x="685800" y="2590800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</p:spPr>
      </p:sp>
      <p:pic>
        <p:nvPicPr>
          <p:cNvPr id="15" name="Image 0" descr="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450" y="2914650"/>
            <a:ext cx="1219200" cy="12192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362200" y="3124200"/>
            <a:ext cx="15525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paper</a:t>
            </a:r>
          </a:p>
        </p:txBody>
      </p:sp>
      <p:sp>
        <p:nvSpPr>
          <p:cNvPr id="17" name=""/>
          <p:cNvSpPr txBox="1"/>
          <p:nvPr/>
        </p:nvSpPr>
        <p:spPr>
          <a:xfrm>
            <a:off x="2362200" y="3638550"/>
            <a:ext cx="21812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紙・紙という素材</a:t>
            </a:r>
          </a:p>
        </p:txBody>
      </p:sp>
      <p:sp>
        <p:nvSpPr>
          <p:cNvPr id="18" name=""/>
          <p:cNvSpPr/>
          <p:nvPr/>
        </p:nvSpPr>
        <p:spPr>
          <a:xfrm>
            <a:off x="6162675" y="2590800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</p:spPr>
      </p:sp>
      <p:pic>
        <p:nvPicPr>
          <p:cNvPr id="19" name="Image 1" descr="新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325" y="2914650"/>
            <a:ext cx="1219200" cy="12192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7839075" y="3124200"/>
            <a:ext cx="18859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paper</a:t>
            </a:r>
          </a:p>
        </p:txBody>
      </p:sp>
      <p:sp>
        <p:nvSpPr>
          <p:cNvPr id="21" name=""/>
          <p:cNvSpPr txBox="1"/>
          <p:nvPr/>
        </p:nvSpPr>
        <p:spPr>
          <a:xfrm>
            <a:off x="7839075" y="3638550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論文・新聞など</a:t>
            </a:r>
          </a:p>
        </p:txBody>
      </p:sp>
      <p:sp>
        <p:nvSpPr>
          <p:cNvPr id="22" name=""/>
          <p:cNvSpPr/>
          <p:nvPr/>
        </p:nvSpPr>
        <p:spPr>
          <a:xfrm>
            <a:off x="685800" y="4581525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</p:spPr>
      </p:sp>
      <p:pic>
        <p:nvPicPr>
          <p:cNvPr id="23" name="Image 2" descr="鶏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" y="4905375"/>
            <a:ext cx="1219200" cy="12192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362200" y="5114925"/>
            <a:ext cx="19335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</a:p>
        </p:txBody>
      </p:sp>
      <p:sp>
        <p:nvSpPr>
          <p:cNvPr id="25" name=""/>
          <p:cNvSpPr txBox="1"/>
          <p:nvPr/>
        </p:nvSpPr>
        <p:spPr>
          <a:xfrm>
            <a:off x="2362200" y="562927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鶏肉</a:t>
            </a:r>
          </a:p>
        </p:txBody>
      </p:sp>
      <p:sp>
        <p:nvSpPr>
          <p:cNvPr id="26" name=""/>
          <p:cNvSpPr/>
          <p:nvPr/>
        </p:nvSpPr>
        <p:spPr>
          <a:xfrm>
            <a:off x="6162675" y="4581525"/>
            <a:ext cx="5343525" cy="1857375"/>
          </a:xfrm>
          <a:prstGeom prst="roundRect">
            <a:avLst>
              <a:gd name="adj" fmla="val 14359"/>
            </a:avLst>
          </a:prstGeom>
          <a:solidFill>
            <a:srgbClr val="FFFFFF"/>
          </a:solidFill>
          <a:ln/>
        </p:spPr>
      </p:sp>
      <p:pic>
        <p:nvPicPr>
          <p:cNvPr id="27" name="Image 3" descr="ニワトリ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4905375"/>
            <a:ext cx="1219200" cy="121920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7839075" y="5114925"/>
            <a:ext cx="22669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sp>
        <p:nvSpPr>
          <p:cNvPr id="29" name=""/>
          <p:cNvSpPr txBox="1"/>
          <p:nvPr/>
        </p:nvSpPr>
        <p:spPr>
          <a:xfrm>
            <a:off x="7839075" y="5629275"/>
            <a:ext cx="18573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4A5270"/>
                </a:solidFill>
                <a:latin typeface="Noto Sans JP"/>
                <a:ea typeface="Noto Sans JP"/>
              </a:rPr>
              <a:t>1羽のニワトリ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3053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⑤ 天候・自然現象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7" name=""/>
          <p:cNvSpPr txBox="1"/>
          <p:nvPr/>
        </p:nvSpPr>
        <p:spPr>
          <a:xfrm>
            <a:off x="1847850" y="1676400"/>
            <a:ext cx="4038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これらも、通常は不可算名詞</a:t>
            </a:r>
          </a:p>
        </p:txBody>
      </p:sp>
      <p:sp>
        <p:nvSpPr>
          <p:cNvPr id="8" name=""/>
          <p:cNvSpPr/>
          <p:nvPr/>
        </p:nvSpPr>
        <p:spPr>
          <a:xfrm>
            <a:off x="685800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9" name=""/>
          <p:cNvSpPr/>
          <p:nvPr/>
        </p:nvSpPr>
        <p:spPr>
          <a:xfrm>
            <a:off x="819150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0" name="Image 0" descr="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81350"/>
            <a:ext cx="1428750" cy="14287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685925" y="5581650"/>
            <a:ext cx="10096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rain</a:t>
            </a:r>
          </a:p>
        </p:txBody>
      </p:sp>
      <p:sp>
        <p:nvSpPr>
          <p:cNvPr id="12" name=""/>
          <p:cNvSpPr txBox="1"/>
          <p:nvPr/>
        </p:nvSpPr>
        <p:spPr>
          <a:xfrm>
            <a:off x="1885950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雨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3571875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5" name="Image 1" descr="雪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333875" y="5581650"/>
            <a:ext cx="12382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snow</a:t>
            </a:r>
          </a:p>
        </p:txBody>
      </p:sp>
      <p:sp>
        <p:nvSpPr>
          <p:cNvPr id="17" name=""/>
          <p:cNvSpPr txBox="1"/>
          <p:nvPr/>
        </p:nvSpPr>
        <p:spPr>
          <a:xfrm>
            <a:off x="4638675" y="6000750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雪</a:t>
            </a:r>
          </a:p>
        </p:txBody>
      </p:sp>
      <p:sp>
        <p:nvSpPr>
          <p:cNvPr id="18" name=""/>
          <p:cNvSpPr/>
          <p:nvPr/>
        </p:nvSpPr>
        <p:spPr>
          <a:xfrm>
            <a:off x="6181725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6315075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0" name="Image 2" descr="天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6858000" y="5581650"/>
            <a:ext cx="1752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weather</a:t>
            </a:r>
          </a:p>
        </p:txBody>
      </p:sp>
      <p:sp>
        <p:nvSpPr>
          <p:cNvPr id="22" name=""/>
          <p:cNvSpPr txBox="1"/>
          <p:nvPr/>
        </p:nvSpPr>
        <p:spPr>
          <a:xfrm>
            <a:off x="7296150" y="6000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天気</a:t>
            </a:r>
          </a:p>
        </p:txBody>
      </p:sp>
      <p:sp>
        <p:nvSpPr>
          <p:cNvPr id="23" name=""/>
          <p:cNvSpPr/>
          <p:nvPr/>
        </p:nvSpPr>
        <p:spPr>
          <a:xfrm>
            <a:off x="8934450" y="2209800"/>
            <a:ext cx="2581275" cy="42291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9067800" y="2343150"/>
            <a:ext cx="2314575" cy="3105150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25" name="Image 3" descr="日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9544050" y="5581650"/>
            <a:ext cx="18954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sunshine</a:t>
            </a:r>
          </a:p>
        </p:txBody>
      </p:sp>
      <p:sp>
        <p:nvSpPr>
          <p:cNvPr id="27" name=""/>
          <p:cNvSpPr txBox="1"/>
          <p:nvPr/>
        </p:nvSpPr>
        <p:spPr>
          <a:xfrm>
            <a:off x="9705975" y="60007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日光・日差し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51625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天候・自然現象の例文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14668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</p:spPr>
      </p:sp>
      <p:pic>
        <p:nvPicPr>
          <p:cNvPr id="6" name="Image 0" descr="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1866900"/>
            <a:ext cx="1181100" cy="11811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324100" y="2066925"/>
            <a:ext cx="4086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We had a lot of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rain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8" name=""/>
          <p:cNvSpPr txBox="1"/>
          <p:nvPr/>
        </p:nvSpPr>
        <p:spPr>
          <a:xfrm>
            <a:off x="2324100" y="25717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雨がたくさん降りました。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3343275"/>
            <a:ext cx="10820400" cy="14668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</p:spPr>
      </p:sp>
      <p:pic>
        <p:nvPicPr>
          <p:cNvPr id="10" name="Image 1" descr="雪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495675"/>
            <a:ext cx="1181100" cy="11811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324100" y="3695700"/>
            <a:ext cx="4591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There is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snow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outside.</a:t>
            </a:r>
          </a:p>
        </p:txBody>
      </p:sp>
      <p:sp>
        <p:nvSpPr>
          <p:cNvPr id="12" name=""/>
          <p:cNvSpPr txBox="1"/>
          <p:nvPr/>
        </p:nvSpPr>
        <p:spPr>
          <a:xfrm>
            <a:off x="2324100" y="420052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外には雪があります。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972050"/>
            <a:ext cx="10820400" cy="14668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</p:spPr>
      </p:sp>
      <p:pic>
        <p:nvPicPr>
          <p:cNvPr id="14" name="Image 2" descr="天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14925"/>
            <a:ext cx="1181100" cy="11811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5314950"/>
            <a:ext cx="53244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The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weather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is nice today.</a:t>
            </a:r>
          </a:p>
        </p:txBody>
      </p:sp>
      <p:sp>
        <p:nvSpPr>
          <p:cNvPr id="16" name=""/>
          <p:cNvSpPr txBox="1"/>
          <p:nvPr/>
        </p:nvSpPr>
        <p:spPr>
          <a:xfrm>
            <a:off x="2324100" y="581977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今日は天気がいいです。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4010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も不可算名詞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F2C9"/>
          </a:solidFill>
          <a:ln/>
        </p:spPr>
      </p:sp>
      <p:pic>
        <p:nvPicPr>
          <p:cNvPr id="7" name="Image 0" descr="情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28850"/>
            <a:ext cx="1066800" cy="10668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209800" y="2400300"/>
            <a:ext cx="2590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209800" y="28765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情報</a:t>
            </a:r>
          </a:p>
        </p:txBody>
      </p:sp>
      <p:sp>
        <p:nvSpPr>
          <p:cNvPr id="10" name=""/>
          <p:cNvSpPr/>
          <p:nvPr/>
        </p:nvSpPr>
        <p:spPr>
          <a:xfrm>
            <a:off x="971550" y="3409950"/>
            <a:ext cx="4714875" cy="5715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1143000" y="350520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038225" y="354330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13" name=""/>
          <p:cNvSpPr txBox="1"/>
          <p:nvPr/>
        </p:nvSpPr>
        <p:spPr>
          <a:xfrm>
            <a:off x="1657350" y="353377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an information</a:t>
            </a:r>
          </a:p>
        </p:txBody>
      </p:sp>
      <p:sp>
        <p:nvSpPr>
          <p:cNvPr id="14" name=""/>
          <p:cNvSpPr/>
          <p:nvPr/>
        </p:nvSpPr>
        <p:spPr>
          <a:xfrm>
            <a:off x="971550" y="4095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1143000" y="4286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8225" y="4324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7" name=""/>
          <p:cNvSpPr txBox="1"/>
          <p:nvPr/>
        </p:nvSpPr>
        <p:spPr>
          <a:xfrm>
            <a:off x="1657350" y="4191000"/>
            <a:ext cx="2990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have information.</a:t>
            </a:r>
          </a:p>
        </p:txBody>
      </p:sp>
      <p:sp>
        <p:nvSpPr>
          <p:cNvPr id="18" name=""/>
          <p:cNvSpPr txBox="1"/>
          <p:nvPr/>
        </p:nvSpPr>
        <p:spPr>
          <a:xfrm>
            <a:off x="1657350" y="4524375"/>
            <a:ext cx="2543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私は情報を持っています。</a:t>
            </a:r>
          </a:p>
        </p:txBody>
      </p:sp>
      <p:sp>
        <p:nvSpPr>
          <p:cNvPr id="19" name=""/>
          <p:cNvSpPr/>
          <p:nvPr/>
        </p:nvSpPr>
        <p:spPr>
          <a:xfrm>
            <a:off x="971550" y="4972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143000" y="5162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038225" y="5200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2" name=""/>
          <p:cNvSpPr txBox="1"/>
          <p:nvPr/>
        </p:nvSpPr>
        <p:spPr>
          <a:xfrm>
            <a:off x="1657350" y="5067300"/>
            <a:ext cx="3838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have </a:t>
            </a:r>
            <a:pPr/>
            <a:r>
              <a:rPr sz="20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some</a:t>
            </a:r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 information.</a:t>
            </a:r>
          </a:p>
        </p:txBody>
      </p:sp>
      <p:sp>
        <p:nvSpPr>
          <p:cNvPr id="23" name=""/>
          <p:cNvSpPr txBox="1"/>
          <p:nvPr/>
        </p:nvSpPr>
        <p:spPr>
          <a:xfrm>
            <a:off x="1657350" y="5400675"/>
            <a:ext cx="2552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いくつか情報があります。</a:t>
            </a:r>
          </a:p>
        </p:txBody>
      </p:sp>
      <p:sp>
        <p:nvSpPr>
          <p:cNvPr id="24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pic>
        <p:nvPicPr>
          <p:cNvPr id="25" name="Image 1" descr="アドバイ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2228850"/>
            <a:ext cx="1066800" cy="10668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7743825" y="2400300"/>
            <a:ext cx="16478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</a:p>
        </p:txBody>
      </p:sp>
      <p:sp>
        <p:nvSpPr>
          <p:cNvPr id="27" name=""/>
          <p:cNvSpPr txBox="1"/>
          <p:nvPr/>
        </p:nvSpPr>
        <p:spPr>
          <a:xfrm>
            <a:off x="7743825" y="287655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アドバイス</a:t>
            </a:r>
          </a:p>
        </p:txBody>
      </p:sp>
      <p:sp>
        <p:nvSpPr>
          <p:cNvPr id="28" name=""/>
          <p:cNvSpPr/>
          <p:nvPr/>
        </p:nvSpPr>
        <p:spPr>
          <a:xfrm>
            <a:off x="6505575" y="3409950"/>
            <a:ext cx="4714875" cy="5715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6677025" y="3505200"/>
            <a:ext cx="381000" cy="381000"/>
          </a:xfrm>
          <a:prstGeom prst="ellipse">
            <a:avLst/>
          </a:prstGeom>
          <a:solidFill>
            <a:srgbClr val="4A5270"/>
          </a:solidFill>
          <a:ln/>
        </p:spPr>
      </p:sp>
      <p:sp>
        <p:nvSpPr>
          <p:cNvPr id="30" name=""/>
          <p:cNvSpPr txBox="1"/>
          <p:nvPr/>
        </p:nvSpPr>
        <p:spPr>
          <a:xfrm>
            <a:off x="6572250" y="354330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31" name=""/>
          <p:cNvSpPr txBox="1"/>
          <p:nvPr/>
        </p:nvSpPr>
        <p:spPr>
          <a:xfrm>
            <a:off x="7191375" y="3533775"/>
            <a:ext cx="1733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8A90A8"/>
                </a:solidFill>
                <a:latin typeface="DM Sans"/>
                <a:ea typeface="DM Sans"/>
              </a:rPr>
              <a:t>an advice</a:t>
            </a:r>
          </a:p>
        </p:txBody>
      </p:sp>
      <p:sp>
        <p:nvSpPr>
          <p:cNvPr id="32" name=""/>
          <p:cNvSpPr/>
          <p:nvPr/>
        </p:nvSpPr>
        <p:spPr>
          <a:xfrm>
            <a:off x="6505575" y="40957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677025" y="42862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6572250" y="43243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35" name=""/>
          <p:cNvSpPr txBox="1"/>
          <p:nvPr/>
        </p:nvSpPr>
        <p:spPr>
          <a:xfrm>
            <a:off x="7191375" y="4191000"/>
            <a:ext cx="30956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He gave me advice.</a:t>
            </a:r>
          </a:p>
        </p:txBody>
      </p:sp>
      <p:sp>
        <p:nvSpPr>
          <p:cNvPr id="36" name=""/>
          <p:cNvSpPr txBox="1"/>
          <p:nvPr/>
        </p:nvSpPr>
        <p:spPr>
          <a:xfrm>
            <a:off x="7191375" y="4524375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37" name=""/>
          <p:cNvSpPr/>
          <p:nvPr/>
        </p:nvSpPr>
        <p:spPr>
          <a:xfrm>
            <a:off x="6505575" y="4972050"/>
            <a:ext cx="4714875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677025" y="5162550"/>
            <a:ext cx="381000" cy="3810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9" name=""/>
          <p:cNvSpPr txBox="1"/>
          <p:nvPr/>
        </p:nvSpPr>
        <p:spPr>
          <a:xfrm>
            <a:off x="6572250" y="52006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40" name=""/>
          <p:cNvSpPr txBox="1"/>
          <p:nvPr/>
        </p:nvSpPr>
        <p:spPr>
          <a:xfrm>
            <a:off x="7191375" y="5067300"/>
            <a:ext cx="37147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I gave him </a:t>
            </a:r>
            <a:pPr/>
            <a:r>
              <a:rPr sz="20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some</a:t>
            </a:r>
            <a:pPr/>
            <a:r>
              <a:rPr sz="2050" b="1">
                <a:solidFill>
                  <a:srgbClr val="1C2340"/>
                </a:solidFill>
                <a:latin typeface="DM Sans"/>
                <a:ea typeface="DM Sans"/>
              </a:rPr>
              <a:t> advice.</a:t>
            </a:r>
          </a:p>
        </p:txBody>
      </p:sp>
      <p:sp>
        <p:nvSpPr>
          <p:cNvPr id="41" name=""/>
          <p:cNvSpPr txBox="1"/>
          <p:nvPr/>
        </p:nvSpPr>
        <p:spPr>
          <a:xfrm>
            <a:off x="7191375" y="5400675"/>
            <a:ext cx="3124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私は彼にアドバイスをしました。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2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9610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数えられる名詞・数えられない名詞 まとめ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10820400" cy="676275"/>
          </a:xfrm>
          <a:prstGeom prst="roundRect">
            <a:avLst>
              <a:gd name="adj" fmla="val 39437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33450" y="1819275"/>
            <a:ext cx="15430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04900" y="1876425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2667000" y="1866900"/>
            <a:ext cx="41243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1C2340"/>
                </a:solidFill>
                <a:latin typeface="Noto Sans JP"/>
                <a:ea typeface="Noto Sans JP"/>
              </a:rPr>
              <a:t>1つ、2つ…と数えられる → 1つなら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9" name=""/>
          <p:cNvSpPr txBox="1"/>
          <p:nvPr/>
        </p:nvSpPr>
        <p:spPr>
          <a:xfrm>
            <a:off x="6143625" y="1885950"/>
            <a:ext cx="3457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0" name=""/>
          <p:cNvSpPr/>
          <p:nvPr/>
        </p:nvSpPr>
        <p:spPr>
          <a:xfrm>
            <a:off x="685800" y="2476500"/>
            <a:ext cx="10820400" cy="3190875"/>
          </a:xfrm>
          <a:prstGeom prst="roundRect">
            <a:avLst>
              <a:gd name="adj" fmla="val 8358"/>
            </a:avLst>
          </a:pr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933450" y="2628900"/>
            <a:ext cx="17145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04900" y="2686050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800350" y="2676525"/>
            <a:ext cx="4943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そのまま数えられない →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 はつけない</a:t>
            </a:r>
          </a:p>
        </p:txBody>
      </p:sp>
      <p:sp>
        <p:nvSpPr>
          <p:cNvPr id="14" name=""/>
          <p:cNvSpPr/>
          <p:nvPr/>
        </p:nvSpPr>
        <p:spPr>
          <a:xfrm>
            <a:off x="933450" y="310515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15" name=""/>
          <p:cNvSpPr txBox="1"/>
          <p:nvPr/>
        </p:nvSpPr>
        <p:spPr>
          <a:xfrm>
            <a:off x="1314450" y="321945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液体</a:t>
            </a:r>
          </a:p>
        </p:txBody>
      </p:sp>
      <p:sp>
        <p:nvSpPr>
          <p:cNvPr id="16" name=""/>
          <p:cNvSpPr/>
          <p:nvPr/>
        </p:nvSpPr>
        <p:spPr>
          <a:xfrm>
            <a:off x="933450" y="32099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76300" y="3257550"/>
            <a:ext cx="4000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8" name=""/>
          <p:cNvSpPr txBox="1"/>
          <p:nvPr/>
        </p:nvSpPr>
        <p:spPr>
          <a:xfrm>
            <a:off x="3695700" y="3219450"/>
            <a:ext cx="33909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water / coffee / milk / juice</a:t>
            </a:r>
          </a:p>
        </p:txBody>
      </p:sp>
      <p:sp>
        <p:nvSpPr>
          <p:cNvPr id="19" name=""/>
          <p:cNvSpPr/>
          <p:nvPr/>
        </p:nvSpPr>
        <p:spPr>
          <a:xfrm>
            <a:off x="933450" y="360045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0" name=""/>
          <p:cNvSpPr txBox="1"/>
          <p:nvPr/>
        </p:nvSpPr>
        <p:spPr>
          <a:xfrm>
            <a:off x="1314450" y="371475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抽象的なもの・情報・概念</a:t>
            </a:r>
          </a:p>
        </p:txBody>
      </p:sp>
      <p:sp>
        <p:nvSpPr>
          <p:cNvPr id="21" name=""/>
          <p:cNvSpPr/>
          <p:nvPr/>
        </p:nvSpPr>
        <p:spPr>
          <a:xfrm>
            <a:off x="933450" y="37052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57250" y="375285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3" name=""/>
          <p:cNvSpPr txBox="1"/>
          <p:nvPr/>
        </p:nvSpPr>
        <p:spPr>
          <a:xfrm>
            <a:off x="3695700" y="3714750"/>
            <a:ext cx="66008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music / information / advice / money / love / happiness</a:t>
            </a:r>
          </a:p>
        </p:txBody>
      </p:sp>
      <p:sp>
        <p:nvSpPr>
          <p:cNvPr id="24" name=""/>
          <p:cNvSpPr/>
          <p:nvPr/>
        </p:nvSpPr>
        <p:spPr>
          <a:xfrm>
            <a:off x="933450" y="408622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5" name=""/>
          <p:cNvSpPr txBox="1"/>
          <p:nvPr/>
        </p:nvSpPr>
        <p:spPr>
          <a:xfrm>
            <a:off x="990600" y="42100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気体・粉末・粒状のもの</a:t>
            </a:r>
          </a:p>
        </p:txBody>
      </p:sp>
      <p:sp>
        <p:nvSpPr>
          <p:cNvPr id="26" name=""/>
          <p:cNvSpPr/>
          <p:nvPr/>
        </p:nvSpPr>
        <p:spPr>
          <a:xfrm>
            <a:off x="933450" y="419100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857250" y="4238625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8" name=""/>
          <p:cNvSpPr txBox="1"/>
          <p:nvPr/>
        </p:nvSpPr>
        <p:spPr>
          <a:xfrm>
            <a:off x="3695700" y="4200525"/>
            <a:ext cx="34575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air / sugar / salt / rice / flour</a:t>
            </a:r>
          </a:p>
        </p:txBody>
      </p:sp>
      <p:sp>
        <p:nvSpPr>
          <p:cNvPr id="29" name=""/>
          <p:cNvSpPr/>
          <p:nvPr/>
        </p:nvSpPr>
        <p:spPr>
          <a:xfrm>
            <a:off x="933450" y="458152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0" name=""/>
          <p:cNvSpPr txBox="1"/>
          <p:nvPr/>
        </p:nvSpPr>
        <p:spPr>
          <a:xfrm>
            <a:off x="1314450" y="469582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素材・材料</a:t>
            </a:r>
          </a:p>
        </p:txBody>
      </p:sp>
      <p:sp>
        <p:nvSpPr>
          <p:cNvPr id="31" name=""/>
          <p:cNvSpPr/>
          <p:nvPr/>
        </p:nvSpPr>
        <p:spPr>
          <a:xfrm>
            <a:off x="933450" y="468630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847725" y="4733925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3" name=""/>
          <p:cNvSpPr txBox="1"/>
          <p:nvPr/>
        </p:nvSpPr>
        <p:spPr>
          <a:xfrm>
            <a:off x="3695700" y="4695825"/>
            <a:ext cx="41433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wood / paper / gold / meat / glass</a:t>
            </a:r>
          </a:p>
        </p:txBody>
      </p:sp>
      <p:sp>
        <p:nvSpPr>
          <p:cNvPr id="34" name=""/>
          <p:cNvSpPr/>
          <p:nvPr/>
        </p:nvSpPr>
        <p:spPr>
          <a:xfrm>
            <a:off x="933450" y="506730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1314450" y="5191125"/>
            <a:ext cx="18002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天候・自然現象</a:t>
            </a:r>
          </a:p>
        </p:txBody>
      </p:sp>
      <p:sp>
        <p:nvSpPr>
          <p:cNvPr id="36" name=""/>
          <p:cNvSpPr/>
          <p:nvPr/>
        </p:nvSpPr>
        <p:spPr>
          <a:xfrm>
            <a:off x="933450" y="517207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7" name=""/>
          <p:cNvSpPr txBox="1"/>
          <p:nvPr/>
        </p:nvSpPr>
        <p:spPr>
          <a:xfrm>
            <a:off x="857250" y="521970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8" name=""/>
          <p:cNvSpPr txBox="1"/>
          <p:nvPr/>
        </p:nvSpPr>
        <p:spPr>
          <a:xfrm>
            <a:off x="3695700" y="5181600"/>
            <a:ext cx="39338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rain / snow / weather / sunshine</a:t>
            </a:r>
          </a:p>
        </p:txBody>
      </p:sp>
      <p:sp>
        <p:nvSpPr>
          <p:cNvPr id="39" name=""/>
          <p:cNvSpPr/>
          <p:nvPr/>
        </p:nvSpPr>
        <p:spPr>
          <a:xfrm>
            <a:off x="685800" y="5800725"/>
            <a:ext cx="10820400" cy="638175"/>
          </a:xfrm>
          <a:prstGeom prst="roundRect">
            <a:avLst>
              <a:gd name="adj" fmla="val 41791"/>
            </a:avLst>
          </a:pr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914400" y="5934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41" name=""/>
          <p:cNvSpPr txBox="1"/>
          <p:nvPr/>
        </p:nvSpPr>
        <p:spPr>
          <a:xfrm>
            <a:off x="1085850" y="5991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42" name=""/>
          <p:cNvSpPr txBox="1"/>
          <p:nvPr/>
        </p:nvSpPr>
        <p:spPr>
          <a:xfrm>
            <a:off x="1733550" y="5991225"/>
            <a:ext cx="102774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（1杯）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paper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（論文・新聞） </a:t>
            </a:r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（ニワトリ）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some information / some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