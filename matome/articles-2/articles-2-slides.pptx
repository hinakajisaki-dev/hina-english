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image" Target="../media/image-4-4.png"/><Relationship Id="rId7" Type="http://schemas.openxmlformats.org/officeDocument/2006/relationships/image" Target="../media/image-4-7.png"/><Relationship Id="rId8" Type="http://schemas.openxmlformats.org/officeDocument/2006/relationships/image" Target="../media/image-4-7.png"/><Relationship Id="rId9" Type="http://schemas.openxmlformats.org/officeDocument/2006/relationships/image" Target="../media/image-4-7.png"/><Relationship Id="rId10" Type="http://schemas.openxmlformats.org/officeDocument/2006/relationships/image" Target="../media/image-4-10.png"/><Relationship Id="rId11" Type="http://schemas.openxmlformats.org/officeDocument/2006/relationships/image" Target="../media/image-4-10.png"/><Relationship Id="rId12" Type="http://schemas.openxmlformats.org/officeDocument/2006/relationships/image" Target="../media/image-4-10.png"/><Relationship Id="rId13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1.png"/><Relationship Id="rId3" Type="http://schemas.openxmlformats.org/officeDocument/2006/relationships/image" Target="../media/image-19-1.png"/><Relationship Id="rId4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7818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2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581977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不可算名詞と可算名詞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81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REVIEW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前回のおさらい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4695825" cy="4476750"/>
          </a:xfrm>
          <a:prstGeom prst="roundRect">
            <a:avLst>
              <a:gd name="adj" fmla="val 5957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47750" y="283845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47750" y="3552825"/>
            <a:ext cx="31718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1つの〜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9" name=""/>
          <p:cNvSpPr/>
          <p:nvPr/>
        </p:nvSpPr>
        <p:spPr>
          <a:xfrm>
            <a:off x="1047750" y="4371975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1200150" y="44672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71575" y="45243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2" name=""/>
          <p:cNvSpPr txBox="1"/>
          <p:nvPr/>
        </p:nvSpPr>
        <p:spPr>
          <a:xfrm>
            <a:off x="1676400" y="449580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初めて会話に出てきたとき</a:t>
            </a:r>
          </a:p>
        </p:txBody>
      </p:sp>
      <p:sp>
        <p:nvSpPr>
          <p:cNvPr id="13" name=""/>
          <p:cNvSpPr/>
          <p:nvPr/>
        </p:nvSpPr>
        <p:spPr>
          <a:xfrm>
            <a:off x="1047750" y="5019675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1200150" y="51149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52525" y="51720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676400" y="51435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一般的なものをさすとき</a:t>
            </a:r>
          </a:p>
        </p:txBody>
      </p:sp>
      <p:sp>
        <p:nvSpPr>
          <p:cNvPr id="17" name=""/>
          <p:cNvSpPr/>
          <p:nvPr/>
        </p:nvSpPr>
        <p:spPr>
          <a:xfrm>
            <a:off x="5629275" y="1962150"/>
            <a:ext cx="5876925" cy="2152650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8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025" y="2324100"/>
            <a:ext cx="1428750" cy="14287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7591425" y="2590800"/>
            <a:ext cx="1628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0" name=""/>
          <p:cNvSpPr txBox="1"/>
          <p:nvPr/>
        </p:nvSpPr>
        <p:spPr>
          <a:xfrm>
            <a:off x="7591425" y="3181350"/>
            <a:ext cx="2028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一般的な犬の話</a:t>
            </a:r>
          </a:p>
        </p:txBody>
      </p:sp>
      <p:sp>
        <p:nvSpPr>
          <p:cNvPr id="21" name=""/>
          <p:cNvSpPr/>
          <p:nvPr/>
        </p:nvSpPr>
        <p:spPr>
          <a:xfrm>
            <a:off x="5629275" y="4286250"/>
            <a:ext cx="5876925" cy="2152650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5915025" y="4648200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23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829175"/>
            <a:ext cx="1066800" cy="1066800"/>
          </a:xfrm>
          <a:prstGeom prst="rect">
            <a:avLst/>
          </a:prstGeom>
        </p:spPr>
      </p:pic>
      <p:sp>
        <p:nvSpPr>
          <p:cNvPr id="24" name=""/>
          <p:cNvSpPr/>
          <p:nvPr/>
        </p:nvSpPr>
        <p:spPr>
          <a:xfrm>
            <a:off x="6267450" y="58483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153150" y="58769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6" name=""/>
          <p:cNvSpPr txBox="1"/>
          <p:nvPr/>
        </p:nvSpPr>
        <p:spPr>
          <a:xfrm>
            <a:off x="7591425" y="4914900"/>
            <a:ext cx="21431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7" name=""/>
          <p:cNvSpPr txBox="1"/>
          <p:nvPr/>
        </p:nvSpPr>
        <p:spPr>
          <a:xfrm>
            <a:off x="7591425" y="5505450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特定の犬の話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334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NOUNS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大切なのは、この2つ</a:t>
            </a:r>
          </a:p>
        </p:txBody>
      </p:sp>
      <p:sp>
        <p:nvSpPr>
          <p:cNvPr id="7" name=""/>
          <p:cNvSpPr/>
          <p:nvPr/>
        </p:nvSpPr>
        <p:spPr>
          <a:xfrm>
            <a:off x="685800" y="2438400"/>
            <a:ext cx="5286375" cy="4000500"/>
          </a:xfrm>
          <a:prstGeom prst="roundRect">
            <a:avLst>
              <a:gd name="adj" fmla="val 6667"/>
            </a:avLst>
          </a:prstGeom>
          <a:solidFill>
            <a:srgbClr val="FFE8D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28700" y="2705100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028700" y="3286125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10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1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3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6219825" y="2438400"/>
            <a:ext cx="5286375" cy="4000500"/>
          </a:xfrm>
          <a:prstGeom prst="roundRect">
            <a:avLst>
              <a:gd name="adj" fmla="val 6667"/>
            </a:avLst>
          </a:prstGeom>
          <a:solidFill>
            <a:srgbClr val="DD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562725" y="2705100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6562725" y="328612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7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8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9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20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76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COUNTABLE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885950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0300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933450" y="2943225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657475"/>
            <a:ext cx="647700" cy="647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62225" y="332422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657475"/>
            <a:ext cx="647700" cy="647700"/>
          </a:xfrm>
          <a:prstGeom prst="rect">
            <a:avLst/>
          </a:prstGeom>
        </p:spPr>
      </p:pic>
      <p:pic>
        <p:nvPicPr>
          <p:cNvPr id="12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657475"/>
            <a:ext cx="647700" cy="6477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4371975" y="332422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4" name=""/>
          <p:cNvSpPr/>
          <p:nvPr/>
        </p:nvSpPr>
        <p:spPr>
          <a:xfrm>
            <a:off x="6200775" y="2400300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6448425" y="2943225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657475"/>
            <a:ext cx="647700" cy="6477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48625" y="332422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657475"/>
            <a:ext cx="647700" cy="6477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657475"/>
            <a:ext cx="647700" cy="6477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9848850" y="332422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67175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460057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3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324350"/>
            <a:ext cx="647700" cy="6477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628900" y="499110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5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324350"/>
            <a:ext cx="647700" cy="647700"/>
          </a:xfrm>
          <a:prstGeom prst="rect">
            <a:avLst/>
          </a:prstGeom>
        </p:spPr>
      </p:pic>
      <p:pic>
        <p:nvPicPr>
          <p:cNvPr id="26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324350"/>
            <a:ext cx="647700" cy="6477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4429125" y="499110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8" name=""/>
          <p:cNvSpPr/>
          <p:nvPr/>
        </p:nvSpPr>
        <p:spPr>
          <a:xfrm>
            <a:off x="6200775" y="4067175"/>
            <a:ext cx="5305425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 txBox="1"/>
          <p:nvPr/>
        </p:nvSpPr>
        <p:spPr>
          <a:xfrm>
            <a:off x="6448425" y="460057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30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324350"/>
            <a:ext cx="647700" cy="6477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934325" y="499110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2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324350"/>
            <a:ext cx="647700" cy="647700"/>
          </a:xfrm>
          <a:prstGeom prst="rect">
            <a:avLst/>
          </a:prstGeom>
        </p:spPr>
      </p:pic>
      <p:pic>
        <p:nvPicPr>
          <p:cNvPr id="33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324350"/>
            <a:ext cx="647700" cy="6477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9734550" y="499110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7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8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UNCOUNTABLE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14525"/>
            <a:ext cx="85915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はつけられない</a:t>
            </a:r>
          </a:p>
        </p:txBody>
      </p:sp>
      <p:sp>
        <p:nvSpPr>
          <p:cNvPr id="9" name=""/>
          <p:cNvSpPr txBox="1"/>
          <p:nvPr/>
        </p:nvSpPr>
        <p:spPr>
          <a:xfrm>
            <a:off x="685800" y="2409825"/>
            <a:ext cx="4914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不可算名詞には、よくあるパターンがある</a:t>
            </a:r>
          </a:p>
        </p:txBody>
      </p:sp>
      <p:sp>
        <p:nvSpPr>
          <p:cNvPr id="10" name=""/>
          <p:cNvSpPr/>
          <p:nvPr/>
        </p:nvSpPr>
        <p:spPr>
          <a:xfrm>
            <a:off x="68580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1514475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495425" y="3143250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13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275" y="4048125"/>
            <a:ext cx="1295400" cy="129540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1504950" y="59436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5" name=""/>
          <p:cNvSpPr/>
          <p:nvPr/>
        </p:nvSpPr>
        <p:spPr>
          <a:xfrm>
            <a:off x="287655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371475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3667125" y="3143250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8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3905250"/>
            <a:ext cx="1295400" cy="12954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3305175" y="5648325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抽象的なもの</a:t>
            </a:r>
          </a:p>
        </p:txBody>
      </p:sp>
      <p:sp>
        <p:nvSpPr>
          <p:cNvPr id="20" name=""/>
          <p:cNvSpPr txBox="1"/>
          <p:nvPr/>
        </p:nvSpPr>
        <p:spPr>
          <a:xfrm>
            <a:off x="31527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情報・概念</a:t>
            </a:r>
          </a:p>
        </p:txBody>
      </p:sp>
      <p:sp>
        <p:nvSpPr>
          <p:cNvPr id="21" name=""/>
          <p:cNvSpPr/>
          <p:nvPr/>
        </p:nvSpPr>
        <p:spPr>
          <a:xfrm>
            <a:off x="5076825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590550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5857875" y="31432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4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3905250"/>
            <a:ext cx="1295400" cy="129540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5591175" y="5648325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気体・粉末</a:t>
            </a:r>
          </a:p>
        </p:txBody>
      </p:sp>
      <p:sp>
        <p:nvSpPr>
          <p:cNvPr id="26" name=""/>
          <p:cNvSpPr txBox="1"/>
          <p:nvPr/>
        </p:nvSpPr>
        <p:spPr>
          <a:xfrm>
            <a:off x="55911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粒状のもの</a:t>
            </a:r>
          </a:p>
        </p:txBody>
      </p:sp>
      <p:sp>
        <p:nvSpPr>
          <p:cNvPr id="27" name=""/>
          <p:cNvSpPr/>
          <p:nvPr/>
        </p:nvSpPr>
        <p:spPr>
          <a:xfrm>
            <a:off x="7267575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/>
          <p:nvPr/>
        </p:nvSpPr>
        <p:spPr>
          <a:xfrm>
            <a:off x="8096250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048625" y="3143250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30" name="Image 3" descr="木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050" y="4048125"/>
            <a:ext cx="1295400" cy="12954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791450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2" name=""/>
          <p:cNvSpPr/>
          <p:nvPr/>
        </p:nvSpPr>
        <p:spPr>
          <a:xfrm>
            <a:off x="9467850" y="2886075"/>
            <a:ext cx="2038350" cy="3552825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3" name=""/>
          <p:cNvSpPr/>
          <p:nvPr/>
        </p:nvSpPr>
        <p:spPr>
          <a:xfrm>
            <a:off x="10296525" y="3076575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0248900" y="31432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5" name="Image 4" descr="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25" y="3905250"/>
            <a:ext cx="1295400" cy="129540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10086975" y="564832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天候</a:t>
            </a:r>
          </a:p>
        </p:txBody>
      </p:sp>
      <p:sp>
        <p:nvSpPr>
          <p:cNvPr id="37" name=""/>
          <p:cNvSpPr txBox="1"/>
          <p:nvPr/>
        </p:nvSpPr>
        <p:spPr>
          <a:xfrm>
            <a:off x="10086975" y="594360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自然現象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04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8954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① 液体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8096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液体そのものは 1つ・2つと数えず、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として扱う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1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543050" y="558165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4" name=""/>
          <p:cNvSpPr/>
          <p:nvPr/>
        </p:nvSpPr>
        <p:spPr>
          <a:xfrm>
            <a:off x="34385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5718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16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4248150" y="5581650"/>
            <a:ext cx="14382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</a:p>
        </p:txBody>
      </p:sp>
      <p:sp>
        <p:nvSpPr>
          <p:cNvPr id="18" name=""/>
          <p:cNvSpPr txBox="1"/>
          <p:nvPr/>
        </p:nvSpPr>
        <p:spPr>
          <a:xfrm>
            <a:off x="438150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コーヒー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1" name="Image 2" descr="牛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7153275" y="5581650"/>
            <a:ext cx="10763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milk</a:t>
            </a:r>
          </a:p>
        </p:txBody>
      </p:sp>
      <p:sp>
        <p:nvSpPr>
          <p:cNvPr id="23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牛乳</a:t>
            </a:r>
          </a:p>
        </p:txBody>
      </p:sp>
      <p:sp>
        <p:nvSpPr>
          <p:cNvPr id="24" name=""/>
          <p:cNvSpPr/>
          <p:nvPr/>
        </p:nvSpPr>
        <p:spPr>
          <a:xfrm>
            <a:off x="893445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06780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6" name="Image 3" descr="ジュー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858375" y="5581650"/>
            <a:ext cx="1171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juice</a:t>
            </a:r>
          </a:p>
        </p:txBody>
      </p:sp>
      <p:sp>
        <p:nvSpPr>
          <p:cNvPr id="28" name=""/>
          <p:cNvSpPr txBox="1"/>
          <p:nvPr/>
        </p:nvSpPr>
        <p:spPr>
          <a:xfrm>
            <a:off x="9886950" y="60007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ジュース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7251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ただし、飲み物を「1杯」として数えるときは…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E8DC"/>
          </a:solidFill>
          <a:ln/>
        </p:spPr>
      </p:sp>
      <p:pic>
        <p:nvPicPr>
          <p:cNvPr id="7" name="Image 0" descr="コーヒ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8875" y="2305050"/>
            <a:ext cx="1809750" cy="180975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90775" y="4210050"/>
            <a:ext cx="25050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9" name=""/>
          <p:cNvSpPr txBox="1"/>
          <p:nvPr/>
        </p:nvSpPr>
        <p:spPr>
          <a:xfrm>
            <a:off x="2743200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コーヒー1杯</a:t>
            </a:r>
          </a:p>
        </p:txBody>
      </p:sp>
      <p:sp>
        <p:nvSpPr>
          <p:cNvPr id="10" name=""/>
          <p:cNvSpPr/>
          <p:nvPr/>
        </p:nvSpPr>
        <p:spPr>
          <a:xfrm>
            <a:off x="6219825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2C9"/>
          </a:solidFill>
          <a:ln/>
        </p:spPr>
      </p:sp>
      <p:pic>
        <p:nvPicPr>
          <p:cNvPr id="11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305050"/>
            <a:ext cx="1809750" cy="1809750"/>
          </a:xfrm>
          <a:prstGeom prst="rect">
            <a:avLst/>
          </a:prstGeom>
        </p:spPr>
      </p:pic>
      <p:pic>
        <p:nvPicPr>
          <p:cNvPr id="12" name="Image 2" descr="コーヒ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05050"/>
            <a:ext cx="1809750" cy="1809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7496175" y="4210050"/>
            <a:ext cx="34956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two coffees</a:t>
            </a:r>
          </a:p>
        </p:txBody>
      </p:sp>
      <p:sp>
        <p:nvSpPr>
          <p:cNvPr id="14" name=""/>
          <p:cNvSpPr txBox="1"/>
          <p:nvPr/>
        </p:nvSpPr>
        <p:spPr>
          <a:xfrm>
            <a:off x="8277225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コーヒー2杯</a:t>
            </a:r>
          </a:p>
        </p:txBody>
      </p:sp>
      <p:sp>
        <p:nvSpPr>
          <p:cNvPr id="1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33450" y="5895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04900" y="5953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18" name=""/>
          <p:cNvSpPr txBox="1"/>
          <p:nvPr/>
        </p:nvSpPr>
        <p:spPr>
          <a:xfrm>
            <a:off x="1943100" y="5924550"/>
            <a:ext cx="10182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液体としての 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は数えない ／ 「1杯」として数えるときは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と言うことがある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33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715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② 抽象的なもの・情報・概念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5610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形のある「1個」として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区切りにくい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もの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DDEFFC"/>
          </a:solidFill>
          <a:ln/>
        </p:spPr>
      </p:sp>
      <p:pic>
        <p:nvPicPr>
          <p:cNvPr id="11" name="Image 0" descr="音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3524250"/>
            <a:ext cx="1123950" cy="11239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209675" y="5715000"/>
            <a:ext cx="1085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</a:p>
        </p:txBody>
      </p:sp>
      <p:sp>
        <p:nvSpPr>
          <p:cNvPr id="13" name=""/>
          <p:cNvSpPr txBox="1"/>
          <p:nvPr/>
        </p:nvSpPr>
        <p:spPr>
          <a:xfrm>
            <a:off x="138112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音楽</a:t>
            </a:r>
          </a:p>
        </p:txBody>
      </p:sp>
      <p:sp>
        <p:nvSpPr>
          <p:cNvPr id="14" name=""/>
          <p:cNvSpPr/>
          <p:nvPr/>
        </p:nvSpPr>
        <p:spPr>
          <a:xfrm>
            <a:off x="251460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264795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16" name="Image 1" descr="情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825" y="3524250"/>
            <a:ext cx="1123950" cy="11239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733675" y="5715000"/>
            <a:ext cx="1771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8" name=""/>
          <p:cNvSpPr txBox="1"/>
          <p:nvPr/>
        </p:nvSpPr>
        <p:spPr>
          <a:xfrm>
            <a:off x="32004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9" name=""/>
          <p:cNvSpPr/>
          <p:nvPr/>
        </p:nvSpPr>
        <p:spPr>
          <a:xfrm>
            <a:off x="43338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44672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21" name="Image 2" descr="アドバイ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524250"/>
            <a:ext cx="1123950" cy="11239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4829175" y="5715000"/>
            <a:ext cx="1162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3" name=""/>
          <p:cNvSpPr txBox="1"/>
          <p:nvPr/>
        </p:nvSpPr>
        <p:spPr>
          <a:xfrm>
            <a:off x="4800600" y="6019800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4" name=""/>
          <p:cNvSpPr/>
          <p:nvPr/>
        </p:nvSpPr>
        <p:spPr>
          <a:xfrm>
            <a:off x="61626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62960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8DC"/>
          </a:solidFill>
          <a:ln/>
        </p:spPr>
      </p:sp>
      <p:pic>
        <p:nvPicPr>
          <p:cNvPr id="26" name="Image 3" descr="お金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3524250"/>
            <a:ext cx="1123950" cy="11239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6638925" y="57150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</a:p>
        </p:txBody>
      </p:sp>
      <p:sp>
        <p:nvSpPr>
          <p:cNvPr id="28" name=""/>
          <p:cNvSpPr txBox="1"/>
          <p:nvPr/>
        </p:nvSpPr>
        <p:spPr>
          <a:xfrm>
            <a:off x="68580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お金</a:t>
            </a:r>
          </a:p>
        </p:txBody>
      </p:sp>
      <p:sp>
        <p:nvSpPr>
          <p:cNvPr id="29" name=""/>
          <p:cNvSpPr/>
          <p:nvPr/>
        </p:nvSpPr>
        <p:spPr>
          <a:xfrm>
            <a:off x="7991475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8124825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31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700" y="3524250"/>
            <a:ext cx="1123950" cy="11239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8620125" y="5715000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33" name=""/>
          <p:cNvSpPr txBox="1"/>
          <p:nvPr/>
        </p:nvSpPr>
        <p:spPr>
          <a:xfrm>
            <a:off x="8753475" y="60198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34" name=""/>
          <p:cNvSpPr/>
          <p:nvPr/>
        </p:nvSpPr>
        <p:spPr>
          <a:xfrm>
            <a:off x="9810750" y="2447925"/>
            <a:ext cx="1695450" cy="3990975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944100" y="2581275"/>
            <a:ext cx="1428750" cy="3000375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36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500" y="3524250"/>
            <a:ext cx="1123950" cy="1123950"/>
          </a:xfrm>
          <a:prstGeom prst="rect">
            <a:avLst/>
          </a:prstGeom>
        </p:spPr>
      </p:pic>
      <p:sp>
        <p:nvSpPr>
          <p:cNvPr id="37" name=""/>
          <p:cNvSpPr txBox="1"/>
          <p:nvPr/>
        </p:nvSpPr>
        <p:spPr>
          <a:xfrm>
            <a:off x="10115550" y="5715000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38" name=""/>
          <p:cNvSpPr txBox="1"/>
          <p:nvPr/>
        </p:nvSpPr>
        <p:spPr>
          <a:xfrm>
            <a:off x="1050607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5457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は不可算名詞！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pic>
        <p:nvPicPr>
          <p:cNvPr id="7" name="Image 0" descr="ド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990600" cy="990600"/>
          </a:xfrm>
          <a:prstGeom prst="rect">
            <a:avLst/>
          </a:prstGeom>
        </p:spPr>
      </p:pic>
      <p:pic>
        <p:nvPicPr>
          <p:cNvPr id="8" name="Image 1" descr="円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300" y="22288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81350" y="23717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お金の「単位」は</a:t>
            </a:r>
          </a:p>
        </p:txBody>
      </p:sp>
      <p:sp>
        <p:nvSpPr>
          <p:cNvPr id="10" name=""/>
          <p:cNvSpPr txBox="1"/>
          <p:nvPr/>
        </p:nvSpPr>
        <p:spPr>
          <a:xfrm>
            <a:off x="3181350" y="27146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数えられる</a:t>
            </a:r>
          </a:p>
        </p:txBody>
      </p:sp>
      <p:sp>
        <p:nvSpPr>
          <p:cNvPr id="11" name=""/>
          <p:cNvSpPr/>
          <p:nvPr/>
        </p:nvSpPr>
        <p:spPr>
          <a:xfrm>
            <a:off x="971550" y="3333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143000" y="3524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38225" y="3562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1657350" y="3429000"/>
            <a:ext cx="1771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one dollar</a:t>
            </a:r>
          </a:p>
        </p:txBody>
      </p:sp>
      <p:sp>
        <p:nvSpPr>
          <p:cNvPr id="15" name=""/>
          <p:cNvSpPr txBox="1"/>
          <p:nvPr/>
        </p:nvSpPr>
        <p:spPr>
          <a:xfrm>
            <a:off x="1657350" y="3762375"/>
            <a:ext cx="828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1ドル</a:t>
            </a:r>
          </a:p>
        </p:txBody>
      </p:sp>
      <p:sp>
        <p:nvSpPr>
          <p:cNvPr id="16" name=""/>
          <p:cNvSpPr/>
          <p:nvPr/>
        </p:nvSpPr>
        <p:spPr>
          <a:xfrm>
            <a:off x="971550" y="4210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1143000" y="4400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38225" y="4438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9" name=""/>
          <p:cNvSpPr txBox="1"/>
          <p:nvPr/>
        </p:nvSpPr>
        <p:spPr>
          <a:xfrm>
            <a:off x="1657350" y="4305300"/>
            <a:ext cx="1447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100 yen</a:t>
            </a:r>
          </a:p>
        </p:txBody>
      </p:sp>
      <p:sp>
        <p:nvSpPr>
          <p:cNvPr id="20" name=""/>
          <p:cNvSpPr txBox="1"/>
          <p:nvPr/>
        </p:nvSpPr>
        <p:spPr>
          <a:xfrm>
            <a:off x="1657350" y="4638675"/>
            <a:ext cx="857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100円</a:t>
            </a:r>
          </a:p>
        </p:txBody>
      </p:sp>
      <p:sp>
        <p:nvSpPr>
          <p:cNvPr id="21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2" name="Image 2" descr="お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743825" y="2409825"/>
            <a:ext cx="3190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「お金」という概念は</a:t>
            </a:r>
          </a:p>
        </p:txBody>
      </p:sp>
      <p:sp>
        <p:nvSpPr>
          <p:cNvPr id="24" name=""/>
          <p:cNvSpPr txBox="1"/>
          <p:nvPr/>
        </p:nvSpPr>
        <p:spPr>
          <a:xfrm>
            <a:off x="7743825" y="2752725"/>
            <a:ext cx="2047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</a:t>
            </a:r>
          </a:p>
        </p:txBody>
      </p:sp>
      <p:sp>
        <p:nvSpPr>
          <p:cNvPr id="25" name=""/>
          <p:cNvSpPr/>
          <p:nvPr/>
        </p:nvSpPr>
        <p:spPr>
          <a:xfrm>
            <a:off x="6505575" y="34099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677025" y="36004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572250" y="36385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28" name=""/>
          <p:cNvSpPr txBox="1"/>
          <p:nvPr/>
        </p:nvSpPr>
        <p:spPr>
          <a:xfrm>
            <a:off x="7191375" y="3505200"/>
            <a:ext cx="1562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 money</a:t>
            </a:r>
          </a:p>
        </p:txBody>
      </p:sp>
      <p:sp>
        <p:nvSpPr>
          <p:cNvPr id="29" name=""/>
          <p:cNvSpPr txBox="1"/>
          <p:nvPr/>
        </p:nvSpPr>
        <p:spPr>
          <a:xfrm>
            <a:off x="7191375" y="3838575"/>
            <a:ext cx="2600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1つ、2つ…と数えられない</a:t>
            </a:r>
          </a:p>
        </p:txBody>
      </p:sp>
      <p:sp>
        <p:nvSpPr>
          <p:cNvPr id="30" name=""/>
          <p:cNvSpPr/>
          <p:nvPr/>
        </p:nvSpPr>
        <p:spPr>
          <a:xfrm>
            <a:off x="6505575" y="42862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677025" y="44767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57225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3" name=""/>
          <p:cNvSpPr txBox="1"/>
          <p:nvPr/>
        </p:nvSpPr>
        <p:spPr>
          <a:xfrm>
            <a:off x="7191375" y="4381500"/>
            <a:ext cx="2076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two moneys</a:t>
            </a:r>
          </a:p>
        </p:txBody>
      </p:sp>
      <p:sp>
        <p:nvSpPr>
          <p:cNvPr id="34" name=""/>
          <p:cNvSpPr txBox="1"/>
          <p:nvPr/>
        </p:nvSpPr>
        <p:spPr>
          <a:xfrm>
            <a:off x="7191375" y="47148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複数形にもしない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2388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③ 気体・粉末・粒状のもの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8829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一つひとつの粒ではなく、全体を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ひとまとまりの物質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1" name="Image 0" descr="空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2838450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504950" y="4657725"/>
            <a:ext cx="790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air</a:t>
            </a:r>
          </a:p>
        </p:txBody>
      </p:sp>
      <p:sp>
        <p:nvSpPr>
          <p:cNvPr id="13" name=""/>
          <p:cNvSpPr txBox="1"/>
          <p:nvPr/>
        </p:nvSpPr>
        <p:spPr>
          <a:xfrm>
            <a:off x="1524000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空気</a:t>
            </a:r>
          </a:p>
        </p:txBody>
      </p:sp>
      <p:sp>
        <p:nvSpPr>
          <p:cNvPr id="14" name=""/>
          <p:cNvSpPr/>
          <p:nvPr/>
        </p:nvSpPr>
        <p:spPr>
          <a:xfrm>
            <a:off x="2886075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019425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16" name="Image 1" descr="砂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2838450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476625" y="4657725"/>
            <a:ext cx="1304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sugar</a:t>
            </a:r>
          </a:p>
        </p:txBody>
      </p:sp>
      <p:sp>
        <p:nvSpPr>
          <p:cNvPr id="18" name=""/>
          <p:cNvSpPr txBox="1"/>
          <p:nvPr/>
        </p:nvSpPr>
        <p:spPr>
          <a:xfrm>
            <a:off x="3724275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砂糖</a:t>
            </a:r>
          </a:p>
        </p:txBody>
      </p:sp>
      <p:sp>
        <p:nvSpPr>
          <p:cNvPr id="19" name=""/>
          <p:cNvSpPr/>
          <p:nvPr/>
        </p:nvSpPr>
        <p:spPr>
          <a:xfrm>
            <a:off x="508635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521970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21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2838450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5810250" y="4657725"/>
            <a:ext cx="990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salt</a:t>
            </a:r>
          </a:p>
        </p:txBody>
      </p:sp>
      <p:sp>
        <p:nvSpPr>
          <p:cNvPr id="23" name=""/>
          <p:cNvSpPr txBox="1"/>
          <p:nvPr/>
        </p:nvSpPr>
        <p:spPr>
          <a:xfrm>
            <a:off x="6010275" y="507682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塩</a:t>
            </a:r>
          </a:p>
        </p:txBody>
      </p:sp>
      <p:sp>
        <p:nvSpPr>
          <p:cNvPr id="24" name=""/>
          <p:cNvSpPr/>
          <p:nvPr/>
        </p:nvSpPr>
        <p:spPr>
          <a:xfrm>
            <a:off x="7277100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7410450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26" name="Image 3" descr="米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28384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8010525" y="4657725"/>
            <a:ext cx="1000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</a:p>
        </p:txBody>
      </p:sp>
      <p:sp>
        <p:nvSpPr>
          <p:cNvPr id="28" name=""/>
          <p:cNvSpPr txBox="1"/>
          <p:nvPr/>
        </p:nvSpPr>
        <p:spPr>
          <a:xfrm>
            <a:off x="7867650" y="50768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米・ごはん</a:t>
            </a:r>
          </a:p>
        </p:txBody>
      </p:sp>
      <p:sp>
        <p:nvSpPr>
          <p:cNvPr id="29" name=""/>
          <p:cNvSpPr/>
          <p:nvPr/>
        </p:nvSpPr>
        <p:spPr>
          <a:xfrm>
            <a:off x="9477375" y="2447925"/>
            <a:ext cx="2028825" cy="306705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610725" y="2581275"/>
            <a:ext cx="1762125" cy="1943100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31" name="Image 4" descr="小麦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2838450"/>
            <a:ext cx="1428750" cy="14287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10144125" y="46577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flour</a:t>
            </a:r>
          </a:p>
        </p:txBody>
      </p:sp>
      <p:sp>
        <p:nvSpPr>
          <p:cNvPr id="33" name=""/>
          <p:cNvSpPr txBox="1"/>
          <p:nvPr/>
        </p:nvSpPr>
        <p:spPr>
          <a:xfrm>
            <a:off x="10239375" y="50768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小麦粉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37" name=""/>
          <p:cNvSpPr txBox="1"/>
          <p:nvPr/>
        </p:nvSpPr>
        <p:spPr>
          <a:xfrm>
            <a:off x="1771650" y="5924550"/>
            <a:ext cx="925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は米粒を実際には数えられるけど、英語では「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米というまとまり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」として扱う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343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④ 素材・材料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7439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材料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として捉えるときは、不可算名詞になることが多い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11" name="Image 0" descr="木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285875" y="558165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wood</a:t>
            </a:r>
          </a:p>
        </p:txBody>
      </p:sp>
      <p:sp>
        <p:nvSpPr>
          <p:cNvPr id="13" name=""/>
          <p:cNvSpPr txBox="1"/>
          <p:nvPr/>
        </p:nvSpPr>
        <p:spPr>
          <a:xfrm>
            <a:off x="135255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木・木材</a:t>
            </a:r>
          </a:p>
        </p:txBody>
      </p:sp>
      <p:sp>
        <p:nvSpPr>
          <p:cNvPr id="14" name=""/>
          <p:cNvSpPr/>
          <p:nvPr/>
        </p:nvSpPr>
        <p:spPr>
          <a:xfrm>
            <a:off x="2886075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019425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6" name="Image 1" descr="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457575" y="5581650"/>
            <a:ext cx="1362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8" name=""/>
          <p:cNvSpPr txBox="1"/>
          <p:nvPr/>
        </p:nvSpPr>
        <p:spPr>
          <a:xfrm>
            <a:off x="381000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紙</a:t>
            </a:r>
          </a:p>
        </p:txBody>
      </p:sp>
      <p:sp>
        <p:nvSpPr>
          <p:cNvPr id="19" name=""/>
          <p:cNvSpPr/>
          <p:nvPr/>
        </p:nvSpPr>
        <p:spPr>
          <a:xfrm>
            <a:off x="508635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521970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21" name="Image 2" descr="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5772150" y="5581650"/>
            <a:ext cx="1085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gold</a:t>
            </a:r>
          </a:p>
        </p:txBody>
      </p:sp>
      <p:sp>
        <p:nvSpPr>
          <p:cNvPr id="23" name=""/>
          <p:cNvSpPr txBox="1"/>
          <p:nvPr/>
        </p:nvSpPr>
        <p:spPr>
          <a:xfrm>
            <a:off x="60102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金</a:t>
            </a:r>
          </a:p>
        </p:txBody>
      </p:sp>
      <p:sp>
        <p:nvSpPr>
          <p:cNvPr id="24" name=""/>
          <p:cNvSpPr/>
          <p:nvPr/>
        </p:nvSpPr>
        <p:spPr>
          <a:xfrm>
            <a:off x="7277100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7410450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26" name="Image 3" descr="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7905750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meat</a:t>
            </a:r>
          </a:p>
        </p:txBody>
      </p:sp>
      <p:sp>
        <p:nvSpPr>
          <p:cNvPr id="28" name=""/>
          <p:cNvSpPr txBox="1"/>
          <p:nvPr/>
        </p:nvSpPr>
        <p:spPr>
          <a:xfrm>
            <a:off x="82105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肉</a:t>
            </a:r>
          </a:p>
        </p:txBody>
      </p:sp>
      <p:sp>
        <p:nvSpPr>
          <p:cNvPr id="29" name=""/>
          <p:cNvSpPr/>
          <p:nvPr/>
        </p:nvSpPr>
        <p:spPr>
          <a:xfrm>
            <a:off x="9477375" y="2447925"/>
            <a:ext cx="2028825" cy="39909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610725" y="2581275"/>
            <a:ext cx="1762125" cy="28670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31" name="Image 4" descr="ガ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3305175"/>
            <a:ext cx="1428750" cy="14287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10106025" y="5581650"/>
            <a:ext cx="12287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glass</a:t>
            </a:r>
          </a:p>
        </p:txBody>
      </p:sp>
      <p:sp>
        <p:nvSpPr>
          <p:cNvPr id="33" name=""/>
          <p:cNvSpPr txBox="1"/>
          <p:nvPr/>
        </p:nvSpPr>
        <p:spPr>
          <a:xfrm>
            <a:off x="10239375" y="60007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ガラス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4489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同じ単語でも、意味が変わると可算名詞になる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DDEFFC"/>
          </a:solidFill>
          <a:ln/>
        </p:spPr>
      </p:sp>
      <p:sp>
        <p:nvSpPr>
          <p:cNvPr id="7" name=""/>
          <p:cNvSpPr/>
          <p:nvPr/>
        </p:nvSpPr>
        <p:spPr>
          <a:xfrm>
            <a:off x="895350" y="20097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66800" y="20669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不可算</a:t>
            </a:r>
          </a:p>
        </p:txBody>
      </p:sp>
      <p:sp>
        <p:nvSpPr>
          <p:cNvPr id="9" name=""/>
          <p:cNvSpPr txBox="1"/>
          <p:nvPr/>
        </p:nvSpPr>
        <p:spPr>
          <a:xfrm>
            <a:off x="1866900" y="2047875"/>
            <a:ext cx="2171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素材・食材として</a:t>
            </a:r>
          </a:p>
        </p:txBody>
      </p:sp>
      <p:sp>
        <p:nvSpPr>
          <p:cNvPr id="10" name=""/>
          <p:cNvSpPr/>
          <p:nvPr/>
        </p:nvSpPr>
        <p:spPr>
          <a:xfrm>
            <a:off x="6162675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FFE8DC"/>
          </a:solidFill>
          <a:ln/>
        </p:spPr>
      </p:sp>
      <p:sp>
        <p:nvSpPr>
          <p:cNvPr id="11" name=""/>
          <p:cNvSpPr/>
          <p:nvPr/>
        </p:nvSpPr>
        <p:spPr>
          <a:xfrm>
            <a:off x="6372225" y="200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543675" y="206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可算</a:t>
            </a:r>
          </a:p>
        </p:txBody>
      </p:sp>
      <p:sp>
        <p:nvSpPr>
          <p:cNvPr id="13" name=""/>
          <p:cNvSpPr txBox="1"/>
          <p:nvPr/>
        </p:nvSpPr>
        <p:spPr>
          <a:xfrm>
            <a:off x="7172325" y="2047875"/>
            <a:ext cx="2076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1つのものとして</a:t>
            </a:r>
          </a:p>
        </p:txBody>
      </p:sp>
      <p:sp>
        <p:nvSpPr>
          <p:cNvPr id="14" name=""/>
          <p:cNvSpPr/>
          <p:nvPr/>
        </p:nvSpPr>
        <p:spPr>
          <a:xfrm>
            <a:off x="685800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0" descr="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450" y="2914650"/>
            <a:ext cx="1219200" cy="12192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62200" y="3124200"/>
            <a:ext cx="1552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2362200" y="3638550"/>
            <a:ext cx="21812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紙・紙という素材</a:t>
            </a:r>
          </a:p>
        </p:txBody>
      </p:sp>
      <p:sp>
        <p:nvSpPr>
          <p:cNvPr id="18" name=""/>
          <p:cNvSpPr/>
          <p:nvPr/>
        </p:nvSpPr>
        <p:spPr>
          <a:xfrm>
            <a:off x="6162675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9" name="Image 1" descr="新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914650"/>
            <a:ext cx="1219200" cy="12192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839075" y="3124200"/>
            <a:ext cx="1885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</a:p>
        </p:txBody>
      </p:sp>
      <p:sp>
        <p:nvSpPr>
          <p:cNvPr id="21" name=""/>
          <p:cNvSpPr txBox="1"/>
          <p:nvPr/>
        </p:nvSpPr>
        <p:spPr>
          <a:xfrm>
            <a:off x="7839075" y="363855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論文・新聞など</a:t>
            </a:r>
          </a:p>
        </p:txBody>
      </p:sp>
      <p:sp>
        <p:nvSpPr>
          <p:cNvPr id="22" name=""/>
          <p:cNvSpPr/>
          <p:nvPr/>
        </p:nvSpPr>
        <p:spPr>
          <a:xfrm>
            <a:off x="685800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2" descr="鶏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905375"/>
            <a:ext cx="1219200" cy="12192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62200" y="5114925"/>
            <a:ext cx="1933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</a:p>
        </p:txBody>
      </p:sp>
      <p:sp>
        <p:nvSpPr>
          <p:cNvPr id="25" name=""/>
          <p:cNvSpPr txBox="1"/>
          <p:nvPr/>
        </p:nvSpPr>
        <p:spPr>
          <a:xfrm>
            <a:off x="2362200" y="56292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鶏肉</a:t>
            </a:r>
          </a:p>
        </p:txBody>
      </p:sp>
      <p:sp>
        <p:nvSpPr>
          <p:cNvPr id="26" name=""/>
          <p:cNvSpPr/>
          <p:nvPr/>
        </p:nvSpPr>
        <p:spPr>
          <a:xfrm>
            <a:off x="6162675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7" name="Image 3" descr="ニワト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4905375"/>
            <a:ext cx="1219200" cy="12192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7839075" y="5114925"/>
            <a:ext cx="2266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sp>
        <p:nvSpPr>
          <p:cNvPr id="29" name=""/>
          <p:cNvSpPr txBox="1"/>
          <p:nvPr/>
        </p:nvSpPr>
        <p:spPr>
          <a:xfrm>
            <a:off x="7839075" y="5629275"/>
            <a:ext cx="1857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1羽のニワトリ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543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43053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⑤ 天候・自然現象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621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8" name=""/>
          <p:cNvSpPr txBox="1"/>
          <p:nvPr/>
        </p:nvSpPr>
        <p:spPr>
          <a:xfrm>
            <a:off x="1847850" y="1914525"/>
            <a:ext cx="4038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これらも、通常は不可算名詞</a:t>
            </a:r>
          </a:p>
        </p:txBody>
      </p:sp>
      <p:sp>
        <p:nvSpPr>
          <p:cNvPr id="9" name=""/>
          <p:cNvSpPr/>
          <p:nvPr/>
        </p:nvSpPr>
        <p:spPr>
          <a:xfrm>
            <a:off x="68580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1915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1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305175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685925" y="5581650"/>
            <a:ext cx="10096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rain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雨</a:t>
            </a:r>
          </a:p>
        </p:txBody>
      </p:sp>
      <p:sp>
        <p:nvSpPr>
          <p:cNvPr id="14" name=""/>
          <p:cNvSpPr/>
          <p:nvPr/>
        </p:nvSpPr>
        <p:spPr>
          <a:xfrm>
            <a:off x="34385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5718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6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30517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4333875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snow</a:t>
            </a:r>
          </a:p>
        </p:txBody>
      </p:sp>
      <p:sp>
        <p:nvSpPr>
          <p:cNvPr id="18" name=""/>
          <p:cNvSpPr txBox="1"/>
          <p:nvPr/>
        </p:nvSpPr>
        <p:spPr>
          <a:xfrm>
            <a:off x="46386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雪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858000" y="5581650"/>
            <a:ext cx="1752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weather</a:t>
            </a:r>
          </a:p>
        </p:txBody>
      </p:sp>
      <p:sp>
        <p:nvSpPr>
          <p:cNvPr id="23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天気</a:t>
            </a:r>
          </a:p>
        </p:txBody>
      </p:sp>
      <p:sp>
        <p:nvSpPr>
          <p:cNvPr id="24" name=""/>
          <p:cNvSpPr/>
          <p:nvPr/>
        </p:nvSpPr>
        <p:spPr>
          <a:xfrm>
            <a:off x="8934450" y="2447925"/>
            <a:ext cx="2581275" cy="39909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067800" y="2581275"/>
            <a:ext cx="2314575" cy="28670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26" name="Image 3" descr="日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305175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544050" y="5581650"/>
            <a:ext cx="18954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sunshine</a:t>
            </a:r>
          </a:p>
        </p:txBody>
      </p:sp>
      <p:sp>
        <p:nvSpPr>
          <p:cNvPr id="28" name=""/>
          <p:cNvSpPr txBox="1"/>
          <p:nvPr/>
        </p:nvSpPr>
        <p:spPr>
          <a:xfrm>
            <a:off x="9705975" y="60007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日光・日差し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PATTERN 5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51625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天候・自然現象の例文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95500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95525"/>
            <a:ext cx="4086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We had a lot of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rain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8003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雨がたくさん降りました。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524250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29025"/>
            <a:ext cx="1181100" cy="11811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324100" y="3829050"/>
            <a:ext cx="4591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There is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snow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outside.</a:t>
            </a:r>
          </a:p>
        </p:txBody>
      </p:sp>
      <p:sp>
        <p:nvSpPr>
          <p:cNvPr id="13" name=""/>
          <p:cNvSpPr txBox="1"/>
          <p:nvPr/>
        </p:nvSpPr>
        <p:spPr>
          <a:xfrm>
            <a:off x="2324100" y="433387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外には雪があります。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5777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24100" y="5362575"/>
            <a:ext cx="53244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weather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is nice today.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2324100" y="5867400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今日は天気がいいです。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4010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も不可算名詞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F2C9"/>
          </a:solidFill>
          <a:ln/>
        </p:spPr>
      </p:sp>
      <p:pic>
        <p:nvPicPr>
          <p:cNvPr id="7" name="Image 0" descr="情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1066800" cy="10668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209800" y="2400300"/>
            <a:ext cx="2590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209800" y="28765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0" name=""/>
          <p:cNvSpPr/>
          <p:nvPr/>
        </p:nvSpPr>
        <p:spPr>
          <a:xfrm>
            <a:off x="971550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143000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038225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13" name=""/>
          <p:cNvSpPr txBox="1"/>
          <p:nvPr/>
        </p:nvSpPr>
        <p:spPr>
          <a:xfrm>
            <a:off x="1657350" y="35337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information</a:t>
            </a:r>
          </a:p>
        </p:txBody>
      </p:sp>
      <p:sp>
        <p:nvSpPr>
          <p:cNvPr id="14" name=""/>
          <p:cNvSpPr/>
          <p:nvPr/>
        </p:nvSpPr>
        <p:spPr>
          <a:xfrm>
            <a:off x="971550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1143000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8225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7" name=""/>
          <p:cNvSpPr txBox="1"/>
          <p:nvPr/>
        </p:nvSpPr>
        <p:spPr>
          <a:xfrm>
            <a:off x="1657350" y="4191000"/>
            <a:ext cx="2990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information.</a:t>
            </a:r>
          </a:p>
        </p:txBody>
      </p:sp>
      <p:sp>
        <p:nvSpPr>
          <p:cNvPr id="18" name=""/>
          <p:cNvSpPr txBox="1"/>
          <p:nvPr/>
        </p:nvSpPr>
        <p:spPr>
          <a:xfrm>
            <a:off x="1657350" y="4524375"/>
            <a:ext cx="2543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私は情報を持っています。</a:t>
            </a:r>
          </a:p>
        </p:txBody>
      </p:sp>
      <p:sp>
        <p:nvSpPr>
          <p:cNvPr id="19" name=""/>
          <p:cNvSpPr/>
          <p:nvPr/>
        </p:nvSpPr>
        <p:spPr>
          <a:xfrm>
            <a:off x="971550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143000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38225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2" name=""/>
          <p:cNvSpPr txBox="1"/>
          <p:nvPr/>
        </p:nvSpPr>
        <p:spPr>
          <a:xfrm>
            <a:off x="1657350" y="5067300"/>
            <a:ext cx="3838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information.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57350" y="5400675"/>
            <a:ext cx="2552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いくつか情報があります。</a:t>
            </a:r>
          </a:p>
        </p:txBody>
      </p:sp>
      <p:sp>
        <p:nvSpPr>
          <p:cNvPr id="24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5" name="Image 1" descr="アドバイ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743825" y="2400300"/>
            <a:ext cx="16478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743825" y="28765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8" name=""/>
          <p:cNvSpPr/>
          <p:nvPr/>
        </p:nvSpPr>
        <p:spPr>
          <a:xfrm>
            <a:off x="6505575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6677025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0" name=""/>
          <p:cNvSpPr txBox="1"/>
          <p:nvPr/>
        </p:nvSpPr>
        <p:spPr>
          <a:xfrm>
            <a:off x="6572250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1" name=""/>
          <p:cNvSpPr txBox="1"/>
          <p:nvPr/>
        </p:nvSpPr>
        <p:spPr>
          <a:xfrm>
            <a:off x="7191375" y="3533775"/>
            <a:ext cx="1733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advice</a:t>
            </a:r>
          </a:p>
        </p:txBody>
      </p:sp>
      <p:sp>
        <p:nvSpPr>
          <p:cNvPr id="32" name=""/>
          <p:cNvSpPr/>
          <p:nvPr/>
        </p:nvSpPr>
        <p:spPr>
          <a:xfrm>
            <a:off x="6505575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677025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6572250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35" name=""/>
          <p:cNvSpPr txBox="1"/>
          <p:nvPr/>
        </p:nvSpPr>
        <p:spPr>
          <a:xfrm>
            <a:off x="7191375" y="4191000"/>
            <a:ext cx="3095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He gave me advice.</a:t>
            </a:r>
          </a:p>
        </p:txBody>
      </p:sp>
      <p:sp>
        <p:nvSpPr>
          <p:cNvPr id="36" name=""/>
          <p:cNvSpPr txBox="1"/>
          <p:nvPr/>
        </p:nvSpPr>
        <p:spPr>
          <a:xfrm>
            <a:off x="7191375" y="4524375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37" name=""/>
          <p:cNvSpPr/>
          <p:nvPr/>
        </p:nvSpPr>
        <p:spPr>
          <a:xfrm>
            <a:off x="6505575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677025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9" name=""/>
          <p:cNvSpPr txBox="1"/>
          <p:nvPr/>
        </p:nvSpPr>
        <p:spPr>
          <a:xfrm>
            <a:off x="6572250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40" name=""/>
          <p:cNvSpPr txBox="1"/>
          <p:nvPr/>
        </p:nvSpPr>
        <p:spPr>
          <a:xfrm>
            <a:off x="7191375" y="5067300"/>
            <a:ext cx="3714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gave him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advice.</a:t>
            </a:r>
          </a:p>
        </p:txBody>
      </p:sp>
      <p:sp>
        <p:nvSpPr>
          <p:cNvPr id="41" name=""/>
          <p:cNvSpPr txBox="1"/>
          <p:nvPr/>
        </p:nvSpPr>
        <p:spPr>
          <a:xfrm>
            <a:off x="7191375" y="5400675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私は彼にアドバイスをしました。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38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SUMMARY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9610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数えられる名詞・数えられない名詞 まとめ</a:t>
            </a:r>
          </a:p>
        </p:txBody>
      </p:sp>
      <p:sp>
        <p:nvSpPr>
          <p:cNvPr id="6" name=""/>
          <p:cNvSpPr/>
          <p:nvPr/>
        </p:nvSpPr>
        <p:spPr>
          <a:xfrm>
            <a:off x="685800" y="1905000"/>
            <a:ext cx="10820400" cy="676275"/>
          </a:xfrm>
          <a:prstGeom prst="roundRect">
            <a:avLst>
              <a:gd name="adj" fmla="val 394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33450" y="2057400"/>
            <a:ext cx="15430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04900" y="21145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2667000" y="2105025"/>
            <a:ext cx="41243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1C2340"/>
                </a:solidFill>
                <a:latin typeface="Noto Sans JP"/>
                <a:ea typeface="Noto Sans JP"/>
              </a:rPr>
              <a:t>1つ、2つ…と数えられる → 1つなら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0" name=""/>
          <p:cNvSpPr txBox="1"/>
          <p:nvPr/>
        </p:nvSpPr>
        <p:spPr>
          <a:xfrm>
            <a:off x="6143625" y="2124075"/>
            <a:ext cx="3457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1" name=""/>
          <p:cNvSpPr/>
          <p:nvPr/>
        </p:nvSpPr>
        <p:spPr>
          <a:xfrm>
            <a:off x="685800" y="2714625"/>
            <a:ext cx="108204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33450" y="2867025"/>
            <a:ext cx="17145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04900" y="292417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4" name=""/>
          <p:cNvSpPr txBox="1"/>
          <p:nvPr/>
        </p:nvSpPr>
        <p:spPr>
          <a:xfrm>
            <a:off x="2800350" y="2914650"/>
            <a:ext cx="4943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そのまま数えられない →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はつけない</a:t>
            </a:r>
          </a:p>
        </p:txBody>
      </p:sp>
      <p:sp>
        <p:nvSpPr>
          <p:cNvPr id="15" name=""/>
          <p:cNvSpPr/>
          <p:nvPr/>
        </p:nvSpPr>
        <p:spPr>
          <a:xfrm>
            <a:off x="933450" y="33432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1314450" y="3438525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7" name=""/>
          <p:cNvSpPr/>
          <p:nvPr/>
        </p:nvSpPr>
        <p:spPr>
          <a:xfrm>
            <a:off x="933450" y="34194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76300" y="3467100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9" name=""/>
          <p:cNvSpPr txBox="1"/>
          <p:nvPr/>
        </p:nvSpPr>
        <p:spPr>
          <a:xfrm>
            <a:off x="3695700" y="3429000"/>
            <a:ext cx="33909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water / coffee / milk / juice</a:t>
            </a:r>
          </a:p>
        </p:txBody>
      </p:sp>
      <p:sp>
        <p:nvSpPr>
          <p:cNvPr id="20" name=""/>
          <p:cNvSpPr/>
          <p:nvPr/>
        </p:nvSpPr>
        <p:spPr>
          <a:xfrm>
            <a:off x="933450" y="37909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1314450" y="38862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抽象的なもの・情報・概念</a:t>
            </a:r>
          </a:p>
        </p:txBody>
      </p:sp>
      <p:sp>
        <p:nvSpPr>
          <p:cNvPr id="22" name=""/>
          <p:cNvSpPr/>
          <p:nvPr/>
        </p:nvSpPr>
        <p:spPr>
          <a:xfrm>
            <a:off x="933450" y="386715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57250" y="391477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4" name=""/>
          <p:cNvSpPr txBox="1"/>
          <p:nvPr/>
        </p:nvSpPr>
        <p:spPr>
          <a:xfrm>
            <a:off x="3695700" y="3876675"/>
            <a:ext cx="6600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music / information / advice / money / love / happiness</a:t>
            </a:r>
          </a:p>
        </p:txBody>
      </p:sp>
      <p:sp>
        <p:nvSpPr>
          <p:cNvPr id="25" name=""/>
          <p:cNvSpPr/>
          <p:nvPr/>
        </p:nvSpPr>
        <p:spPr>
          <a:xfrm>
            <a:off x="933450" y="422910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990600" y="43243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気体・粉末・粒状のもの</a:t>
            </a:r>
          </a:p>
        </p:txBody>
      </p:sp>
      <p:sp>
        <p:nvSpPr>
          <p:cNvPr id="27" name=""/>
          <p:cNvSpPr/>
          <p:nvPr/>
        </p:nvSpPr>
        <p:spPr>
          <a:xfrm>
            <a:off x="933450" y="43148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57250" y="43624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9" name=""/>
          <p:cNvSpPr txBox="1"/>
          <p:nvPr/>
        </p:nvSpPr>
        <p:spPr>
          <a:xfrm>
            <a:off x="3695700" y="4324350"/>
            <a:ext cx="3457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air / sugar / salt / rice / flour</a:t>
            </a:r>
          </a:p>
        </p:txBody>
      </p:sp>
      <p:sp>
        <p:nvSpPr>
          <p:cNvPr id="30" name=""/>
          <p:cNvSpPr/>
          <p:nvPr/>
        </p:nvSpPr>
        <p:spPr>
          <a:xfrm>
            <a:off x="933450" y="46767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1314450" y="47720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2" name=""/>
          <p:cNvSpPr/>
          <p:nvPr/>
        </p:nvSpPr>
        <p:spPr>
          <a:xfrm>
            <a:off x="933450" y="47529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847725" y="48006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4" name=""/>
          <p:cNvSpPr txBox="1"/>
          <p:nvPr/>
        </p:nvSpPr>
        <p:spPr>
          <a:xfrm>
            <a:off x="3695700" y="4762500"/>
            <a:ext cx="41433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wood / paper / gold / meat / glass</a:t>
            </a:r>
          </a:p>
        </p:txBody>
      </p:sp>
      <p:sp>
        <p:nvSpPr>
          <p:cNvPr id="35" name=""/>
          <p:cNvSpPr/>
          <p:nvPr/>
        </p:nvSpPr>
        <p:spPr>
          <a:xfrm>
            <a:off x="933450" y="51149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6" name=""/>
          <p:cNvSpPr txBox="1"/>
          <p:nvPr/>
        </p:nvSpPr>
        <p:spPr>
          <a:xfrm>
            <a:off x="1314450" y="521017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天候・自然現象</a:t>
            </a:r>
          </a:p>
        </p:txBody>
      </p:sp>
      <p:sp>
        <p:nvSpPr>
          <p:cNvPr id="37" name=""/>
          <p:cNvSpPr/>
          <p:nvPr/>
        </p:nvSpPr>
        <p:spPr>
          <a:xfrm>
            <a:off x="933450" y="520065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8" name=""/>
          <p:cNvSpPr txBox="1"/>
          <p:nvPr/>
        </p:nvSpPr>
        <p:spPr>
          <a:xfrm>
            <a:off x="857250" y="524827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9" name=""/>
          <p:cNvSpPr txBox="1"/>
          <p:nvPr/>
        </p:nvSpPr>
        <p:spPr>
          <a:xfrm>
            <a:off x="3695700" y="5210175"/>
            <a:ext cx="3933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rain / snow / weather / sunshine</a:t>
            </a:r>
          </a:p>
        </p:txBody>
      </p:sp>
      <p:sp>
        <p:nvSpPr>
          <p:cNvPr id="40" name=""/>
          <p:cNvSpPr/>
          <p:nvPr/>
        </p:nvSpPr>
        <p:spPr>
          <a:xfrm>
            <a:off x="685800" y="5800725"/>
            <a:ext cx="10820400" cy="638175"/>
          </a:xfrm>
          <a:prstGeom prst="roundRect">
            <a:avLst>
              <a:gd name="adj" fmla="val 41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1" name=""/>
          <p:cNvSpPr/>
          <p:nvPr/>
        </p:nvSpPr>
        <p:spPr>
          <a:xfrm>
            <a:off x="914400" y="5934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42" name=""/>
          <p:cNvSpPr txBox="1"/>
          <p:nvPr/>
        </p:nvSpPr>
        <p:spPr>
          <a:xfrm>
            <a:off x="1085850" y="5991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43" name=""/>
          <p:cNvSpPr txBox="1"/>
          <p:nvPr/>
        </p:nvSpPr>
        <p:spPr>
          <a:xfrm>
            <a:off x="1733550" y="5991225"/>
            <a:ext cx="102774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（1杯）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（論文・新聞）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（ニワトリ）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some information / some advice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85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533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冠詞をつけないパターン：無冠詞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885950"/>
            <a:ext cx="77914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ここまでは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と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。ここからは「どちらもつけない」パターン</a:t>
            </a:r>
          </a:p>
        </p:txBody>
      </p:sp>
      <p:sp>
        <p:nvSpPr>
          <p:cNvPr id="7" name=""/>
          <p:cNvSpPr/>
          <p:nvPr/>
        </p:nvSpPr>
        <p:spPr>
          <a:xfrm>
            <a:off x="68580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/>
          <p:nvPr/>
        </p:nvSpPr>
        <p:spPr>
          <a:xfrm>
            <a:off x="1857375" y="2619375"/>
            <a:ext cx="112395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2028825" y="2743200"/>
            <a:ext cx="123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0" name=""/>
          <p:cNvSpPr txBox="1"/>
          <p:nvPr/>
        </p:nvSpPr>
        <p:spPr>
          <a:xfrm>
            <a:off x="2047875" y="330517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1つの〜</a:t>
            </a:r>
          </a:p>
        </p:txBody>
      </p:sp>
      <p:pic>
        <p:nvPicPr>
          <p:cNvPr id="11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0" y="4114800"/>
            <a:ext cx="1143000" cy="11430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771650" y="5762625"/>
            <a:ext cx="1828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13" name=""/>
          <p:cNvSpPr/>
          <p:nvPr/>
        </p:nvSpPr>
        <p:spPr>
          <a:xfrm>
            <a:off x="436245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5686425" y="2619375"/>
            <a:ext cx="81915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857875" y="2743200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5781675" y="33051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17" name=""/>
          <p:cNvSpPr/>
          <p:nvPr/>
        </p:nvSpPr>
        <p:spPr>
          <a:xfrm>
            <a:off x="5429250" y="4019550"/>
            <a:ext cx="1333500" cy="133350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8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4191000"/>
            <a:ext cx="990600" cy="9906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5734050" y="51244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610225" y="51530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1" name=""/>
          <p:cNvSpPr txBox="1"/>
          <p:nvPr/>
        </p:nvSpPr>
        <p:spPr>
          <a:xfrm>
            <a:off x="5267325" y="5762625"/>
            <a:ext cx="22479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22" name=""/>
          <p:cNvSpPr/>
          <p:nvPr/>
        </p:nvSpPr>
        <p:spPr>
          <a:xfrm>
            <a:off x="8039100" y="2390775"/>
            <a:ext cx="3467100" cy="404812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38100">
            <a:solidFill>
              <a:srgbClr val="E846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334500" y="2657475"/>
            <a:ext cx="876300" cy="609600"/>
          </a:xfrm>
          <a:prstGeom prst="roundRect">
            <a:avLst>
              <a:gd name="adj" fmla="val 28125"/>
            </a:avLst>
          </a:prstGeom>
          <a:solidFill>
            <a:srgbClr val="9AA1B6"/>
          </a:solidFill>
          <a:ln/>
        </p:spPr>
      </p:sp>
      <p:sp>
        <p:nvSpPr>
          <p:cNvPr id="24" name=""/>
          <p:cNvSpPr txBox="1"/>
          <p:nvPr/>
        </p:nvSpPr>
        <p:spPr>
          <a:xfrm>
            <a:off x="9505950" y="2771775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5" name=""/>
          <p:cNvSpPr txBox="1"/>
          <p:nvPr/>
        </p:nvSpPr>
        <p:spPr>
          <a:xfrm>
            <a:off x="8524875" y="3343275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どちらもつけない＝</a:t>
            </a:r>
            <a:pPr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無冠詞</a:t>
            </a:r>
          </a:p>
        </p:txBody>
      </p:sp>
      <p:pic>
        <p:nvPicPr>
          <p:cNvPr id="26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75" y="4114800"/>
            <a:ext cx="1143000" cy="1143000"/>
          </a:xfrm>
          <a:prstGeom prst="rect">
            <a:avLst/>
          </a:prstGeom>
        </p:spPr>
      </p:pic>
      <p:pic>
        <p:nvPicPr>
          <p:cNvPr id="27" name="Image 3" descr="映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1225" y="4114800"/>
            <a:ext cx="1143000" cy="11430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172575" y="5724525"/>
            <a:ext cx="1724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685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8675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無冠詞になる、6つのパターン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8191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781050" y="2114550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9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543175"/>
            <a:ext cx="952500" cy="9525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057400" y="2705100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1" name=""/>
          <p:cNvSpPr txBox="1"/>
          <p:nvPr/>
        </p:nvSpPr>
        <p:spPr>
          <a:xfrm>
            <a:off x="2057400" y="3057525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movies</a:t>
            </a:r>
          </a:p>
        </p:txBody>
      </p:sp>
      <p:sp>
        <p:nvSpPr>
          <p:cNvPr id="12" name=""/>
          <p:cNvSpPr/>
          <p:nvPr/>
        </p:nvSpPr>
        <p:spPr>
          <a:xfrm>
            <a:off x="43434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44767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10075" y="2114550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5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543175"/>
            <a:ext cx="952500" cy="9525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5715000" y="2705100"/>
            <a:ext cx="25336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まとめて指す名詞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5715000" y="3057525"/>
            <a:ext cx="12763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8" name=""/>
          <p:cNvSpPr/>
          <p:nvPr/>
        </p:nvSpPr>
        <p:spPr>
          <a:xfrm>
            <a:off x="8001000" y="1924050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134350" y="2057400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067675" y="2114550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1" name="Image 2" descr="鳥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543175"/>
            <a:ext cx="952500" cy="9525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9372600" y="2705100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3" name=""/>
          <p:cNvSpPr txBox="1"/>
          <p:nvPr/>
        </p:nvSpPr>
        <p:spPr>
          <a:xfrm>
            <a:off x="9372600" y="3057525"/>
            <a:ext cx="952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24" name=""/>
          <p:cNvSpPr/>
          <p:nvPr/>
        </p:nvSpPr>
        <p:spPr>
          <a:xfrm>
            <a:off x="6858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8191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524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7" name="Image 3" descr="英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4876800"/>
            <a:ext cx="952500" cy="9525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2057400" y="503872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9" name=""/>
          <p:cNvSpPr txBox="1"/>
          <p:nvPr/>
        </p:nvSpPr>
        <p:spPr>
          <a:xfrm>
            <a:off x="2057400" y="5391150"/>
            <a:ext cx="1095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English</a:t>
            </a:r>
          </a:p>
        </p:txBody>
      </p:sp>
      <p:sp>
        <p:nvSpPr>
          <p:cNvPr id="30" name=""/>
          <p:cNvSpPr/>
          <p:nvPr/>
        </p:nvSpPr>
        <p:spPr>
          <a:xfrm>
            <a:off x="43434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44767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44100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3" name="Image 4" descr="朝食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00" y="4876800"/>
            <a:ext cx="952500" cy="9525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5715000" y="503872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5" name=""/>
          <p:cNvSpPr txBox="1"/>
          <p:nvPr/>
        </p:nvSpPr>
        <p:spPr>
          <a:xfrm>
            <a:off x="5715000" y="5391150"/>
            <a:ext cx="1390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breakfast</a:t>
            </a:r>
          </a:p>
        </p:txBody>
      </p:sp>
      <p:sp>
        <p:nvSpPr>
          <p:cNvPr id="36" name=""/>
          <p:cNvSpPr/>
          <p:nvPr/>
        </p:nvSpPr>
        <p:spPr>
          <a:xfrm>
            <a:off x="8001000" y="4257675"/>
            <a:ext cx="3505200" cy="2181225"/>
          </a:xfrm>
          <a:prstGeom prst="roundRect">
            <a:avLst>
              <a:gd name="adj" fmla="val 122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7" name=""/>
          <p:cNvSpPr/>
          <p:nvPr/>
        </p:nvSpPr>
        <p:spPr>
          <a:xfrm>
            <a:off x="8134350" y="43910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8" name=""/>
          <p:cNvSpPr txBox="1"/>
          <p:nvPr/>
        </p:nvSpPr>
        <p:spPr>
          <a:xfrm>
            <a:off x="8067675" y="44481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pic>
        <p:nvPicPr>
          <p:cNvPr id="39" name="Image 5" descr="ハロウィン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7700" y="4876800"/>
            <a:ext cx="952500" cy="952500"/>
          </a:xfrm>
          <a:prstGeom prst="rect">
            <a:avLst/>
          </a:prstGeom>
        </p:spPr>
      </p:pic>
      <p:sp>
        <p:nvSpPr>
          <p:cNvPr id="40" name=""/>
          <p:cNvSpPr txBox="1"/>
          <p:nvPr/>
        </p:nvSpPr>
        <p:spPr>
          <a:xfrm>
            <a:off x="9372600" y="5038725"/>
            <a:ext cx="22574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41" name=""/>
          <p:cNvSpPr txBox="1"/>
          <p:nvPr/>
        </p:nvSpPr>
        <p:spPr>
          <a:xfrm>
            <a:off x="9372600" y="5391150"/>
            <a:ext cx="1438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Halloween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6010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1. 複数名詞のときは、冠詞をつけない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5286375" cy="3524250"/>
          </a:xfrm>
          <a:prstGeom prst="roundRect">
            <a:avLst>
              <a:gd name="adj" fmla="val 7568"/>
            </a:avLst>
          </a:prstGeom>
          <a:solidFill>
            <a:srgbClr val="FFE8DC"/>
          </a:solidFill>
          <a:ln/>
        </p:spPr>
      </p:sp>
      <p:sp>
        <p:nvSpPr>
          <p:cNvPr id="7" name=""/>
          <p:cNvSpPr/>
          <p:nvPr/>
        </p:nvSpPr>
        <p:spPr>
          <a:xfrm>
            <a:off x="971550" y="2200275"/>
            <a:ext cx="6191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43000" y="2257425"/>
            <a:ext cx="657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9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4625" y="2647950"/>
            <a:ext cx="1238250" cy="1238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971550" y="3962400"/>
            <a:ext cx="4848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1" name=""/>
          <p:cNvSpPr txBox="1"/>
          <p:nvPr/>
        </p:nvSpPr>
        <p:spPr>
          <a:xfrm>
            <a:off x="971550" y="44100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昨日の夜、映画を観ました。</a:t>
            </a:r>
          </a:p>
        </p:txBody>
      </p:sp>
      <p:sp>
        <p:nvSpPr>
          <p:cNvPr id="12" name=""/>
          <p:cNvSpPr/>
          <p:nvPr/>
        </p:nvSpPr>
        <p:spPr>
          <a:xfrm>
            <a:off x="971550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43000" y="49149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「1つの映画」と分かる →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6219825" y="1990725"/>
            <a:ext cx="5286375" cy="3524250"/>
          </a:xfrm>
          <a:prstGeom prst="roundRect">
            <a:avLst>
              <a:gd name="adj" fmla="val 7568"/>
            </a:avLst>
          </a:prstGeom>
          <a:solidFill>
            <a:srgbClr val="DDEFFC"/>
          </a:solidFill>
          <a:ln/>
        </p:spPr>
      </p:sp>
      <p:sp>
        <p:nvSpPr>
          <p:cNvPr id="15" name=""/>
          <p:cNvSpPr/>
          <p:nvPr/>
        </p:nvSpPr>
        <p:spPr>
          <a:xfrm>
            <a:off x="6505575" y="22002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6" name=""/>
          <p:cNvSpPr txBox="1"/>
          <p:nvPr/>
        </p:nvSpPr>
        <p:spPr>
          <a:xfrm>
            <a:off x="6677025" y="22574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複数</a:t>
            </a:r>
          </a:p>
        </p:txBody>
      </p:sp>
      <p:pic>
        <p:nvPicPr>
          <p:cNvPr id="17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2647950"/>
            <a:ext cx="1238250" cy="1238250"/>
          </a:xfrm>
          <a:prstGeom prst="rect">
            <a:avLst/>
          </a:prstGeom>
        </p:spPr>
      </p:pic>
      <p:pic>
        <p:nvPicPr>
          <p:cNvPr id="18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647950"/>
            <a:ext cx="1238250" cy="12382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6505575" y="3962400"/>
            <a:ext cx="23431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movies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0" name=""/>
          <p:cNvSpPr txBox="1"/>
          <p:nvPr/>
        </p:nvSpPr>
        <p:spPr>
          <a:xfrm>
            <a:off x="6505575" y="441007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私は映画が好きです。</a:t>
            </a:r>
          </a:p>
        </p:txBody>
      </p:sp>
      <p:sp>
        <p:nvSpPr>
          <p:cNvPr id="21" name=""/>
          <p:cNvSpPr/>
          <p:nvPr/>
        </p:nvSpPr>
        <p:spPr>
          <a:xfrm>
            <a:off x="6505575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677025" y="4914900"/>
            <a:ext cx="3752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複数名詞 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 → 冠詞なし</a:t>
            </a:r>
          </a:p>
        </p:txBody>
      </p:sp>
      <p:sp>
        <p:nvSpPr>
          <p:cNvPr id="2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6" name=""/>
          <p:cNvSpPr txBox="1"/>
          <p:nvPr/>
        </p:nvSpPr>
        <p:spPr>
          <a:xfrm>
            <a:off x="2114550" y="5924550"/>
            <a:ext cx="5991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は「1つ」のときだけ。複数名詞にはつけない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QUIZ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4861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5067300" y="34099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553200" y="34861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67640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83845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8" name=""/>
          <p:cNvSpPr txBox="1"/>
          <p:nvPr/>
        </p:nvSpPr>
        <p:spPr>
          <a:xfrm>
            <a:off x="4076700" y="55816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どれ？ 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467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4861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5067300" y="34099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38750" y="35623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553200" y="34861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91150"/>
            <a:ext cx="35718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bought furniture online.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8696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家具は1つとは限らない（一発では分からない）→ 不特定なので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28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09823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 s がつかないけど、1つとは限らない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5048250" cy="4448175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14400" y="25146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8" name="Image 0" descr="い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25717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781175" y="3562350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chair</a:t>
            </a:r>
          </a:p>
        </p:txBody>
      </p:sp>
      <p:sp>
        <p:nvSpPr>
          <p:cNvPr id="10" name=""/>
          <p:cNvSpPr/>
          <p:nvPr/>
        </p:nvSpPr>
        <p:spPr>
          <a:xfrm>
            <a:off x="3257550" y="25146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1" name="Image 1" descr="テーブ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71750"/>
            <a:ext cx="990600" cy="9906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124325" y="3562350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table</a:t>
            </a:r>
          </a:p>
        </p:txBody>
      </p:sp>
      <p:sp>
        <p:nvSpPr>
          <p:cNvPr id="13" name=""/>
          <p:cNvSpPr/>
          <p:nvPr/>
        </p:nvSpPr>
        <p:spPr>
          <a:xfrm>
            <a:off x="914400" y="401002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4" name="Image 2" descr="ベッ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4067175"/>
            <a:ext cx="990600" cy="9906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1847850" y="5057775"/>
            <a:ext cx="790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bed</a:t>
            </a:r>
          </a:p>
        </p:txBody>
      </p:sp>
      <p:sp>
        <p:nvSpPr>
          <p:cNvPr id="16" name=""/>
          <p:cNvSpPr/>
          <p:nvPr/>
        </p:nvSpPr>
        <p:spPr>
          <a:xfrm>
            <a:off x="3257550" y="401002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7" name="Image 3" descr="ソファ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067175"/>
            <a:ext cx="990600" cy="9906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4162425" y="5057775"/>
            <a:ext cx="84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sofa</a:t>
            </a:r>
          </a:p>
        </p:txBody>
      </p:sp>
      <p:sp>
        <p:nvSpPr>
          <p:cNvPr id="19" name=""/>
          <p:cNvSpPr txBox="1"/>
          <p:nvPr/>
        </p:nvSpPr>
        <p:spPr>
          <a:xfrm>
            <a:off x="1152525" y="5543550"/>
            <a:ext cx="4124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まとめて </a:t>
            </a:r>
            <a:pPr algn="ctr"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（家具）</a:t>
            </a:r>
          </a:p>
        </p:txBody>
      </p:sp>
      <p:sp>
        <p:nvSpPr>
          <p:cNvPr id="20" name=""/>
          <p:cNvSpPr/>
          <p:nvPr/>
        </p:nvSpPr>
        <p:spPr>
          <a:xfrm>
            <a:off x="5943600" y="1990725"/>
            <a:ext cx="5562600" cy="1028700"/>
          </a:xfrm>
          <a:prstGeom prst="roundRect">
            <a:avLst>
              <a:gd name="adj" fmla="val 2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6153150" y="23241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124575" y="2381250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6648450" y="221932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家具を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まとめて指す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言葉。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2505075"/>
            <a:ext cx="5095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s はつかないけど、いくつかの家具のこともある</a:t>
            </a:r>
          </a:p>
        </p:txBody>
      </p:sp>
      <p:sp>
        <p:nvSpPr>
          <p:cNvPr id="25" name=""/>
          <p:cNvSpPr/>
          <p:nvPr/>
        </p:nvSpPr>
        <p:spPr>
          <a:xfrm>
            <a:off x="5943600" y="3133725"/>
            <a:ext cx="5562600" cy="1028700"/>
          </a:xfrm>
          <a:prstGeom prst="roundRect">
            <a:avLst>
              <a:gd name="adj" fmla="val 2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6153150" y="34671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105525" y="351472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6648450" y="3352800"/>
            <a:ext cx="4676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数えられない名詞なので、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6648450" y="3676650"/>
            <a:ext cx="3105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DM Sans"/>
                <a:ea typeface="DM Sans"/>
              </a:rPr>
              <a:t>× a furniture × furnitures</a:t>
            </a:r>
          </a:p>
        </p:txBody>
      </p:sp>
      <p:sp>
        <p:nvSpPr>
          <p:cNvPr id="30" name=""/>
          <p:cNvSpPr/>
          <p:nvPr/>
        </p:nvSpPr>
        <p:spPr>
          <a:xfrm>
            <a:off x="5943600" y="4276725"/>
            <a:ext cx="5562600" cy="1028700"/>
          </a:xfrm>
          <a:prstGeom prst="roundRect">
            <a:avLst>
              <a:gd name="adj" fmla="val 2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6153150" y="46005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105525" y="465772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6648450" y="4495800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1点だけ言いたいときは</a:t>
            </a:r>
          </a:p>
        </p:txBody>
      </p:sp>
      <p:sp>
        <p:nvSpPr>
          <p:cNvPr id="34" name=""/>
          <p:cNvSpPr txBox="1"/>
          <p:nvPr/>
        </p:nvSpPr>
        <p:spPr>
          <a:xfrm>
            <a:off x="6648450" y="4781550"/>
            <a:ext cx="3581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35" name=""/>
          <p:cNvSpPr/>
          <p:nvPr/>
        </p:nvSpPr>
        <p:spPr>
          <a:xfrm>
            <a:off x="5943600" y="5410200"/>
            <a:ext cx="5562600" cy="1028700"/>
          </a:xfrm>
          <a:prstGeom prst="roundRect">
            <a:avLst>
              <a:gd name="adj" fmla="val 2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6153150" y="57435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6105525" y="5800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8" name=""/>
          <p:cNvSpPr txBox="1"/>
          <p:nvPr/>
        </p:nvSpPr>
        <p:spPr>
          <a:xfrm>
            <a:off x="6648450" y="5638800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動詞は単数あつかい</a:t>
            </a:r>
          </a:p>
        </p:txBody>
      </p:sp>
      <p:sp>
        <p:nvSpPr>
          <p:cNvPr id="39" name=""/>
          <p:cNvSpPr txBox="1"/>
          <p:nvPr/>
        </p:nvSpPr>
        <p:spPr>
          <a:xfrm>
            <a:off x="6648450" y="5924550"/>
            <a:ext cx="4695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The furniture </a:t>
            </a:r>
            <a:pPr/>
            <a:r>
              <a:rPr sz="15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is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new.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（その家具は新しい）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28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058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冠詞を変えると、意味が変わる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95500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95525"/>
            <a:ext cx="506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online.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800350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オンラインで家具を買った。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2669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409825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不特定の家具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695575"/>
            <a:ext cx="2333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（1つとは限らない）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24250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2902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29050"/>
            <a:ext cx="5800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33875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その家具をオンラインで買った。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80047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433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話し手と聞き手が分かる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2910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特定の家具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57775"/>
            <a:ext cx="10820400" cy="1381125"/>
          </a:xfrm>
          <a:prstGeom prst="roundRect">
            <a:avLst>
              <a:gd name="adj" fmla="val 193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1" name="Image 2" descr="家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62575"/>
            <a:ext cx="5695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× I bought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67400"/>
            <a:ext cx="4419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1点なら </a:t>
            </a:r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340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76875"/>
            <a:ext cx="275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furniture は数えられない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6262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名詞なので a はつけない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3. 固有名詞（人・都市・国・施設）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33575"/>
            <a:ext cx="9715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857250" y="1990725"/>
            <a:ext cx="1066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</a:t>
            </a:r>
          </a:p>
        </p:txBody>
      </p:sp>
      <p:sp>
        <p:nvSpPr>
          <p:cNvPr id="8" name=""/>
          <p:cNvSpPr/>
          <p:nvPr/>
        </p:nvSpPr>
        <p:spPr>
          <a:xfrm>
            <a:off x="1752600" y="1933575"/>
            <a:ext cx="9334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924050" y="1990725"/>
            <a:ext cx="1019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Tokyo</a:t>
            </a:r>
          </a:p>
        </p:txBody>
      </p:sp>
      <p:sp>
        <p:nvSpPr>
          <p:cNvPr id="10" name=""/>
          <p:cNvSpPr/>
          <p:nvPr/>
        </p:nvSpPr>
        <p:spPr>
          <a:xfrm>
            <a:off x="2781300" y="1933575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2952750" y="1990725"/>
            <a:ext cx="1152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France</a:t>
            </a:r>
          </a:p>
        </p:txBody>
      </p:sp>
      <p:sp>
        <p:nvSpPr>
          <p:cNvPr id="12" name=""/>
          <p:cNvSpPr/>
          <p:nvPr/>
        </p:nvSpPr>
        <p:spPr>
          <a:xfrm>
            <a:off x="3924300" y="1933575"/>
            <a:ext cx="9144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4095750" y="199072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14" name=""/>
          <p:cNvSpPr/>
          <p:nvPr/>
        </p:nvSpPr>
        <p:spPr>
          <a:xfrm>
            <a:off x="4933950" y="1933575"/>
            <a:ext cx="14859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5105400" y="199072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Disneyland</a:t>
            </a:r>
          </a:p>
        </p:txBody>
      </p:sp>
      <p:sp>
        <p:nvSpPr>
          <p:cNvPr id="16" name=""/>
          <p:cNvSpPr/>
          <p:nvPr/>
        </p:nvSpPr>
        <p:spPr>
          <a:xfrm>
            <a:off x="6515100" y="1933575"/>
            <a:ext cx="27813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6686550" y="1990725"/>
            <a:ext cx="3143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Universal Studios Japan</a:t>
            </a:r>
          </a:p>
        </p:txBody>
      </p:sp>
      <p:sp>
        <p:nvSpPr>
          <p:cNvPr id="18" name=""/>
          <p:cNvSpPr/>
          <p:nvPr/>
        </p:nvSpPr>
        <p:spPr>
          <a:xfrm>
            <a:off x="685800" y="2543175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9" name="Image 0" descr="京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552700"/>
            <a:ext cx="1181100" cy="11811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2324100" y="2752725"/>
            <a:ext cx="29146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live in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Kyoto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1" name=""/>
          <p:cNvSpPr txBox="1"/>
          <p:nvPr/>
        </p:nvSpPr>
        <p:spPr>
          <a:xfrm>
            <a:off x="2324100" y="3257550"/>
            <a:ext cx="2943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私は京都に住んでいます。</a:t>
            </a:r>
          </a:p>
        </p:txBody>
      </p:sp>
      <p:sp>
        <p:nvSpPr>
          <p:cNvPr id="22" name=""/>
          <p:cNvSpPr/>
          <p:nvPr/>
        </p:nvSpPr>
        <p:spPr>
          <a:xfrm>
            <a:off x="685800" y="3895725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1" descr="東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905250"/>
            <a:ext cx="1181100" cy="11811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24100" y="4105275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want to go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Tokyo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5" name=""/>
          <p:cNvSpPr txBox="1"/>
          <p:nvPr/>
        </p:nvSpPr>
        <p:spPr>
          <a:xfrm>
            <a:off x="2324100" y="4610100"/>
            <a:ext cx="2505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東京に行きたいです。</a:t>
            </a:r>
          </a:p>
        </p:txBody>
      </p:sp>
      <p:sp>
        <p:nvSpPr>
          <p:cNvPr id="26" name=""/>
          <p:cNvSpPr/>
          <p:nvPr/>
        </p:nvSpPr>
        <p:spPr>
          <a:xfrm>
            <a:off x="685800" y="5238750"/>
            <a:ext cx="10820400" cy="12001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7" name="Image 2" descr="遊園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248275"/>
            <a:ext cx="1181100" cy="11811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2324100" y="5448300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Disneyland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9" name=""/>
          <p:cNvSpPr txBox="1"/>
          <p:nvPr/>
        </p:nvSpPr>
        <p:spPr>
          <a:xfrm>
            <a:off x="2324100" y="5953125"/>
            <a:ext cx="3619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ディズニーランドに行きました。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38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13538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が名前の一部になっているものもある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52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有名な建物・作品など</a:t>
            </a:r>
          </a:p>
        </p:txBody>
      </p:sp>
      <p:sp>
        <p:nvSpPr>
          <p:cNvPr id="7" name=""/>
          <p:cNvSpPr/>
          <p:nvPr/>
        </p:nvSpPr>
        <p:spPr>
          <a:xfrm>
            <a:off x="685800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/>
          <p:nvPr/>
        </p:nvSpPr>
        <p:spPr>
          <a:xfrm>
            <a:off x="819150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9" name="Image 0" descr="エッフェル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050" y="3057525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57325" y="5324475"/>
            <a:ext cx="1533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Eiffel</a:t>
            </a:r>
          </a:p>
        </p:txBody>
      </p:sp>
      <p:sp>
        <p:nvSpPr>
          <p:cNvPr id="11" name=""/>
          <p:cNvSpPr txBox="1"/>
          <p:nvPr/>
        </p:nvSpPr>
        <p:spPr>
          <a:xfrm>
            <a:off x="1400175" y="5619750"/>
            <a:ext cx="1143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457325" y="59817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エッフェル塔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571875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自由の女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3057525"/>
            <a:ext cx="1619250" cy="16192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105275" y="5324475"/>
            <a:ext cx="17526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Statue</a:t>
            </a:r>
          </a:p>
        </p:txBody>
      </p:sp>
      <p:sp>
        <p:nvSpPr>
          <p:cNvPr id="17" name=""/>
          <p:cNvSpPr txBox="1"/>
          <p:nvPr/>
        </p:nvSpPr>
        <p:spPr>
          <a:xfrm>
            <a:off x="3905250" y="5619750"/>
            <a:ext cx="163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of Liberty</a:t>
            </a:r>
          </a:p>
        </p:txBody>
      </p:sp>
      <p:sp>
        <p:nvSpPr>
          <p:cNvPr id="18" name=""/>
          <p:cNvSpPr txBox="1"/>
          <p:nvPr/>
        </p:nvSpPr>
        <p:spPr>
          <a:xfrm>
            <a:off x="4295775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自由の女神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エンパイア・ステート・ビ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3057525"/>
            <a:ext cx="1619250" cy="16192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562725" y="53244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Empire</a:t>
            </a:r>
          </a:p>
        </p:txBody>
      </p:sp>
      <p:sp>
        <p:nvSpPr>
          <p:cNvPr id="23" name=""/>
          <p:cNvSpPr txBox="1"/>
          <p:nvPr/>
        </p:nvSpPr>
        <p:spPr>
          <a:xfrm>
            <a:off x="6657975" y="5619750"/>
            <a:ext cx="2219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State Building</a:t>
            </a:r>
          </a:p>
        </p:txBody>
      </p:sp>
      <p:sp>
        <p:nvSpPr>
          <p:cNvPr id="24" name=""/>
          <p:cNvSpPr txBox="1"/>
          <p:nvPr/>
        </p:nvSpPr>
        <p:spPr>
          <a:xfrm>
            <a:off x="6353175" y="5981700"/>
            <a:ext cx="2905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エンパイア・ステート・ビル</a:t>
            </a:r>
          </a:p>
        </p:txBody>
      </p:sp>
      <p:sp>
        <p:nvSpPr>
          <p:cNvPr id="25" name=""/>
          <p:cNvSpPr/>
          <p:nvPr/>
        </p:nvSpPr>
        <p:spPr>
          <a:xfrm>
            <a:off x="8934450" y="2428875"/>
            <a:ext cx="2581275" cy="401002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9067800" y="2562225"/>
            <a:ext cx="2314575" cy="2609850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7" name="Image 3" descr="モナ・リ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700" y="3057525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77400" y="5324475"/>
            <a:ext cx="1590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Mona</a:t>
            </a:r>
          </a:p>
        </p:txBody>
      </p:sp>
      <p:sp>
        <p:nvSpPr>
          <p:cNvPr id="29" name=""/>
          <p:cNvSpPr txBox="1"/>
          <p:nvPr/>
        </p:nvSpPr>
        <p:spPr>
          <a:xfrm>
            <a:off x="9782175" y="5619750"/>
            <a:ext cx="876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Lisa</a:t>
            </a:r>
          </a:p>
        </p:txBody>
      </p:sp>
      <p:sp>
        <p:nvSpPr>
          <p:cNvPr id="30" name=""/>
          <p:cNvSpPr txBox="1"/>
          <p:nvPr/>
        </p:nvSpPr>
        <p:spPr>
          <a:xfrm>
            <a:off x="9791700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モナ・リザ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210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4. 言語（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English / Japanese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166687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英語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76500" y="2438400"/>
            <a:ext cx="4695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studying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2476500" y="2990850"/>
            <a:ext cx="3438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私は英語を勉強しています。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848100"/>
            <a:ext cx="10820400" cy="166687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日本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019550"/>
            <a:ext cx="1333500" cy="1333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476500" y="4257675"/>
            <a:ext cx="40957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speak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Japanese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 txBox="1"/>
          <p:nvPr/>
        </p:nvSpPr>
        <p:spPr>
          <a:xfrm>
            <a:off x="2476500" y="48101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私は日本語を話します。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7" name=""/>
          <p:cNvSpPr txBox="1"/>
          <p:nvPr/>
        </p:nvSpPr>
        <p:spPr>
          <a:xfrm>
            <a:off x="2114550" y="5924550"/>
            <a:ext cx="49149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言語の名前には、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8801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5. 食事（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85975"/>
            <a:ext cx="952500" cy="952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095500" y="217170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at seven.</a:t>
            </a:r>
          </a:p>
        </p:txBody>
      </p:sp>
      <p:sp>
        <p:nvSpPr>
          <p:cNvPr id="9" name=""/>
          <p:cNvSpPr txBox="1"/>
          <p:nvPr/>
        </p:nvSpPr>
        <p:spPr>
          <a:xfrm>
            <a:off x="2095500" y="2676525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7時に朝ごはんを食べました。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3238500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295650"/>
            <a:ext cx="952500" cy="952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095500" y="3381375"/>
            <a:ext cx="5229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Let's have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lunch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2095500" y="3886200"/>
            <a:ext cx="3400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一緒にお昼ごはんを食べよう。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457700"/>
            <a:ext cx="10820400" cy="1057275"/>
          </a:xfrm>
          <a:prstGeom prst="roundRect">
            <a:avLst>
              <a:gd name="adj" fmla="val 252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505325"/>
            <a:ext cx="952500" cy="9525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095500" y="4591050"/>
            <a:ext cx="3829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What's for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dinner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7" name=""/>
          <p:cNvSpPr txBox="1"/>
          <p:nvPr/>
        </p:nvSpPr>
        <p:spPr>
          <a:xfrm>
            <a:off x="2095500" y="509587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夕ごはんは何？</a:t>
            </a:r>
          </a:p>
        </p:txBody>
      </p:sp>
      <p:sp>
        <p:nvSpPr>
          <p:cNvPr id="18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933450" y="5895975"/>
            <a:ext cx="13525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04900" y="5953125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覚えておこう</a:t>
            </a:r>
          </a:p>
        </p:txBody>
      </p:sp>
      <p:sp>
        <p:nvSpPr>
          <p:cNvPr id="21" name=""/>
          <p:cNvSpPr txBox="1"/>
          <p:nvPr/>
        </p:nvSpPr>
        <p:spPr>
          <a:xfrm>
            <a:off x="243840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朝食・昼食・夕食は、基本は無冠詞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90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NO ARTICLE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6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6. 祝日・ホリデー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143125"/>
          </a:xfrm>
          <a:prstGeom prst="roundRect">
            <a:avLst>
              <a:gd name="adj" fmla="val 12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ハロウィ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4003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76500" y="2638425"/>
            <a:ext cx="9553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What are you dressing up as for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Halloween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9" name=""/>
          <p:cNvSpPr txBox="1"/>
          <p:nvPr/>
        </p:nvSpPr>
        <p:spPr>
          <a:xfrm>
            <a:off x="2476500" y="319087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ハロウィンはどんな仮装をする？</a:t>
            </a:r>
          </a:p>
        </p:txBody>
      </p:sp>
      <p:sp>
        <p:nvSpPr>
          <p:cNvPr id="10" name=""/>
          <p:cNvSpPr/>
          <p:nvPr/>
        </p:nvSpPr>
        <p:spPr>
          <a:xfrm>
            <a:off x="685800" y="4295775"/>
            <a:ext cx="10820400" cy="2143125"/>
          </a:xfrm>
          <a:prstGeom prst="roundRect">
            <a:avLst>
              <a:gd name="adj" fmla="val 12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1" descr="クリスマ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695825"/>
            <a:ext cx="1333500" cy="13335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476500" y="4933950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is my favorite holiday!</a:t>
            </a:r>
          </a:p>
        </p:txBody>
      </p:sp>
      <p:sp>
        <p:nvSpPr>
          <p:cNvPr id="13" name=""/>
          <p:cNvSpPr txBox="1"/>
          <p:nvPr/>
        </p:nvSpPr>
        <p:spPr>
          <a:xfrm>
            <a:off x="2476500" y="5486400"/>
            <a:ext cx="5143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クリスマスは私の一番好きなホリデーです！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