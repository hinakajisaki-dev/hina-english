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1" Type="http://schemas.openxmlformats.org/officeDocument/2006/relationships/presProps" Target="presProps.xml"/><Relationship Id="rId3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image" Target="../media/image-4-7.png"/><Relationship Id="rId8" Type="http://schemas.openxmlformats.org/officeDocument/2006/relationships/image" Target="../media/image-4-7.png"/><Relationship Id="rId9" Type="http://schemas.openxmlformats.org/officeDocument/2006/relationships/image" Target="../media/image-4-7.png"/><Relationship Id="rId10" Type="http://schemas.openxmlformats.org/officeDocument/2006/relationships/image" Target="../media/image-4-10.png"/><Relationship Id="rId11" Type="http://schemas.openxmlformats.org/officeDocument/2006/relationships/image" Target="../media/image-4-10.png"/><Relationship Id="rId12" Type="http://schemas.openxmlformats.org/officeDocument/2006/relationships/image" Target="../media/image-4-10.png"/><Relationship Id="rId13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419100" y="419100"/>
            <a:ext cx="11353800" cy="6019800"/>
          </a:xfrm>
          <a:prstGeom prst="roundRect">
            <a:avLst>
              <a:gd name="adj" fmla="val 6962"/>
            </a:avLst>
          </a:prstGeom>
          <a:solidFill>
            <a:srgbClr val="FFDCCB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" name=""/>
          <p:cNvSpPr txBox="1"/>
          <p:nvPr/>
        </p:nvSpPr>
        <p:spPr>
          <a:xfrm>
            <a:off x="1181100" y="196215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文法解説動画</a:t>
            </a:r>
          </a:p>
        </p:txBody>
      </p:sp>
      <p:sp>
        <p:nvSpPr>
          <p:cNvPr id="4" name=""/>
          <p:cNvSpPr txBox="1"/>
          <p:nvPr/>
        </p:nvSpPr>
        <p:spPr>
          <a:xfrm>
            <a:off x="1181100" y="2076450"/>
            <a:ext cx="6781800" cy="2314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600" b="1">
                <a:solidFill>
                  <a:srgbClr val="1C2340"/>
                </a:solidFill>
                <a:latin typeface="Noto Sans JP"/>
                <a:ea typeface="Noto Sans JP"/>
              </a:rPr>
              <a:t>冠詞 </a:t>
            </a:r>
            <a:pPr/>
            <a:r>
              <a:rPr sz="5700" b="1">
                <a:solidFill>
                  <a:srgbClr val="E8461E"/>
                </a:solidFill>
                <a:latin typeface="DM Sans"/>
                <a:ea typeface="DM Sans"/>
              </a:rPr>
              <a:t>Part 2</a:t>
            </a:r>
          </a:p>
        </p:txBody>
      </p:sp>
      <p:sp>
        <p:nvSpPr>
          <p:cNvPr id="5" name=""/>
          <p:cNvSpPr txBox="1"/>
          <p:nvPr/>
        </p:nvSpPr>
        <p:spPr>
          <a:xfrm>
            <a:off x="1181100" y="4210050"/>
            <a:ext cx="5819775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>
                <a:solidFill>
                  <a:srgbClr val="1C2340"/>
                </a:solidFill>
                <a:latin typeface="Noto Sans JP"/>
                <a:ea typeface="Noto Sans JP"/>
              </a:rPr>
              <a:t>不可算名詞と可算名詞</a:t>
            </a:r>
          </a:p>
        </p:txBody>
      </p:sp>
      <p:pic>
        <p:nvPicPr>
          <p:cNvPr id="6" name="Image 0" descr="/home/user/hina-english/matome/img/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80975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1811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REVIEW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前回のおさらい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4695825" cy="4476750"/>
          </a:xfrm>
          <a:prstGeom prst="roundRect">
            <a:avLst>
              <a:gd name="adj" fmla="val 5957"/>
            </a:avLst>
          </a:prstGeom>
          <a:solidFill>
            <a:srgbClr val="FFE8DC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7" name=""/>
          <p:cNvSpPr txBox="1"/>
          <p:nvPr/>
        </p:nvSpPr>
        <p:spPr>
          <a:xfrm>
            <a:off x="1047750" y="2838450"/>
            <a:ext cx="221932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2550" b="1">
                <a:solidFill>
                  <a:srgbClr val="1C2340"/>
                </a:solidFill>
                <a:latin typeface="Noto Sans JP"/>
                <a:ea typeface="Noto Sans JP"/>
              </a:rPr>
              <a:t> ＝</a:t>
            </a:r>
          </a:p>
        </p:txBody>
      </p:sp>
      <p:sp>
        <p:nvSpPr>
          <p:cNvPr id="8" name=""/>
          <p:cNvSpPr txBox="1"/>
          <p:nvPr/>
        </p:nvSpPr>
        <p:spPr>
          <a:xfrm>
            <a:off x="1047750" y="3552825"/>
            <a:ext cx="317182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Noto Sans JP"/>
                <a:ea typeface="Noto Sans JP"/>
              </a:rPr>
              <a:t>「</a:t>
            </a:r>
            <a:pPr/>
            <a:r>
              <a:rPr sz="3450" b="1">
                <a:solidFill>
                  <a:srgbClr val="1C2340"/>
                </a:solidFill>
                <a:highlight>
                  <a:srgbClr val="FFD9C9"/>
                </a:highlight>
                <a:latin typeface="Noto Sans JP"/>
                <a:ea typeface="Noto Sans JP"/>
              </a:rPr>
              <a:t>1つの〜</a:t>
            </a:r>
            <a:pPr/>
            <a:r>
              <a:rPr sz="3450" b="1">
                <a:solidFill>
                  <a:srgbClr val="1C2340"/>
                </a:solidFill>
                <a:latin typeface="Noto Sans JP"/>
                <a:ea typeface="Noto Sans JP"/>
              </a:rPr>
              <a:t>」</a:t>
            </a:r>
          </a:p>
        </p:txBody>
      </p:sp>
      <p:sp>
        <p:nvSpPr>
          <p:cNvPr id="9" name=""/>
          <p:cNvSpPr/>
          <p:nvPr/>
        </p:nvSpPr>
        <p:spPr>
          <a:xfrm>
            <a:off x="1047750" y="4371975"/>
            <a:ext cx="3971925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/>
        </p:spPr>
      </p:sp>
      <p:sp>
        <p:nvSpPr>
          <p:cNvPr id="10" name=""/>
          <p:cNvSpPr/>
          <p:nvPr/>
        </p:nvSpPr>
        <p:spPr>
          <a:xfrm>
            <a:off x="1200150" y="4467225"/>
            <a:ext cx="361950" cy="3619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171575" y="4524375"/>
            <a:ext cx="419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2" name=""/>
          <p:cNvSpPr txBox="1"/>
          <p:nvPr/>
        </p:nvSpPr>
        <p:spPr>
          <a:xfrm>
            <a:off x="1676400" y="4495800"/>
            <a:ext cx="3219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初めて会話に出てきたとき</a:t>
            </a:r>
          </a:p>
        </p:txBody>
      </p:sp>
      <p:sp>
        <p:nvSpPr>
          <p:cNvPr id="13" name=""/>
          <p:cNvSpPr/>
          <p:nvPr/>
        </p:nvSpPr>
        <p:spPr>
          <a:xfrm>
            <a:off x="1047750" y="5019675"/>
            <a:ext cx="3971925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1200150" y="5114925"/>
            <a:ext cx="361950" cy="3619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152525" y="5172075"/>
            <a:ext cx="466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6" name=""/>
          <p:cNvSpPr txBox="1"/>
          <p:nvPr/>
        </p:nvSpPr>
        <p:spPr>
          <a:xfrm>
            <a:off x="1676400" y="5143500"/>
            <a:ext cx="29908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一般的なものをさすとき</a:t>
            </a:r>
          </a:p>
        </p:txBody>
      </p:sp>
      <p:sp>
        <p:nvSpPr>
          <p:cNvPr id="17" name=""/>
          <p:cNvSpPr/>
          <p:nvPr/>
        </p:nvSpPr>
        <p:spPr>
          <a:xfrm>
            <a:off x="5629275" y="1962150"/>
            <a:ext cx="5876925" cy="2152650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8" name="Image 0" descr="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5025" y="2324100"/>
            <a:ext cx="1428750" cy="1428750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7591425" y="2590800"/>
            <a:ext cx="162877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 dog</a:t>
            </a:r>
          </a:p>
        </p:txBody>
      </p:sp>
      <p:sp>
        <p:nvSpPr>
          <p:cNvPr id="20" name=""/>
          <p:cNvSpPr txBox="1"/>
          <p:nvPr/>
        </p:nvSpPr>
        <p:spPr>
          <a:xfrm>
            <a:off x="7591425" y="3181350"/>
            <a:ext cx="2028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一般的な犬の話</a:t>
            </a:r>
          </a:p>
        </p:txBody>
      </p:sp>
      <p:sp>
        <p:nvSpPr>
          <p:cNvPr id="21" name=""/>
          <p:cNvSpPr/>
          <p:nvPr/>
        </p:nvSpPr>
        <p:spPr>
          <a:xfrm>
            <a:off x="5629275" y="4286250"/>
            <a:ext cx="5876925" cy="2152650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/>
          <p:nvPr/>
        </p:nvSpPr>
        <p:spPr>
          <a:xfrm>
            <a:off x="5915025" y="4648200"/>
            <a:ext cx="1428750" cy="1428750"/>
          </a:xfrm>
          <a:prstGeom prst="ellipse">
            <a:avLst/>
          </a:prstGeom>
          <a:solidFill>
            <a:srgbClr val="DDEFFC"/>
          </a:solidFill>
          <a:ln w="38100">
            <a:solidFill>
              <a:srgbClr val="2F86CF"/>
            </a:solidFill>
            <a:prstDash val="solid"/>
          </a:ln>
        </p:spPr>
      </p:sp>
      <p:pic>
        <p:nvPicPr>
          <p:cNvPr id="23" name="Image 1" descr="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829175"/>
            <a:ext cx="1066800" cy="1066800"/>
          </a:xfrm>
          <a:prstGeom prst="rect">
            <a:avLst/>
          </a:prstGeom>
        </p:spPr>
      </p:pic>
      <p:sp>
        <p:nvSpPr>
          <p:cNvPr id="24" name=""/>
          <p:cNvSpPr/>
          <p:nvPr/>
        </p:nvSpPr>
        <p:spPr>
          <a:xfrm>
            <a:off x="6267450" y="5848350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2F86CF"/>
          </a:solidFill>
          <a:ln/>
        </p:spPr>
      </p:sp>
      <p:sp>
        <p:nvSpPr>
          <p:cNvPr id="25" name=""/>
          <p:cNvSpPr txBox="1"/>
          <p:nvPr/>
        </p:nvSpPr>
        <p:spPr>
          <a:xfrm>
            <a:off x="6153150" y="5876925"/>
            <a:ext cx="9715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JP"/>
                <a:ea typeface="Noto Sans JP"/>
              </a:rPr>
              <a:t>それ！</a:t>
            </a:r>
          </a:p>
        </p:txBody>
      </p:sp>
      <p:sp>
        <p:nvSpPr>
          <p:cNvPr id="26" name=""/>
          <p:cNvSpPr txBox="1"/>
          <p:nvPr/>
        </p:nvSpPr>
        <p:spPr>
          <a:xfrm>
            <a:off x="7591425" y="4914900"/>
            <a:ext cx="21431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 dog</a:t>
            </a:r>
          </a:p>
        </p:txBody>
      </p:sp>
      <p:sp>
        <p:nvSpPr>
          <p:cNvPr id="27" name=""/>
          <p:cNvSpPr txBox="1"/>
          <p:nvPr/>
        </p:nvSpPr>
        <p:spPr>
          <a:xfrm>
            <a:off x="7591425" y="550545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特定の犬の話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1334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NOUNS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09537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すべての名詞に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をつけられるわけではない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924050"/>
            <a:ext cx="26574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大切なのは、この2つ</a:t>
            </a:r>
          </a:p>
        </p:txBody>
      </p:sp>
      <p:sp>
        <p:nvSpPr>
          <p:cNvPr id="7" name=""/>
          <p:cNvSpPr/>
          <p:nvPr/>
        </p:nvSpPr>
        <p:spPr>
          <a:xfrm>
            <a:off x="685800" y="2438400"/>
            <a:ext cx="5286375" cy="4000500"/>
          </a:xfrm>
          <a:prstGeom prst="roundRect">
            <a:avLst>
              <a:gd name="adj" fmla="val 6667"/>
            </a:avLst>
          </a:prstGeom>
          <a:solidFill>
            <a:srgbClr val="FFE8DC"/>
          </a:solidFill>
          <a:ln/>
        </p:spPr>
      </p:sp>
      <p:sp>
        <p:nvSpPr>
          <p:cNvPr id="8" name=""/>
          <p:cNvSpPr txBox="1"/>
          <p:nvPr/>
        </p:nvSpPr>
        <p:spPr>
          <a:xfrm>
            <a:off x="1028700" y="2705100"/>
            <a:ext cx="32575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数えられる名詞</a:t>
            </a:r>
          </a:p>
        </p:txBody>
      </p:sp>
      <p:sp>
        <p:nvSpPr>
          <p:cNvPr id="9" name=""/>
          <p:cNvSpPr txBox="1"/>
          <p:nvPr/>
        </p:nvSpPr>
        <p:spPr>
          <a:xfrm>
            <a:off x="1028700" y="3286125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可算名詞</a:t>
            </a:r>
          </a:p>
        </p:txBody>
      </p:sp>
      <p:sp>
        <p:nvSpPr>
          <p:cNvPr id="10" name=""/>
          <p:cNvSpPr/>
          <p:nvPr/>
        </p:nvSpPr>
        <p:spPr>
          <a:xfrm>
            <a:off x="1028700" y="4648200"/>
            <a:ext cx="4600575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1" name="Image 0" descr="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4743450"/>
            <a:ext cx="1333500" cy="1333500"/>
          </a:xfrm>
          <a:prstGeom prst="rect">
            <a:avLst/>
          </a:prstGeom>
        </p:spPr>
      </p:pic>
      <p:pic>
        <p:nvPicPr>
          <p:cNvPr id="12" name="Image 1" descr="りん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75" y="4743450"/>
            <a:ext cx="1333500" cy="1333500"/>
          </a:xfrm>
          <a:prstGeom prst="rect">
            <a:avLst/>
          </a:prstGeom>
        </p:spPr>
      </p:pic>
      <p:pic>
        <p:nvPicPr>
          <p:cNvPr id="13" name="Image 2" descr="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743450"/>
            <a:ext cx="1333500" cy="1333500"/>
          </a:xfrm>
          <a:prstGeom prst="rect">
            <a:avLst/>
          </a:prstGeom>
        </p:spPr>
      </p:pic>
      <p:sp>
        <p:nvSpPr>
          <p:cNvPr id="14" name=""/>
          <p:cNvSpPr/>
          <p:nvPr/>
        </p:nvSpPr>
        <p:spPr>
          <a:xfrm>
            <a:off x="6219825" y="2438400"/>
            <a:ext cx="5286375" cy="4000500"/>
          </a:xfrm>
          <a:prstGeom prst="roundRect">
            <a:avLst>
              <a:gd name="adj" fmla="val 6667"/>
            </a:avLst>
          </a:prstGeom>
          <a:solidFill>
            <a:srgbClr val="DDEFF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562725" y="2705100"/>
            <a:ext cx="36766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数えられない名詞</a:t>
            </a:r>
          </a:p>
        </p:txBody>
      </p:sp>
      <p:sp>
        <p:nvSpPr>
          <p:cNvPr id="16" name=""/>
          <p:cNvSpPr txBox="1"/>
          <p:nvPr/>
        </p:nvSpPr>
        <p:spPr>
          <a:xfrm>
            <a:off x="6562725" y="3286125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不可算名詞</a:t>
            </a:r>
          </a:p>
        </p:txBody>
      </p:sp>
      <p:sp>
        <p:nvSpPr>
          <p:cNvPr id="17" name=""/>
          <p:cNvSpPr/>
          <p:nvPr/>
        </p:nvSpPr>
        <p:spPr>
          <a:xfrm>
            <a:off x="6562725" y="4648200"/>
            <a:ext cx="4600575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8" name="Image 3" descr="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743450"/>
            <a:ext cx="1333500" cy="1333500"/>
          </a:xfrm>
          <a:prstGeom prst="rect">
            <a:avLst/>
          </a:prstGeom>
        </p:spPr>
      </p:pic>
      <p:pic>
        <p:nvPicPr>
          <p:cNvPr id="19" name="Image 4" descr="愛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4743450"/>
            <a:ext cx="1333500" cy="1333500"/>
          </a:xfrm>
          <a:prstGeom prst="rect">
            <a:avLst/>
          </a:prstGeom>
        </p:spPr>
      </p:pic>
      <p:pic>
        <p:nvPicPr>
          <p:cNvPr id="20" name="Image 5" descr="幸せ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875" y="47434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6764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COUNTABLE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66103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数えられる名詞（可算名詞）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885950"/>
            <a:ext cx="41243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1つ、2つ、3つ…と数えられる名詞</a:t>
            </a:r>
          </a:p>
        </p:txBody>
      </p:sp>
      <p:sp>
        <p:nvSpPr>
          <p:cNvPr id="7" name=""/>
          <p:cNvSpPr/>
          <p:nvPr/>
        </p:nvSpPr>
        <p:spPr>
          <a:xfrm>
            <a:off x="685800" y="2400300"/>
            <a:ext cx="5305425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8" name=""/>
          <p:cNvSpPr txBox="1"/>
          <p:nvPr/>
        </p:nvSpPr>
        <p:spPr>
          <a:xfrm>
            <a:off x="933450" y="2943225"/>
            <a:ext cx="11525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book</a:t>
            </a:r>
          </a:p>
        </p:txBody>
      </p:sp>
      <p:pic>
        <p:nvPicPr>
          <p:cNvPr id="9" name="Image 0" descr="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5575" y="2657475"/>
            <a:ext cx="647700" cy="6477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2562225" y="3324225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book</a:t>
            </a:r>
          </a:p>
        </p:txBody>
      </p:sp>
      <p:pic>
        <p:nvPicPr>
          <p:cNvPr id="11" name="Image 1" descr="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5" y="2657475"/>
            <a:ext cx="647700" cy="647700"/>
          </a:xfrm>
          <a:prstGeom prst="rect">
            <a:avLst/>
          </a:prstGeom>
        </p:spPr>
      </p:pic>
      <p:pic>
        <p:nvPicPr>
          <p:cNvPr id="12" name="Image 2" descr="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2657475"/>
            <a:ext cx="647700" cy="647700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4371975" y="332422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books</a:t>
            </a:r>
          </a:p>
        </p:txBody>
      </p:sp>
      <p:sp>
        <p:nvSpPr>
          <p:cNvPr id="14" name=""/>
          <p:cNvSpPr/>
          <p:nvPr/>
        </p:nvSpPr>
        <p:spPr>
          <a:xfrm>
            <a:off x="6200775" y="2400300"/>
            <a:ext cx="5305425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 txBox="1"/>
          <p:nvPr/>
        </p:nvSpPr>
        <p:spPr>
          <a:xfrm>
            <a:off x="6448425" y="2943225"/>
            <a:ext cx="12668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apple</a:t>
            </a:r>
          </a:p>
        </p:txBody>
      </p:sp>
      <p:pic>
        <p:nvPicPr>
          <p:cNvPr id="16" name="Image 3" descr="りん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550" y="2657475"/>
            <a:ext cx="647700" cy="64770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8048625" y="332422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apple</a:t>
            </a:r>
          </a:p>
        </p:txBody>
      </p:sp>
      <p:pic>
        <p:nvPicPr>
          <p:cNvPr id="18" name="Image 4" descr="りんご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550" y="2657475"/>
            <a:ext cx="647700" cy="647700"/>
          </a:xfrm>
          <a:prstGeom prst="rect">
            <a:avLst/>
          </a:prstGeom>
        </p:spPr>
      </p:pic>
      <p:pic>
        <p:nvPicPr>
          <p:cNvPr id="19" name="Image 5" descr="りんご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2657475"/>
            <a:ext cx="647700" cy="647700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9848850" y="3324225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apples</a:t>
            </a:r>
          </a:p>
        </p:txBody>
      </p:sp>
      <p:sp>
        <p:nvSpPr>
          <p:cNvPr id="21" name=""/>
          <p:cNvSpPr/>
          <p:nvPr/>
        </p:nvSpPr>
        <p:spPr>
          <a:xfrm>
            <a:off x="685800" y="4067175"/>
            <a:ext cx="5305425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33450" y="4600575"/>
            <a:ext cx="9429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dog</a:t>
            </a:r>
          </a:p>
        </p:txBody>
      </p:sp>
      <p:pic>
        <p:nvPicPr>
          <p:cNvPr id="23" name="Image 6" descr="犬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5575" y="4324350"/>
            <a:ext cx="647700" cy="64770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2628900" y="499110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dog</a:t>
            </a:r>
          </a:p>
        </p:txBody>
      </p:sp>
      <p:pic>
        <p:nvPicPr>
          <p:cNvPr id="25" name="Image 7" descr="犬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9575" y="4324350"/>
            <a:ext cx="647700" cy="647700"/>
          </a:xfrm>
          <a:prstGeom prst="rect">
            <a:avLst/>
          </a:prstGeom>
        </p:spPr>
      </p:pic>
      <p:pic>
        <p:nvPicPr>
          <p:cNvPr id="26" name="Image 8" descr="犬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4324350"/>
            <a:ext cx="647700" cy="64770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4429125" y="49911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dogs</a:t>
            </a:r>
          </a:p>
        </p:txBody>
      </p:sp>
      <p:sp>
        <p:nvSpPr>
          <p:cNvPr id="28" name=""/>
          <p:cNvSpPr/>
          <p:nvPr/>
        </p:nvSpPr>
        <p:spPr>
          <a:xfrm>
            <a:off x="6200775" y="4067175"/>
            <a:ext cx="5305425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9" name=""/>
          <p:cNvSpPr txBox="1"/>
          <p:nvPr/>
        </p:nvSpPr>
        <p:spPr>
          <a:xfrm>
            <a:off x="6448425" y="4600575"/>
            <a:ext cx="16383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student</a:t>
            </a:r>
          </a:p>
        </p:txBody>
      </p:sp>
      <p:pic>
        <p:nvPicPr>
          <p:cNvPr id="30" name="Image 9" descr="学生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0550" y="4324350"/>
            <a:ext cx="647700" cy="647700"/>
          </a:xfrm>
          <a:prstGeom prst="rect">
            <a:avLst/>
          </a:prstGeom>
        </p:spPr>
      </p:pic>
      <p:sp>
        <p:nvSpPr>
          <p:cNvPr id="31" name=""/>
          <p:cNvSpPr txBox="1"/>
          <p:nvPr/>
        </p:nvSpPr>
        <p:spPr>
          <a:xfrm>
            <a:off x="7934325" y="49911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student</a:t>
            </a:r>
          </a:p>
        </p:txBody>
      </p:sp>
      <p:pic>
        <p:nvPicPr>
          <p:cNvPr id="32" name="Image 10" descr="学生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4550" y="4324350"/>
            <a:ext cx="647700" cy="647700"/>
          </a:xfrm>
          <a:prstGeom prst="rect">
            <a:avLst/>
          </a:prstGeom>
        </p:spPr>
      </p:pic>
      <p:pic>
        <p:nvPicPr>
          <p:cNvPr id="33" name="Image 11" descr="学生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1300" y="4324350"/>
            <a:ext cx="647700" cy="647700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9734550" y="499110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students</a:t>
            </a:r>
          </a:p>
        </p:txBody>
      </p:sp>
      <p:sp>
        <p:nvSpPr>
          <p:cNvPr id="35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6" name=""/>
          <p:cNvSpPr/>
          <p:nvPr/>
        </p:nvSpPr>
        <p:spPr>
          <a:xfrm>
            <a:off x="933450" y="5895975"/>
            <a:ext cx="130492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7" name=""/>
          <p:cNvSpPr txBox="1"/>
          <p:nvPr/>
        </p:nvSpPr>
        <p:spPr>
          <a:xfrm>
            <a:off x="1104900" y="5953125"/>
            <a:ext cx="14478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1つだけなら</a:t>
            </a:r>
          </a:p>
        </p:txBody>
      </p:sp>
      <p:sp>
        <p:nvSpPr>
          <p:cNvPr id="38" name=""/>
          <p:cNvSpPr txBox="1"/>
          <p:nvPr/>
        </p:nvSpPr>
        <p:spPr>
          <a:xfrm>
            <a:off x="2390775" y="5924550"/>
            <a:ext cx="56007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を使える：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book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apple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dog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9907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UNCOUNTABLE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75723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数えられない名詞（不可算名詞）</a:t>
            </a:r>
          </a:p>
        </p:txBody>
      </p:sp>
      <p:sp>
        <p:nvSpPr>
          <p:cNvPr id="6" name=""/>
          <p:cNvSpPr/>
          <p:nvPr/>
        </p:nvSpPr>
        <p:spPr>
          <a:xfrm>
            <a:off x="685800" y="1905000"/>
            <a:ext cx="85725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19621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ルール</a:t>
            </a:r>
          </a:p>
        </p:txBody>
      </p:sp>
      <p:sp>
        <p:nvSpPr>
          <p:cNvPr id="8" name=""/>
          <p:cNvSpPr txBox="1"/>
          <p:nvPr/>
        </p:nvSpPr>
        <p:spPr>
          <a:xfrm>
            <a:off x="1676400" y="1914525"/>
            <a:ext cx="8591550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1つ、2つ…とそのまま数えられない → </a:t>
            </a:r>
            <a:pPr/>
            <a:r>
              <a:rPr sz="19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 はつけられない</a:t>
            </a:r>
          </a:p>
        </p:txBody>
      </p:sp>
      <p:sp>
        <p:nvSpPr>
          <p:cNvPr id="9" name=""/>
          <p:cNvSpPr txBox="1"/>
          <p:nvPr/>
        </p:nvSpPr>
        <p:spPr>
          <a:xfrm>
            <a:off x="685800" y="2409825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不可算名詞には、よくあるパターンがある</a:t>
            </a:r>
          </a:p>
        </p:txBody>
      </p:sp>
      <p:sp>
        <p:nvSpPr>
          <p:cNvPr id="10" name=""/>
          <p:cNvSpPr/>
          <p:nvPr/>
        </p:nvSpPr>
        <p:spPr>
          <a:xfrm>
            <a:off x="685800" y="2886075"/>
            <a:ext cx="2038350" cy="355282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/>
          <p:nvPr/>
        </p:nvSpPr>
        <p:spPr>
          <a:xfrm>
            <a:off x="1514475" y="3076575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2" name=""/>
          <p:cNvSpPr txBox="1"/>
          <p:nvPr/>
        </p:nvSpPr>
        <p:spPr>
          <a:xfrm>
            <a:off x="1495425" y="3143250"/>
            <a:ext cx="4191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pic>
        <p:nvPicPr>
          <p:cNvPr id="13" name="Image 0" descr="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" y="4048125"/>
            <a:ext cx="1295400" cy="12954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1504950" y="5943600"/>
            <a:ext cx="8001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液体</a:t>
            </a:r>
          </a:p>
        </p:txBody>
      </p:sp>
      <p:sp>
        <p:nvSpPr>
          <p:cNvPr id="15" name=""/>
          <p:cNvSpPr/>
          <p:nvPr/>
        </p:nvSpPr>
        <p:spPr>
          <a:xfrm>
            <a:off x="2876550" y="2886075"/>
            <a:ext cx="2038350" cy="355282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6" name=""/>
          <p:cNvSpPr/>
          <p:nvPr/>
        </p:nvSpPr>
        <p:spPr>
          <a:xfrm>
            <a:off x="3714750" y="3076575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7" name=""/>
          <p:cNvSpPr txBox="1"/>
          <p:nvPr/>
        </p:nvSpPr>
        <p:spPr>
          <a:xfrm>
            <a:off x="3667125" y="3143250"/>
            <a:ext cx="4667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pic>
        <p:nvPicPr>
          <p:cNvPr id="18" name="Image 1" descr="愛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3905250"/>
            <a:ext cx="1295400" cy="1295400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3305175" y="5648325"/>
            <a:ext cx="17240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抽象的なもの</a:t>
            </a:r>
          </a:p>
        </p:txBody>
      </p:sp>
      <p:sp>
        <p:nvSpPr>
          <p:cNvPr id="20" name=""/>
          <p:cNvSpPr txBox="1"/>
          <p:nvPr/>
        </p:nvSpPr>
        <p:spPr>
          <a:xfrm>
            <a:off x="3152775" y="5943600"/>
            <a:ext cx="1495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情報・概念</a:t>
            </a:r>
          </a:p>
        </p:txBody>
      </p:sp>
      <p:sp>
        <p:nvSpPr>
          <p:cNvPr id="21" name=""/>
          <p:cNvSpPr/>
          <p:nvPr/>
        </p:nvSpPr>
        <p:spPr>
          <a:xfrm>
            <a:off x="5076825" y="2886075"/>
            <a:ext cx="2038350" cy="355282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/>
          <p:nvPr/>
        </p:nvSpPr>
        <p:spPr>
          <a:xfrm>
            <a:off x="5905500" y="3076575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3" name=""/>
          <p:cNvSpPr txBox="1"/>
          <p:nvPr/>
        </p:nvSpPr>
        <p:spPr>
          <a:xfrm>
            <a:off x="5857875" y="3143250"/>
            <a:ext cx="476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pic>
        <p:nvPicPr>
          <p:cNvPr id="24" name="Image 2" descr="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0" y="3905250"/>
            <a:ext cx="1295400" cy="1295400"/>
          </a:xfrm>
          <a:prstGeom prst="rect">
            <a:avLst/>
          </a:prstGeom>
        </p:spPr>
      </p:pic>
      <p:sp>
        <p:nvSpPr>
          <p:cNvPr id="25" name=""/>
          <p:cNvSpPr txBox="1"/>
          <p:nvPr/>
        </p:nvSpPr>
        <p:spPr>
          <a:xfrm>
            <a:off x="5591175" y="5648325"/>
            <a:ext cx="1495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気体・粉末</a:t>
            </a:r>
          </a:p>
        </p:txBody>
      </p:sp>
      <p:sp>
        <p:nvSpPr>
          <p:cNvPr id="26" name=""/>
          <p:cNvSpPr txBox="1"/>
          <p:nvPr/>
        </p:nvSpPr>
        <p:spPr>
          <a:xfrm>
            <a:off x="5591175" y="5943600"/>
            <a:ext cx="1495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粒状のもの</a:t>
            </a:r>
          </a:p>
        </p:txBody>
      </p:sp>
      <p:sp>
        <p:nvSpPr>
          <p:cNvPr id="27" name=""/>
          <p:cNvSpPr/>
          <p:nvPr/>
        </p:nvSpPr>
        <p:spPr>
          <a:xfrm>
            <a:off x="7267575" y="2886075"/>
            <a:ext cx="2038350" cy="355282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8" name=""/>
          <p:cNvSpPr/>
          <p:nvPr/>
        </p:nvSpPr>
        <p:spPr>
          <a:xfrm>
            <a:off x="8096250" y="3076575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9" name=""/>
          <p:cNvSpPr txBox="1"/>
          <p:nvPr/>
        </p:nvSpPr>
        <p:spPr>
          <a:xfrm>
            <a:off x="8048625" y="3143250"/>
            <a:ext cx="4857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pic>
        <p:nvPicPr>
          <p:cNvPr id="30" name="Image 3" descr="木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050" y="4048125"/>
            <a:ext cx="1295400" cy="1295400"/>
          </a:xfrm>
          <a:prstGeom prst="rect">
            <a:avLst/>
          </a:prstGeom>
        </p:spPr>
      </p:pic>
      <p:sp>
        <p:nvSpPr>
          <p:cNvPr id="31" name=""/>
          <p:cNvSpPr txBox="1"/>
          <p:nvPr/>
        </p:nvSpPr>
        <p:spPr>
          <a:xfrm>
            <a:off x="7791450" y="5943600"/>
            <a:ext cx="1495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素材・材料</a:t>
            </a:r>
          </a:p>
        </p:txBody>
      </p:sp>
      <p:sp>
        <p:nvSpPr>
          <p:cNvPr id="32" name=""/>
          <p:cNvSpPr/>
          <p:nvPr/>
        </p:nvSpPr>
        <p:spPr>
          <a:xfrm>
            <a:off x="9467850" y="2886075"/>
            <a:ext cx="2038350" cy="355282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3" name=""/>
          <p:cNvSpPr/>
          <p:nvPr/>
        </p:nvSpPr>
        <p:spPr>
          <a:xfrm>
            <a:off x="10296525" y="3076575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0248900" y="3143250"/>
            <a:ext cx="476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5</a:t>
            </a:r>
          </a:p>
        </p:txBody>
      </p:sp>
      <p:pic>
        <p:nvPicPr>
          <p:cNvPr id="35" name="Image 4" descr="雨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9325" y="3905250"/>
            <a:ext cx="1295400" cy="1295400"/>
          </a:xfrm>
          <a:prstGeom prst="rect">
            <a:avLst/>
          </a:prstGeom>
        </p:spPr>
      </p:pic>
      <p:sp>
        <p:nvSpPr>
          <p:cNvPr id="36" name=""/>
          <p:cNvSpPr txBox="1"/>
          <p:nvPr/>
        </p:nvSpPr>
        <p:spPr>
          <a:xfrm>
            <a:off x="10086975" y="5648325"/>
            <a:ext cx="8001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天候</a:t>
            </a:r>
          </a:p>
        </p:txBody>
      </p:sp>
      <p:sp>
        <p:nvSpPr>
          <p:cNvPr id="37" name=""/>
          <p:cNvSpPr txBox="1"/>
          <p:nvPr/>
        </p:nvSpPr>
        <p:spPr>
          <a:xfrm>
            <a:off x="10086975" y="5943600"/>
            <a:ext cx="1266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自然現象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5049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PATTERN 1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8954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① 液体</a:t>
            </a:r>
          </a:p>
        </p:txBody>
      </p:sp>
      <p:sp>
        <p:nvSpPr>
          <p:cNvPr id="6" name=""/>
          <p:cNvSpPr/>
          <p:nvPr/>
        </p:nvSpPr>
        <p:spPr>
          <a:xfrm>
            <a:off x="685800" y="1905000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196215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8" name=""/>
          <p:cNvSpPr txBox="1"/>
          <p:nvPr/>
        </p:nvSpPr>
        <p:spPr>
          <a:xfrm>
            <a:off x="1847850" y="1914525"/>
            <a:ext cx="80962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液体そのものは 1つ・2つと数えず、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ひとまとまり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として扱う</a:t>
            </a:r>
          </a:p>
        </p:txBody>
      </p:sp>
      <p:sp>
        <p:nvSpPr>
          <p:cNvPr id="9" name=""/>
          <p:cNvSpPr/>
          <p:nvPr/>
        </p:nvSpPr>
        <p:spPr>
          <a:xfrm>
            <a:off x="685800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/>
          <p:nvPr/>
        </p:nvSpPr>
        <p:spPr>
          <a:xfrm>
            <a:off x="819150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DDEFFC"/>
          </a:solidFill>
          <a:ln/>
        </p:spPr>
      </p:sp>
      <p:pic>
        <p:nvPicPr>
          <p:cNvPr id="11" name="Image 0" descr="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3305175"/>
            <a:ext cx="1428750" cy="142875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1543050" y="5581650"/>
            <a:ext cx="13335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water</a:t>
            </a:r>
          </a:p>
        </p:txBody>
      </p:sp>
      <p:sp>
        <p:nvSpPr>
          <p:cNvPr id="13" name=""/>
          <p:cNvSpPr txBox="1"/>
          <p:nvPr/>
        </p:nvSpPr>
        <p:spPr>
          <a:xfrm>
            <a:off x="1885950" y="6000750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水</a:t>
            </a:r>
          </a:p>
        </p:txBody>
      </p:sp>
      <p:sp>
        <p:nvSpPr>
          <p:cNvPr id="14" name=""/>
          <p:cNvSpPr/>
          <p:nvPr/>
        </p:nvSpPr>
        <p:spPr>
          <a:xfrm>
            <a:off x="3438525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/>
          <p:nvPr/>
        </p:nvSpPr>
        <p:spPr>
          <a:xfrm>
            <a:off x="3571875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FFE8DC"/>
          </a:solidFill>
          <a:ln/>
        </p:spPr>
      </p:sp>
      <p:pic>
        <p:nvPicPr>
          <p:cNvPr id="16" name="Image 1" descr="コーヒ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305175"/>
            <a:ext cx="1428750" cy="14287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4248150" y="5581650"/>
            <a:ext cx="14382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coffee</a:t>
            </a:r>
          </a:p>
        </p:txBody>
      </p:sp>
      <p:sp>
        <p:nvSpPr>
          <p:cNvPr id="18" name=""/>
          <p:cNvSpPr txBox="1"/>
          <p:nvPr/>
        </p:nvSpPr>
        <p:spPr>
          <a:xfrm>
            <a:off x="4381500" y="600075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コーヒー</a:t>
            </a:r>
          </a:p>
        </p:txBody>
      </p:sp>
      <p:sp>
        <p:nvSpPr>
          <p:cNvPr id="19" name=""/>
          <p:cNvSpPr/>
          <p:nvPr/>
        </p:nvSpPr>
        <p:spPr>
          <a:xfrm>
            <a:off x="6181725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0" name=""/>
          <p:cNvSpPr/>
          <p:nvPr/>
        </p:nvSpPr>
        <p:spPr>
          <a:xfrm>
            <a:off x="6315075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FFE4EC"/>
          </a:solidFill>
          <a:ln/>
        </p:spPr>
      </p:sp>
      <p:pic>
        <p:nvPicPr>
          <p:cNvPr id="21" name="Image 2" descr="牛乳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3305175"/>
            <a:ext cx="1428750" cy="14287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7153275" y="5581650"/>
            <a:ext cx="107632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milk</a:t>
            </a:r>
          </a:p>
        </p:txBody>
      </p:sp>
      <p:sp>
        <p:nvSpPr>
          <p:cNvPr id="23" name=""/>
          <p:cNvSpPr txBox="1"/>
          <p:nvPr/>
        </p:nvSpPr>
        <p:spPr>
          <a:xfrm>
            <a:off x="7296150" y="600075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牛乳</a:t>
            </a:r>
          </a:p>
        </p:txBody>
      </p:sp>
      <p:sp>
        <p:nvSpPr>
          <p:cNvPr id="24" name=""/>
          <p:cNvSpPr/>
          <p:nvPr/>
        </p:nvSpPr>
        <p:spPr>
          <a:xfrm>
            <a:off x="8934450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5" name=""/>
          <p:cNvSpPr/>
          <p:nvPr/>
        </p:nvSpPr>
        <p:spPr>
          <a:xfrm>
            <a:off x="9067800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FFF2C9"/>
          </a:solidFill>
          <a:ln/>
        </p:spPr>
      </p:sp>
      <p:pic>
        <p:nvPicPr>
          <p:cNvPr id="26" name="Image 3" descr="ジュー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950" y="3305175"/>
            <a:ext cx="1428750" cy="142875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9858375" y="5581650"/>
            <a:ext cx="11715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juice</a:t>
            </a:r>
          </a:p>
        </p:txBody>
      </p:sp>
      <p:sp>
        <p:nvSpPr>
          <p:cNvPr id="28" name=""/>
          <p:cNvSpPr txBox="1"/>
          <p:nvPr/>
        </p:nvSpPr>
        <p:spPr>
          <a:xfrm>
            <a:off x="9886950" y="6000750"/>
            <a:ext cx="1114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ジュース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07251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ただし、飲み物を「1杯」として数えるときは…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5286375" cy="3552825"/>
          </a:xfrm>
          <a:prstGeom prst="roundRect">
            <a:avLst>
              <a:gd name="adj" fmla="val 7507"/>
            </a:avLst>
          </a:prstGeom>
          <a:solidFill>
            <a:srgbClr val="FFE8DC"/>
          </a:solidFill>
          <a:ln/>
        </p:spPr>
      </p:sp>
      <p:pic>
        <p:nvPicPr>
          <p:cNvPr id="7" name="Image 0" descr="コーヒ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8875" y="2305050"/>
            <a:ext cx="1809750" cy="180975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390775" y="4210050"/>
            <a:ext cx="250507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750" b="1">
                <a:solidFill>
                  <a:srgbClr val="1C2340"/>
                </a:solidFill>
                <a:latin typeface="DM Sans"/>
                <a:ea typeface="DM Sans"/>
              </a:rPr>
              <a:t> coffee</a:t>
            </a:r>
          </a:p>
        </p:txBody>
      </p:sp>
      <p:sp>
        <p:nvSpPr>
          <p:cNvPr id="9" name=""/>
          <p:cNvSpPr txBox="1"/>
          <p:nvPr/>
        </p:nvSpPr>
        <p:spPr>
          <a:xfrm>
            <a:off x="2743200" y="487680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コーヒー1杯</a:t>
            </a:r>
          </a:p>
        </p:txBody>
      </p:sp>
      <p:sp>
        <p:nvSpPr>
          <p:cNvPr id="10" name=""/>
          <p:cNvSpPr/>
          <p:nvPr/>
        </p:nvSpPr>
        <p:spPr>
          <a:xfrm>
            <a:off x="6219825" y="1962150"/>
            <a:ext cx="5286375" cy="3552825"/>
          </a:xfrm>
          <a:prstGeom prst="roundRect">
            <a:avLst>
              <a:gd name="adj" fmla="val 7507"/>
            </a:avLst>
          </a:prstGeom>
          <a:solidFill>
            <a:srgbClr val="FFF2C9"/>
          </a:solidFill>
          <a:ln/>
        </p:spPr>
      </p:sp>
      <p:pic>
        <p:nvPicPr>
          <p:cNvPr id="11" name="Image 1" descr="コーヒ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2305050"/>
            <a:ext cx="1809750" cy="1809750"/>
          </a:xfrm>
          <a:prstGeom prst="rect">
            <a:avLst/>
          </a:prstGeom>
        </p:spPr>
      </p:pic>
      <p:pic>
        <p:nvPicPr>
          <p:cNvPr id="12" name="Image 2" descr="コーヒ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0" y="2305050"/>
            <a:ext cx="1809750" cy="1809750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7496175" y="4210050"/>
            <a:ext cx="349567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>
                <a:solidFill>
                  <a:srgbClr val="1C2340"/>
                </a:solidFill>
                <a:latin typeface="DM Sans"/>
                <a:ea typeface="DM Sans"/>
              </a:rPr>
              <a:t>two coffees</a:t>
            </a:r>
          </a:p>
        </p:txBody>
      </p:sp>
      <p:sp>
        <p:nvSpPr>
          <p:cNvPr id="14" name=""/>
          <p:cNvSpPr txBox="1"/>
          <p:nvPr/>
        </p:nvSpPr>
        <p:spPr>
          <a:xfrm>
            <a:off x="8277225" y="487680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コーヒー2杯</a:t>
            </a:r>
          </a:p>
        </p:txBody>
      </p:sp>
      <p:sp>
        <p:nvSpPr>
          <p:cNvPr id="15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6" name=""/>
          <p:cNvSpPr/>
          <p:nvPr/>
        </p:nvSpPr>
        <p:spPr>
          <a:xfrm>
            <a:off x="933450" y="5895975"/>
            <a:ext cx="8572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04900" y="5953125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まとめ</a:t>
            </a:r>
          </a:p>
        </p:txBody>
      </p:sp>
      <p:sp>
        <p:nvSpPr>
          <p:cNvPr id="18" name=""/>
          <p:cNvSpPr txBox="1"/>
          <p:nvPr/>
        </p:nvSpPr>
        <p:spPr>
          <a:xfrm>
            <a:off x="1943100" y="5924550"/>
            <a:ext cx="101822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液体としての 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coffee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は数えない ／ 「1杯」として数えるときは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coffee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と言うことがある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5335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PATTERN 2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67151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② 抽象的なもの・情報・概念</a:t>
            </a:r>
          </a:p>
        </p:txBody>
      </p:sp>
      <p:sp>
        <p:nvSpPr>
          <p:cNvPr id="6" name=""/>
          <p:cNvSpPr/>
          <p:nvPr/>
        </p:nvSpPr>
        <p:spPr>
          <a:xfrm>
            <a:off x="685800" y="1905000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196215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8" name=""/>
          <p:cNvSpPr txBox="1"/>
          <p:nvPr/>
        </p:nvSpPr>
        <p:spPr>
          <a:xfrm>
            <a:off x="1847850" y="1914525"/>
            <a:ext cx="56102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形のある「1個」として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区切りにくい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もの</a:t>
            </a:r>
          </a:p>
        </p:txBody>
      </p:sp>
      <p:sp>
        <p:nvSpPr>
          <p:cNvPr id="9" name=""/>
          <p:cNvSpPr/>
          <p:nvPr/>
        </p:nvSpPr>
        <p:spPr>
          <a:xfrm>
            <a:off x="685800" y="2447925"/>
            <a:ext cx="1695450" cy="399097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/>
          <p:nvPr/>
        </p:nvSpPr>
        <p:spPr>
          <a:xfrm>
            <a:off x="819150" y="2581275"/>
            <a:ext cx="1428750" cy="3000375"/>
          </a:xfrm>
          <a:prstGeom prst="roundRect">
            <a:avLst>
              <a:gd name="adj" fmla="val 12000"/>
            </a:avLst>
          </a:prstGeom>
          <a:solidFill>
            <a:srgbClr val="DDEFFC"/>
          </a:solidFill>
          <a:ln/>
        </p:spPr>
      </p:sp>
      <p:pic>
        <p:nvPicPr>
          <p:cNvPr id="11" name="Image 0" descr="音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524250"/>
            <a:ext cx="1123950" cy="112395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1209675" y="5715000"/>
            <a:ext cx="10858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DM Sans"/>
                <a:ea typeface="DM Sans"/>
              </a:rPr>
              <a:t>music</a:t>
            </a:r>
          </a:p>
        </p:txBody>
      </p:sp>
      <p:sp>
        <p:nvSpPr>
          <p:cNvPr id="13" name=""/>
          <p:cNvSpPr txBox="1"/>
          <p:nvPr/>
        </p:nvSpPr>
        <p:spPr>
          <a:xfrm>
            <a:off x="1381125" y="60198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音楽</a:t>
            </a:r>
          </a:p>
        </p:txBody>
      </p:sp>
      <p:sp>
        <p:nvSpPr>
          <p:cNvPr id="14" name=""/>
          <p:cNvSpPr/>
          <p:nvPr/>
        </p:nvSpPr>
        <p:spPr>
          <a:xfrm>
            <a:off x="2514600" y="2447925"/>
            <a:ext cx="1695450" cy="399097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/>
          <p:nvPr/>
        </p:nvSpPr>
        <p:spPr>
          <a:xfrm>
            <a:off x="2647950" y="2581275"/>
            <a:ext cx="1428750" cy="3000375"/>
          </a:xfrm>
          <a:prstGeom prst="roundRect">
            <a:avLst>
              <a:gd name="adj" fmla="val 12000"/>
            </a:avLst>
          </a:prstGeom>
          <a:solidFill>
            <a:srgbClr val="FFF2C9"/>
          </a:solidFill>
          <a:ln/>
        </p:spPr>
      </p:sp>
      <p:pic>
        <p:nvPicPr>
          <p:cNvPr id="16" name="Image 1" descr="情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5" y="3524250"/>
            <a:ext cx="1123950" cy="11239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2733675" y="5715000"/>
            <a:ext cx="17716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DM Sans"/>
                <a:ea typeface="DM Sans"/>
              </a:rPr>
              <a:t>information</a:t>
            </a:r>
          </a:p>
        </p:txBody>
      </p:sp>
      <p:sp>
        <p:nvSpPr>
          <p:cNvPr id="18" name=""/>
          <p:cNvSpPr txBox="1"/>
          <p:nvPr/>
        </p:nvSpPr>
        <p:spPr>
          <a:xfrm>
            <a:off x="3200400" y="60198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情報</a:t>
            </a:r>
          </a:p>
        </p:txBody>
      </p:sp>
      <p:sp>
        <p:nvSpPr>
          <p:cNvPr id="19" name=""/>
          <p:cNvSpPr/>
          <p:nvPr/>
        </p:nvSpPr>
        <p:spPr>
          <a:xfrm>
            <a:off x="4333875" y="2447925"/>
            <a:ext cx="1695450" cy="399097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0" name=""/>
          <p:cNvSpPr/>
          <p:nvPr/>
        </p:nvSpPr>
        <p:spPr>
          <a:xfrm>
            <a:off x="4467225" y="2581275"/>
            <a:ext cx="1428750" cy="3000375"/>
          </a:xfrm>
          <a:prstGeom prst="roundRect">
            <a:avLst>
              <a:gd name="adj" fmla="val 12000"/>
            </a:avLst>
          </a:prstGeom>
          <a:solidFill>
            <a:srgbClr val="FFE4EC"/>
          </a:solidFill>
          <a:ln/>
        </p:spPr>
      </p:sp>
      <p:pic>
        <p:nvPicPr>
          <p:cNvPr id="21" name="Image 2" descr="アドバイ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524250"/>
            <a:ext cx="1123950" cy="11239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4829175" y="5715000"/>
            <a:ext cx="11620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DM Sans"/>
                <a:ea typeface="DM Sans"/>
              </a:rPr>
              <a:t>advice</a:t>
            </a:r>
          </a:p>
        </p:txBody>
      </p:sp>
      <p:sp>
        <p:nvSpPr>
          <p:cNvPr id="23" name=""/>
          <p:cNvSpPr txBox="1"/>
          <p:nvPr/>
        </p:nvSpPr>
        <p:spPr>
          <a:xfrm>
            <a:off x="4800600" y="601980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アドバイス</a:t>
            </a:r>
          </a:p>
        </p:txBody>
      </p:sp>
      <p:sp>
        <p:nvSpPr>
          <p:cNvPr id="24" name=""/>
          <p:cNvSpPr/>
          <p:nvPr/>
        </p:nvSpPr>
        <p:spPr>
          <a:xfrm>
            <a:off x="6162675" y="2447925"/>
            <a:ext cx="1695450" cy="399097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5" name=""/>
          <p:cNvSpPr/>
          <p:nvPr/>
        </p:nvSpPr>
        <p:spPr>
          <a:xfrm>
            <a:off x="6296025" y="2581275"/>
            <a:ext cx="1428750" cy="3000375"/>
          </a:xfrm>
          <a:prstGeom prst="roundRect">
            <a:avLst>
              <a:gd name="adj" fmla="val 12000"/>
            </a:avLst>
          </a:prstGeom>
          <a:solidFill>
            <a:srgbClr val="FFE8DC"/>
          </a:solidFill>
          <a:ln/>
        </p:spPr>
      </p:sp>
      <p:pic>
        <p:nvPicPr>
          <p:cNvPr id="26" name="Image 3" descr="お金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524250"/>
            <a:ext cx="1123950" cy="112395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6638925" y="5715000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DM Sans"/>
                <a:ea typeface="DM Sans"/>
              </a:rPr>
              <a:t>money</a:t>
            </a:r>
          </a:p>
        </p:txBody>
      </p:sp>
      <p:sp>
        <p:nvSpPr>
          <p:cNvPr id="28" name=""/>
          <p:cNvSpPr txBox="1"/>
          <p:nvPr/>
        </p:nvSpPr>
        <p:spPr>
          <a:xfrm>
            <a:off x="6858000" y="60198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お金</a:t>
            </a:r>
          </a:p>
        </p:txBody>
      </p:sp>
      <p:sp>
        <p:nvSpPr>
          <p:cNvPr id="29" name=""/>
          <p:cNvSpPr/>
          <p:nvPr/>
        </p:nvSpPr>
        <p:spPr>
          <a:xfrm>
            <a:off x="7991475" y="2447925"/>
            <a:ext cx="1695450" cy="399097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0" name=""/>
          <p:cNvSpPr/>
          <p:nvPr/>
        </p:nvSpPr>
        <p:spPr>
          <a:xfrm>
            <a:off x="8124825" y="2581275"/>
            <a:ext cx="1428750" cy="3000375"/>
          </a:xfrm>
          <a:prstGeom prst="roundRect">
            <a:avLst>
              <a:gd name="adj" fmla="val 12000"/>
            </a:avLst>
          </a:prstGeom>
          <a:solidFill>
            <a:srgbClr val="FFE4EC"/>
          </a:solidFill>
          <a:ln/>
        </p:spPr>
      </p:sp>
      <p:pic>
        <p:nvPicPr>
          <p:cNvPr id="31" name="Image 4" descr="愛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700" y="3524250"/>
            <a:ext cx="1123950" cy="1123950"/>
          </a:xfrm>
          <a:prstGeom prst="rect">
            <a:avLst/>
          </a:prstGeom>
        </p:spPr>
      </p:pic>
      <p:sp>
        <p:nvSpPr>
          <p:cNvPr id="32" name=""/>
          <p:cNvSpPr txBox="1"/>
          <p:nvPr/>
        </p:nvSpPr>
        <p:spPr>
          <a:xfrm>
            <a:off x="8620125" y="5715000"/>
            <a:ext cx="8382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DM Sans"/>
                <a:ea typeface="DM Sans"/>
              </a:rPr>
              <a:t>love</a:t>
            </a:r>
          </a:p>
        </p:txBody>
      </p:sp>
      <p:sp>
        <p:nvSpPr>
          <p:cNvPr id="33" name=""/>
          <p:cNvSpPr txBox="1"/>
          <p:nvPr/>
        </p:nvSpPr>
        <p:spPr>
          <a:xfrm>
            <a:off x="8753475" y="60198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愛</a:t>
            </a:r>
          </a:p>
        </p:txBody>
      </p:sp>
      <p:sp>
        <p:nvSpPr>
          <p:cNvPr id="34" name=""/>
          <p:cNvSpPr/>
          <p:nvPr/>
        </p:nvSpPr>
        <p:spPr>
          <a:xfrm>
            <a:off x="9810750" y="2447925"/>
            <a:ext cx="1695450" cy="399097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5" name=""/>
          <p:cNvSpPr/>
          <p:nvPr/>
        </p:nvSpPr>
        <p:spPr>
          <a:xfrm>
            <a:off x="9944100" y="2581275"/>
            <a:ext cx="1428750" cy="3000375"/>
          </a:xfrm>
          <a:prstGeom prst="roundRect">
            <a:avLst>
              <a:gd name="adj" fmla="val 12000"/>
            </a:avLst>
          </a:prstGeom>
          <a:solidFill>
            <a:srgbClr val="FFF2C9"/>
          </a:solidFill>
          <a:ln/>
        </p:spPr>
      </p:sp>
      <p:pic>
        <p:nvPicPr>
          <p:cNvPr id="36" name="Image 5" descr="幸せ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0" y="3524250"/>
            <a:ext cx="1123950" cy="1123950"/>
          </a:xfrm>
          <a:prstGeom prst="rect">
            <a:avLst/>
          </a:prstGeom>
        </p:spPr>
      </p:pic>
      <p:sp>
        <p:nvSpPr>
          <p:cNvPr id="37" name=""/>
          <p:cNvSpPr txBox="1"/>
          <p:nvPr/>
        </p:nvSpPr>
        <p:spPr>
          <a:xfrm>
            <a:off x="10115550" y="5715000"/>
            <a:ext cx="16002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DM Sans"/>
                <a:ea typeface="DM Sans"/>
              </a:rPr>
              <a:t>happiness</a:t>
            </a:r>
          </a:p>
        </p:txBody>
      </p:sp>
      <p:sp>
        <p:nvSpPr>
          <p:cNvPr id="38" name=""/>
          <p:cNvSpPr txBox="1"/>
          <p:nvPr/>
        </p:nvSpPr>
        <p:spPr>
          <a:xfrm>
            <a:off x="10506075" y="60198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幸せ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54578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money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は不可算名詞！</a:t>
            </a:r>
          </a:p>
        </p:txBody>
      </p:sp>
      <p:sp>
        <p:nvSpPr>
          <p:cNvPr id="6" name=""/>
          <p:cNvSpPr/>
          <p:nvPr/>
        </p:nvSpPr>
        <p:spPr>
          <a:xfrm>
            <a:off x="685800" y="2000250"/>
            <a:ext cx="5286375" cy="4438650"/>
          </a:xfrm>
          <a:prstGeom prst="roundRect">
            <a:avLst>
              <a:gd name="adj" fmla="val 6009"/>
            </a:avLst>
          </a:prstGeom>
          <a:solidFill>
            <a:srgbClr val="DDEFFC"/>
          </a:solidFill>
          <a:ln/>
        </p:spPr>
      </p:sp>
      <p:pic>
        <p:nvPicPr>
          <p:cNvPr id="7" name="Image 0" descr="ド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28850"/>
            <a:ext cx="990600" cy="990600"/>
          </a:xfrm>
          <a:prstGeom prst="rect">
            <a:avLst/>
          </a:prstGeom>
        </p:spPr>
      </p:pic>
      <p:pic>
        <p:nvPicPr>
          <p:cNvPr id="8" name="Image 1" descr="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2228850"/>
            <a:ext cx="990600" cy="9906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81350" y="2371725"/>
            <a:ext cx="26193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お金の「単位」は</a:t>
            </a:r>
          </a:p>
        </p:txBody>
      </p:sp>
      <p:sp>
        <p:nvSpPr>
          <p:cNvPr id="10" name=""/>
          <p:cNvSpPr txBox="1"/>
          <p:nvPr/>
        </p:nvSpPr>
        <p:spPr>
          <a:xfrm>
            <a:off x="3181350" y="2714625"/>
            <a:ext cx="1771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数えられる</a:t>
            </a:r>
          </a:p>
        </p:txBody>
      </p:sp>
      <p:sp>
        <p:nvSpPr>
          <p:cNvPr id="11" name=""/>
          <p:cNvSpPr/>
          <p:nvPr/>
        </p:nvSpPr>
        <p:spPr>
          <a:xfrm>
            <a:off x="971550" y="33337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1143000" y="3524250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038225" y="35623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14" name=""/>
          <p:cNvSpPr txBox="1"/>
          <p:nvPr/>
        </p:nvSpPr>
        <p:spPr>
          <a:xfrm>
            <a:off x="1657350" y="3429000"/>
            <a:ext cx="17716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one dollar</a:t>
            </a:r>
          </a:p>
        </p:txBody>
      </p:sp>
      <p:sp>
        <p:nvSpPr>
          <p:cNvPr id="15" name=""/>
          <p:cNvSpPr txBox="1"/>
          <p:nvPr/>
        </p:nvSpPr>
        <p:spPr>
          <a:xfrm>
            <a:off x="1657350" y="3762375"/>
            <a:ext cx="8286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1ドル</a:t>
            </a:r>
          </a:p>
        </p:txBody>
      </p:sp>
      <p:sp>
        <p:nvSpPr>
          <p:cNvPr id="16" name=""/>
          <p:cNvSpPr/>
          <p:nvPr/>
        </p:nvSpPr>
        <p:spPr>
          <a:xfrm>
            <a:off x="971550" y="42100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1143000" y="4400550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8" name=""/>
          <p:cNvSpPr txBox="1"/>
          <p:nvPr/>
        </p:nvSpPr>
        <p:spPr>
          <a:xfrm>
            <a:off x="1038225" y="44386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19" name=""/>
          <p:cNvSpPr txBox="1"/>
          <p:nvPr/>
        </p:nvSpPr>
        <p:spPr>
          <a:xfrm>
            <a:off x="1657350" y="4305300"/>
            <a:ext cx="14478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100 yen</a:t>
            </a:r>
          </a:p>
        </p:txBody>
      </p:sp>
      <p:sp>
        <p:nvSpPr>
          <p:cNvPr id="20" name=""/>
          <p:cNvSpPr txBox="1"/>
          <p:nvPr/>
        </p:nvSpPr>
        <p:spPr>
          <a:xfrm>
            <a:off x="1657350" y="4638675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100円</a:t>
            </a:r>
          </a:p>
        </p:txBody>
      </p:sp>
      <p:sp>
        <p:nvSpPr>
          <p:cNvPr id="21" name=""/>
          <p:cNvSpPr/>
          <p:nvPr/>
        </p:nvSpPr>
        <p:spPr>
          <a:xfrm>
            <a:off x="6219825" y="2000250"/>
            <a:ext cx="5286375" cy="4438650"/>
          </a:xfrm>
          <a:prstGeom prst="roundRect">
            <a:avLst>
              <a:gd name="adj" fmla="val 6009"/>
            </a:avLst>
          </a:prstGeom>
          <a:solidFill>
            <a:srgbClr val="FFE4EC"/>
          </a:solidFill>
          <a:ln/>
        </p:spPr>
      </p:sp>
      <p:pic>
        <p:nvPicPr>
          <p:cNvPr id="22" name="Image 2" descr="お金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228850"/>
            <a:ext cx="1066800" cy="1066800"/>
          </a:xfrm>
          <a:prstGeom prst="rect">
            <a:avLst/>
          </a:prstGeom>
        </p:spPr>
      </p:pic>
      <p:sp>
        <p:nvSpPr>
          <p:cNvPr id="23" name=""/>
          <p:cNvSpPr txBox="1"/>
          <p:nvPr/>
        </p:nvSpPr>
        <p:spPr>
          <a:xfrm>
            <a:off x="7743825" y="2409825"/>
            <a:ext cx="31908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「お金」という概念は</a:t>
            </a:r>
          </a:p>
        </p:txBody>
      </p:sp>
      <p:sp>
        <p:nvSpPr>
          <p:cNvPr id="24" name=""/>
          <p:cNvSpPr txBox="1"/>
          <p:nvPr/>
        </p:nvSpPr>
        <p:spPr>
          <a:xfrm>
            <a:off x="7743825" y="2752725"/>
            <a:ext cx="20478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数えられない</a:t>
            </a:r>
          </a:p>
        </p:txBody>
      </p:sp>
      <p:sp>
        <p:nvSpPr>
          <p:cNvPr id="25" name=""/>
          <p:cNvSpPr/>
          <p:nvPr/>
        </p:nvSpPr>
        <p:spPr>
          <a:xfrm>
            <a:off x="6505575" y="34099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6677025" y="3600450"/>
            <a:ext cx="381000" cy="381000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27" name=""/>
          <p:cNvSpPr txBox="1"/>
          <p:nvPr/>
        </p:nvSpPr>
        <p:spPr>
          <a:xfrm>
            <a:off x="6572250" y="36385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×</a:t>
            </a:r>
          </a:p>
        </p:txBody>
      </p:sp>
      <p:sp>
        <p:nvSpPr>
          <p:cNvPr id="28" name=""/>
          <p:cNvSpPr txBox="1"/>
          <p:nvPr/>
        </p:nvSpPr>
        <p:spPr>
          <a:xfrm>
            <a:off x="7191375" y="3505200"/>
            <a:ext cx="15621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8A90A8"/>
                </a:solidFill>
                <a:latin typeface="DM Sans"/>
                <a:ea typeface="DM Sans"/>
              </a:rPr>
              <a:t>a money</a:t>
            </a:r>
          </a:p>
        </p:txBody>
      </p:sp>
      <p:sp>
        <p:nvSpPr>
          <p:cNvPr id="29" name=""/>
          <p:cNvSpPr txBox="1"/>
          <p:nvPr/>
        </p:nvSpPr>
        <p:spPr>
          <a:xfrm>
            <a:off x="7191375" y="3838575"/>
            <a:ext cx="26003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1つ、2つ…と数えられない</a:t>
            </a:r>
          </a:p>
        </p:txBody>
      </p:sp>
      <p:sp>
        <p:nvSpPr>
          <p:cNvPr id="30" name=""/>
          <p:cNvSpPr/>
          <p:nvPr/>
        </p:nvSpPr>
        <p:spPr>
          <a:xfrm>
            <a:off x="6505575" y="42862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6677025" y="4476750"/>
            <a:ext cx="381000" cy="381000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2" name=""/>
          <p:cNvSpPr txBox="1"/>
          <p:nvPr/>
        </p:nvSpPr>
        <p:spPr>
          <a:xfrm>
            <a:off x="6572250" y="45148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×</a:t>
            </a:r>
          </a:p>
        </p:txBody>
      </p:sp>
      <p:sp>
        <p:nvSpPr>
          <p:cNvPr id="33" name=""/>
          <p:cNvSpPr txBox="1"/>
          <p:nvPr/>
        </p:nvSpPr>
        <p:spPr>
          <a:xfrm>
            <a:off x="7191375" y="4381500"/>
            <a:ext cx="20764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8A90A8"/>
                </a:solidFill>
                <a:latin typeface="DM Sans"/>
                <a:ea typeface="DM Sans"/>
              </a:rPr>
              <a:t>two moneys</a:t>
            </a:r>
          </a:p>
        </p:txBody>
      </p:sp>
      <p:sp>
        <p:nvSpPr>
          <p:cNvPr id="34" name=""/>
          <p:cNvSpPr txBox="1"/>
          <p:nvPr/>
        </p:nvSpPr>
        <p:spPr>
          <a:xfrm>
            <a:off x="7191375" y="4714875"/>
            <a:ext cx="1828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複数形にもしない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543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PATTERN 3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62388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③ 気体・粉末・粒状のもの</a:t>
            </a:r>
          </a:p>
        </p:txBody>
      </p:sp>
      <p:sp>
        <p:nvSpPr>
          <p:cNvPr id="6" name=""/>
          <p:cNvSpPr/>
          <p:nvPr/>
        </p:nvSpPr>
        <p:spPr>
          <a:xfrm>
            <a:off x="685800" y="1905000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196215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8" name=""/>
          <p:cNvSpPr txBox="1"/>
          <p:nvPr/>
        </p:nvSpPr>
        <p:spPr>
          <a:xfrm>
            <a:off x="1847850" y="1914525"/>
            <a:ext cx="88296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一つひとつの粒ではなく、全体を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ひとまとまりの物質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として捉える</a:t>
            </a:r>
          </a:p>
        </p:txBody>
      </p:sp>
      <p:sp>
        <p:nvSpPr>
          <p:cNvPr id="9" name=""/>
          <p:cNvSpPr/>
          <p:nvPr/>
        </p:nvSpPr>
        <p:spPr>
          <a:xfrm>
            <a:off x="685800" y="2447925"/>
            <a:ext cx="2028825" cy="3067050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/>
          <p:nvPr/>
        </p:nvSpPr>
        <p:spPr>
          <a:xfrm>
            <a:off x="819150" y="2581275"/>
            <a:ext cx="1762125" cy="1943100"/>
          </a:xfrm>
          <a:prstGeom prst="roundRect">
            <a:avLst>
              <a:gd name="adj" fmla="val 9730"/>
            </a:avLst>
          </a:prstGeom>
          <a:solidFill>
            <a:srgbClr val="DDEFFC"/>
          </a:solidFill>
          <a:ln/>
        </p:spPr>
      </p:sp>
      <p:pic>
        <p:nvPicPr>
          <p:cNvPr id="11" name="Image 0" descr="空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2838450"/>
            <a:ext cx="1428750" cy="142875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1504950" y="4657725"/>
            <a:ext cx="7905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air</a:t>
            </a:r>
          </a:p>
        </p:txBody>
      </p:sp>
      <p:sp>
        <p:nvSpPr>
          <p:cNvPr id="13" name=""/>
          <p:cNvSpPr txBox="1"/>
          <p:nvPr/>
        </p:nvSpPr>
        <p:spPr>
          <a:xfrm>
            <a:off x="1524000" y="50768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空気</a:t>
            </a:r>
          </a:p>
        </p:txBody>
      </p:sp>
      <p:sp>
        <p:nvSpPr>
          <p:cNvPr id="14" name=""/>
          <p:cNvSpPr/>
          <p:nvPr/>
        </p:nvSpPr>
        <p:spPr>
          <a:xfrm>
            <a:off x="2886075" y="2447925"/>
            <a:ext cx="2028825" cy="3067050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/>
          <p:nvPr/>
        </p:nvSpPr>
        <p:spPr>
          <a:xfrm>
            <a:off x="3019425" y="2581275"/>
            <a:ext cx="1762125" cy="1943100"/>
          </a:xfrm>
          <a:prstGeom prst="roundRect">
            <a:avLst>
              <a:gd name="adj" fmla="val 9730"/>
            </a:avLst>
          </a:prstGeom>
          <a:solidFill>
            <a:srgbClr val="FFE4EC"/>
          </a:solidFill>
          <a:ln/>
        </p:spPr>
      </p:sp>
      <p:pic>
        <p:nvPicPr>
          <p:cNvPr id="16" name="Image 1" descr="砂糖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2838450"/>
            <a:ext cx="1428750" cy="14287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3476625" y="4657725"/>
            <a:ext cx="130492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sugar</a:t>
            </a:r>
          </a:p>
        </p:txBody>
      </p:sp>
      <p:sp>
        <p:nvSpPr>
          <p:cNvPr id="18" name=""/>
          <p:cNvSpPr txBox="1"/>
          <p:nvPr/>
        </p:nvSpPr>
        <p:spPr>
          <a:xfrm>
            <a:off x="3724275" y="50768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砂糖</a:t>
            </a:r>
          </a:p>
        </p:txBody>
      </p:sp>
      <p:sp>
        <p:nvSpPr>
          <p:cNvPr id="19" name=""/>
          <p:cNvSpPr/>
          <p:nvPr/>
        </p:nvSpPr>
        <p:spPr>
          <a:xfrm>
            <a:off x="5086350" y="2447925"/>
            <a:ext cx="2028825" cy="3067050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0" name=""/>
          <p:cNvSpPr/>
          <p:nvPr/>
        </p:nvSpPr>
        <p:spPr>
          <a:xfrm>
            <a:off x="5219700" y="2581275"/>
            <a:ext cx="1762125" cy="1943100"/>
          </a:xfrm>
          <a:prstGeom prst="roundRect">
            <a:avLst>
              <a:gd name="adj" fmla="val 9730"/>
            </a:avLst>
          </a:prstGeom>
          <a:solidFill>
            <a:srgbClr val="DDEFFC"/>
          </a:solidFill>
          <a:ln/>
        </p:spPr>
      </p:sp>
      <p:pic>
        <p:nvPicPr>
          <p:cNvPr id="21" name="Image 2" descr="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2838450"/>
            <a:ext cx="1428750" cy="14287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5810250" y="4657725"/>
            <a:ext cx="9906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salt</a:t>
            </a:r>
          </a:p>
        </p:txBody>
      </p:sp>
      <p:sp>
        <p:nvSpPr>
          <p:cNvPr id="23" name=""/>
          <p:cNvSpPr txBox="1"/>
          <p:nvPr/>
        </p:nvSpPr>
        <p:spPr>
          <a:xfrm>
            <a:off x="6010275" y="5076825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塩</a:t>
            </a:r>
          </a:p>
        </p:txBody>
      </p:sp>
      <p:sp>
        <p:nvSpPr>
          <p:cNvPr id="24" name=""/>
          <p:cNvSpPr/>
          <p:nvPr/>
        </p:nvSpPr>
        <p:spPr>
          <a:xfrm>
            <a:off x="7277100" y="2447925"/>
            <a:ext cx="2028825" cy="3067050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5" name=""/>
          <p:cNvSpPr/>
          <p:nvPr/>
        </p:nvSpPr>
        <p:spPr>
          <a:xfrm>
            <a:off x="7410450" y="2581275"/>
            <a:ext cx="1762125" cy="1943100"/>
          </a:xfrm>
          <a:prstGeom prst="roundRect">
            <a:avLst>
              <a:gd name="adj" fmla="val 9730"/>
            </a:avLst>
          </a:prstGeom>
          <a:solidFill>
            <a:srgbClr val="FFE8DC"/>
          </a:solidFill>
          <a:ln/>
        </p:spPr>
      </p:sp>
      <p:pic>
        <p:nvPicPr>
          <p:cNvPr id="26" name="Image 3" descr="米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2838450"/>
            <a:ext cx="1428750" cy="142875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8010525" y="4657725"/>
            <a:ext cx="100012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rice</a:t>
            </a:r>
          </a:p>
        </p:txBody>
      </p:sp>
      <p:sp>
        <p:nvSpPr>
          <p:cNvPr id="28" name=""/>
          <p:cNvSpPr txBox="1"/>
          <p:nvPr/>
        </p:nvSpPr>
        <p:spPr>
          <a:xfrm>
            <a:off x="7867650" y="5076825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米・ごはん</a:t>
            </a:r>
          </a:p>
        </p:txBody>
      </p:sp>
      <p:sp>
        <p:nvSpPr>
          <p:cNvPr id="29" name=""/>
          <p:cNvSpPr/>
          <p:nvPr/>
        </p:nvSpPr>
        <p:spPr>
          <a:xfrm>
            <a:off x="9477375" y="2447925"/>
            <a:ext cx="2028825" cy="3067050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0" name=""/>
          <p:cNvSpPr/>
          <p:nvPr/>
        </p:nvSpPr>
        <p:spPr>
          <a:xfrm>
            <a:off x="9610725" y="2581275"/>
            <a:ext cx="1762125" cy="1943100"/>
          </a:xfrm>
          <a:prstGeom prst="roundRect">
            <a:avLst>
              <a:gd name="adj" fmla="val 9730"/>
            </a:avLst>
          </a:prstGeom>
          <a:solidFill>
            <a:srgbClr val="FFF2C9"/>
          </a:solidFill>
          <a:ln/>
        </p:spPr>
      </p:sp>
      <p:pic>
        <p:nvPicPr>
          <p:cNvPr id="31" name="Image 4" descr="小麦粉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175" y="2838450"/>
            <a:ext cx="1428750" cy="1428750"/>
          </a:xfrm>
          <a:prstGeom prst="rect">
            <a:avLst/>
          </a:prstGeom>
        </p:spPr>
      </p:pic>
      <p:sp>
        <p:nvSpPr>
          <p:cNvPr id="32" name=""/>
          <p:cNvSpPr txBox="1"/>
          <p:nvPr/>
        </p:nvSpPr>
        <p:spPr>
          <a:xfrm>
            <a:off x="10144125" y="4657725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flour</a:t>
            </a:r>
          </a:p>
        </p:txBody>
      </p:sp>
      <p:sp>
        <p:nvSpPr>
          <p:cNvPr id="33" name=""/>
          <p:cNvSpPr txBox="1"/>
          <p:nvPr/>
        </p:nvSpPr>
        <p:spPr>
          <a:xfrm>
            <a:off x="10239375" y="5076825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小麦粉</a:t>
            </a:r>
          </a:p>
        </p:txBody>
      </p:sp>
      <p:sp>
        <p:nvSpPr>
          <p:cNvPr id="34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5" name=""/>
          <p:cNvSpPr/>
          <p:nvPr/>
        </p:nvSpPr>
        <p:spPr>
          <a:xfrm>
            <a:off x="933450" y="58959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6" name=""/>
          <p:cNvSpPr txBox="1"/>
          <p:nvPr/>
        </p:nvSpPr>
        <p:spPr>
          <a:xfrm>
            <a:off x="1104900" y="59531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注意</a:t>
            </a:r>
          </a:p>
        </p:txBody>
      </p:sp>
      <p:sp>
        <p:nvSpPr>
          <p:cNvPr id="37" name=""/>
          <p:cNvSpPr txBox="1"/>
          <p:nvPr/>
        </p:nvSpPr>
        <p:spPr>
          <a:xfrm>
            <a:off x="1771650" y="5924550"/>
            <a:ext cx="92583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rice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は米粒を実際には数えられるけど、英語では「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米というまとまり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」として扱う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543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PATTERN 4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33432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④ 素材・材料</a:t>
            </a:r>
          </a:p>
        </p:txBody>
      </p:sp>
      <p:sp>
        <p:nvSpPr>
          <p:cNvPr id="6" name=""/>
          <p:cNvSpPr/>
          <p:nvPr/>
        </p:nvSpPr>
        <p:spPr>
          <a:xfrm>
            <a:off x="685800" y="1905000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196215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8" name=""/>
          <p:cNvSpPr txBox="1"/>
          <p:nvPr/>
        </p:nvSpPr>
        <p:spPr>
          <a:xfrm>
            <a:off x="1847850" y="1914525"/>
            <a:ext cx="74390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材料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として捉えるときは、不可算名詞になることが多い</a:t>
            </a:r>
          </a:p>
        </p:txBody>
      </p:sp>
      <p:sp>
        <p:nvSpPr>
          <p:cNvPr id="9" name=""/>
          <p:cNvSpPr/>
          <p:nvPr/>
        </p:nvSpPr>
        <p:spPr>
          <a:xfrm>
            <a:off x="685800" y="2447925"/>
            <a:ext cx="2028825" cy="39909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/>
          <p:nvPr/>
        </p:nvSpPr>
        <p:spPr>
          <a:xfrm>
            <a:off x="819150" y="2581275"/>
            <a:ext cx="1762125" cy="2867025"/>
          </a:xfrm>
          <a:prstGeom prst="roundRect">
            <a:avLst>
              <a:gd name="adj" fmla="val 9730"/>
            </a:avLst>
          </a:prstGeom>
          <a:solidFill>
            <a:srgbClr val="FFE8DC"/>
          </a:solidFill>
          <a:ln/>
        </p:spPr>
      </p:sp>
      <p:pic>
        <p:nvPicPr>
          <p:cNvPr id="11" name="Image 0" descr="木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3305175"/>
            <a:ext cx="1428750" cy="142875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1285875" y="5581650"/>
            <a:ext cx="12858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wood</a:t>
            </a:r>
          </a:p>
        </p:txBody>
      </p:sp>
      <p:sp>
        <p:nvSpPr>
          <p:cNvPr id="13" name=""/>
          <p:cNvSpPr txBox="1"/>
          <p:nvPr/>
        </p:nvSpPr>
        <p:spPr>
          <a:xfrm>
            <a:off x="1352550" y="600075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木・木材</a:t>
            </a:r>
          </a:p>
        </p:txBody>
      </p:sp>
      <p:sp>
        <p:nvSpPr>
          <p:cNvPr id="14" name=""/>
          <p:cNvSpPr/>
          <p:nvPr/>
        </p:nvSpPr>
        <p:spPr>
          <a:xfrm>
            <a:off x="2886075" y="2447925"/>
            <a:ext cx="2028825" cy="39909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/>
          <p:nvPr/>
        </p:nvSpPr>
        <p:spPr>
          <a:xfrm>
            <a:off x="3019425" y="2581275"/>
            <a:ext cx="1762125" cy="2867025"/>
          </a:xfrm>
          <a:prstGeom prst="roundRect">
            <a:avLst>
              <a:gd name="adj" fmla="val 9730"/>
            </a:avLst>
          </a:prstGeom>
          <a:solidFill>
            <a:srgbClr val="DDEFFC"/>
          </a:solidFill>
          <a:ln/>
        </p:spPr>
      </p:sp>
      <p:pic>
        <p:nvPicPr>
          <p:cNvPr id="16" name="Image 1" descr="紙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3305175"/>
            <a:ext cx="1428750" cy="14287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3457575" y="5581650"/>
            <a:ext cx="13620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paper</a:t>
            </a:r>
          </a:p>
        </p:txBody>
      </p:sp>
      <p:sp>
        <p:nvSpPr>
          <p:cNvPr id="18" name=""/>
          <p:cNvSpPr txBox="1"/>
          <p:nvPr/>
        </p:nvSpPr>
        <p:spPr>
          <a:xfrm>
            <a:off x="3810000" y="6000750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紙</a:t>
            </a:r>
          </a:p>
        </p:txBody>
      </p:sp>
      <p:sp>
        <p:nvSpPr>
          <p:cNvPr id="19" name=""/>
          <p:cNvSpPr/>
          <p:nvPr/>
        </p:nvSpPr>
        <p:spPr>
          <a:xfrm>
            <a:off x="5086350" y="2447925"/>
            <a:ext cx="2028825" cy="39909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0" name=""/>
          <p:cNvSpPr/>
          <p:nvPr/>
        </p:nvSpPr>
        <p:spPr>
          <a:xfrm>
            <a:off x="5219700" y="2581275"/>
            <a:ext cx="1762125" cy="2867025"/>
          </a:xfrm>
          <a:prstGeom prst="roundRect">
            <a:avLst>
              <a:gd name="adj" fmla="val 9730"/>
            </a:avLst>
          </a:prstGeom>
          <a:solidFill>
            <a:srgbClr val="FFF2C9"/>
          </a:solidFill>
          <a:ln/>
        </p:spPr>
      </p:sp>
      <p:pic>
        <p:nvPicPr>
          <p:cNvPr id="21" name="Image 2" descr="金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3305175"/>
            <a:ext cx="1428750" cy="14287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5772150" y="5581650"/>
            <a:ext cx="10858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gold</a:t>
            </a:r>
          </a:p>
        </p:txBody>
      </p:sp>
      <p:sp>
        <p:nvSpPr>
          <p:cNvPr id="23" name=""/>
          <p:cNvSpPr txBox="1"/>
          <p:nvPr/>
        </p:nvSpPr>
        <p:spPr>
          <a:xfrm>
            <a:off x="6010275" y="6000750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金</a:t>
            </a:r>
          </a:p>
        </p:txBody>
      </p:sp>
      <p:sp>
        <p:nvSpPr>
          <p:cNvPr id="24" name=""/>
          <p:cNvSpPr/>
          <p:nvPr/>
        </p:nvSpPr>
        <p:spPr>
          <a:xfrm>
            <a:off x="7277100" y="2447925"/>
            <a:ext cx="2028825" cy="39909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5" name=""/>
          <p:cNvSpPr/>
          <p:nvPr/>
        </p:nvSpPr>
        <p:spPr>
          <a:xfrm>
            <a:off x="7410450" y="2581275"/>
            <a:ext cx="1762125" cy="2867025"/>
          </a:xfrm>
          <a:prstGeom prst="roundRect">
            <a:avLst>
              <a:gd name="adj" fmla="val 9730"/>
            </a:avLst>
          </a:prstGeom>
          <a:solidFill>
            <a:srgbClr val="FFE4EC"/>
          </a:solidFill>
          <a:ln/>
        </p:spPr>
      </p:sp>
      <p:pic>
        <p:nvPicPr>
          <p:cNvPr id="26" name="Image 3" descr="肉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3305175"/>
            <a:ext cx="1428750" cy="142875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7905750" y="5581650"/>
            <a:ext cx="12382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meat</a:t>
            </a:r>
          </a:p>
        </p:txBody>
      </p:sp>
      <p:sp>
        <p:nvSpPr>
          <p:cNvPr id="28" name=""/>
          <p:cNvSpPr txBox="1"/>
          <p:nvPr/>
        </p:nvSpPr>
        <p:spPr>
          <a:xfrm>
            <a:off x="8210550" y="6000750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肉</a:t>
            </a:r>
          </a:p>
        </p:txBody>
      </p:sp>
      <p:sp>
        <p:nvSpPr>
          <p:cNvPr id="29" name=""/>
          <p:cNvSpPr/>
          <p:nvPr/>
        </p:nvSpPr>
        <p:spPr>
          <a:xfrm>
            <a:off x="9477375" y="2447925"/>
            <a:ext cx="2028825" cy="39909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0" name=""/>
          <p:cNvSpPr/>
          <p:nvPr/>
        </p:nvSpPr>
        <p:spPr>
          <a:xfrm>
            <a:off x="9610725" y="2581275"/>
            <a:ext cx="1762125" cy="2867025"/>
          </a:xfrm>
          <a:prstGeom prst="roundRect">
            <a:avLst>
              <a:gd name="adj" fmla="val 9730"/>
            </a:avLst>
          </a:prstGeom>
          <a:solidFill>
            <a:srgbClr val="DDEFFC"/>
          </a:solidFill>
          <a:ln/>
        </p:spPr>
      </p:sp>
      <p:pic>
        <p:nvPicPr>
          <p:cNvPr id="31" name="Image 4" descr="ガラス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175" y="3305175"/>
            <a:ext cx="1428750" cy="1428750"/>
          </a:xfrm>
          <a:prstGeom prst="rect">
            <a:avLst/>
          </a:prstGeom>
        </p:spPr>
      </p:pic>
      <p:sp>
        <p:nvSpPr>
          <p:cNvPr id="32" name=""/>
          <p:cNvSpPr txBox="1"/>
          <p:nvPr/>
        </p:nvSpPr>
        <p:spPr>
          <a:xfrm>
            <a:off x="10106025" y="5581650"/>
            <a:ext cx="122872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glass</a:t>
            </a:r>
          </a:p>
        </p:txBody>
      </p:sp>
      <p:sp>
        <p:nvSpPr>
          <p:cNvPr id="33" name=""/>
          <p:cNvSpPr txBox="1"/>
          <p:nvPr/>
        </p:nvSpPr>
        <p:spPr>
          <a:xfrm>
            <a:off x="10239375" y="60007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ガラス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04489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同じ単語でも、意味が変わると可算名詞になる</a:t>
            </a:r>
          </a:p>
        </p:txBody>
      </p:sp>
      <p:sp>
        <p:nvSpPr>
          <p:cNvPr id="6" name=""/>
          <p:cNvSpPr/>
          <p:nvPr/>
        </p:nvSpPr>
        <p:spPr>
          <a:xfrm>
            <a:off x="685800" y="1924050"/>
            <a:ext cx="5343525" cy="533400"/>
          </a:xfrm>
          <a:prstGeom prst="roundRect">
            <a:avLst>
              <a:gd name="adj" fmla="val 32143"/>
            </a:avLst>
          </a:prstGeom>
          <a:solidFill>
            <a:srgbClr val="DDEFFC"/>
          </a:solidFill>
          <a:ln/>
        </p:spPr>
      </p:sp>
      <p:sp>
        <p:nvSpPr>
          <p:cNvPr id="7" name=""/>
          <p:cNvSpPr/>
          <p:nvPr/>
        </p:nvSpPr>
        <p:spPr>
          <a:xfrm>
            <a:off x="895350" y="2009775"/>
            <a:ext cx="85725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8" name=""/>
          <p:cNvSpPr txBox="1"/>
          <p:nvPr/>
        </p:nvSpPr>
        <p:spPr>
          <a:xfrm>
            <a:off x="1066800" y="2066925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不可算</a:t>
            </a:r>
          </a:p>
        </p:txBody>
      </p:sp>
      <p:sp>
        <p:nvSpPr>
          <p:cNvPr id="9" name=""/>
          <p:cNvSpPr txBox="1"/>
          <p:nvPr/>
        </p:nvSpPr>
        <p:spPr>
          <a:xfrm>
            <a:off x="1866900" y="2047875"/>
            <a:ext cx="21717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素材・食材として</a:t>
            </a:r>
          </a:p>
        </p:txBody>
      </p:sp>
      <p:sp>
        <p:nvSpPr>
          <p:cNvPr id="10" name=""/>
          <p:cNvSpPr/>
          <p:nvPr/>
        </p:nvSpPr>
        <p:spPr>
          <a:xfrm>
            <a:off x="6162675" y="1924050"/>
            <a:ext cx="5343525" cy="533400"/>
          </a:xfrm>
          <a:prstGeom prst="roundRect">
            <a:avLst>
              <a:gd name="adj" fmla="val 32143"/>
            </a:avLst>
          </a:prstGeom>
          <a:solidFill>
            <a:srgbClr val="FFE8DC"/>
          </a:solidFill>
          <a:ln/>
        </p:spPr>
      </p:sp>
      <p:sp>
        <p:nvSpPr>
          <p:cNvPr id="11" name=""/>
          <p:cNvSpPr/>
          <p:nvPr/>
        </p:nvSpPr>
        <p:spPr>
          <a:xfrm>
            <a:off x="6372225" y="20097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2" name=""/>
          <p:cNvSpPr txBox="1"/>
          <p:nvPr/>
        </p:nvSpPr>
        <p:spPr>
          <a:xfrm>
            <a:off x="6543675" y="20669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可算</a:t>
            </a:r>
          </a:p>
        </p:txBody>
      </p:sp>
      <p:sp>
        <p:nvSpPr>
          <p:cNvPr id="13" name=""/>
          <p:cNvSpPr txBox="1"/>
          <p:nvPr/>
        </p:nvSpPr>
        <p:spPr>
          <a:xfrm>
            <a:off x="7172325" y="2047875"/>
            <a:ext cx="20764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1つのものとして</a:t>
            </a:r>
          </a:p>
        </p:txBody>
      </p:sp>
      <p:sp>
        <p:nvSpPr>
          <p:cNvPr id="14" name=""/>
          <p:cNvSpPr/>
          <p:nvPr/>
        </p:nvSpPr>
        <p:spPr>
          <a:xfrm>
            <a:off x="685800" y="2590800"/>
            <a:ext cx="5343525" cy="1857375"/>
          </a:xfrm>
          <a:prstGeom prst="roundRect">
            <a:avLst>
              <a:gd name="adj" fmla="val 143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5" name="Image 0" descr="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2914650"/>
            <a:ext cx="1219200" cy="121920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2362200" y="3124200"/>
            <a:ext cx="15525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paper</a:t>
            </a:r>
          </a:p>
        </p:txBody>
      </p:sp>
      <p:sp>
        <p:nvSpPr>
          <p:cNvPr id="17" name=""/>
          <p:cNvSpPr txBox="1"/>
          <p:nvPr/>
        </p:nvSpPr>
        <p:spPr>
          <a:xfrm>
            <a:off x="2362200" y="3638550"/>
            <a:ext cx="21812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紙・紙という素材</a:t>
            </a:r>
          </a:p>
        </p:txBody>
      </p:sp>
      <p:sp>
        <p:nvSpPr>
          <p:cNvPr id="18" name=""/>
          <p:cNvSpPr/>
          <p:nvPr/>
        </p:nvSpPr>
        <p:spPr>
          <a:xfrm>
            <a:off x="6162675" y="2590800"/>
            <a:ext cx="5343525" cy="1857375"/>
          </a:xfrm>
          <a:prstGeom prst="roundRect">
            <a:avLst>
              <a:gd name="adj" fmla="val 143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9" name="Image 1" descr="新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2914650"/>
            <a:ext cx="1219200" cy="1219200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7839075" y="3124200"/>
            <a:ext cx="18859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 paper</a:t>
            </a:r>
          </a:p>
        </p:txBody>
      </p:sp>
      <p:sp>
        <p:nvSpPr>
          <p:cNvPr id="21" name=""/>
          <p:cNvSpPr txBox="1"/>
          <p:nvPr/>
        </p:nvSpPr>
        <p:spPr>
          <a:xfrm>
            <a:off x="7839075" y="3638550"/>
            <a:ext cx="19526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論文・新聞など</a:t>
            </a:r>
          </a:p>
        </p:txBody>
      </p:sp>
      <p:sp>
        <p:nvSpPr>
          <p:cNvPr id="22" name=""/>
          <p:cNvSpPr/>
          <p:nvPr/>
        </p:nvSpPr>
        <p:spPr>
          <a:xfrm>
            <a:off x="685800" y="4581525"/>
            <a:ext cx="5343525" cy="1857375"/>
          </a:xfrm>
          <a:prstGeom prst="roundRect">
            <a:avLst>
              <a:gd name="adj" fmla="val 143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3" name="Image 2" descr="鶏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905375"/>
            <a:ext cx="1219200" cy="121920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2362200" y="5114925"/>
            <a:ext cx="19335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chicken</a:t>
            </a:r>
          </a:p>
        </p:txBody>
      </p:sp>
      <p:sp>
        <p:nvSpPr>
          <p:cNvPr id="25" name=""/>
          <p:cNvSpPr txBox="1"/>
          <p:nvPr/>
        </p:nvSpPr>
        <p:spPr>
          <a:xfrm>
            <a:off x="2362200" y="5629275"/>
            <a:ext cx="8001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鶏肉</a:t>
            </a:r>
          </a:p>
        </p:txBody>
      </p:sp>
      <p:sp>
        <p:nvSpPr>
          <p:cNvPr id="26" name=""/>
          <p:cNvSpPr/>
          <p:nvPr/>
        </p:nvSpPr>
        <p:spPr>
          <a:xfrm>
            <a:off x="6162675" y="4581525"/>
            <a:ext cx="5343525" cy="1857375"/>
          </a:xfrm>
          <a:prstGeom prst="roundRect">
            <a:avLst>
              <a:gd name="adj" fmla="val 143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7" name="Image 3" descr="ニワトリ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905375"/>
            <a:ext cx="1219200" cy="1219200"/>
          </a:xfrm>
          <a:prstGeom prst="rect">
            <a:avLst/>
          </a:prstGeom>
        </p:spPr>
      </p:pic>
      <p:sp>
        <p:nvSpPr>
          <p:cNvPr id="28" name=""/>
          <p:cNvSpPr txBox="1"/>
          <p:nvPr/>
        </p:nvSpPr>
        <p:spPr>
          <a:xfrm>
            <a:off x="7839075" y="5114925"/>
            <a:ext cx="22669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 chicken</a:t>
            </a:r>
          </a:p>
        </p:txBody>
      </p:sp>
      <p:sp>
        <p:nvSpPr>
          <p:cNvPr id="29" name=""/>
          <p:cNvSpPr txBox="1"/>
          <p:nvPr/>
        </p:nvSpPr>
        <p:spPr>
          <a:xfrm>
            <a:off x="7839075" y="5629275"/>
            <a:ext cx="185737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4A5270"/>
                </a:solidFill>
                <a:latin typeface="Noto Sans JP"/>
                <a:ea typeface="Noto Sans JP"/>
              </a:rPr>
              <a:t>1羽のニワトリ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543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PATTERN 5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43053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⑤ 天候・自然現象</a:t>
            </a:r>
          </a:p>
        </p:txBody>
      </p:sp>
      <p:sp>
        <p:nvSpPr>
          <p:cNvPr id="6" name=""/>
          <p:cNvSpPr/>
          <p:nvPr/>
        </p:nvSpPr>
        <p:spPr>
          <a:xfrm>
            <a:off x="685800" y="1905000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196215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8" name=""/>
          <p:cNvSpPr txBox="1"/>
          <p:nvPr/>
        </p:nvSpPr>
        <p:spPr>
          <a:xfrm>
            <a:off x="1847850" y="1914525"/>
            <a:ext cx="40386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これらも、通常は不可算名詞</a:t>
            </a:r>
          </a:p>
        </p:txBody>
      </p:sp>
      <p:sp>
        <p:nvSpPr>
          <p:cNvPr id="9" name=""/>
          <p:cNvSpPr/>
          <p:nvPr/>
        </p:nvSpPr>
        <p:spPr>
          <a:xfrm>
            <a:off x="685800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/>
          <p:nvPr/>
        </p:nvSpPr>
        <p:spPr>
          <a:xfrm>
            <a:off x="819150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DDEFFC"/>
          </a:solidFill>
          <a:ln/>
        </p:spPr>
      </p:sp>
      <p:pic>
        <p:nvPicPr>
          <p:cNvPr id="11" name="Image 0" descr="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3305175"/>
            <a:ext cx="1428750" cy="142875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1685925" y="5581650"/>
            <a:ext cx="10096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rain</a:t>
            </a:r>
          </a:p>
        </p:txBody>
      </p:sp>
      <p:sp>
        <p:nvSpPr>
          <p:cNvPr id="13" name=""/>
          <p:cNvSpPr txBox="1"/>
          <p:nvPr/>
        </p:nvSpPr>
        <p:spPr>
          <a:xfrm>
            <a:off x="1885950" y="6000750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雨</a:t>
            </a:r>
          </a:p>
        </p:txBody>
      </p:sp>
      <p:sp>
        <p:nvSpPr>
          <p:cNvPr id="14" name=""/>
          <p:cNvSpPr/>
          <p:nvPr/>
        </p:nvSpPr>
        <p:spPr>
          <a:xfrm>
            <a:off x="3438525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/>
          <p:nvPr/>
        </p:nvSpPr>
        <p:spPr>
          <a:xfrm>
            <a:off x="3571875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DDEFFC"/>
          </a:solidFill>
          <a:ln/>
        </p:spPr>
      </p:sp>
      <p:pic>
        <p:nvPicPr>
          <p:cNvPr id="16" name="Image 1" descr="雪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305175"/>
            <a:ext cx="1428750" cy="14287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4333875" y="5581650"/>
            <a:ext cx="12382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snow</a:t>
            </a:r>
          </a:p>
        </p:txBody>
      </p:sp>
      <p:sp>
        <p:nvSpPr>
          <p:cNvPr id="18" name=""/>
          <p:cNvSpPr txBox="1"/>
          <p:nvPr/>
        </p:nvSpPr>
        <p:spPr>
          <a:xfrm>
            <a:off x="4638675" y="6000750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雪</a:t>
            </a:r>
          </a:p>
        </p:txBody>
      </p:sp>
      <p:sp>
        <p:nvSpPr>
          <p:cNvPr id="19" name=""/>
          <p:cNvSpPr/>
          <p:nvPr/>
        </p:nvSpPr>
        <p:spPr>
          <a:xfrm>
            <a:off x="6181725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0" name=""/>
          <p:cNvSpPr/>
          <p:nvPr/>
        </p:nvSpPr>
        <p:spPr>
          <a:xfrm>
            <a:off x="6315075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FFF2C9"/>
          </a:solidFill>
          <a:ln/>
        </p:spPr>
      </p:sp>
      <p:pic>
        <p:nvPicPr>
          <p:cNvPr id="21" name="Image 2" descr="天気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3305175"/>
            <a:ext cx="1428750" cy="14287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6858000" y="5581650"/>
            <a:ext cx="17526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weather</a:t>
            </a:r>
          </a:p>
        </p:txBody>
      </p:sp>
      <p:sp>
        <p:nvSpPr>
          <p:cNvPr id="23" name=""/>
          <p:cNvSpPr txBox="1"/>
          <p:nvPr/>
        </p:nvSpPr>
        <p:spPr>
          <a:xfrm>
            <a:off x="7296150" y="600075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天気</a:t>
            </a:r>
          </a:p>
        </p:txBody>
      </p:sp>
      <p:sp>
        <p:nvSpPr>
          <p:cNvPr id="24" name=""/>
          <p:cNvSpPr/>
          <p:nvPr/>
        </p:nvSpPr>
        <p:spPr>
          <a:xfrm>
            <a:off x="8934450" y="2447925"/>
            <a:ext cx="2581275" cy="39909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5" name=""/>
          <p:cNvSpPr/>
          <p:nvPr/>
        </p:nvSpPr>
        <p:spPr>
          <a:xfrm>
            <a:off x="9067800" y="2581275"/>
            <a:ext cx="2314575" cy="2867025"/>
          </a:xfrm>
          <a:prstGeom prst="roundRect">
            <a:avLst>
              <a:gd name="adj" fmla="val 7407"/>
            </a:avLst>
          </a:prstGeom>
          <a:solidFill>
            <a:srgbClr val="FFE8DC"/>
          </a:solidFill>
          <a:ln/>
        </p:spPr>
      </p:sp>
      <p:pic>
        <p:nvPicPr>
          <p:cNvPr id="26" name="Image 3" descr="日光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950" y="3305175"/>
            <a:ext cx="1428750" cy="142875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9544050" y="5581650"/>
            <a:ext cx="18954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sunshine</a:t>
            </a:r>
          </a:p>
        </p:txBody>
      </p:sp>
      <p:sp>
        <p:nvSpPr>
          <p:cNvPr id="28" name=""/>
          <p:cNvSpPr txBox="1"/>
          <p:nvPr/>
        </p:nvSpPr>
        <p:spPr>
          <a:xfrm>
            <a:off x="9705975" y="600075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日光・日差し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3067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PATTERN 5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EXAMPLES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51625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天候・自然現象の例文</a:t>
            </a:r>
          </a:p>
        </p:txBody>
      </p:sp>
      <p:sp>
        <p:nvSpPr>
          <p:cNvPr id="6" name=""/>
          <p:cNvSpPr/>
          <p:nvPr/>
        </p:nvSpPr>
        <p:spPr>
          <a:xfrm>
            <a:off x="685800" y="1990725"/>
            <a:ext cx="10820400" cy="1381125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095500"/>
            <a:ext cx="1181100" cy="11811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324100" y="2295525"/>
            <a:ext cx="40862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We had a lot of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rain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9" name=""/>
          <p:cNvSpPr txBox="1"/>
          <p:nvPr/>
        </p:nvSpPr>
        <p:spPr>
          <a:xfrm>
            <a:off x="2324100" y="2800350"/>
            <a:ext cx="2971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雨がたくさん降りました。</a:t>
            </a:r>
          </a:p>
        </p:txBody>
      </p:sp>
      <p:sp>
        <p:nvSpPr>
          <p:cNvPr id="10" name=""/>
          <p:cNvSpPr/>
          <p:nvPr/>
        </p:nvSpPr>
        <p:spPr>
          <a:xfrm>
            <a:off x="685800" y="3524250"/>
            <a:ext cx="10820400" cy="1381125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1" name="Image 1" descr="雪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629025"/>
            <a:ext cx="1181100" cy="118110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2324100" y="3829050"/>
            <a:ext cx="4591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There is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snow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outside.</a:t>
            </a:r>
          </a:p>
        </p:txBody>
      </p:sp>
      <p:sp>
        <p:nvSpPr>
          <p:cNvPr id="13" name=""/>
          <p:cNvSpPr txBox="1"/>
          <p:nvPr/>
        </p:nvSpPr>
        <p:spPr>
          <a:xfrm>
            <a:off x="2324100" y="4333875"/>
            <a:ext cx="25146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外には雪があります。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5057775"/>
            <a:ext cx="10820400" cy="1381125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5" name="Image 2" descr="天気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162550"/>
            <a:ext cx="1181100" cy="118110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2324100" y="5362575"/>
            <a:ext cx="53244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The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weather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is nice today.</a:t>
            </a:r>
          </a:p>
        </p:txBody>
      </p:sp>
      <p:sp>
        <p:nvSpPr>
          <p:cNvPr id="17" name=""/>
          <p:cNvSpPr txBox="1"/>
          <p:nvPr/>
        </p:nvSpPr>
        <p:spPr>
          <a:xfrm>
            <a:off x="2324100" y="5867400"/>
            <a:ext cx="27241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今日は天気がいいです。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84010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information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advice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も不可算名詞</a:t>
            </a:r>
          </a:p>
        </p:txBody>
      </p:sp>
      <p:sp>
        <p:nvSpPr>
          <p:cNvPr id="6" name=""/>
          <p:cNvSpPr/>
          <p:nvPr/>
        </p:nvSpPr>
        <p:spPr>
          <a:xfrm>
            <a:off x="685800" y="2000250"/>
            <a:ext cx="5286375" cy="4438650"/>
          </a:xfrm>
          <a:prstGeom prst="roundRect">
            <a:avLst>
              <a:gd name="adj" fmla="val 6009"/>
            </a:avLst>
          </a:prstGeom>
          <a:solidFill>
            <a:srgbClr val="FFF2C9"/>
          </a:solidFill>
          <a:ln/>
        </p:spPr>
      </p:sp>
      <p:pic>
        <p:nvPicPr>
          <p:cNvPr id="7" name="Image 0" descr="情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28850"/>
            <a:ext cx="1066800" cy="10668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209800" y="2400300"/>
            <a:ext cx="25908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information</a:t>
            </a:r>
          </a:p>
        </p:txBody>
      </p:sp>
      <p:sp>
        <p:nvSpPr>
          <p:cNvPr id="9" name=""/>
          <p:cNvSpPr txBox="1"/>
          <p:nvPr/>
        </p:nvSpPr>
        <p:spPr>
          <a:xfrm>
            <a:off x="2209800" y="2876550"/>
            <a:ext cx="7620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情報</a:t>
            </a:r>
          </a:p>
        </p:txBody>
      </p:sp>
      <p:sp>
        <p:nvSpPr>
          <p:cNvPr id="10" name=""/>
          <p:cNvSpPr/>
          <p:nvPr/>
        </p:nvSpPr>
        <p:spPr>
          <a:xfrm>
            <a:off x="971550" y="3409950"/>
            <a:ext cx="4714875" cy="5715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11" name=""/>
          <p:cNvSpPr/>
          <p:nvPr/>
        </p:nvSpPr>
        <p:spPr>
          <a:xfrm>
            <a:off x="1143000" y="3505200"/>
            <a:ext cx="381000" cy="381000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12" name=""/>
          <p:cNvSpPr txBox="1"/>
          <p:nvPr/>
        </p:nvSpPr>
        <p:spPr>
          <a:xfrm>
            <a:off x="1038225" y="354330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×</a:t>
            </a:r>
          </a:p>
        </p:txBody>
      </p:sp>
      <p:sp>
        <p:nvSpPr>
          <p:cNvPr id="13" name=""/>
          <p:cNvSpPr txBox="1"/>
          <p:nvPr/>
        </p:nvSpPr>
        <p:spPr>
          <a:xfrm>
            <a:off x="1657350" y="3533775"/>
            <a:ext cx="24479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8A90A8"/>
                </a:solidFill>
                <a:latin typeface="DM Sans"/>
                <a:ea typeface="DM Sans"/>
              </a:rPr>
              <a:t>an information</a:t>
            </a:r>
          </a:p>
        </p:txBody>
      </p:sp>
      <p:sp>
        <p:nvSpPr>
          <p:cNvPr id="14" name=""/>
          <p:cNvSpPr/>
          <p:nvPr/>
        </p:nvSpPr>
        <p:spPr>
          <a:xfrm>
            <a:off x="971550" y="40957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1143000" y="4286250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038225" y="43243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17" name=""/>
          <p:cNvSpPr txBox="1"/>
          <p:nvPr/>
        </p:nvSpPr>
        <p:spPr>
          <a:xfrm>
            <a:off x="1657350" y="4191000"/>
            <a:ext cx="29908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I have information.</a:t>
            </a:r>
          </a:p>
        </p:txBody>
      </p:sp>
      <p:sp>
        <p:nvSpPr>
          <p:cNvPr id="18" name=""/>
          <p:cNvSpPr txBox="1"/>
          <p:nvPr/>
        </p:nvSpPr>
        <p:spPr>
          <a:xfrm>
            <a:off x="1657350" y="4524375"/>
            <a:ext cx="25431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私は情報を持っています。</a:t>
            </a:r>
          </a:p>
        </p:txBody>
      </p:sp>
      <p:sp>
        <p:nvSpPr>
          <p:cNvPr id="19" name=""/>
          <p:cNvSpPr/>
          <p:nvPr/>
        </p:nvSpPr>
        <p:spPr>
          <a:xfrm>
            <a:off x="971550" y="49720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1143000" y="5162550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1" name=""/>
          <p:cNvSpPr txBox="1"/>
          <p:nvPr/>
        </p:nvSpPr>
        <p:spPr>
          <a:xfrm>
            <a:off x="1038225" y="52006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22" name=""/>
          <p:cNvSpPr txBox="1"/>
          <p:nvPr/>
        </p:nvSpPr>
        <p:spPr>
          <a:xfrm>
            <a:off x="1657350" y="5067300"/>
            <a:ext cx="38385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I have </a:t>
            </a:r>
            <a:pPr/>
            <a:r>
              <a:rPr sz="20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some</a:t>
            </a:r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 information.</a:t>
            </a:r>
          </a:p>
        </p:txBody>
      </p:sp>
      <p:sp>
        <p:nvSpPr>
          <p:cNvPr id="23" name=""/>
          <p:cNvSpPr txBox="1"/>
          <p:nvPr/>
        </p:nvSpPr>
        <p:spPr>
          <a:xfrm>
            <a:off x="1657350" y="5400675"/>
            <a:ext cx="2552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いくつか情報があります。</a:t>
            </a:r>
          </a:p>
        </p:txBody>
      </p:sp>
      <p:sp>
        <p:nvSpPr>
          <p:cNvPr id="24" name=""/>
          <p:cNvSpPr/>
          <p:nvPr/>
        </p:nvSpPr>
        <p:spPr>
          <a:xfrm>
            <a:off x="6219825" y="2000250"/>
            <a:ext cx="5286375" cy="4438650"/>
          </a:xfrm>
          <a:prstGeom prst="roundRect">
            <a:avLst>
              <a:gd name="adj" fmla="val 6009"/>
            </a:avLst>
          </a:prstGeom>
          <a:solidFill>
            <a:srgbClr val="FFE4EC"/>
          </a:solidFill>
          <a:ln/>
        </p:spPr>
      </p:sp>
      <p:pic>
        <p:nvPicPr>
          <p:cNvPr id="25" name="Image 1" descr="アドバイ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2228850"/>
            <a:ext cx="1066800" cy="1066800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7743825" y="2400300"/>
            <a:ext cx="16478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advice</a:t>
            </a:r>
          </a:p>
        </p:txBody>
      </p:sp>
      <p:sp>
        <p:nvSpPr>
          <p:cNvPr id="27" name=""/>
          <p:cNvSpPr txBox="1"/>
          <p:nvPr/>
        </p:nvSpPr>
        <p:spPr>
          <a:xfrm>
            <a:off x="7743825" y="2876550"/>
            <a:ext cx="13716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アドバイス</a:t>
            </a:r>
          </a:p>
        </p:txBody>
      </p:sp>
      <p:sp>
        <p:nvSpPr>
          <p:cNvPr id="28" name=""/>
          <p:cNvSpPr/>
          <p:nvPr/>
        </p:nvSpPr>
        <p:spPr>
          <a:xfrm>
            <a:off x="6505575" y="3409950"/>
            <a:ext cx="4714875" cy="5715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29" name=""/>
          <p:cNvSpPr/>
          <p:nvPr/>
        </p:nvSpPr>
        <p:spPr>
          <a:xfrm>
            <a:off x="6677025" y="3505200"/>
            <a:ext cx="381000" cy="381000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0" name=""/>
          <p:cNvSpPr txBox="1"/>
          <p:nvPr/>
        </p:nvSpPr>
        <p:spPr>
          <a:xfrm>
            <a:off x="6572250" y="354330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×</a:t>
            </a:r>
          </a:p>
        </p:txBody>
      </p:sp>
      <p:sp>
        <p:nvSpPr>
          <p:cNvPr id="31" name=""/>
          <p:cNvSpPr txBox="1"/>
          <p:nvPr/>
        </p:nvSpPr>
        <p:spPr>
          <a:xfrm>
            <a:off x="7191375" y="3533775"/>
            <a:ext cx="17335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8A90A8"/>
                </a:solidFill>
                <a:latin typeface="DM Sans"/>
                <a:ea typeface="DM Sans"/>
              </a:rPr>
              <a:t>an advice</a:t>
            </a:r>
          </a:p>
        </p:txBody>
      </p:sp>
      <p:sp>
        <p:nvSpPr>
          <p:cNvPr id="32" name=""/>
          <p:cNvSpPr/>
          <p:nvPr/>
        </p:nvSpPr>
        <p:spPr>
          <a:xfrm>
            <a:off x="6505575" y="40957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3" name=""/>
          <p:cNvSpPr/>
          <p:nvPr/>
        </p:nvSpPr>
        <p:spPr>
          <a:xfrm>
            <a:off x="6677025" y="4286250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6572250" y="43243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35" name=""/>
          <p:cNvSpPr txBox="1"/>
          <p:nvPr/>
        </p:nvSpPr>
        <p:spPr>
          <a:xfrm>
            <a:off x="7191375" y="4191000"/>
            <a:ext cx="30956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He gave me advice.</a:t>
            </a:r>
          </a:p>
        </p:txBody>
      </p:sp>
      <p:sp>
        <p:nvSpPr>
          <p:cNvPr id="36" name=""/>
          <p:cNvSpPr txBox="1"/>
          <p:nvPr/>
        </p:nvSpPr>
        <p:spPr>
          <a:xfrm>
            <a:off x="7191375" y="4524375"/>
            <a:ext cx="3314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彼は私にアドバイスをくれました。</a:t>
            </a:r>
          </a:p>
        </p:txBody>
      </p:sp>
      <p:sp>
        <p:nvSpPr>
          <p:cNvPr id="37" name=""/>
          <p:cNvSpPr/>
          <p:nvPr/>
        </p:nvSpPr>
        <p:spPr>
          <a:xfrm>
            <a:off x="6505575" y="4972050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677025" y="5162550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9" name=""/>
          <p:cNvSpPr txBox="1"/>
          <p:nvPr/>
        </p:nvSpPr>
        <p:spPr>
          <a:xfrm>
            <a:off x="6572250" y="5200650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40" name=""/>
          <p:cNvSpPr txBox="1"/>
          <p:nvPr/>
        </p:nvSpPr>
        <p:spPr>
          <a:xfrm>
            <a:off x="7191375" y="5067300"/>
            <a:ext cx="37147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I gave him </a:t>
            </a:r>
            <a:pPr/>
            <a:r>
              <a:rPr sz="20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some</a:t>
            </a:r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 advice.</a:t>
            </a:r>
          </a:p>
        </p:txBody>
      </p:sp>
      <p:sp>
        <p:nvSpPr>
          <p:cNvPr id="41" name=""/>
          <p:cNvSpPr txBox="1"/>
          <p:nvPr/>
        </p:nvSpPr>
        <p:spPr>
          <a:xfrm>
            <a:off x="7191375" y="5400675"/>
            <a:ext cx="3124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私は彼にアドバイスをしました。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438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SUMMARY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96107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数えられる名詞・数えられない名詞 まとめ</a:t>
            </a:r>
          </a:p>
        </p:txBody>
      </p:sp>
      <p:sp>
        <p:nvSpPr>
          <p:cNvPr id="6" name=""/>
          <p:cNvSpPr/>
          <p:nvPr/>
        </p:nvSpPr>
        <p:spPr>
          <a:xfrm>
            <a:off x="685800" y="1905000"/>
            <a:ext cx="10820400" cy="676275"/>
          </a:xfrm>
          <a:prstGeom prst="roundRect">
            <a:avLst>
              <a:gd name="adj" fmla="val 394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7" name=""/>
          <p:cNvSpPr/>
          <p:nvPr/>
        </p:nvSpPr>
        <p:spPr>
          <a:xfrm>
            <a:off x="933450" y="2057400"/>
            <a:ext cx="15430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8" name=""/>
          <p:cNvSpPr txBox="1"/>
          <p:nvPr/>
        </p:nvSpPr>
        <p:spPr>
          <a:xfrm>
            <a:off x="1104900" y="2114550"/>
            <a:ext cx="1724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数えられる名詞</a:t>
            </a:r>
          </a:p>
        </p:txBody>
      </p:sp>
      <p:sp>
        <p:nvSpPr>
          <p:cNvPr id="9" name=""/>
          <p:cNvSpPr txBox="1"/>
          <p:nvPr/>
        </p:nvSpPr>
        <p:spPr>
          <a:xfrm>
            <a:off x="2667000" y="2105025"/>
            <a:ext cx="4124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1C2340"/>
                </a:solidFill>
                <a:latin typeface="Noto Sans JP"/>
                <a:ea typeface="Noto Sans JP"/>
              </a:rPr>
              <a:t>1つ、2つ…と数えられる → 1つなら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</a:p>
        </p:txBody>
      </p:sp>
      <p:sp>
        <p:nvSpPr>
          <p:cNvPr id="10" name=""/>
          <p:cNvSpPr txBox="1"/>
          <p:nvPr/>
        </p:nvSpPr>
        <p:spPr>
          <a:xfrm>
            <a:off x="6143625" y="2124075"/>
            <a:ext cx="3457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book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apple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dog</a:t>
            </a:r>
          </a:p>
        </p:txBody>
      </p:sp>
      <p:sp>
        <p:nvSpPr>
          <p:cNvPr id="11" name=""/>
          <p:cNvSpPr/>
          <p:nvPr/>
        </p:nvSpPr>
        <p:spPr>
          <a:xfrm>
            <a:off x="685800" y="2714625"/>
            <a:ext cx="1082040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2" name=""/>
          <p:cNvSpPr/>
          <p:nvPr/>
        </p:nvSpPr>
        <p:spPr>
          <a:xfrm>
            <a:off x="933450" y="2867025"/>
            <a:ext cx="17145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04900" y="2924175"/>
            <a:ext cx="19240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数えられない名詞</a:t>
            </a:r>
          </a:p>
        </p:txBody>
      </p:sp>
      <p:sp>
        <p:nvSpPr>
          <p:cNvPr id="14" name=""/>
          <p:cNvSpPr txBox="1"/>
          <p:nvPr/>
        </p:nvSpPr>
        <p:spPr>
          <a:xfrm>
            <a:off x="2800350" y="2914650"/>
            <a:ext cx="49434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そのまま数えられない → </a:t>
            </a:r>
            <a:pPr/>
            <a:r>
              <a:rPr sz="15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 はつけない</a:t>
            </a:r>
          </a:p>
        </p:txBody>
      </p:sp>
      <p:sp>
        <p:nvSpPr>
          <p:cNvPr id="15" name=""/>
          <p:cNvSpPr/>
          <p:nvPr/>
        </p:nvSpPr>
        <p:spPr>
          <a:xfrm>
            <a:off x="933450" y="3343275"/>
            <a:ext cx="103251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16" name=""/>
          <p:cNvSpPr txBox="1"/>
          <p:nvPr/>
        </p:nvSpPr>
        <p:spPr>
          <a:xfrm>
            <a:off x="1314450" y="3438525"/>
            <a:ext cx="7620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1C2340"/>
                </a:solidFill>
                <a:latin typeface="Noto Sans JP"/>
                <a:ea typeface="Noto Sans JP"/>
              </a:rPr>
              <a:t>液体</a:t>
            </a:r>
          </a:p>
        </p:txBody>
      </p:sp>
      <p:sp>
        <p:nvSpPr>
          <p:cNvPr id="17" name=""/>
          <p:cNvSpPr/>
          <p:nvPr/>
        </p:nvSpPr>
        <p:spPr>
          <a:xfrm>
            <a:off x="933450" y="3419475"/>
            <a:ext cx="285750" cy="2857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8" name=""/>
          <p:cNvSpPr txBox="1"/>
          <p:nvPr/>
        </p:nvSpPr>
        <p:spPr>
          <a:xfrm>
            <a:off x="876300" y="3467100"/>
            <a:ext cx="4000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9" name=""/>
          <p:cNvSpPr txBox="1"/>
          <p:nvPr/>
        </p:nvSpPr>
        <p:spPr>
          <a:xfrm>
            <a:off x="3695700" y="342900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water / coffee / milk / juice</a:t>
            </a:r>
          </a:p>
        </p:txBody>
      </p:sp>
      <p:sp>
        <p:nvSpPr>
          <p:cNvPr id="20" name=""/>
          <p:cNvSpPr/>
          <p:nvPr/>
        </p:nvSpPr>
        <p:spPr>
          <a:xfrm>
            <a:off x="933450" y="3790950"/>
            <a:ext cx="103251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1" name=""/>
          <p:cNvSpPr txBox="1"/>
          <p:nvPr/>
        </p:nvSpPr>
        <p:spPr>
          <a:xfrm>
            <a:off x="1314450" y="3886200"/>
            <a:ext cx="28384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1C2340"/>
                </a:solidFill>
                <a:latin typeface="Noto Sans JP"/>
                <a:ea typeface="Noto Sans JP"/>
              </a:rPr>
              <a:t>抽象的なもの・情報・概念</a:t>
            </a:r>
          </a:p>
        </p:txBody>
      </p:sp>
      <p:sp>
        <p:nvSpPr>
          <p:cNvPr id="22" name=""/>
          <p:cNvSpPr/>
          <p:nvPr/>
        </p:nvSpPr>
        <p:spPr>
          <a:xfrm>
            <a:off x="933450" y="3867150"/>
            <a:ext cx="285750" cy="2857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3" name=""/>
          <p:cNvSpPr txBox="1"/>
          <p:nvPr/>
        </p:nvSpPr>
        <p:spPr>
          <a:xfrm>
            <a:off x="857250" y="3914775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24" name=""/>
          <p:cNvSpPr txBox="1"/>
          <p:nvPr/>
        </p:nvSpPr>
        <p:spPr>
          <a:xfrm>
            <a:off x="3695700" y="3876675"/>
            <a:ext cx="66008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music / information / advice / money / love / happiness</a:t>
            </a:r>
          </a:p>
        </p:txBody>
      </p:sp>
      <p:sp>
        <p:nvSpPr>
          <p:cNvPr id="25" name=""/>
          <p:cNvSpPr/>
          <p:nvPr/>
        </p:nvSpPr>
        <p:spPr>
          <a:xfrm>
            <a:off x="933450" y="4229100"/>
            <a:ext cx="103251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6" name=""/>
          <p:cNvSpPr txBox="1"/>
          <p:nvPr/>
        </p:nvSpPr>
        <p:spPr>
          <a:xfrm>
            <a:off x="990600" y="4324350"/>
            <a:ext cx="2628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1C2340"/>
                </a:solidFill>
                <a:latin typeface="Noto Sans JP"/>
                <a:ea typeface="Noto Sans JP"/>
              </a:rPr>
              <a:t>気体・粉末・粒状のもの</a:t>
            </a:r>
          </a:p>
        </p:txBody>
      </p:sp>
      <p:sp>
        <p:nvSpPr>
          <p:cNvPr id="27" name=""/>
          <p:cNvSpPr/>
          <p:nvPr/>
        </p:nvSpPr>
        <p:spPr>
          <a:xfrm>
            <a:off x="933450" y="4314825"/>
            <a:ext cx="285750" cy="2857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8" name=""/>
          <p:cNvSpPr txBox="1"/>
          <p:nvPr/>
        </p:nvSpPr>
        <p:spPr>
          <a:xfrm>
            <a:off x="857250" y="4362450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29" name=""/>
          <p:cNvSpPr txBox="1"/>
          <p:nvPr/>
        </p:nvSpPr>
        <p:spPr>
          <a:xfrm>
            <a:off x="3695700" y="432435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air / sugar / salt / rice / flour</a:t>
            </a:r>
          </a:p>
        </p:txBody>
      </p:sp>
      <p:sp>
        <p:nvSpPr>
          <p:cNvPr id="30" name=""/>
          <p:cNvSpPr/>
          <p:nvPr/>
        </p:nvSpPr>
        <p:spPr>
          <a:xfrm>
            <a:off x="933450" y="4676775"/>
            <a:ext cx="103251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1" name=""/>
          <p:cNvSpPr txBox="1"/>
          <p:nvPr/>
        </p:nvSpPr>
        <p:spPr>
          <a:xfrm>
            <a:off x="1314450" y="4772025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1C2340"/>
                </a:solidFill>
                <a:latin typeface="Noto Sans JP"/>
                <a:ea typeface="Noto Sans JP"/>
              </a:rPr>
              <a:t>素材・材料</a:t>
            </a:r>
          </a:p>
        </p:txBody>
      </p:sp>
      <p:sp>
        <p:nvSpPr>
          <p:cNvPr id="32" name=""/>
          <p:cNvSpPr/>
          <p:nvPr/>
        </p:nvSpPr>
        <p:spPr>
          <a:xfrm>
            <a:off x="933450" y="4752975"/>
            <a:ext cx="285750" cy="2857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3" name=""/>
          <p:cNvSpPr txBox="1"/>
          <p:nvPr/>
        </p:nvSpPr>
        <p:spPr>
          <a:xfrm>
            <a:off x="847725" y="48006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sp>
        <p:nvSpPr>
          <p:cNvPr id="34" name=""/>
          <p:cNvSpPr txBox="1"/>
          <p:nvPr/>
        </p:nvSpPr>
        <p:spPr>
          <a:xfrm>
            <a:off x="3695700" y="4762500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wood / paper / gold / meat / glass</a:t>
            </a:r>
          </a:p>
        </p:txBody>
      </p:sp>
      <p:sp>
        <p:nvSpPr>
          <p:cNvPr id="35" name=""/>
          <p:cNvSpPr/>
          <p:nvPr/>
        </p:nvSpPr>
        <p:spPr>
          <a:xfrm>
            <a:off x="933450" y="5114925"/>
            <a:ext cx="103251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6" name=""/>
          <p:cNvSpPr txBox="1"/>
          <p:nvPr/>
        </p:nvSpPr>
        <p:spPr>
          <a:xfrm>
            <a:off x="1314450" y="5210175"/>
            <a:ext cx="18002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1C2340"/>
                </a:solidFill>
                <a:latin typeface="Noto Sans JP"/>
                <a:ea typeface="Noto Sans JP"/>
              </a:rPr>
              <a:t>天候・自然現象</a:t>
            </a:r>
          </a:p>
        </p:txBody>
      </p:sp>
      <p:sp>
        <p:nvSpPr>
          <p:cNvPr id="37" name=""/>
          <p:cNvSpPr/>
          <p:nvPr/>
        </p:nvSpPr>
        <p:spPr>
          <a:xfrm>
            <a:off x="933450" y="5200650"/>
            <a:ext cx="285750" cy="2857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8" name=""/>
          <p:cNvSpPr txBox="1"/>
          <p:nvPr/>
        </p:nvSpPr>
        <p:spPr>
          <a:xfrm>
            <a:off x="857250" y="5248275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DM Sans"/>
                <a:ea typeface="DM Sans"/>
              </a:rPr>
              <a:t>5</a:t>
            </a:r>
          </a:p>
        </p:txBody>
      </p:sp>
      <p:sp>
        <p:nvSpPr>
          <p:cNvPr id="39" name=""/>
          <p:cNvSpPr txBox="1"/>
          <p:nvPr/>
        </p:nvSpPr>
        <p:spPr>
          <a:xfrm>
            <a:off x="3695700" y="5210175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rain / snow / weather / sunshine</a:t>
            </a:r>
          </a:p>
        </p:txBody>
      </p:sp>
      <p:sp>
        <p:nvSpPr>
          <p:cNvPr id="40" name=""/>
          <p:cNvSpPr/>
          <p:nvPr/>
        </p:nvSpPr>
        <p:spPr>
          <a:xfrm>
            <a:off x="685800" y="5800725"/>
            <a:ext cx="10820400" cy="638175"/>
          </a:xfrm>
          <a:prstGeom prst="roundRect">
            <a:avLst>
              <a:gd name="adj" fmla="val 41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41" name=""/>
          <p:cNvSpPr/>
          <p:nvPr/>
        </p:nvSpPr>
        <p:spPr>
          <a:xfrm>
            <a:off x="914400" y="59340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42" name=""/>
          <p:cNvSpPr txBox="1"/>
          <p:nvPr/>
        </p:nvSpPr>
        <p:spPr>
          <a:xfrm>
            <a:off x="1085850" y="5991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注意</a:t>
            </a:r>
          </a:p>
        </p:txBody>
      </p:sp>
      <p:sp>
        <p:nvSpPr>
          <p:cNvPr id="43" name=""/>
          <p:cNvSpPr txBox="1"/>
          <p:nvPr/>
        </p:nvSpPr>
        <p:spPr>
          <a:xfrm>
            <a:off x="1733550" y="5991225"/>
            <a:ext cx="102774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500" b="1">
                <a:solidFill>
                  <a:srgbClr val="1C2340"/>
                </a:solidFill>
                <a:latin typeface="DM Sans"/>
                <a:ea typeface="DM Sans"/>
              </a:rPr>
              <a:t> coffee</a:t>
            </a:r>
            <a:pPr/>
            <a:r>
              <a:rPr sz="1450">
                <a:solidFill>
                  <a:srgbClr val="1C2340"/>
                </a:solidFill>
                <a:latin typeface="Noto Sans JP"/>
                <a:ea typeface="Noto Sans JP"/>
              </a:rPr>
              <a:t>（1杯） </a:t>
            </a:r>
            <a:pPr/>
            <a:r>
              <a:rPr sz="15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500" b="1">
                <a:solidFill>
                  <a:srgbClr val="1C2340"/>
                </a:solidFill>
                <a:latin typeface="DM Sans"/>
                <a:ea typeface="DM Sans"/>
              </a:rPr>
              <a:t> paper</a:t>
            </a:r>
            <a:pPr/>
            <a:r>
              <a:rPr sz="1450">
                <a:solidFill>
                  <a:srgbClr val="1C2340"/>
                </a:solidFill>
                <a:latin typeface="Noto Sans JP"/>
                <a:ea typeface="Noto Sans JP"/>
              </a:rPr>
              <a:t>（論文・新聞） </a:t>
            </a:r>
            <a:pPr/>
            <a:r>
              <a:rPr sz="15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500" b="1">
                <a:solidFill>
                  <a:srgbClr val="1C2340"/>
                </a:solidFill>
                <a:latin typeface="DM Sans"/>
                <a:ea typeface="DM Sans"/>
              </a:rPr>
              <a:t> chicken</a:t>
            </a:r>
            <a:pPr/>
            <a:r>
              <a:rPr sz="1450">
                <a:solidFill>
                  <a:srgbClr val="1C2340"/>
                </a:solidFill>
                <a:latin typeface="Noto Sans JP"/>
                <a:ea typeface="Noto Sans JP"/>
              </a:rPr>
              <a:t>（ニワトリ） </a:t>
            </a:r>
            <a:pPr/>
            <a:r>
              <a:rPr sz="1500" b="1">
                <a:solidFill>
                  <a:srgbClr val="1C2340"/>
                </a:solidFill>
                <a:latin typeface="DM Sans"/>
                <a:ea typeface="DM Sans"/>
              </a:rPr>
              <a:t>some information / some advice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6859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NO ARTICLE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75533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冠詞をつけないパターン：無冠詞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885950"/>
            <a:ext cx="53816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も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もつけないパターンを見ていこう</a:t>
            </a:r>
          </a:p>
        </p:txBody>
      </p:sp>
      <p:sp>
        <p:nvSpPr>
          <p:cNvPr id="7" name=""/>
          <p:cNvSpPr/>
          <p:nvPr/>
        </p:nvSpPr>
        <p:spPr>
          <a:xfrm>
            <a:off x="685800" y="2371725"/>
            <a:ext cx="3505200" cy="1952625"/>
          </a:xfrm>
          <a:prstGeom prst="roundRect">
            <a:avLst>
              <a:gd name="adj" fmla="val 1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8" name="Image 0" descr="映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62250"/>
            <a:ext cx="1181100" cy="11811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2266950" y="3057525"/>
            <a:ext cx="14192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movies</a:t>
            </a:r>
          </a:p>
        </p:txBody>
      </p:sp>
      <p:sp>
        <p:nvSpPr>
          <p:cNvPr id="10" name=""/>
          <p:cNvSpPr txBox="1"/>
          <p:nvPr/>
        </p:nvSpPr>
        <p:spPr>
          <a:xfrm>
            <a:off x="2266950" y="3409950"/>
            <a:ext cx="11715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複数名詞</a:t>
            </a:r>
          </a:p>
        </p:txBody>
      </p:sp>
      <p:sp>
        <p:nvSpPr>
          <p:cNvPr id="11" name=""/>
          <p:cNvSpPr/>
          <p:nvPr/>
        </p:nvSpPr>
        <p:spPr>
          <a:xfrm>
            <a:off x="4343400" y="2371725"/>
            <a:ext cx="3505200" cy="1952625"/>
          </a:xfrm>
          <a:prstGeom prst="roundRect">
            <a:avLst>
              <a:gd name="adj" fmla="val 1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2" name="Image 1" descr="家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62250"/>
            <a:ext cx="1181100" cy="1181100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5924550" y="3057525"/>
            <a:ext cx="1657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furniture</a:t>
            </a:r>
          </a:p>
        </p:txBody>
      </p:sp>
      <p:sp>
        <p:nvSpPr>
          <p:cNvPr id="14" name=""/>
          <p:cNvSpPr txBox="1"/>
          <p:nvPr/>
        </p:nvSpPr>
        <p:spPr>
          <a:xfrm>
            <a:off x="5924550" y="3409950"/>
            <a:ext cx="22193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不特定の不可算名詞</a:t>
            </a:r>
          </a:p>
        </p:txBody>
      </p:sp>
      <p:sp>
        <p:nvSpPr>
          <p:cNvPr id="15" name=""/>
          <p:cNvSpPr/>
          <p:nvPr/>
        </p:nvSpPr>
        <p:spPr>
          <a:xfrm>
            <a:off x="8001000" y="2371725"/>
            <a:ext cx="3505200" cy="1952625"/>
          </a:xfrm>
          <a:prstGeom prst="roundRect">
            <a:avLst>
              <a:gd name="adj" fmla="val 1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6" name="Image 2" descr="鳥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62250"/>
            <a:ext cx="1181100" cy="118110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9582150" y="3057525"/>
            <a:ext cx="12001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Kyoto</a:t>
            </a:r>
          </a:p>
        </p:txBody>
      </p:sp>
      <p:sp>
        <p:nvSpPr>
          <p:cNvPr id="18" name=""/>
          <p:cNvSpPr txBox="1"/>
          <p:nvPr/>
        </p:nvSpPr>
        <p:spPr>
          <a:xfrm>
            <a:off x="9582150" y="3409950"/>
            <a:ext cx="11715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固有名詞</a:t>
            </a:r>
          </a:p>
        </p:txBody>
      </p:sp>
      <p:sp>
        <p:nvSpPr>
          <p:cNvPr id="19" name=""/>
          <p:cNvSpPr/>
          <p:nvPr/>
        </p:nvSpPr>
        <p:spPr>
          <a:xfrm>
            <a:off x="685800" y="4486275"/>
            <a:ext cx="3505200" cy="1952625"/>
          </a:xfrm>
          <a:prstGeom prst="roundRect">
            <a:avLst>
              <a:gd name="adj" fmla="val 1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0" name="Image 3" descr="英語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67275"/>
            <a:ext cx="1181100" cy="1181100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2266950" y="5162550"/>
            <a:ext cx="14097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English</a:t>
            </a:r>
          </a:p>
        </p:txBody>
      </p:sp>
      <p:sp>
        <p:nvSpPr>
          <p:cNvPr id="22" name=""/>
          <p:cNvSpPr txBox="1"/>
          <p:nvPr/>
        </p:nvSpPr>
        <p:spPr>
          <a:xfrm>
            <a:off x="2266950" y="5524500"/>
            <a:ext cx="7620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言語</a:t>
            </a:r>
          </a:p>
        </p:txBody>
      </p:sp>
      <p:sp>
        <p:nvSpPr>
          <p:cNvPr id="23" name=""/>
          <p:cNvSpPr/>
          <p:nvPr/>
        </p:nvSpPr>
        <p:spPr>
          <a:xfrm>
            <a:off x="4343400" y="4486275"/>
            <a:ext cx="3505200" cy="1952625"/>
          </a:xfrm>
          <a:prstGeom prst="roundRect">
            <a:avLst>
              <a:gd name="adj" fmla="val 1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4" name="Image 4" descr="朝食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867275"/>
            <a:ext cx="1181100" cy="1181100"/>
          </a:xfrm>
          <a:prstGeom prst="rect">
            <a:avLst/>
          </a:prstGeom>
        </p:spPr>
      </p:pic>
      <p:sp>
        <p:nvSpPr>
          <p:cNvPr id="25" name=""/>
          <p:cNvSpPr txBox="1"/>
          <p:nvPr/>
        </p:nvSpPr>
        <p:spPr>
          <a:xfrm>
            <a:off x="5924550" y="5162550"/>
            <a:ext cx="1771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breakfast</a:t>
            </a:r>
          </a:p>
        </p:txBody>
      </p:sp>
      <p:sp>
        <p:nvSpPr>
          <p:cNvPr id="26" name=""/>
          <p:cNvSpPr txBox="1"/>
          <p:nvPr/>
        </p:nvSpPr>
        <p:spPr>
          <a:xfrm>
            <a:off x="5924550" y="5524500"/>
            <a:ext cx="7620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食事</a:t>
            </a:r>
          </a:p>
        </p:txBody>
      </p:sp>
      <p:sp>
        <p:nvSpPr>
          <p:cNvPr id="27" name=""/>
          <p:cNvSpPr/>
          <p:nvPr/>
        </p:nvSpPr>
        <p:spPr>
          <a:xfrm>
            <a:off x="8001000" y="4486275"/>
            <a:ext cx="3505200" cy="1952625"/>
          </a:xfrm>
          <a:prstGeom prst="roundRect">
            <a:avLst>
              <a:gd name="adj" fmla="val 1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8" name="Image 5" descr="ハロウィン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867275"/>
            <a:ext cx="1181100" cy="1181100"/>
          </a:xfrm>
          <a:prstGeom prst="rect">
            <a:avLst/>
          </a:prstGeom>
        </p:spPr>
      </p:pic>
      <p:sp>
        <p:nvSpPr>
          <p:cNvPr id="29" name=""/>
          <p:cNvSpPr txBox="1"/>
          <p:nvPr/>
        </p:nvSpPr>
        <p:spPr>
          <a:xfrm>
            <a:off x="9582150" y="5162550"/>
            <a:ext cx="1885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Halloween</a:t>
            </a:r>
          </a:p>
        </p:txBody>
      </p:sp>
      <p:sp>
        <p:nvSpPr>
          <p:cNvPr id="30" name=""/>
          <p:cNvSpPr txBox="1"/>
          <p:nvPr/>
        </p:nvSpPr>
        <p:spPr>
          <a:xfrm>
            <a:off x="9582150" y="5524500"/>
            <a:ext cx="18002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祝日・ホリデー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8763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74771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2000250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映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476500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38425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watched</a:t>
            </a:r>
          </a:p>
        </p:txBody>
      </p:sp>
      <p:sp>
        <p:nvSpPr>
          <p:cNvPr id="9" name=""/>
          <p:cNvSpPr/>
          <p:nvPr/>
        </p:nvSpPr>
        <p:spPr>
          <a:xfrm>
            <a:off x="5400675" y="2562225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0" name=""/>
          <p:cNvSpPr txBox="1"/>
          <p:nvPr/>
        </p:nvSpPr>
        <p:spPr>
          <a:xfrm>
            <a:off x="6886575" y="2638425"/>
            <a:ext cx="43719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movie last night.</a:t>
            </a:r>
          </a:p>
        </p:txBody>
      </p:sp>
      <p:sp>
        <p:nvSpPr>
          <p:cNvPr id="11" name=""/>
          <p:cNvSpPr txBox="1"/>
          <p:nvPr/>
        </p:nvSpPr>
        <p:spPr>
          <a:xfrm>
            <a:off x="3162300" y="3648075"/>
            <a:ext cx="17811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liked</a:t>
            </a:r>
          </a:p>
        </p:txBody>
      </p:sp>
      <p:sp>
        <p:nvSpPr>
          <p:cNvPr id="12" name=""/>
          <p:cNvSpPr/>
          <p:nvPr/>
        </p:nvSpPr>
        <p:spPr>
          <a:xfrm>
            <a:off x="4562475" y="3571875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3" name=""/>
          <p:cNvSpPr txBox="1"/>
          <p:nvPr/>
        </p:nvSpPr>
        <p:spPr>
          <a:xfrm>
            <a:off x="6048375" y="3648075"/>
            <a:ext cx="196215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movie.</a:t>
            </a:r>
          </a:p>
        </p:txBody>
      </p:sp>
      <p:sp>
        <p:nvSpPr>
          <p:cNvPr id="14" name=""/>
          <p:cNvSpPr/>
          <p:nvPr/>
        </p:nvSpPr>
        <p:spPr>
          <a:xfrm>
            <a:off x="685800" y="532447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838200" y="5524500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6" name=""/>
          <p:cNvSpPr txBox="1"/>
          <p:nvPr/>
        </p:nvSpPr>
        <p:spPr>
          <a:xfrm>
            <a:off x="1771650" y="5638800"/>
            <a:ext cx="5905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8A90A8"/>
                </a:solidFill>
                <a:latin typeface="DM Sans"/>
                <a:ea typeface="DM Sans"/>
              </a:rPr>
              <a:t>or</a:t>
            </a:r>
          </a:p>
        </p:txBody>
      </p:sp>
      <p:sp>
        <p:nvSpPr>
          <p:cNvPr id="17" name=""/>
          <p:cNvSpPr/>
          <p:nvPr/>
        </p:nvSpPr>
        <p:spPr>
          <a:xfrm>
            <a:off x="2162175" y="532447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8" name=""/>
          <p:cNvSpPr txBox="1"/>
          <p:nvPr/>
        </p:nvSpPr>
        <p:spPr>
          <a:xfrm>
            <a:off x="2066925" y="5524500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9" name=""/>
          <p:cNvSpPr txBox="1"/>
          <p:nvPr/>
        </p:nvSpPr>
        <p:spPr>
          <a:xfrm>
            <a:off x="3381375" y="5591175"/>
            <a:ext cx="52959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どっち？ 声に出して答えてみよう！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162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ANSWER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74771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映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05075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670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watched</a:t>
            </a:r>
          </a:p>
        </p:txBody>
      </p:sp>
      <p:sp>
        <p:nvSpPr>
          <p:cNvPr id="9" name=""/>
          <p:cNvSpPr/>
          <p:nvPr/>
        </p:nvSpPr>
        <p:spPr>
          <a:xfrm>
            <a:off x="5400675" y="259080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E8461E"/>
          </a:solidFill>
          <a:ln/>
        </p:spPr>
      </p:sp>
      <p:sp>
        <p:nvSpPr>
          <p:cNvPr id="10" name=""/>
          <p:cNvSpPr txBox="1"/>
          <p:nvPr/>
        </p:nvSpPr>
        <p:spPr>
          <a:xfrm>
            <a:off x="5753100" y="2676525"/>
            <a:ext cx="6286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1" name=""/>
          <p:cNvSpPr txBox="1"/>
          <p:nvPr/>
        </p:nvSpPr>
        <p:spPr>
          <a:xfrm>
            <a:off x="6886575" y="2667000"/>
            <a:ext cx="43719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movie last night.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676650"/>
            <a:ext cx="17811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liked</a:t>
            </a:r>
          </a:p>
        </p:txBody>
      </p:sp>
      <p:sp>
        <p:nvSpPr>
          <p:cNvPr id="13" name=""/>
          <p:cNvSpPr/>
          <p:nvPr/>
        </p:nvSpPr>
        <p:spPr>
          <a:xfrm>
            <a:off x="4562475" y="36004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2F86C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4657725" y="3686175"/>
            <a:ext cx="11430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5" name=""/>
          <p:cNvSpPr txBox="1"/>
          <p:nvPr/>
        </p:nvSpPr>
        <p:spPr>
          <a:xfrm>
            <a:off x="6048375" y="3676650"/>
            <a:ext cx="196215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movie.</a:t>
            </a:r>
          </a:p>
        </p:txBody>
      </p:sp>
      <p:sp>
        <p:nvSpPr>
          <p:cNvPr id="16" name=""/>
          <p:cNvSpPr/>
          <p:nvPr/>
        </p:nvSpPr>
        <p:spPr>
          <a:xfrm>
            <a:off x="685800" y="50958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7" name=""/>
          <p:cNvSpPr/>
          <p:nvPr/>
        </p:nvSpPr>
        <p:spPr>
          <a:xfrm>
            <a:off x="990600" y="5210175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8" name=""/>
          <p:cNvSpPr txBox="1"/>
          <p:nvPr/>
        </p:nvSpPr>
        <p:spPr>
          <a:xfrm>
            <a:off x="1162050" y="52673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1回目</a:t>
            </a:r>
          </a:p>
        </p:txBody>
      </p:sp>
      <p:sp>
        <p:nvSpPr>
          <p:cNvPr id="19" name=""/>
          <p:cNvSpPr txBox="1"/>
          <p:nvPr/>
        </p:nvSpPr>
        <p:spPr>
          <a:xfrm>
            <a:off x="1914525" y="5229225"/>
            <a:ext cx="63341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数えられる「1つの映画」と分かるので →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movie</a:t>
            </a:r>
          </a:p>
        </p:txBody>
      </p:sp>
      <p:sp>
        <p:nvSpPr>
          <p:cNvPr id="20" name=""/>
          <p:cNvSpPr/>
          <p:nvPr/>
        </p:nvSpPr>
        <p:spPr>
          <a:xfrm>
            <a:off x="990600" y="5676900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1" name=""/>
          <p:cNvSpPr txBox="1"/>
          <p:nvPr/>
        </p:nvSpPr>
        <p:spPr>
          <a:xfrm>
            <a:off x="1162050" y="573405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2回目</a:t>
            </a:r>
          </a:p>
        </p:txBody>
      </p:sp>
      <p:sp>
        <p:nvSpPr>
          <p:cNvPr id="22" name=""/>
          <p:cNvSpPr txBox="1"/>
          <p:nvPr/>
        </p:nvSpPr>
        <p:spPr>
          <a:xfrm>
            <a:off x="1914525" y="5695950"/>
            <a:ext cx="56769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「さっきの映画」と分かるので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movie</a:t>
            </a:r>
          </a:p>
        </p:txBody>
      </p:sp>
      <p:sp>
        <p:nvSpPr>
          <p:cNvPr id="23" name=""/>
          <p:cNvSpPr txBox="1"/>
          <p:nvPr/>
        </p:nvSpPr>
        <p:spPr>
          <a:xfrm>
            <a:off x="990600" y="6162675"/>
            <a:ext cx="57531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昨日の夜、映画を観ました。その映画が気に入りました。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NO ARTICLE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1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80581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複数名詞のときは、冠詞をつけない</a:t>
            </a:r>
          </a:p>
        </p:txBody>
      </p:sp>
      <p:sp>
        <p:nvSpPr>
          <p:cNvPr id="6" name=""/>
          <p:cNvSpPr/>
          <p:nvPr/>
        </p:nvSpPr>
        <p:spPr>
          <a:xfrm>
            <a:off x="685800" y="1990725"/>
            <a:ext cx="5286375" cy="3524250"/>
          </a:xfrm>
          <a:prstGeom prst="roundRect">
            <a:avLst>
              <a:gd name="adj" fmla="val 7568"/>
            </a:avLst>
          </a:prstGeom>
          <a:solidFill>
            <a:srgbClr val="FFE8DC"/>
          </a:solidFill>
          <a:ln/>
        </p:spPr>
      </p:sp>
      <p:pic>
        <p:nvPicPr>
          <p:cNvPr id="7" name="Image 0" descr="映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19325"/>
            <a:ext cx="1066800" cy="10668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209800" y="2390775"/>
            <a:ext cx="18288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movie</a:t>
            </a:r>
          </a:p>
        </p:txBody>
      </p:sp>
      <p:sp>
        <p:nvSpPr>
          <p:cNvPr id="9" name=""/>
          <p:cNvSpPr txBox="1"/>
          <p:nvPr/>
        </p:nvSpPr>
        <p:spPr>
          <a:xfrm>
            <a:off x="2209800" y="2867025"/>
            <a:ext cx="12954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1本の映画</a:t>
            </a:r>
          </a:p>
        </p:txBody>
      </p:sp>
      <p:sp>
        <p:nvSpPr>
          <p:cNvPr id="10" name=""/>
          <p:cNvSpPr/>
          <p:nvPr/>
        </p:nvSpPr>
        <p:spPr>
          <a:xfrm>
            <a:off x="971550" y="3400425"/>
            <a:ext cx="4714875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11" name=""/>
          <p:cNvSpPr/>
          <p:nvPr/>
        </p:nvSpPr>
        <p:spPr>
          <a:xfrm>
            <a:off x="1143000" y="3638550"/>
            <a:ext cx="381000" cy="3810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2" name=""/>
          <p:cNvSpPr txBox="1"/>
          <p:nvPr/>
        </p:nvSpPr>
        <p:spPr>
          <a:xfrm>
            <a:off x="1095375" y="3676650"/>
            <a:ext cx="4857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13" name=""/>
          <p:cNvSpPr txBox="1"/>
          <p:nvPr/>
        </p:nvSpPr>
        <p:spPr>
          <a:xfrm>
            <a:off x="1657350" y="3495675"/>
            <a:ext cx="29908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I watched </a:t>
            </a:r>
            <a:pPr/>
            <a:r>
              <a:rPr sz="20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 movie.</a:t>
            </a:r>
          </a:p>
        </p:txBody>
      </p:sp>
      <p:sp>
        <p:nvSpPr>
          <p:cNvPr id="14" name=""/>
          <p:cNvSpPr txBox="1"/>
          <p:nvPr/>
        </p:nvSpPr>
        <p:spPr>
          <a:xfrm>
            <a:off x="1657350" y="3829050"/>
            <a:ext cx="29718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 は「1つ」のときだけ</a:t>
            </a:r>
          </a:p>
        </p:txBody>
      </p:sp>
      <p:sp>
        <p:nvSpPr>
          <p:cNvPr id="15" name=""/>
          <p:cNvSpPr/>
          <p:nvPr/>
        </p:nvSpPr>
        <p:spPr>
          <a:xfrm>
            <a:off x="6219825" y="1990725"/>
            <a:ext cx="5286375" cy="3524250"/>
          </a:xfrm>
          <a:prstGeom prst="roundRect">
            <a:avLst>
              <a:gd name="adj" fmla="val 7568"/>
            </a:avLst>
          </a:prstGeom>
          <a:solidFill>
            <a:srgbClr val="DDEFFC"/>
          </a:solidFill>
          <a:ln/>
        </p:spPr>
      </p:sp>
      <p:pic>
        <p:nvPicPr>
          <p:cNvPr id="16" name="Image 1" descr="映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2219325"/>
            <a:ext cx="990600" cy="990600"/>
          </a:xfrm>
          <a:prstGeom prst="rect">
            <a:avLst/>
          </a:prstGeom>
        </p:spPr>
      </p:pic>
      <p:pic>
        <p:nvPicPr>
          <p:cNvPr id="17" name="Image 2" descr="映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25" y="2219325"/>
            <a:ext cx="990600" cy="9906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8715375" y="2352675"/>
            <a:ext cx="17240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movies</a:t>
            </a:r>
          </a:p>
        </p:txBody>
      </p:sp>
      <p:sp>
        <p:nvSpPr>
          <p:cNvPr id="19" name=""/>
          <p:cNvSpPr txBox="1"/>
          <p:nvPr/>
        </p:nvSpPr>
        <p:spPr>
          <a:xfrm>
            <a:off x="8715375" y="2828925"/>
            <a:ext cx="24288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複数の映画・映画全般</a:t>
            </a:r>
          </a:p>
        </p:txBody>
      </p:sp>
      <p:sp>
        <p:nvSpPr>
          <p:cNvPr id="20" name=""/>
          <p:cNvSpPr/>
          <p:nvPr/>
        </p:nvSpPr>
        <p:spPr>
          <a:xfrm>
            <a:off x="6505575" y="3324225"/>
            <a:ext cx="4714875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1" name=""/>
          <p:cNvSpPr/>
          <p:nvPr/>
        </p:nvSpPr>
        <p:spPr>
          <a:xfrm>
            <a:off x="6677025" y="3514725"/>
            <a:ext cx="381000" cy="381000"/>
          </a:xfrm>
          <a:prstGeom prst="ellipse">
            <a:avLst/>
          </a:prstGeom>
          <a:solidFill>
            <a:srgbClr val="2F86CF"/>
          </a:solidFill>
          <a:ln/>
        </p:spPr>
      </p:sp>
      <p:sp>
        <p:nvSpPr>
          <p:cNvPr id="22" name=""/>
          <p:cNvSpPr txBox="1"/>
          <p:nvPr/>
        </p:nvSpPr>
        <p:spPr>
          <a:xfrm>
            <a:off x="6572250" y="3552825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23" name=""/>
          <p:cNvSpPr txBox="1"/>
          <p:nvPr/>
        </p:nvSpPr>
        <p:spPr>
          <a:xfrm>
            <a:off x="7191375" y="3419475"/>
            <a:ext cx="21240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I like </a:t>
            </a:r>
            <a:pPr/>
            <a:r>
              <a:rPr sz="20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movies</a:t>
            </a:r>
            <a:pPr/>
            <a:r>
              <a:rPr sz="205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4" name=""/>
          <p:cNvSpPr txBox="1"/>
          <p:nvPr/>
        </p:nvSpPr>
        <p:spPr>
          <a:xfrm>
            <a:off x="7191375" y="3752850"/>
            <a:ext cx="2181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私は映画が好きです。</a:t>
            </a:r>
          </a:p>
        </p:txBody>
      </p:sp>
      <p:sp>
        <p:nvSpPr>
          <p:cNvPr id="25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6" name=""/>
          <p:cNvSpPr/>
          <p:nvPr/>
        </p:nvSpPr>
        <p:spPr>
          <a:xfrm>
            <a:off x="933450" y="58959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1104900" y="59531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28" name=""/>
          <p:cNvSpPr txBox="1"/>
          <p:nvPr/>
        </p:nvSpPr>
        <p:spPr>
          <a:xfrm>
            <a:off x="2114550" y="5924550"/>
            <a:ext cx="52959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movies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は複数名詞なので、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は使わない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8763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家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438400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38425"/>
            <a:ext cx="56007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「オンラインで家具を買ったんだ」</a:t>
            </a:r>
          </a:p>
        </p:txBody>
      </p:sp>
      <p:sp>
        <p:nvSpPr>
          <p:cNvPr id="9" name=""/>
          <p:cNvSpPr txBox="1"/>
          <p:nvPr/>
        </p:nvSpPr>
        <p:spPr>
          <a:xfrm>
            <a:off x="3162300" y="3457575"/>
            <a:ext cx="2362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10" name=""/>
          <p:cNvSpPr/>
          <p:nvPr/>
        </p:nvSpPr>
        <p:spPr>
          <a:xfrm>
            <a:off x="5067300" y="3381375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6553200" y="3457575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furniture online.</a:t>
            </a:r>
          </a:p>
        </p:txBody>
      </p:sp>
      <p:sp>
        <p:nvSpPr>
          <p:cNvPr id="12" name=""/>
          <p:cNvSpPr/>
          <p:nvPr/>
        </p:nvSpPr>
        <p:spPr>
          <a:xfrm>
            <a:off x="685800" y="528637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3" name=""/>
          <p:cNvSpPr txBox="1"/>
          <p:nvPr/>
        </p:nvSpPr>
        <p:spPr>
          <a:xfrm>
            <a:off x="838200" y="5486400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4" name=""/>
          <p:cNvSpPr/>
          <p:nvPr/>
        </p:nvSpPr>
        <p:spPr>
          <a:xfrm>
            <a:off x="1771650" y="528637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676400" y="5486400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6" name=""/>
          <p:cNvSpPr/>
          <p:nvPr/>
        </p:nvSpPr>
        <p:spPr>
          <a:xfrm>
            <a:off x="2857500" y="528637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17" name=""/>
          <p:cNvSpPr txBox="1"/>
          <p:nvPr/>
        </p:nvSpPr>
        <p:spPr>
          <a:xfrm>
            <a:off x="2838450" y="5553075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18" name=""/>
          <p:cNvSpPr txBox="1"/>
          <p:nvPr/>
        </p:nvSpPr>
        <p:spPr>
          <a:xfrm>
            <a:off x="4076700" y="5553075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どれ？ 声に出して答えてみよう！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1621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ANSWER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19907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家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466975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67000"/>
            <a:ext cx="56007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「オンラインで家具を買ったんだ」</a:t>
            </a:r>
          </a:p>
        </p:txBody>
      </p:sp>
      <p:sp>
        <p:nvSpPr>
          <p:cNvPr id="9" name=""/>
          <p:cNvSpPr txBox="1"/>
          <p:nvPr/>
        </p:nvSpPr>
        <p:spPr>
          <a:xfrm>
            <a:off x="3162300" y="3486150"/>
            <a:ext cx="2362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10" name=""/>
          <p:cNvSpPr/>
          <p:nvPr/>
        </p:nvSpPr>
        <p:spPr>
          <a:xfrm>
            <a:off x="5067300" y="34099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9AA1B6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238750" y="3562350"/>
            <a:ext cx="10001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12" name=""/>
          <p:cNvSpPr txBox="1"/>
          <p:nvPr/>
        </p:nvSpPr>
        <p:spPr>
          <a:xfrm>
            <a:off x="6553200" y="3486150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furniture online.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0577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4" name=""/>
          <p:cNvSpPr/>
          <p:nvPr/>
        </p:nvSpPr>
        <p:spPr>
          <a:xfrm>
            <a:off x="990600" y="53530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162050" y="54102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6" name=""/>
          <p:cNvSpPr txBox="1"/>
          <p:nvPr/>
        </p:nvSpPr>
        <p:spPr>
          <a:xfrm>
            <a:off x="1809750" y="5391150"/>
            <a:ext cx="357187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I bought furniture online.</a:t>
            </a:r>
          </a:p>
        </p:txBody>
      </p:sp>
      <p:sp>
        <p:nvSpPr>
          <p:cNvPr id="17" name=""/>
          <p:cNvSpPr/>
          <p:nvPr/>
        </p:nvSpPr>
        <p:spPr>
          <a:xfrm>
            <a:off x="990600" y="58197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8" name=""/>
          <p:cNvSpPr txBox="1"/>
          <p:nvPr/>
        </p:nvSpPr>
        <p:spPr>
          <a:xfrm>
            <a:off x="1162050" y="58769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19" name=""/>
          <p:cNvSpPr txBox="1"/>
          <p:nvPr/>
        </p:nvSpPr>
        <p:spPr>
          <a:xfrm>
            <a:off x="1809750" y="5838825"/>
            <a:ext cx="86963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家具は1つとは限らない（一発では分からない）→ 不特定なので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無冠詞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70580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冠詞を変えると、意味が変わる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10820400" cy="1390650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家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066925"/>
            <a:ext cx="1181100" cy="11811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324100" y="2266950"/>
            <a:ext cx="50673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bought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furniture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online.</a:t>
            </a:r>
          </a:p>
        </p:txBody>
      </p:sp>
      <p:sp>
        <p:nvSpPr>
          <p:cNvPr id="9" name=""/>
          <p:cNvSpPr txBox="1"/>
          <p:nvPr/>
        </p:nvSpPr>
        <p:spPr>
          <a:xfrm>
            <a:off x="2324100" y="2771775"/>
            <a:ext cx="31908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オンラインで家具を買った。</a:t>
            </a:r>
          </a:p>
        </p:txBody>
      </p:sp>
      <p:sp>
        <p:nvSpPr>
          <p:cNvPr id="10" name=""/>
          <p:cNvSpPr/>
          <p:nvPr/>
        </p:nvSpPr>
        <p:spPr>
          <a:xfrm>
            <a:off x="7981950" y="224790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1" name=""/>
          <p:cNvSpPr txBox="1"/>
          <p:nvPr/>
        </p:nvSpPr>
        <p:spPr>
          <a:xfrm>
            <a:off x="8172450" y="2390775"/>
            <a:ext cx="15906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不特定の家具</a:t>
            </a:r>
          </a:p>
        </p:txBody>
      </p:sp>
      <p:sp>
        <p:nvSpPr>
          <p:cNvPr id="12" name=""/>
          <p:cNvSpPr txBox="1"/>
          <p:nvPr/>
        </p:nvSpPr>
        <p:spPr>
          <a:xfrm>
            <a:off x="8172450" y="2667000"/>
            <a:ext cx="23336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（1つとは限らない）</a:t>
            </a:r>
          </a:p>
        </p:txBody>
      </p:sp>
      <p:sp>
        <p:nvSpPr>
          <p:cNvPr id="13" name=""/>
          <p:cNvSpPr/>
          <p:nvPr/>
        </p:nvSpPr>
        <p:spPr>
          <a:xfrm>
            <a:off x="685800" y="3505200"/>
            <a:ext cx="10820400" cy="1390650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4" name="Image 1" descr="家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609975"/>
            <a:ext cx="1181100" cy="11811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2324100" y="3810000"/>
            <a:ext cx="58007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bought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furniture online.</a:t>
            </a:r>
          </a:p>
        </p:txBody>
      </p:sp>
      <p:sp>
        <p:nvSpPr>
          <p:cNvPr id="16" name=""/>
          <p:cNvSpPr txBox="1"/>
          <p:nvPr/>
        </p:nvSpPr>
        <p:spPr>
          <a:xfrm>
            <a:off x="2324100" y="4314825"/>
            <a:ext cx="36290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その家具をオンラインで買った。</a:t>
            </a:r>
          </a:p>
        </p:txBody>
      </p:sp>
      <p:sp>
        <p:nvSpPr>
          <p:cNvPr id="17" name=""/>
          <p:cNvSpPr/>
          <p:nvPr/>
        </p:nvSpPr>
        <p:spPr>
          <a:xfrm>
            <a:off x="7981950" y="379095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8" name=""/>
          <p:cNvSpPr txBox="1"/>
          <p:nvPr/>
        </p:nvSpPr>
        <p:spPr>
          <a:xfrm>
            <a:off x="8172450" y="3933825"/>
            <a:ext cx="2628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話し手と聞き手が分かる</a:t>
            </a:r>
          </a:p>
        </p:txBody>
      </p:sp>
      <p:sp>
        <p:nvSpPr>
          <p:cNvPr id="19" name=""/>
          <p:cNvSpPr txBox="1"/>
          <p:nvPr/>
        </p:nvSpPr>
        <p:spPr>
          <a:xfrm>
            <a:off x="8172450" y="4210050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特定の家具</a:t>
            </a:r>
          </a:p>
        </p:txBody>
      </p:sp>
      <p:sp>
        <p:nvSpPr>
          <p:cNvPr id="20" name=""/>
          <p:cNvSpPr/>
          <p:nvPr/>
        </p:nvSpPr>
        <p:spPr>
          <a:xfrm>
            <a:off x="685800" y="5048250"/>
            <a:ext cx="10820400" cy="1390650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1" name="Image 2" descr="家具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153025"/>
            <a:ext cx="1181100" cy="11811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2324100" y="5353050"/>
            <a:ext cx="56959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8A90A8"/>
                </a:solidFill>
                <a:latin typeface="DM Sans"/>
                <a:ea typeface="DM Sans"/>
              </a:rPr>
              <a:t>× I bought 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700" b="1">
                <a:solidFill>
                  <a:srgbClr val="8A90A8"/>
                </a:solidFill>
                <a:latin typeface="DM Sans"/>
                <a:ea typeface="DM Sans"/>
              </a:rPr>
              <a:t> furniture online.</a:t>
            </a:r>
          </a:p>
        </p:txBody>
      </p:sp>
      <p:sp>
        <p:nvSpPr>
          <p:cNvPr id="23" name=""/>
          <p:cNvSpPr txBox="1"/>
          <p:nvPr/>
        </p:nvSpPr>
        <p:spPr>
          <a:xfrm>
            <a:off x="2324100" y="5857875"/>
            <a:ext cx="44196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1点なら </a:t>
            </a:r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a piece of furniture</a:t>
            </a:r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（家具1点）</a:t>
            </a:r>
          </a:p>
        </p:txBody>
      </p:sp>
      <p:sp>
        <p:nvSpPr>
          <p:cNvPr id="24" name=""/>
          <p:cNvSpPr/>
          <p:nvPr/>
        </p:nvSpPr>
        <p:spPr>
          <a:xfrm>
            <a:off x="7981950" y="533400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25" name=""/>
          <p:cNvSpPr txBox="1"/>
          <p:nvPr/>
        </p:nvSpPr>
        <p:spPr>
          <a:xfrm>
            <a:off x="8172450" y="5476875"/>
            <a:ext cx="2752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furniture は数えられない</a:t>
            </a:r>
          </a:p>
        </p:txBody>
      </p:sp>
      <p:sp>
        <p:nvSpPr>
          <p:cNvPr id="26" name=""/>
          <p:cNvSpPr txBox="1"/>
          <p:nvPr/>
        </p:nvSpPr>
        <p:spPr>
          <a:xfrm>
            <a:off x="8172450" y="5753100"/>
            <a:ext cx="2628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名詞なので a はつけない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3781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NO ARTICLE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PROPER NOUNS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75723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固有名詞（人・都市・国・施設）</a:t>
            </a:r>
          </a:p>
        </p:txBody>
      </p:sp>
      <p:sp>
        <p:nvSpPr>
          <p:cNvPr id="6" name=""/>
          <p:cNvSpPr/>
          <p:nvPr/>
        </p:nvSpPr>
        <p:spPr>
          <a:xfrm>
            <a:off x="685800" y="1933575"/>
            <a:ext cx="9715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7" name=""/>
          <p:cNvSpPr txBox="1"/>
          <p:nvPr/>
        </p:nvSpPr>
        <p:spPr>
          <a:xfrm>
            <a:off x="857250" y="1990725"/>
            <a:ext cx="1066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Japan</a:t>
            </a:r>
          </a:p>
        </p:txBody>
      </p:sp>
      <p:sp>
        <p:nvSpPr>
          <p:cNvPr id="8" name=""/>
          <p:cNvSpPr/>
          <p:nvPr/>
        </p:nvSpPr>
        <p:spPr>
          <a:xfrm>
            <a:off x="1752600" y="1933575"/>
            <a:ext cx="9334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9" name=""/>
          <p:cNvSpPr txBox="1"/>
          <p:nvPr/>
        </p:nvSpPr>
        <p:spPr>
          <a:xfrm>
            <a:off x="1924050" y="1990725"/>
            <a:ext cx="10191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Tokyo</a:t>
            </a:r>
          </a:p>
        </p:txBody>
      </p:sp>
      <p:sp>
        <p:nvSpPr>
          <p:cNvPr id="10" name=""/>
          <p:cNvSpPr/>
          <p:nvPr/>
        </p:nvSpPr>
        <p:spPr>
          <a:xfrm>
            <a:off x="2781300" y="1933575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1" name=""/>
          <p:cNvSpPr txBox="1"/>
          <p:nvPr/>
        </p:nvSpPr>
        <p:spPr>
          <a:xfrm>
            <a:off x="2952750" y="1990725"/>
            <a:ext cx="11525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France</a:t>
            </a:r>
          </a:p>
        </p:txBody>
      </p:sp>
      <p:sp>
        <p:nvSpPr>
          <p:cNvPr id="12" name=""/>
          <p:cNvSpPr/>
          <p:nvPr/>
        </p:nvSpPr>
        <p:spPr>
          <a:xfrm>
            <a:off x="3924300" y="1933575"/>
            <a:ext cx="9144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3" name=""/>
          <p:cNvSpPr txBox="1"/>
          <p:nvPr/>
        </p:nvSpPr>
        <p:spPr>
          <a:xfrm>
            <a:off x="4095750" y="1990725"/>
            <a:ext cx="1000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Kyoto</a:t>
            </a:r>
          </a:p>
        </p:txBody>
      </p:sp>
      <p:sp>
        <p:nvSpPr>
          <p:cNvPr id="14" name=""/>
          <p:cNvSpPr/>
          <p:nvPr/>
        </p:nvSpPr>
        <p:spPr>
          <a:xfrm>
            <a:off x="4933950" y="1933575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 txBox="1"/>
          <p:nvPr/>
        </p:nvSpPr>
        <p:spPr>
          <a:xfrm>
            <a:off x="5105400" y="1990725"/>
            <a:ext cx="16573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Disneyland</a:t>
            </a:r>
          </a:p>
        </p:txBody>
      </p:sp>
      <p:sp>
        <p:nvSpPr>
          <p:cNvPr id="16" name=""/>
          <p:cNvSpPr/>
          <p:nvPr/>
        </p:nvSpPr>
        <p:spPr>
          <a:xfrm>
            <a:off x="6515100" y="193357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7" name=""/>
          <p:cNvSpPr txBox="1"/>
          <p:nvPr/>
        </p:nvSpPr>
        <p:spPr>
          <a:xfrm>
            <a:off x="6686550" y="1990725"/>
            <a:ext cx="31432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Universal Studios Japan</a:t>
            </a:r>
          </a:p>
        </p:txBody>
      </p:sp>
      <p:sp>
        <p:nvSpPr>
          <p:cNvPr id="18" name=""/>
          <p:cNvSpPr/>
          <p:nvPr/>
        </p:nvSpPr>
        <p:spPr>
          <a:xfrm>
            <a:off x="685800" y="2543175"/>
            <a:ext cx="10820400" cy="12001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9" name="Image 0" descr="京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552700"/>
            <a:ext cx="1181100" cy="1181100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2324100" y="2752725"/>
            <a:ext cx="29146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live in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Kyoto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1" name=""/>
          <p:cNvSpPr txBox="1"/>
          <p:nvPr/>
        </p:nvSpPr>
        <p:spPr>
          <a:xfrm>
            <a:off x="2324100" y="3257550"/>
            <a:ext cx="29432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私は京都に住んでいます。</a:t>
            </a:r>
          </a:p>
        </p:txBody>
      </p:sp>
      <p:sp>
        <p:nvSpPr>
          <p:cNvPr id="22" name=""/>
          <p:cNvSpPr/>
          <p:nvPr/>
        </p:nvSpPr>
        <p:spPr>
          <a:xfrm>
            <a:off x="685800" y="3895725"/>
            <a:ext cx="10820400" cy="12001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3" name="Image 1" descr="東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905250"/>
            <a:ext cx="1181100" cy="118110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2324100" y="4105275"/>
            <a:ext cx="43338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want to go to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Tokyo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5" name=""/>
          <p:cNvSpPr txBox="1"/>
          <p:nvPr/>
        </p:nvSpPr>
        <p:spPr>
          <a:xfrm>
            <a:off x="2324100" y="4610100"/>
            <a:ext cx="25050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東京に行きたいです。</a:t>
            </a:r>
          </a:p>
        </p:txBody>
      </p:sp>
      <p:sp>
        <p:nvSpPr>
          <p:cNvPr id="26" name=""/>
          <p:cNvSpPr/>
          <p:nvPr/>
        </p:nvSpPr>
        <p:spPr>
          <a:xfrm>
            <a:off x="685800" y="5238750"/>
            <a:ext cx="10820400" cy="12001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7" name="Image 2" descr="遊園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248275"/>
            <a:ext cx="1181100" cy="1181100"/>
          </a:xfrm>
          <a:prstGeom prst="rect">
            <a:avLst/>
          </a:prstGeom>
        </p:spPr>
      </p:pic>
      <p:sp>
        <p:nvSpPr>
          <p:cNvPr id="28" name=""/>
          <p:cNvSpPr txBox="1"/>
          <p:nvPr/>
        </p:nvSpPr>
        <p:spPr>
          <a:xfrm>
            <a:off x="2324100" y="5448300"/>
            <a:ext cx="43338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went to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Disneyland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9" name=""/>
          <p:cNvSpPr txBox="1"/>
          <p:nvPr/>
        </p:nvSpPr>
        <p:spPr>
          <a:xfrm>
            <a:off x="2324100" y="5953125"/>
            <a:ext cx="36195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ディズニーランドに行きました。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13538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ただし、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が名前の一部になっているものもある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924050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有名な建物・作品など</a:t>
            </a:r>
          </a:p>
        </p:txBody>
      </p:sp>
      <p:sp>
        <p:nvSpPr>
          <p:cNvPr id="7" name=""/>
          <p:cNvSpPr/>
          <p:nvPr/>
        </p:nvSpPr>
        <p:spPr>
          <a:xfrm>
            <a:off x="685800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8" name=""/>
          <p:cNvSpPr/>
          <p:nvPr/>
        </p:nvSpPr>
        <p:spPr>
          <a:xfrm>
            <a:off x="819150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FFE8DC"/>
          </a:solidFill>
          <a:ln/>
        </p:spPr>
      </p:sp>
      <p:pic>
        <p:nvPicPr>
          <p:cNvPr id="9" name="Image 0" descr="エッフェル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3048000"/>
            <a:ext cx="1619250" cy="16192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457325" y="5324475"/>
            <a:ext cx="15335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Eiffel</a:t>
            </a:r>
          </a:p>
        </p:txBody>
      </p:sp>
      <p:sp>
        <p:nvSpPr>
          <p:cNvPr id="11" name=""/>
          <p:cNvSpPr txBox="1"/>
          <p:nvPr/>
        </p:nvSpPr>
        <p:spPr>
          <a:xfrm>
            <a:off x="1400175" y="5619750"/>
            <a:ext cx="11430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Tower</a:t>
            </a:r>
          </a:p>
        </p:txBody>
      </p:sp>
      <p:sp>
        <p:nvSpPr>
          <p:cNvPr id="12" name=""/>
          <p:cNvSpPr txBox="1"/>
          <p:nvPr/>
        </p:nvSpPr>
        <p:spPr>
          <a:xfrm>
            <a:off x="1457325" y="59817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エッフェル塔</a:t>
            </a:r>
          </a:p>
        </p:txBody>
      </p:sp>
      <p:sp>
        <p:nvSpPr>
          <p:cNvPr id="13" name=""/>
          <p:cNvSpPr/>
          <p:nvPr/>
        </p:nvSpPr>
        <p:spPr>
          <a:xfrm>
            <a:off x="3438525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4" name=""/>
          <p:cNvSpPr/>
          <p:nvPr/>
        </p:nvSpPr>
        <p:spPr>
          <a:xfrm>
            <a:off x="3571875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DDEFFC"/>
          </a:solidFill>
          <a:ln/>
        </p:spPr>
      </p:sp>
      <p:pic>
        <p:nvPicPr>
          <p:cNvPr id="15" name="Image 1" descr="自由の女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3048000"/>
            <a:ext cx="1619250" cy="161925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4105275" y="5324475"/>
            <a:ext cx="17526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Statue</a:t>
            </a:r>
          </a:p>
        </p:txBody>
      </p:sp>
      <p:sp>
        <p:nvSpPr>
          <p:cNvPr id="17" name=""/>
          <p:cNvSpPr txBox="1"/>
          <p:nvPr/>
        </p:nvSpPr>
        <p:spPr>
          <a:xfrm>
            <a:off x="3905250" y="5619750"/>
            <a:ext cx="16383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of Liberty</a:t>
            </a:r>
          </a:p>
        </p:txBody>
      </p:sp>
      <p:sp>
        <p:nvSpPr>
          <p:cNvPr id="18" name=""/>
          <p:cNvSpPr txBox="1"/>
          <p:nvPr/>
        </p:nvSpPr>
        <p:spPr>
          <a:xfrm>
            <a:off x="4295775" y="5981700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自由の女神</a:t>
            </a:r>
          </a:p>
        </p:txBody>
      </p:sp>
      <p:sp>
        <p:nvSpPr>
          <p:cNvPr id="19" name=""/>
          <p:cNvSpPr/>
          <p:nvPr/>
        </p:nvSpPr>
        <p:spPr>
          <a:xfrm>
            <a:off x="6181725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0" name=""/>
          <p:cNvSpPr/>
          <p:nvPr/>
        </p:nvSpPr>
        <p:spPr>
          <a:xfrm>
            <a:off x="6315075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FFF2C9"/>
          </a:solidFill>
          <a:ln/>
        </p:spPr>
      </p:sp>
      <p:pic>
        <p:nvPicPr>
          <p:cNvPr id="21" name="Image 2" descr="エンパイア・ステート・ビ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3048000"/>
            <a:ext cx="1619250" cy="16192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6562725" y="5324475"/>
            <a:ext cx="18097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Empire</a:t>
            </a:r>
          </a:p>
        </p:txBody>
      </p:sp>
      <p:sp>
        <p:nvSpPr>
          <p:cNvPr id="23" name=""/>
          <p:cNvSpPr txBox="1"/>
          <p:nvPr/>
        </p:nvSpPr>
        <p:spPr>
          <a:xfrm>
            <a:off x="6657975" y="5619750"/>
            <a:ext cx="22193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State Building</a:t>
            </a:r>
          </a:p>
        </p:txBody>
      </p:sp>
      <p:sp>
        <p:nvSpPr>
          <p:cNvPr id="24" name=""/>
          <p:cNvSpPr txBox="1"/>
          <p:nvPr/>
        </p:nvSpPr>
        <p:spPr>
          <a:xfrm>
            <a:off x="6353175" y="5981700"/>
            <a:ext cx="29051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エンパイア・ステート・ビル</a:t>
            </a:r>
          </a:p>
        </p:txBody>
      </p:sp>
      <p:sp>
        <p:nvSpPr>
          <p:cNvPr id="25" name=""/>
          <p:cNvSpPr/>
          <p:nvPr/>
        </p:nvSpPr>
        <p:spPr>
          <a:xfrm>
            <a:off x="8934450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6" name=""/>
          <p:cNvSpPr/>
          <p:nvPr/>
        </p:nvSpPr>
        <p:spPr>
          <a:xfrm>
            <a:off x="9067800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FFE4EC"/>
          </a:solidFill>
          <a:ln/>
        </p:spPr>
      </p:sp>
      <p:pic>
        <p:nvPicPr>
          <p:cNvPr id="27" name="Image 3" descr="モナ・リザ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700" y="3048000"/>
            <a:ext cx="1619250" cy="1619250"/>
          </a:xfrm>
          <a:prstGeom prst="rect">
            <a:avLst/>
          </a:prstGeom>
        </p:spPr>
      </p:pic>
      <p:sp>
        <p:nvSpPr>
          <p:cNvPr id="28" name=""/>
          <p:cNvSpPr txBox="1"/>
          <p:nvPr/>
        </p:nvSpPr>
        <p:spPr>
          <a:xfrm>
            <a:off x="9677400" y="5324475"/>
            <a:ext cx="15906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Mona</a:t>
            </a:r>
          </a:p>
        </p:txBody>
      </p:sp>
      <p:sp>
        <p:nvSpPr>
          <p:cNvPr id="29" name=""/>
          <p:cNvSpPr txBox="1"/>
          <p:nvPr/>
        </p:nvSpPr>
        <p:spPr>
          <a:xfrm>
            <a:off x="9782175" y="5619750"/>
            <a:ext cx="8763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Lisa</a:t>
            </a:r>
          </a:p>
        </p:txBody>
      </p:sp>
      <p:sp>
        <p:nvSpPr>
          <p:cNvPr id="30" name=""/>
          <p:cNvSpPr txBox="1"/>
          <p:nvPr/>
        </p:nvSpPr>
        <p:spPr>
          <a:xfrm>
            <a:off x="9791700" y="5981700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モナ・リザ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33813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NO ARTICLE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LANGUAGES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66675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言語（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English / Japanese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）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10820400" cy="1666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英語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00275"/>
            <a:ext cx="1333500" cy="13335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476500" y="2438400"/>
            <a:ext cx="46958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I'm studying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English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9" name=""/>
          <p:cNvSpPr txBox="1"/>
          <p:nvPr/>
        </p:nvSpPr>
        <p:spPr>
          <a:xfrm>
            <a:off x="2476500" y="299085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私は英語を勉強しています。</a:t>
            </a:r>
          </a:p>
        </p:txBody>
      </p:sp>
      <p:sp>
        <p:nvSpPr>
          <p:cNvPr id="10" name=""/>
          <p:cNvSpPr/>
          <p:nvPr/>
        </p:nvSpPr>
        <p:spPr>
          <a:xfrm>
            <a:off x="685800" y="3848100"/>
            <a:ext cx="10820400" cy="1666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1" name="Image 1" descr="日本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019550"/>
            <a:ext cx="1333500" cy="133350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2476500" y="4257675"/>
            <a:ext cx="40957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speak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Japanese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 txBox="1"/>
          <p:nvPr/>
        </p:nvSpPr>
        <p:spPr>
          <a:xfrm>
            <a:off x="2476500" y="4810125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私は日本語を話します。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/>
          <p:nvPr/>
        </p:nvSpPr>
        <p:spPr>
          <a:xfrm>
            <a:off x="933450" y="58959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104900" y="59531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7" name=""/>
          <p:cNvSpPr txBox="1"/>
          <p:nvPr/>
        </p:nvSpPr>
        <p:spPr>
          <a:xfrm>
            <a:off x="2114550" y="5924550"/>
            <a:ext cx="49149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言語の名前には、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も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もつけない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7813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NO ARTICLE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MEALS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80581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朝食・昼食・夕食は、基本は無冠詞</a:t>
            </a:r>
          </a:p>
        </p:txBody>
      </p:sp>
      <p:sp>
        <p:nvSpPr>
          <p:cNvPr id="6" name=""/>
          <p:cNvSpPr/>
          <p:nvPr/>
        </p:nvSpPr>
        <p:spPr>
          <a:xfrm>
            <a:off x="685800" y="1990725"/>
            <a:ext cx="10820400" cy="1076325"/>
          </a:xfrm>
          <a:prstGeom prst="roundRect">
            <a:avLst>
              <a:gd name="adj" fmla="val 247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朝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047875"/>
            <a:ext cx="952500" cy="9525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095500" y="2133600"/>
            <a:ext cx="50006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had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breakfast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at seven.</a:t>
            </a:r>
          </a:p>
        </p:txBody>
      </p:sp>
      <p:sp>
        <p:nvSpPr>
          <p:cNvPr id="9" name=""/>
          <p:cNvSpPr txBox="1"/>
          <p:nvPr/>
        </p:nvSpPr>
        <p:spPr>
          <a:xfrm>
            <a:off x="2095500" y="2638425"/>
            <a:ext cx="33147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7時に朝ごはんを食べました。</a:t>
            </a:r>
          </a:p>
        </p:txBody>
      </p:sp>
      <p:sp>
        <p:nvSpPr>
          <p:cNvPr id="10" name=""/>
          <p:cNvSpPr/>
          <p:nvPr/>
        </p:nvSpPr>
        <p:spPr>
          <a:xfrm>
            <a:off x="685800" y="3219450"/>
            <a:ext cx="10820400" cy="1076325"/>
          </a:xfrm>
          <a:prstGeom prst="roundRect">
            <a:avLst>
              <a:gd name="adj" fmla="val 247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1" name="Image 1" descr="昼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276600"/>
            <a:ext cx="952500" cy="95250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2095500" y="3362325"/>
            <a:ext cx="52292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Let's have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lunch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together.</a:t>
            </a:r>
          </a:p>
        </p:txBody>
      </p:sp>
      <p:sp>
        <p:nvSpPr>
          <p:cNvPr id="13" name=""/>
          <p:cNvSpPr txBox="1"/>
          <p:nvPr/>
        </p:nvSpPr>
        <p:spPr>
          <a:xfrm>
            <a:off x="2095500" y="3867150"/>
            <a:ext cx="34004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一緒にお昼ごはんを食べよう。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4438650"/>
            <a:ext cx="10820400" cy="1076325"/>
          </a:xfrm>
          <a:prstGeom prst="roundRect">
            <a:avLst>
              <a:gd name="adj" fmla="val 247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5" name="Image 2" descr="夕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4505325"/>
            <a:ext cx="952500" cy="95250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2095500" y="4591050"/>
            <a:ext cx="3829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What's for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dinner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17" name=""/>
          <p:cNvSpPr txBox="1"/>
          <p:nvPr/>
        </p:nvSpPr>
        <p:spPr>
          <a:xfrm>
            <a:off x="2095500" y="5095875"/>
            <a:ext cx="18764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夕ごはんは何？</a:t>
            </a:r>
          </a:p>
        </p:txBody>
      </p:sp>
      <p:sp>
        <p:nvSpPr>
          <p:cNvPr id="18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9" name=""/>
          <p:cNvSpPr/>
          <p:nvPr/>
        </p:nvSpPr>
        <p:spPr>
          <a:xfrm>
            <a:off x="933450" y="5895975"/>
            <a:ext cx="13525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0" name=""/>
          <p:cNvSpPr txBox="1"/>
          <p:nvPr/>
        </p:nvSpPr>
        <p:spPr>
          <a:xfrm>
            <a:off x="1104900" y="5953125"/>
            <a:ext cx="15049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覚えておこう</a:t>
            </a:r>
          </a:p>
        </p:txBody>
      </p:sp>
      <p:sp>
        <p:nvSpPr>
          <p:cNvPr id="21" name=""/>
          <p:cNvSpPr txBox="1"/>
          <p:nvPr/>
        </p:nvSpPr>
        <p:spPr>
          <a:xfrm>
            <a:off x="2438400" y="5943600"/>
            <a:ext cx="3343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breakfast / lunch / dinner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2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31337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NO ARTICLE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HOLIDAYS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祝日・ホリデー</a:t>
            </a:r>
          </a:p>
        </p:txBody>
      </p:sp>
      <p:sp>
        <p:nvSpPr>
          <p:cNvPr id="6" name=""/>
          <p:cNvSpPr/>
          <p:nvPr/>
        </p:nvSpPr>
        <p:spPr>
          <a:xfrm>
            <a:off x="685800" y="1990725"/>
            <a:ext cx="10820400" cy="2143125"/>
          </a:xfrm>
          <a:prstGeom prst="roundRect">
            <a:avLst>
              <a:gd name="adj" fmla="val 12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ハロウィ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400300"/>
            <a:ext cx="1333500" cy="13335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476500" y="2638425"/>
            <a:ext cx="95535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What are you dressing up as for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Halloween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9" name=""/>
          <p:cNvSpPr txBox="1"/>
          <p:nvPr/>
        </p:nvSpPr>
        <p:spPr>
          <a:xfrm>
            <a:off x="2476500" y="3190875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ハロウィンはどんな仮装をする？</a:t>
            </a:r>
          </a:p>
        </p:txBody>
      </p:sp>
      <p:sp>
        <p:nvSpPr>
          <p:cNvPr id="10" name=""/>
          <p:cNvSpPr/>
          <p:nvPr/>
        </p:nvSpPr>
        <p:spPr>
          <a:xfrm>
            <a:off x="685800" y="4295775"/>
            <a:ext cx="10820400" cy="2143125"/>
          </a:xfrm>
          <a:prstGeom prst="roundRect">
            <a:avLst>
              <a:gd name="adj" fmla="val 12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1" name="Image 1" descr="クリスマ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695825"/>
            <a:ext cx="1333500" cy="133350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2476500" y="4933950"/>
            <a:ext cx="72771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Christmas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is my favorite holiday!</a:t>
            </a:r>
          </a:p>
        </p:txBody>
      </p:sp>
      <p:sp>
        <p:nvSpPr>
          <p:cNvPr id="13" name=""/>
          <p:cNvSpPr txBox="1"/>
          <p:nvPr/>
        </p:nvSpPr>
        <p:spPr>
          <a:xfrm>
            <a:off x="2476500" y="5486400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クリスマスは私の一番好きなホリデーです！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