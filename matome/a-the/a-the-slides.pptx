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1" Type="http://schemas.openxmlformats.org/officeDocument/2006/relationships/presProps" Target="presProps.xml"/><Relationship Id="rId23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image" Target="../media/image-4-1.png"/><Relationship Id="rId7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1.png"/><Relationship Id="rId4" Type="http://schemas.openxmlformats.org/officeDocument/2006/relationships/image" Target="../media/image-9-1.png"/><Relationship Id="rId5" Type="http://schemas.openxmlformats.org/officeDocument/2006/relationships/image" Target="../media/image-9-1.png"/><Relationship Id="rId6" Type="http://schemas.openxmlformats.org/officeDocument/2006/relationships/image" Target="../media/image-9-1.png"/><Relationship Id="rId7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1.png"/><Relationship Id="rId3" Type="http://schemas.openxmlformats.org/officeDocument/2006/relationships/image" Target="../media/image-17-1.png"/><Relationship Id="rId4" Type="http://schemas.openxmlformats.org/officeDocument/2006/relationships/image" Target="../media/image-17-4.png"/><Relationship Id="rId5" Type="http://schemas.openxmlformats.org/officeDocument/2006/relationships/image" Target="../media/image-17-4.png"/><Relationship Id="rId6" Type="http://schemas.openxmlformats.org/officeDocument/2006/relationships/image" Target="../media/image-17-4.png"/><Relationship Id="rId7" Type="http://schemas.openxmlformats.org/officeDocument/2006/relationships/image" Target="../media/image-17-7.png"/><Relationship Id="rId8" Type="http://schemas.openxmlformats.org/officeDocument/2006/relationships/image" Target="../media/image-17-7.png"/><Relationship Id="rId9" Type="http://schemas.openxmlformats.org/officeDocument/2006/relationships/image" Target="../media/image-17-7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0.png"/><Relationship Id="rId12" Type="http://schemas.openxmlformats.org/officeDocument/2006/relationships/image" Target="../media/image-17-10.png"/><Relationship Id="rId13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</p:spPr>
      </p:sp>
      <p:sp>
        <p:nvSpPr>
          <p:cNvPr id="3" name=""/>
          <p:cNvSpPr txBox="1"/>
          <p:nvPr/>
        </p:nvSpPr>
        <p:spPr>
          <a:xfrm>
            <a:off x="1181100" y="1952625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066925"/>
            <a:ext cx="40195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200525"/>
            <a:ext cx="527685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7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2752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冠詞とは？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3790950"/>
          </a:xfrm>
          <a:prstGeom prst="roundRect">
            <a:avLst>
              <a:gd name="adj" fmla="val 7035"/>
            </a:avLst>
          </a:prstGeom>
          <a:solidFill>
            <a:srgbClr val="FFFFFF"/>
          </a:solidFill>
          <a:ln/>
        </p:spPr>
      </p:sp>
      <p:sp>
        <p:nvSpPr>
          <p:cNvPr id="6" name=""/>
          <p:cNvSpPr txBox="1"/>
          <p:nvPr/>
        </p:nvSpPr>
        <p:spPr>
          <a:xfrm>
            <a:off x="3438525" y="2009775"/>
            <a:ext cx="6467475" cy="504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名詞の前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に置く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/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/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のこと</a:t>
            </a:r>
          </a:p>
        </p:txBody>
      </p:sp>
      <p:sp>
        <p:nvSpPr>
          <p:cNvPr id="7" name=""/>
          <p:cNvSpPr/>
          <p:nvPr/>
        </p:nvSpPr>
        <p:spPr>
          <a:xfrm>
            <a:off x="1066800" y="2762250"/>
            <a:ext cx="3200400" cy="2466975"/>
          </a:xfrm>
          <a:prstGeom prst="roundRect">
            <a:avLst>
              <a:gd name="adj" fmla="val 8494"/>
            </a:avLst>
          </a:prstGeom>
          <a:solidFill>
            <a:srgbClr val="FFE8DC"/>
          </a:solidFill>
          <a:ln/>
        </p:spPr>
      </p:sp>
      <p:pic>
        <p:nvPicPr>
          <p:cNvPr id="8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625" y="3009900"/>
            <a:ext cx="1428750" cy="1428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2076450" y="4514850"/>
            <a:ext cx="17049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book</a:t>
            </a:r>
          </a:p>
        </p:txBody>
      </p:sp>
      <p:sp>
        <p:nvSpPr>
          <p:cNvPr id="10" name=""/>
          <p:cNvSpPr/>
          <p:nvPr/>
        </p:nvSpPr>
        <p:spPr>
          <a:xfrm>
            <a:off x="4495800" y="2762250"/>
            <a:ext cx="3200400" cy="2466975"/>
          </a:xfrm>
          <a:prstGeom prst="roundRect">
            <a:avLst>
              <a:gd name="adj" fmla="val 8494"/>
            </a:avLst>
          </a:prstGeom>
          <a:solidFill>
            <a:srgbClr val="FFF2C9"/>
          </a:solidFill>
          <a:ln/>
        </p:spPr>
      </p:sp>
      <p:pic>
        <p:nvPicPr>
          <p:cNvPr id="11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625" y="3009900"/>
            <a:ext cx="1428750" cy="14287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5343525" y="4514850"/>
            <a:ext cx="20859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apple</a:t>
            </a:r>
          </a:p>
        </p:txBody>
      </p:sp>
      <p:sp>
        <p:nvSpPr>
          <p:cNvPr id="13" name=""/>
          <p:cNvSpPr/>
          <p:nvPr/>
        </p:nvSpPr>
        <p:spPr>
          <a:xfrm>
            <a:off x="7924800" y="2762250"/>
            <a:ext cx="3200400" cy="2466975"/>
          </a:xfrm>
          <a:prstGeom prst="roundRect">
            <a:avLst>
              <a:gd name="adj" fmla="val 8494"/>
            </a:avLst>
          </a:prstGeom>
          <a:solidFill>
            <a:srgbClr val="DDEFFC"/>
          </a:solidFill>
          <a:ln/>
        </p:spPr>
      </p:sp>
      <p:pic>
        <p:nvPicPr>
          <p:cNvPr id="14" name="Image 2" descr="太陽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0625" y="3009900"/>
            <a:ext cx="1428750" cy="142875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8877300" y="4514850"/>
            <a:ext cx="18478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sun</a:t>
            </a:r>
          </a:p>
        </p:txBody>
      </p:sp>
      <p:sp>
        <p:nvSpPr>
          <p:cNvPr id="16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933450" y="58959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04900" y="59531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役割</a:t>
            </a:r>
          </a:p>
        </p:txBody>
      </p:sp>
      <p:sp>
        <p:nvSpPr>
          <p:cNvPr id="19" name=""/>
          <p:cNvSpPr txBox="1"/>
          <p:nvPr/>
        </p:nvSpPr>
        <p:spPr>
          <a:xfrm>
            <a:off x="1771650" y="5934075"/>
            <a:ext cx="752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名詞を「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どんな名詞として話しているか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」を、小さく示してくれる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0483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まずは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の2つ</a:t>
            </a:r>
          </a:p>
        </p:txBody>
      </p:sp>
      <p:sp>
        <p:nvSpPr>
          <p:cNvPr id="5" name=""/>
          <p:cNvSpPr/>
          <p:nvPr/>
        </p:nvSpPr>
        <p:spPr>
          <a:xfrm>
            <a:off x="685800" y="2438400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1104900" y="2971800"/>
            <a:ext cx="952500" cy="35242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257300" y="3028950"/>
            <a:ext cx="10858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8" name=""/>
          <p:cNvSpPr txBox="1"/>
          <p:nvPr/>
        </p:nvSpPr>
        <p:spPr>
          <a:xfrm>
            <a:off x="2343150" y="2886075"/>
            <a:ext cx="274320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28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9" name=""/>
          <p:cNvSpPr txBox="1"/>
          <p:nvPr/>
        </p:nvSpPr>
        <p:spPr>
          <a:xfrm>
            <a:off x="8210550" y="2981325"/>
            <a:ext cx="36480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まずはこの2つを理解しよう</a:t>
            </a:r>
          </a:p>
        </p:txBody>
      </p:sp>
      <p:sp>
        <p:nvSpPr>
          <p:cNvPr id="10" name=""/>
          <p:cNvSpPr txBox="1"/>
          <p:nvPr/>
        </p:nvSpPr>
        <p:spPr>
          <a:xfrm>
            <a:off x="5924550" y="3867150"/>
            <a:ext cx="7334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>
                <a:solidFill>
                  <a:srgbClr val="E8461E"/>
                </a:solidFill>
                <a:latin typeface="Noto Sans JP"/>
                <a:ea typeface="Noto Sans JP"/>
              </a:rPr>
              <a:t>↓</a:t>
            </a:r>
          </a:p>
        </p:txBody>
      </p:sp>
      <p:sp>
        <p:nvSpPr>
          <p:cNvPr id="11" name=""/>
          <p:cNvSpPr/>
          <p:nvPr/>
        </p:nvSpPr>
        <p:spPr>
          <a:xfrm>
            <a:off x="685800" y="4362450"/>
            <a:ext cx="10820400" cy="1428750"/>
          </a:xfrm>
          <a:prstGeom prst="rect">
            <a:avLst/>
          </a:prstGeom>
          <a:solidFill>
            <a:srgbClr val="F3F7FC"/>
          </a:solidFill>
          <a:ln w="19050">
            <a:solidFill>
              <a:srgbClr val="D6E2F0"/>
            </a:solidFill>
            <a:prstDash val="dash"/>
          </a:ln>
        </p:spPr>
      </p:sp>
      <p:sp>
        <p:nvSpPr>
          <p:cNvPr id="12" name=""/>
          <p:cNvSpPr/>
          <p:nvPr/>
        </p:nvSpPr>
        <p:spPr>
          <a:xfrm>
            <a:off x="1123950" y="4895850"/>
            <a:ext cx="990600" cy="352425"/>
          </a:xfrm>
          <a:prstGeom prst="roundRect">
            <a:avLst>
              <a:gd name="adj" fmla="val 50000"/>
            </a:avLst>
          </a:prstGeom>
          <a:solidFill>
            <a:srgbClr val="8A90A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276350" y="4953000"/>
            <a:ext cx="11334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14" name=""/>
          <p:cNvSpPr txBox="1"/>
          <p:nvPr/>
        </p:nvSpPr>
        <p:spPr>
          <a:xfrm>
            <a:off x="2400300" y="4810125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4A5270"/>
                </a:solidFill>
                <a:latin typeface="Noto Sans JP"/>
                <a:ea typeface="Noto Sans JP"/>
              </a:rPr>
              <a:t>冠詞がつかないパターン</a:t>
            </a:r>
          </a:p>
        </p:txBody>
      </p:sp>
      <p:sp>
        <p:nvSpPr>
          <p:cNvPr id="15" name=""/>
          <p:cNvSpPr txBox="1"/>
          <p:nvPr/>
        </p:nvSpPr>
        <p:spPr>
          <a:xfrm>
            <a:off x="8791575" y="4905375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そのあとで説明します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6766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の使い方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5286375" cy="4676775"/>
          </a:xfrm>
          <a:prstGeom prst="roundRect">
            <a:avLst>
              <a:gd name="adj" fmla="val 5703"/>
            </a:avLst>
          </a:prstGeom>
          <a:solidFill>
            <a:srgbClr val="FFE8DC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66800" y="2838450"/>
            <a:ext cx="22193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7" name=""/>
          <p:cNvSpPr txBox="1"/>
          <p:nvPr/>
        </p:nvSpPr>
        <p:spPr>
          <a:xfrm>
            <a:off x="1066800" y="3533775"/>
            <a:ext cx="43719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たくさんある中の</a:t>
            </a:r>
          </a:p>
        </p:txBody>
      </p:sp>
      <p:sp>
        <p:nvSpPr>
          <p:cNvPr id="8" name=""/>
          <p:cNvSpPr txBox="1"/>
          <p:nvPr/>
        </p:nvSpPr>
        <p:spPr>
          <a:xfrm>
            <a:off x="1066800" y="4124325"/>
            <a:ext cx="21621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「1つ」</a:t>
            </a:r>
          </a:p>
        </p:txBody>
      </p:sp>
      <p:sp>
        <p:nvSpPr>
          <p:cNvPr id="9" name=""/>
          <p:cNvSpPr/>
          <p:nvPr/>
        </p:nvSpPr>
        <p:spPr>
          <a:xfrm>
            <a:off x="1066800" y="4943475"/>
            <a:ext cx="1095375" cy="4286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238250" y="5000625"/>
            <a:ext cx="1209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1つの〜</a:t>
            </a:r>
          </a:p>
        </p:txBody>
      </p:sp>
      <p:sp>
        <p:nvSpPr>
          <p:cNvPr id="11" name=""/>
          <p:cNvSpPr/>
          <p:nvPr/>
        </p:nvSpPr>
        <p:spPr>
          <a:xfrm>
            <a:off x="2276475" y="4943475"/>
            <a:ext cx="971550" cy="4286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2447925" y="5000625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ある〜</a:t>
            </a:r>
          </a:p>
        </p:txBody>
      </p:sp>
      <p:sp>
        <p:nvSpPr>
          <p:cNvPr id="13" name=""/>
          <p:cNvSpPr txBox="1"/>
          <p:nvPr/>
        </p:nvSpPr>
        <p:spPr>
          <a:xfrm>
            <a:off x="3362325" y="5000625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という感覚</a:t>
            </a:r>
          </a:p>
        </p:txBody>
      </p:sp>
      <p:sp>
        <p:nvSpPr>
          <p:cNvPr id="14" name=""/>
          <p:cNvSpPr/>
          <p:nvPr/>
        </p:nvSpPr>
        <p:spPr>
          <a:xfrm>
            <a:off x="6219825" y="1762125"/>
            <a:ext cx="5286375" cy="4676775"/>
          </a:xfrm>
          <a:prstGeom prst="roundRect">
            <a:avLst>
              <a:gd name="adj" fmla="val 5703"/>
            </a:avLst>
          </a:prstGeom>
          <a:solidFill>
            <a:srgbClr val="FFFFFF"/>
          </a:solidFill>
          <a:ln/>
        </p:spPr>
      </p:sp>
      <p:pic>
        <p:nvPicPr>
          <p:cNvPr id="15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2750" y="2505075"/>
            <a:ext cx="1066800" cy="1066800"/>
          </a:xfrm>
          <a:prstGeom prst="rect">
            <a:avLst/>
          </a:prstGeom>
        </p:spPr>
      </p:pic>
      <p:pic>
        <p:nvPicPr>
          <p:cNvPr id="16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375" y="2505075"/>
            <a:ext cx="1066800" cy="1066800"/>
          </a:xfrm>
          <a:prstGeom prst="rect">
            <a:avLst/>
          </a:prstGeom>
        </p:spPr>
      </p:pic>
      <p:pic>
        <p:nvPicPr>
          <p:cNvPr id="17" name="Image 2" descr="りん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0" y="2505075"/>
            <a:ext cx="1066800" cy="1066800"/>
          </a:xfrm>
          <a:prstGeom prst="rect">
            <a:avLst/>
          </a:prstGeom>
        </p:spPr>
      </p:pic>
      <p:pic>
        <p:nvPicPr>
          <p:cNvPr id="18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750" y="4629150"/>
            <a:ext cx="1066800" cy="1066800"/>
          </a:xfrm>
          <a:prstGeom prst="rect">
            <a:avLst/>
          </a:prstGeom>
        </p:spPr>
      </p:pic>
      <p:sp>
        <p:nvSpPr>
          <p:cNvPr id="19" name=""/>
          <p:cNvSpPr/>
          <p:nvPr/>
        </p:nvSpPr>
        <p:spPr>
          <a:xfrm>
            <a:off x="8153400" y="4448175"/>
            <a:ext cx="1428750" cy="1428750"/>
          </a:xfrm>
          <a:prstGeom prst="ellipse">
            <a:avLst/>
          </a:prstGeom>
          <a:solidFill>
            <a:srgbClr val="FFE8DC"/>
          </a:solidFill>
          <a:ln w="38100">
            <a:solidFill>
              <a:srgbClr val="E8461E"/>
            </a:solidFill>
            <a:prstDash val="solid"/>
          </a:ln>
        </p:spPr>
      </p:sp>
      <p:pic>
        <p:nvPicPr>
          <p:cNvPr id="20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375" y="4629150"/>
            <a:ext cx="1066800" cy="1066800"/>
          </a:xfrm>
          <a:prstGeom prst="rect">
            <a:avLst/>
          </a:prstGeom>
        </p:spPr>
      </p:pic>
      <p:sp>
        <p:nvSpPr>
          <p:cNvPr id="21" name=""/>
          <p:cNvSpPr/>
          <p:nvPr/>
        </p:nvSpPr>
        <p:spPr>
          <a:xfrm>
            <a:off x="8505825" y="5648325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2" name=""/>
          <p:cNvSpPr txBox="1"/>
          <p:nvPr/>
        </p:nvSpPr>
        <p:spPr>
          <a:xfrm>
            <a:off x="8524875" y="5676900"/>
            <a:ext cx="6762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1つ</a:t>
            </a:r>
          </a:p>
        </p:txBody>
      </p:sp>
      <p:pic>
        <p:nvPicPr>
          <p:cNvPr id="23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4629150"/>
            <a:ext cx="1066800" cy="1066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1908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の例文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5305425" cy="1724025"/>
          </a:xfrm>
          <a:prstGeom prst="roundRect">
            <a:avLst>
              <a:gd name="adj" fmla="val 14365"/>
            </a:avLst>
          </a:prstGeom>
          <a:solidFill>
            <a:srgbClr val="FFE8DC"/>
          </a:solidFill>
          <a:ln/>
        </p:spPr>
      </p:sp>
      <p:pic>
        <p:nvPicPr>
          <p:cNvPr id="6" name="Image 0" descr="バッ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1981200"/>
            <a:ext cx="1295400" cy="12954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2400300" y="2257425"/>
            <a:ext cx="274320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bag.</a:t>
            </a:r>
          </a:p>
        </p:txBody>
      </p:sp>
      <p:sp>
        <p:nvSpPr>
          <p:cNvPr id="8" name=""/>
          <p:cNvSpPr txBox="1"/>
          <p:nvPr/>
        </p:nvSpPr>
        <p:spPr>
          <a:xfrm>
            <a:off x="2400300" y="2724150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私はバッグを1つ買いました。</a:t>
            </a:r>
          </a:p>
        </p:txBody>
      </p:sp>
      <p:sp>
        <p:nvSpPr>
          <p:cNvPr id="9" name=""/>
          <p:cNvSpPr/>
          <p:nvPr/>
        </p:nvSpPr>
        <p:spPr>
          <a:xfrm>
            <a:off x="6200775" y="1762125"/>
            <a:ext cx="5305425" cy="1724025"/>
          </a:xfrm>
          <a:prstGeom prst="roundRect">
            <a:avLst>
              <a:gd name="adj" fmla="val 14365"/>
            </a:avLst>
          </a:prstGeom>
          <a:solidFill>
            <a:srgbClr val="FFF2C9"/>
          </a:solidFill>
          <a:ln/>
        </p:spPr>
      </p:sp>
      <p:pic>
        <p:nvPicPr>
          <p:cNvPr id="10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325" y="1981200"/>
            <a:ext cx="1295400" cy="129540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7915275" y="2066925"/>
            <a:ext cx="211455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saw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2" name=""/>
          <p:cNvSpPr txBox="1"/>
          <p:nvPr/>
        </p:nvSpPr>
        <p:spPr>
          <a:xfrm>
            <a:off x="7915275" y="2438400"/>
            <a:ext cx="2181225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in the park.</a:t>
            </a:r>
          </a:p>
        </p:txBody>
      </p:sp>
      <p:sp>
        <p:nvSpPr>
          <p:cNvPr id="13" name=""/>
          <p:cNvSpPr txBox="1"/>
          <p:nvPr/>
        </p:nvSpPr>
        <p:spPr>
          <a:xfrm>
            <a:off x="7915275" y="2905125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私は公園で犬を1匹見ました。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3695700"/>
            <a:ext cx="5305425" cy="1724025"/>
          </a:xfrm>
          <a:prstGeom prst="roundRect">
            <a:avLst>
              <a:gd name="adj" fmla="val 14365"/>
            </a:avLst>
          </a:prstGeom>
          <a:solidFill>
            <a:srgbClr val="FFE4EC"/>
          </a:solidFill>
          <a:ln/>
        </p:spPr>
      </p:sp>
      <p:pic>
        <p:nvPicPr>
          <p:cNvPr id="15" name="Image 2" descr="先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3914775"/>
            <a:ext cx="1295400" cy="12954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400300" y="4191000"/>
            <a:ext cx="3038475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teacher.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2400300" y="4648200"/>
            <a:ext cx="1990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彼女は先生です。</a:t>
            </a:r>
          </a:p>
        </p:txBody>
      </p:sp>
      <p:sp>
        <p:nvSpPr>
          <p:cNvPr id="18" name=""/>
          <p:cNvSpPr/>
          <p:nvPr/>
        </p:nvSpPr>
        <p:spPr>
          <a:xfrm>
            <a:off x="6200775" y="3695700"/>
            <a:ext cx="5305425" cy="1724025"/>
          </a:xfrm>
          <a:prstGeom prst="roundRect">
            <a:avLst>
              <a:gd name="adj" fmla="val 14365"/>
            </a:avLst>
          </a:prstGeom>
          <a:solidFill>
            <a:srgbClr val="DDEFFC"/>
          </a:solidFill>
          <a:ln/>
        </p:spPr>
      </p:sp>
      <p:pic>
        <p:nvPicPr>
          <p:cNvPr id="19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325" y="3914775"/>
            <a:ext cx="1295400" cy="12954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7915275" y="4191000"/>
            <a:ext cx="262890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ate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apple.</a:t>
            </a:r>
          </a:p>
        </p:txBody>
      </p:sp>
      <p:sp>
        <p:nvSpPr>
          <p:cNvPr id="21" name=""/>
          <p:cNvSpPr txBox="1"/>
          <p:nvPr/>
        </p:nvSpPr>
        <p:spPr>
          <a:xfrm>
            <a:off x="7915275" y="4648200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私はリンゴを1個食べました。</a:t>
            </a:r>
          </a:p>
        </p:txBody>
      </p:sp>
      <p:sp>
        <p:nvSpPr>
          <p:cNvPr id="22" name=""/>
          <p:cNvSpPr/>
          <p:nvPr/>
        </p:nvSpPr>
        <p:spPr>
          <a:xfrm>
            <a:off x="685800" y="5629275"/>
            <a:ext cx="10820400" cy="80962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933450" y="5848350"/>
            <a:ext cx="13716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4" name=""/>
          <p:cNvSpPr txBox="1"/>
          <p:nvPr/>
        </p:nvSpPr>
        <p:spPr>
          <a:xfrm>
            <a:off x="1104900" y="59055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よく使う場面</a:t>
            </a:r>
          </a:p>
        </p:txBody>
      </p:sp>
      <p:sp>
        <p:nvSpPr>
          <p:cNvPr id="25" name=""/>
          <p:cNvSpPr/>
          <p:nvPr/>
        </p:nvSpPr>
        <p:spPr>
          <a:xfrm>
            <a:off x="2571750" y="5886450"/>
            <a:ext cx="304800" cy="3048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6" name=""/>
          <p:cNvSpPr txBox="1"/>
          <p:nvPr/>
        </p:nvSpPr>
        <p:spPr>
          <a:xfrm>
            <a:off x="2524125" y="5934075"/>
            <a:ext cx="4095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7" name=""/>
          <p:cNvSpPr txBox="1"/>
          <p:nvPr/>
        </p:nvSpPr>
        <p:spPr>
          <a:xfrm>
            <a:off x="2990850" y="5886450"/>
            <a:ext cx="1933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「1つ」のとき</a:t>
            </a:r>
          </a:p>
        </p:txBody>
      </p:sp>
      <p:sp>
        <p:nvSpPr>
          <p:cNvPr id="28" name=""/>
          <p:cNvSpPr/>
          <p:nvPr/>
        </p:nvSpPr>
        <p:spPr>
          <a:xfrm>
            <a:off x="4638675" y="5886450"/>
            <a:ext cx="304800" cy="3048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9" name=""/>
          <p:cNvSpPr txBox="1"/>
          <p:nvPr/>
        </p:nvSpPr>
        <p:spPr>
          <a:xfrm>
            <a:off x="4562475" y="5934075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0" name=""/>
          <p:cNvSpPr txBox="1"/>
          <p:nvPr/>
        </p:nvSpPr>
        <p:spPr>
          <a:xfrm>
            <a:off x="5057775" y="5762625"/>
            <a:ext cx="37052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一般的なものを指しているとき</a:t>
            </a:r>
          </a:p>
        </p:txBody>
      </p:sp>
      <p:sp>
        <p:nvSpPr>
          <p:cNvPr id="31" name=""/>
          <p:cNvSpPr txBox="1"/>
          <p:nvPr/>
        </p:nvSpPr>
        <p:spPr>
          <a:xfrm>
            <a:off x="5057775" y="6067425"/>
            <a:ext cx="3867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（特定のものを話しているわけではない）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80010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職業を言うときも、基本的に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sp>
        <p:nvSpPr>
          <p:cNvPr id="7" name=""/>
          <p:cNvSpPr txBox="1"/>
          <p:nvPr/>
        </p:nvSpPr>
        <p:spPr>
          <a:xfrm>
            <a:off x="1104900" y="2362200"/>
            <a:ext cx="36480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8" name=""/>
          <p:cNvSpPr txBox="1"/>
          <p:nvPr/>
        </p:nvSpPr>
        <p:spPr>
          <a:xfrm>
            <a:off x="1104900" y="300037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pic>
        <p:nvPicPr>
          <p:cNvPr id="9" name="Image 0" descr="看護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925" y="3962400"/>
            <a:ext cx="2476500" cy="2476500"/>
          </a:xfrm>
          <a:prstGeom prst="rect">
            <a:avLst/>
          </a:prstGeom>
        </p:spPr>
      </p:pic>
      <p:sp>
        <p:nvSpPr>
          <p:cNvPr id="10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DDEFF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6638925" y="2362200"/>
            <a:ext cx="44196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6638925" y="3000375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pic>
        <p:nvPicPr>
          <p:cNvPr id="13" name="Image 1" descr="エンジニ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3950" y="3962400"/>
            <a:ext cx="2476500" cy="2476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4671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sp>
        <p:nvSpPr>
          <p:cNvPr id="5" name=""/>
          <p:cNvSpPr/>
          <p:nvPr/>
        </p:nvSpPr>
        <p:spPr>
          <a:xfrm>
            <a:off x="685800" y="17049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621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7" name=""/>
          <p:cNvSpPr txBox="1"/>
          <p:nvPr/>
        </p:nvSpPr>
        <p:spPr>
          <a:xfrm>
            <a:off x="1676400" y="1714500"/>
            <a:ext cx="4333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次に来る単語の</a:t>
            </a:r>
            <a:pPr/>
            <a:r>
              <a:rPr sz="19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「音」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で決まる</a:t>
            </a:r>
          </a:p>
        </p:txBody>
      </p:sp>
      <p:sp>
        <p:nvSpPr>
          <p:cNvPr id="8" name=""/>
          <p:cNvSpPr/>
          <p:nvPr/>
        </p:nvSpPr>
        <p:spPr>
          <a:xfrm>
            <a:off x="685800" y="2286000"/>
            <a:ext cx="5286375" cy="4152900"/>
          </a:xfrm>
          <a:prstGeom prst="roundRect">
            <a:avLst>
              <a:gd name="adj" fmla="val 6422"/>
            </a:avLst>
          </a:prstGeom>
          <a:solidFill>
            <a:srgbClr val="FFE8DC"/>
          </a:solidFill>
          <a:ln/>
        </p:spPr>
      </p:sp>
      <p:sp>
        <p:nvSpPr>
          <p:cNvPr id="9" name=""/>
          <p:cNvSpPr/>
          <p:nvPr/>
        </p:nvSpPr>
        <p:spPr>
          <a:xfrm>
            <a:off x="1009650" y="2533650"/>
            <a:ext cx="704850" cy="704850"/>
          </a:xfrm>
          <a:prstGeom prst="roundRect">
            <a:avLst>
              <a:gd name="adj" fmla="val 27027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085850" y="2676525"/>
            <a:ext cx="5619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1" name=""/>
          <p:cNvSpPr txBox="1"/>
          <p:nvPr/>
        </p:nvSpPr>
        <p:spPr>
          <a:xfrm>
            <a:off x="1885950" y="2600325"/>
            <a:ext cx="2905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子音の音から始まる</a:t>
            </a:r>
          </a:p>
        </p:txBody>
      </p:sp>
      <p:sp>
        <p:nvSpPr>
          <p:cNvPr id="12" name=""/>
          <p:cNvSpPr txBox="1"/>
          <p:nvPr/>
        </p:nvSpPr>
        <p:spPr>
          <a:xfrm>
            <a:off x="1885950" y="292417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（母音以外の音）</a:t>
            </a:r>
          </a:p>
        </p:txBody>
      </p:sp>
      <p:sp>
        <p:nvSpPr>
          <p:cNvPr id="13" name=""/>
          <p:cNvSpPr/>
          <p:nvPr/>
        </p:nvSpPr>
        <p:spPr>
          <a:xfrm>
            <a:off x="1009650" y="3371850"/>
            <a:ext cx="4638675" cy="2819400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/>
        </p:spPr>
      </p:sp>
      <p:pic>
        <p:nvPicPr>
          <p:cNvPr id="14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50" y="3524250"/>
            <a:ext cx="704850" cy="70485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133600" y="3676650"/>
            <a:ext cx="14859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book</a:t>
            </a:r>
          </a:p>
        </p:txBody>
      </p:sp>
      <p:sp>
        <p:nvSpPr>
          <p:cNvPr id="16" name=""/>
          <p:cNvSpPr/>
          <p:nvPr/>
        </p:nvSpPr>
        <p:spPr>
          <a:xfrm>
            <a:off x="1238250" y="4419600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17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4429125"/>
            <a:ext cx="704850" cy="70485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2133600" y="4581525"/>
            <a:ext cx="12668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9" name=""/>
          <p:cNvSpPr/>
          <p:nvPr/>
        </p:nvSpPr>
        <p:spPr>
          <a:xfrm>
            <a:off x="1238250" y="5324475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20" name="Image 2" descr="えんぴつ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50" y="5334000"/>
            <a:ext cx="704850" cy="70485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2133600" y="5486400"/>
            <a:ext cx="16764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pencil</a:t>
            </a:r>
          </a:p>
        </p:txBody>
      </p:sp>
      <p:sp>
        <p:nvSpPr>
          <p:cNvPr id="22" name=""/>
          <p:cNvSpPr/>
          <p:nvPr/>
        </p:nvSpPr>
        <p:spPr>
          <a:xfrm>
            <a:off x="6219825" y="2286000"/>
            <a:ext cx="5286375" cy="4152900"/>
          </a:xfrm>
          <a:prstGeom prst="roundRect">
            <a:avLst>
              <a:gd name="adj" fmla="val 6422"/>
            </a:avLst>
          </a:prstGeom>
          <a:solidFill>
            <a:srgbClr val="FFF2C9"/>
          </a:solidFill>
          <a:ln/>
        </p:spPr>
      </p:sp>
      <p:sp>
        <p:nvSpPr>
          <p:cNvPr id="23" name=""/>
          <p:cNvSpPr/>
          <p:nvPr/>
        </p:nvSpPr>
        <p:spPr>
          <a:xfrm>
            <a:off x="6543675" y="2533650"/>
            <a:ext cx="704850" cy="704850"/>
          </a:xfrm>
          <a:prstGeom prst="roundRect">
            <a:avLst>
              <a:gd name="adj" fmla="val 27027"/>
            </a:avLst>
          </a:prstGeom>
          <a:solidFill>
            <a:srgbClr val="E8461E"/>
          </a:solidFill>
          <a:ln/>
        </p:spPr>
      </p:sp>
      <p:sp>
        <p:nvSpPr>
          <p:cNvPr id="24" name=""/>
          <p:cNvSpPr txBox="1"/>
          <p:nvPr/>
        </p:nvSpPr>
        <p:spPr>
          <a:xfrm>
            <a:off x="6496050" y="2676525"/>
            <a:ext cx="7905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25" name=""/>
          <p:cNvSpPr txBox="1"/>
          <p:nvPr/>
        </p:nvSpPr>
        <p:spPr>
          <a:xfrm>
            <a:off x="7419975" y="2600325"/>
            <a:ext cx="2905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母音の音から始まる</a:t>
            </a:r>
          </a:p>
        </p:txBody>
      </p:sp>
      <p:sp>
        <p:nvSpPr>
          <p:cNvPr id="26" name=""/>
          <p:cNvSpPr txBox="1"/>
          <p:nvPr/>
        </p:nvSpPr>
        <p:spPr>
          <a:xfrm>
            <a:off x="7419975" y="2924175"/>
            <a:ext cx="3181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（ア・イ・ウ・エ・オ に近い音）</a:t>
            </a:r>
          </a:p>
        </p:txBody>
      </p:sp>
      <p:sp>
        <p:nvSpPr>
          <p:cNvPr id="27" name=""/>
          <p:cNvSpPr/>
          <p:nvPr/>
        </p:nvSpPr>
        <p:spPr>
          <a:xfrm>
            <a:off x="6543675" y="3371850"/>
            <a:ext cx="4638675" cy="2819400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/>
        </p:spPr>
      </p:sp>
      <p:pic>
        <p:nvPicPr>
          <p:cNvPr id="28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275" y="3524250"/>
            <a:ext cx="704850" cy="704850"/>
          </a:xfrm>
          <a:prstGeom prst="rect">
            <a:avLst/>
          </a:prstGeom>
        </p:spPr>
      </p:pic>
      <p:sp>
        <p:nvSpPr>
          <p:cNvPr id="29" name=""/>
          <p:cNvSpPr txBox="1"/>
          <p:nvPr/>
        </p:nvSpPr>
        <p:spPr>
          <a:xfrm>
            <a:off x="7667625" y="3676650"/>
            <a:ext cx="18097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apple</a:t>
            </a:r>
          </a:p>
        </p:txBody>
      </p:sp>
      <p:sp>
        <p:nvSpPr>
          <p:cNvPr id="30" name=""/>
          <p:cNvSpPr/>
          <p:nvPr/>
        </p:nvSpPr>
        <p:spPr>
          <a:xfrm>
            <a:off x="6772275" y="4419600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31" name="Image 4" descr="卵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275" y="4429125"/>
            <a:ext cx="704850" cy="704850"/>
          </a:xfrm>
          <a:prstGeom prst="rect">
            <a:avLst/>
          </a:prstGeom>
        </p:spPr>
      </p:pic>
      <p:sp>
        <p:nvSpPr>
          <p:cNvPr id="32" name=""/>
          <p:cNvSpPr txBox="1"/>
          <p:nvPr/>
        </p:nvSpPr>
        <p:spPr>
          <a:xfrm>
            <a:off x="7667625" y="4581525"/>
            <a:ext cx="14668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egg</a:t>
            </a:r>
          </a:p>
        </p:txBody>
      </p:sp>
      <p:sp>
        <p:nvSpPr>
          <p:cNvPr id="33" name=""/>
          <p:cNvSpPr/>
          <p:nvPr/>
        </p:nvSpPr>
        <p:spPr>
          <a:xfrm>
            <a:off x="6772275" y="5324475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34" name="Image 5" descr="時計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2275" y="5334000"/>
            <a:ext cx="704850" cy="704850"/>
          </a:xfrm>
          <a:prstGeom prst="rect">
            <a:avLst/>
          </a:prstGeom>
        </p:spPr>
      </p:pic>
      <p:sp>
        <p:nvSpPr>
          <p:cNvPr id="35" name=""/>
          <p:cNvSpPr txBox="1"/>
          <p:nvPr/>
        </p:nvSpPr>
        <p:spPr>
          <a:xfrm>
            <a:off x="7667625" y="5486400"/>
            <a:ext cx="16383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hour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5438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スペルではなく</a:t>
            </a:r>
            <a:pPr/>
            <a:r>
              <a:rPr sz="330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「音」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で判断する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286375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</p:spPr>
      </p:sp>
      <p:pic>
        <p:nvPicPr>
          <p:cNvPr id="7" name="Image 0" descr="大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650" y="2209800"/>
            <a:ext cx="1333500" cy="13335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552700" y="2343150"/>
            <a:ext cx="3305175" cy="695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E8461E"/>
                </a:solidFill>
                <a:latin typeface="DM Sans"/>
                <a:ea typeface="DM Sans"/>
              </a:rPr>
              <a:t>u</a:t>
            </a:r>
            <a:pPr/>
            <a:r>
              <a:rPr sz="4200" b="1">
                <a:solidFill>
                  <a:srgbClr val="1C2340"/>
                </a:solidFill>
                <a:latin typeface="DM Sans"/>
                <a:ea typeface="DM Sans"/>
              </a:rPr>
              <a:t>niversity</a:t>
            </a:r>
          </a:p>
        </p:txBody>
      </p:sp>
      <p:sp>
        <p:nvSpPr>
          <p:cNvPr id="9" name=""/>
          <p:cNvSpPr txBox="1"/>
          <p:nvPr/>
        </p:nvSpPr>
        <p:spPr>
          <a:xfrm>
            <a:off x="2552700" y="3076575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「</a:t>
            </a:r>
            <a:pPr/>
            <a:r>
              <a:rPr sz="1800" b="1">
                <a:solidFill>
                  <a:srgbClr val="E8461E"/>
                </a:solidFill>
                <a:latin typeface="Noto Sans JP"/>
                <a:ea typeface="Noto Sans JP"/>
              </a:rPr>
              <a:t>ユ</a:t>
            </a:r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ニバーシティ」</a:t>
            </a:r>
          </a:p>
        </p:txBody>
      </p:sp>
      <p:sp>
        <p:nvSpPr>
          <p:cNvPr id="10" name=""/>
          <p:cNvSpPr/>
          <p:nvPr/>
        </p:nvSpPr>
        <p:spPr>
          <a:xfrm>
            <a:off x="1009650" y="3686175"/>
            <a:ext cx="4638675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1009650" y="3867150"/>
            <a:ext cx="3848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u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 で始まるけど、音は「</a:t>
            </a:r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ユ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12" name=""/>
          <p:cNvSpPr txBox="1"/>
          <p:nvPr/>
        </p:nvSpPr>
        <p:spPr>
          <a:xfrm>
            <a:off x="1009650" y="4276725"/>
            <a:ext cx="17811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→ 子音の音</a:t>
            </a:r>
          </a:p>
        </p:txBody>
      </p:sp>
      <p:sp>
        <p:nvSpPr>
          <p:cNvPr id="13" name=""/>
          <p:cNvSpPr/>
          <p:nvPr/>
        </p:nvSpPr>
        <p:spPr>
          <a:xfrm>
            <a:off x="1009650" y="5543550"/>
            <a:ext cx="2657475" cy="647700"/>
          </a:xfrm>
          <a:prstGeom prst="roundRect">
            <a:avLst>
              <a:gd name="adj" fmla="val 23529"/>
            </a:avLst>
          </a:prstGeom>
          <a:solidFill>
            <a:srgbClr val="FFE8DC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257300" y="5619750"/>
            <a:ext cx="28289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university</a:t>
            </a:r>
          </a:p>
        </p:txBody>
      </p:sp>
      <p:sp>
        <p:nvSpPr>
          <p:cNvPr id="15" name=""/>
          <p:cNvSpPr/>
          <p:nvPr/>
        </p:nvSpPr>
        <p:spPr>
          <a:xfrm>
            <a:off x="6219825" y="1962150"/>
            <a:ext cx="5286375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</p:spPr>
      </p:sp>
      <p:pic>
        <p:nvPicPr>
          <p:cNvPr id="16" name="Image 1" descr="時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675" y="2209800"/>
            <a:ext cx="1333500" cy="13335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8086725" y="2343150"/>
            <a:ext cx="1714500" cy="695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C3C8D6"/>
                </a:solidFill>
                <a:latin typeface="DM Sans"/>
                <a:ea typeface="DM Sans"/>
              </a:rPr>
              <a:t>h</a:t>
            </a:r>
            <a:pPr/>
            <a:r>
              <a:rPr sz="4200" b="1">
                <a:solidFill>
                  <a:srgbClr val="1C2340"/>
                </a:solidFill>
                <a:latin typeface="DM Sans"/>
                <a:ea typeface="DM Sans"/>
              </a:rPr>
              <a:t>our</a:t>
            </a:r>
          </a:p>
        </p:txBody>
      </p:sp>
      <p:sp>
        <p:nvSpPr>
          <p:cNvPr id="18" name=""/>
          <p:cNvSpPr txBox="1"/>
          <p:nvPr/>
        </p:nvSpPr>
        <p:spPr>
          <a:xfrm>
            <a:off x="8086725" y="3076575"/>
            <a:ext cx="165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「</a:t>
            </a:r>
            <a:pPr/>
            <a:r>
              <a:rPr sz="1800" b="1">
                <a:solidFill>
                  <a:srgbClr val="E8461E"/>
                </a:solidFill>
                <a:latin typeface="Noto Sans JP"/>
                <a:ea typeface="Noto Sans JP"/>
              </a:rPr>
              <a:t>ア</a:t>
            </a:r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ワー」</a:t>
            </a:r>
          </a:p>
        </p:txBody>
      </p:sp>
      <p:sp>
        <p:nvSpPr>
          <p:cNvPr id="19" name=""/>
          <p:cNvSpPr/>
          <p:nvPr/>
        </p:nvSpPr>
        <p:spPr>
          <a:xfrm>
            <a:off x="6543675" y="3686175"/>
            <a:ext cx="4638675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20" name=""/>
          <p:cNvSpPr txBox="1"/>
          <p:nvPr/>
        </p:nvSpPr>
        <p:spPr>
          <a:xfrm>
            <a:off x="6543675" y="3867150"/>
            <a:ext cx="44005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h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 は発音しないので、音は「</a:t>
            </a:r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ア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21" name=""/>
          <p:cNvSpPr txBox="1"/>
          <p:nvPr/>
        </p:nvSpPr>
        <p:spPr>
          <a:xfrm>
            <a:off x="6543675" y="4276725"/>
            <a:ext cx="17811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→ 母音の音</a:t>
            </a:r>
          </a:p>
        </p:txBody>
      </p:sp>
      <p:sp>
        <p:nvSpPr>
          <p:cNvPr id="22" name=""/>
          <p:cNvSpPr/>
          <p:nvPr/>
        </p:nvSpPr>
        <p:spPr>
          <a:xfrm>
            <a:off x="6543675" y="5543550"/>
            <a:ext cx="1895475" cy="647700"/>
          </a:xfrm>
          <a:prstGeom prst="roundRect">
            <a:avLst>
              <a:gd name="adj" fmla="val 23529"/>
            </a:avLst>
          </a:prstGeom>
          <a:solidFill>
            <a:srgbClr val="FFE8DC"/>
          </a:solidFill>
          <a:ln/>
        </p:spPr>
      </p:sp>
      <p:sp>
        <p:nvSpPr>
          <p:cNvPr id="23" name=""/>
          <p:cNvSpPr txBox="1"/>
          <p:nvPr/>
        </p:nvSpPr>
        <p:spPr>
          <a:xfrm>
            <a:off x="6791325" y="5619750"/>
            <a:ext cx="19526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hour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1813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の使い方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5286375" cy="3667125"/>
          </a:xfrm>
          <a:prstGeom prst="roundRect">
            <a:avLst>
              <a:gd name="adj" fmla="val 7273"/>
            </a:avLst>
          </a:prstGeom>
          <a:solidFill>
            <a:srgbClr val="DDEFFC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66800" y="2647950"/>
            <a:ext cx="16764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7" name=""/>
          <p:cNvSpPr txBox="1"/>
          <p:nvPr/>
        </p:nvSpPr>
        <p:spPr>
          <a:xfrm>
            <a:off x="1066800" y="3343275"/>
            <a:ext cx="33623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「</a:t>
            </a:r>
            <a:pPr/>
            <a:r>
              <a:rPr sz="3450" b="1">
                <a:solidFill>
                  <a:srgbClr val="2F86CF"/>
                </a:solidFill>
                <a:latin typeface="Noto Sans JP"/>
                <a:ea typeface="Noto Sans JP"/>
              </a:rPr>
              <a:t>それ！</a:t>
            </a:r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」と</a:t>
            </a:r>
          </a:p>
        </p:txBody>
      </p:sp>
      <p:sp>
        <p:nvSpPr>
          <p:cNvPr id="8" name=""/>
          <p:cNvSpPr txBox="1"/>
          <p:nvPr/>
        </p:nvSpPr>
        <p:spPr>
          <a:xfrm>
            <a:off x="1066800" y="3933825"/>
            <a:ext cx="33623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指させるもの</a:t>
            </a:r>
          </a:p>
        </p:txBody>
      </p:sp>
      <p:sp>
        <p:nvSpPr>
          <p:cNvPr id="9" name=""/>
          <p:cNvSpPr/>
          <p:nvPr/>
        </p:nvSpPr>
        <p:spPr>
          <a:xfrm>
            <a:off x="6219825" y="1762125"/>
            <a:ext cx="5286375" cy="3667125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pic>
        <p:nvPicPr>
          <p:cNvPr id="10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2750" y="2247900"/>
            <a:ext cx="1066800" cy="1066800"/>
          </a:xfrm>
          <a:prstGeom prst="rect">
            <a:avLst/>
          </a:prstGeom>
        </p:spPr>
      </p:pic>
      <p:sp>
        <p:nvSpPr>
          <p:cNvPr id="11" name=""/>
          <p:cNvSpPr/>
          <p:nvPr/>
        </p:nvSpPr>
        <p:spPr>
          <a:xfrm>
            <a:off x="8153400" y="2066925"/>
            <a:ext cx="1428750" cy="142875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12" name="Image 1" descr="青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375" y="2247900"/>
            <a:ext cx="1066800" cy="106680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8505825" y="3267075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0" y="3295650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pic>
        <p:nvPicPr>
          <p:cNvPr id="15" name="Image 2" descr="りん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0" y="2247900"/>
            <a:ext cx="1066800" cy="1066800"/>
          </a:xfrm>
          <a:prstGeom prst="rect">
            <a:avLst/>
          </a:prstGeom>
        </p:spPr>
      </p:pic>
      <p:pic>
        <p:nvPicPr>
          <p:cNvPr id="16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750" y="3876675"/>
            <a:ext cx="1066800" cy="1066800"/>
          </a:xfrm>
          <a:prstGeom prst="rect">
            <a:avLst/>
          </a:prstGeom>
        </p:spPr>
      </p:pic>
      <p:pic>
        <p:nvPicPr>
          <p:cNvPr id="17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375" y="3876675"/>
            <a:ext cx="1066800" cy="1066800"/>
          </a:xfrm>
          <a:prstGeom prst="rect">
            <a:avLst/>
          </a:prstGeom>
        </p:spPr>
      </p:pic>
      <p:pic>
        <p:nvPicPr>
          <p:cNvPr id="18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3876675"/>
            <a:ext cx="1066800" cy="1066800"/>
          </a:xfrm>
          <a:prstGeom prst="rect">
            <a:avLst/>
          </a:prstGeom>
        </p:spPr>
      </p:pic>
      <p:sp>
        <p:nvSpPr>
          <p:cNvPr id="19" name=""/>
          <p:cNvSpPr/>
          <p:nvPr/>
        </p:nvSpPr>
        <p:spPr>
          <a:xfrm>
            <a:off x="685800" y="5600700"/>
            <a:ext cx="5314950" cy="838200"/>
          </a:xfrm>
          <a:prstGeom prst="roundRect">
            <a:avLst>
              <a:gd name="adj" fmla="val 31818"/>
            </a:avLst>
          </a:prstGeom>
          <a:solidFill>
            <a:srgbClr val="FFE8D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914400" y="5838825"/>
            <a:ext cx="17430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an apple</a:t>
            </a:r>
          </a:p>
        </p:txBody>
      </p:sp>
      <p:sp>
        <p:nvSpPr>
          <p:cNvPr id="21" name=""/>
          <p:cNvSpPr txBox="1"/>
          <p:nvPr/>
        </p:nvSpPr>
        <p:spPr>
          <a:xfrm>
            <a:off x="2286000" y="5734050"/>
            <a:ext cx="17145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どれでもいい</a:t>
            </a:r>
          </a:p>
        </p:txBody>
      </p:sp>
      <p:sp>
        <p:nvSpPr>
          <p:cNvPr id="22" name=""/>
          <p:cNvSpPr txBox="1"/>
          <p:nvPr/>
        </p:nvSpPr>
        <p:spPr>
          <a:xfrm>
            <a:off x="2286000" y="6019800"/>
            <a:ext cx="13906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りんご1つ</a:t>
            </a:r>
          </a:p>
        </p:txBody>
      </p:sp>
      <p:sp>
        <p:nvSpPr>
          <p:cNvPr id="23" name=""/>
          <p:cNvSpPr/>
          <p:nvPr/>
        </p:nvSpPr>
        <p:spPr>
          <a:xfrm>
            <a:off x="6191250" y="5600700"/>
            <a:ext cx="5314950" cy="838200"/>
          </a:xfrm>
          <a:prstGeom prst="roundRect">
            <a:avLst>
              <a:gd name="adj" fmla="val 31818"/>
            </a:avLst>
          </a:prstGeom>
          <a:solidFill>
            <a:srgbClr val="DDEFFC"/>
          </a:solidFill>
          <a:ln/>
        </p:spPr>
      </p:sp>
      <p:sp>
        <p:nvSpPr>
          <p:cNvPr id="24" name=""/>
          <p:cNvSpPr txBox="1"/>
          <p:nvPr/>
        </p:nvSpPr>
        <p:spPr>
          <a:xfrm>
            <a:off x="6419850" y="5838825"/>
            <a:ext cx="18859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 apple</a:t>
            </a:r>
          </a:p>
        </p:txBody>
      </p:sp>
      <p:sp>
        <p:nvSpPr>
          <p:cNvPr id="25" name=""/>
          <p:cNvSpPr txBox="1"/>
          <p:nvPr/>
        </p:nvSpPr>
        <p:spPr>
          <a:xfrm>
            <a:off x="7915275" y="5734050"/>
            <a:ext cx="26479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「それ！」と指させる</a:t>
            </a:r>
          </a:p>
        </p:txBody>
      </p:sp>
      <p:sp>
        <p:nvSpPr>
          <p:cNvPr id="26" name=""/>
          <p:cNvSpPr txBox="1"/>
          <p:nvPr/>
        </p:nvSpPr>
        <p:spPr>
          <a:xfrm>
            <a:off x="7915275" y="6019800"/>
            <a:ext cx="2409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その（緑の）りんご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26955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の例文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5314950" cy="9525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14400" y="2019300"/>
            <a:ext cx="361950" cy="36195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7" name=""/>
          <p:cNvSpPr txBox="1"/>
          <p:nvPr/>
        </p:nvSpPr>
        <p:spPr>
          <a:xfrm>
            <a:off x="885825" y="2085975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1409700" y="204787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特定のもの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を指しているとき</a:t>
            </a:r>
          </a:p>
        </p:txBody>
      </p:sp>
      <p:sp>
        <p:nvSpPr>
          <p:cNvPr id="9" name=""/>
          <p:cNvSpPr/>
          <p:nvPr/>
        </p:nvSpPr>
        <p:spPr>
          <a:xfrm>
            <a:off x="6191250" y="1724025"/>
            <a:ext cx="5314950" cy="9525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sp>
        <p:nvSpPr>
          <p:cNvPr id="10" name=""/>
          <p:cNvSpPr/>
          <p:nvPr/>
        </p:nvSpPr>
        <p:spPr>
          <a:xfrm>
            <a:off x="6419850" y="2019300"/>
            <a:ext cx="361950" cy="36195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6372225" y="208597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2" name=""/>
          <p:cNvSpPr txBox="1"/>
          <p:nvPr/>
        </p:nvSpPr>
        <p:spPr>
          <a:xfrm>
            <a:off x="6915150" y="1895475"/>
            <a:ext cx="22669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話し手と聞き手が</a:t>
            </a:r>
          </a:p>
        </p:txBody>
      </p:sp>
      <p:sp>
        <p:nvSpPr>
          <p:cNvPr id="13" name=""/>
          <p:cNvSpPr txBox="1"/>
          <p:nvPr/>
        </p:nvSpPr>
        <p:spPr>
          <a:xfrm>
            <a:off x="6915150" y="2200275"/>
            <a:ext cx="371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同じものを認識できている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とき</a:t>
            </a:r>
          </a:p>
        </p:txBody>
      </p:sp>
      <p:sp>
        <p:nvSpPr>
          <p:cNvPr id="14" name=""/>
          <p:cNvSpPr/>
          <p:nvPr/>
        </p:nvSpPr>
        <p:spPr>
          <a:xfrm>
            <a:off x="685800" y="2828925"/>
            <a:ext cx="10820400" cy="1123950"/>
          </a:xfrm>
          <a:prstGeom prst="roundRect">
            <a:avLst>
              <a:gd name="adj" fmla="val 23729"/>
            </a:avLst>
          </a:prstGeom>
          <a:solidFill>
            <a:srgbClr val="FFFFFF"/>
          </a:solidFill>
          <a:ln/>
        </p:spPr>
      </p:sp>
      <p:pic>
        <p:nvPicPr>
          <p:cNvPr id="15" name="Image 0" descr="ド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952750"/>
            <a:ext cx="876300" cy="8763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019300" y="3028950"/>
            <a:ext cx="4038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Please close </a:t>
            </a:r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door.</a:t>
            </a:r>
          </a:p>
        </p:txBody>
      </p:sp>
      <p:sp>
        <p:nvSpPr>
          <p:cNvPr id="17" name=""/>
          <p:cNvSpPr txBox="1"/>
          <p:nvPr/>
        </p:nvSpPr>
        <p:spPr>
          <a:xfrm>
            <a:off x="2019300" y="3486150"/>
            <a:ext cx="3181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8" name=""/>
          <p:cNvSpPr/>
          <p:nvPr/>
        </p:nvSpPr>
        <p:spPr>
          <a:xfrm>
            <a:off x="7981950" y="298132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8172450" y="3124200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その場にいる人たちが</a:t>
            </a:r>
          </a:p>
        </p:txBody>
      </p:sp>
      <p:sp>
        <p:nvSpPr>
          <p:cNvPr id="20" name=""/>
          <p:cNvSpPr txBox="1"/>
          <p:nvPr/>
        </p:nvSpPr>
        <p:spPr>
          <a:xfrm>
            <a:off x="8172450" y="3400425"/>
            <a:ext cx="26193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どのドアか分かっている</a:t>
            </a:r>
          </a:p>
        </p:txBody>
      </p:sp>
      <p:sp>
        <p:nvSpPr>
          <p:cNvPr id="21" name=""/>
          <p:cNvSpPr/>
          <p:nvPr/>
        </p:nvSpPr>
        <p:spPr>
          <a:xfrm>
            <a:off x="685800" y="4067175"/>
            <a:ext cx="10820400" cy="1123950"/>
          </a:xfrm>
          <a:prstGeom prst="roundRect">
            <a:avLst>
              <a:gd name="adj" fmla="val 23729"/>
            </a:avLst>
          </a:prstGeom>
          <a:solidFill>
            <a:srgbClr val="FFFFFF"/>
          </a:solidFill>
          <a:ln/>
        </p:spPr>
      </p:sp>
      <p:pic>
        <p:nvPicPr>
          <p:cNvPr id="22" name="Image 1" descr="トイ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4200525"/>
            <a:ext cx="876300" cy="8763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2019300" y="4267200"/>
            <a:ext cx="44577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Where is </a:t>
            </a:r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bathroom?</a:t>
            </a:r>
          </a:p>
        </p:txBody>
      </p:sp>
      <p:sp>
        <p:nvSpPr>
          <p:cNvPr id="24" name=""/>
          <p:cNvSpPr txBox="1"/>
          <p:nvPr/>
        </p:nvSpPr>
        <p:spPr>
          <a:xfrm>
            <a:off x="2019300" y="4724400"/>
            <a:ext cx="2524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トイレはどこですか？</a:t>
            </a:r>
          </a:p>
        </p:txBody>
      </p:sp>
      <p:sp>
        <p:nvSpPr>
          <p:cNvPr id="25" name=""/>
          <p:cNvSpPr/>
          <p:nvPr/>
        </p:nvSpPr>
        <p:spPr>
          <a:xfrm>
            <a:off x="7981950" y="421957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6" name=""/>
          <p:cNvSpPr txBox="1"/>
          <p:nvPr/>
        </p:nvSpPr>
        <p:spPr>
          <a:xfrm>
            <a:off x="8172450" y="436245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その場所にあるトイレを</a:t>
            </a:r>
          </a:p>
        </p:txBody>
      </p:sp>
      <p:sp>
        <p:nvSpPr>
          <p:cNvPr id="27" name=""/>
          <p:cNvSpPr txBox="1"/>
          <p:nvPr/>
        </p:nvSpPr>
        <p:spPr>
          <a:xfrm>
            <a:off x="8172450" y="4648200"/>
            <a:ext cx="1371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指している</a:t>
            </a:r>
          </a:p>
        </p:txBody>
      </p:sp>
      <p:sp>
        <p:nvSpPr>
          <p:cNvPr id="28" name=""/>
          <p:cNvSpPr/>
          <p:nvPr/>
        </p:nvSpPr>
        <p:spPr>
          <a:xfrm>
            <a:off x="685800" y="5314950"/>
            <a:ext cx="10820400" cy="1123950"/>
          </a:xfrm>
          <a:prstGeom prst="roundRect">
            <a:avLst>
              <a:gd name="adj" fmla="val 23729"/>
            </a:avLst>
          </a:prstGeom>
          <a:solidFill>
            <a:srgbClr val="FFFFFF"/>
          </a:solidFill>
          <a:ln/>
        </p:spPr>
      </p:sp>
      <p:pic>
        <p:nvPicPr>
          <p:cNvPr id="29" name="Image 2" descr="太陽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438775"/>
            <a:ext cx="876300" cy="87630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2019300" y="5505450"/>
            <a:ext cx="43053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sun is bright today.</a:t>
            </a:r>
          </a:p>
        </p:txBody>
      </p:sp>
      <p:sp>
        <p:nvSpPr>
          <p:cNvPr id="31" name=""/>
          <p:cNvSpPr txBox="1"/>
          <p:nvPr/>
        </p:nvSpPr>
        <p:spPr>
          <a:xfrm>
            <a:off x="2019300" y="5962650"/>
            <a:ext cx="31623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今日は太陽がまぶしいです。</a:t>
            </a:r>
          </a:p>
        </p:txBody>
      </p:sp>
      <p:sp>
        <p:nvSpPr>
          <p:cNvPr id="32" name=""/>
          <p:cNvSpPr/>
          <p:nvPr/>
        </p:nvSpPr>
        <p:spPr>
          <a:xfrm>
            <a:off x="7981950" y="545782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33" name=""/>
          <p:cNvSpPr txBox="1"/>
          <p:nvPr/>
        </p:nvSpPr>
        <p:spPr>
          <a:xfrm>
            <a:off x="8172450" y="5600700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太陽は、どれのことか</a:t>
            </a:r>
          </a:p>
        </p:txBody>
      </p:sp>
      <p:sp>
        <p:nvSpPr>
          <p:cNvPr id="34" name=""/>
          <p:cNvSpPr txBox="1"/>
          <p:nvPr/>
        </p:nvSpPr>
        <p:spPr>
          <a:xfrm>
            <a:off x="8172450" y="5886450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特定できる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6" name="Image 0" descr="バッ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383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1907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8" name=""/>
          <p:cNvSpPr/>
          <p:nvPr/>
        </p:nvSpPr>
        <p:spPr>
          <a:xfrm>
            <a:off x="5067300" y="21145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9" name=""/>
          <p:cNvSpPr txBox="1"/>
          <p:nvPr/>
        </p:nvSpPr>
        <p:spPr>
          <a:xfrm>
            <a:off x="6553200" y="2190750"/>
            <a:ext cx="13811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bag.</a:t>
            </a:r>
          </a:p>
        </p:txBody>
      </p:sp>
      <p:sp>
        <p:nvSpPr>
          <p:cNvPr id="10" name=""/>
          <p:cNvSpPr/>
          <p:nvPr/>
        </p:nvSpPr>
        <p:spPr>
          <a:xfrm>
            <a:off x="3162300" y="30480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4648200" y="3124200"/>
            <a:ext cx="50768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 was expensive.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962400"/>
            <a:ext cx="7429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A5270"/>
                </a:solidFill>
                <a:latin typeface="Noto Sans JP"/>
                <a:ea typeface="Noto Sans JP"/>
              </a:rPr>
              <a:t>私はバッグを買いました。そのバッグは高かったです。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863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863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 txBox="1"/>
          <p:nvPr/>
        </p:nvSpPr>
        <p:spPr>
          <a:xfrm>
            <a:off x="1771650" y="5400675"/>
            <a:ext cx="5905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8A90A8"/>
                </a:solidFill>
                <a:latin typeface="DM Sans"/>
                <a:ea typeface="DM Sans"/>
              </a:rPr>
              <a:t>or</a:t>
            </a:r>
          </a:p>
        </p:txBody>
      </p:sp>
      <p:sp>
        <p:nvSpPr>
          <p:cNvPr id="16" name=""/>
          <p:cNvSpPr/>
          <p:nvPr/>
        </p:nvSpPr>
        <p:spPr>
          <a:xfrm>
            <a:off x="2162175" y="50863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066925" y="52863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 txBox="1"/>
          <p:nvPr/>
        </p:nvSpPr>
        <p:spPr>
          <a:xfrm>
            <a:off x="3381375" y="5353050"/>
            <a:ext cx="52959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どっち？ 声に出して答えてみよう！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6" name="Image 0" descr="バッ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383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1907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8" name=""/>
          <p:cNvSpPr/>
          <p:nvPr/>
        </p:nvSpPr>
        <p:spPr>
          <a:xfrm>
            <a:off x="5067300" y="21145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E8461E"/>
          </a:solidFill>
          <a:ln/>
        </p:spPr>
      </p:sp>
      <p:sp>
        <p:nvSpPr>
          <p:cNvPr id="9" name=""/>
          <p:cNvSpPr txBox="1"/>
          <p:nvPr/>
        </p:nvSpPr>
        <p:spPr>
          <a:xfrm>
            <a:off x="5419725" y="2200275"/>
            <a:ext cx="6286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0" name=""/>
          <p:cNvSpPr txBox="1"/>
          <p:nvPr/>
        </p:nvSpPr>
        <p:spPr>
          <a:xfrm>
            <a:off x="6553200" y="2190750"/>
            <a:ext cx="13811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bag.</a:t>
            </a:r>
          </a:p>
        </p:txBody>
      </p:sp>
      <p:sp>
        <p:nvSpPr>
          <p:cNvPr id="11" name=""/>
          <p:cNvSpPr/>
          <p:nvPr/>
        </p:nvSpPr>
        <p:spPr>
          <a:xfrm>
            <a:off x="3162300" y="30480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2F86C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219450" y="3133725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 txBox="1"/>
          <p:nvPr/>
        </p:nvSpPr>
        <p:spPr>
          <a:xfrm>
            <a:off x="4648200" y="3124200"/>
            <a:ext cx="50768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 was expensive.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962400"/>
            <a:ext cx="7429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A5270"/>
                </a:solidFill>
                <a:latin typeface="Noto Sans JP"/>
                <a:ea typeface="Noto Sans JP"/>
              </a:rPr>
              <a:t>私はバッグを買いました。そのバッグは高かったです。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8291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12445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8160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1回目</a:t>
            </a:r>
          </a:p>
        </p:txBody>
      </p:sp>
      <p:sp>
        <p:nvSpPr>
          <p:cNvPr id="18" name=""/>
          <p:cNvSpPr txBox="1"/>
          <p:nvPr/>
        </p:nvSpPr>
        <p:spPr>
          <a:xfrm>
            <a:off x="1914525" y="5143500"/>
            <a:ext cx="2981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bag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911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483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2回目</a:t>
            </a:r>
          </a:p>
        </p:txBody>
      </p:sp>
      <p:sp>
        <p:nvSpPr>
          <p:cNvPr id="21" name=""/>
          <p:cNvSpPr txBox="1"/>
          <p:nvPr/>
        </p:nvSpPr>
        <p:spPr>
          <a:xfrm>
            <a:off x="1914525" y="5610225"/>
            <a:ext cx="5629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bag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46958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sp>
        <p:nvSpPr>
          <p:cNvPr id="5" name=""/>
          <p:cNvSpPr/>
          <p:nvPr/>
        </p:nvSpPr>
        <p:spPr>
          <a:xfrm>
            <a:off x="2057400" y="1743075"/>
            <a:ext cx="4657725" cy="704850"/>
          </a:xfrm>
          <a:prstGeom prst="roundRect">
            <a:avLst>
              <a:gd name="adj" fmla="val 27027"/>
            </a:avLst>
          </a:prstGeom>
          <a:solidFill>
            <a:srgbClr val="FFE8DC"/>
          </a:solidFill>
          <a:ln/>
        </p:spPr>
      </p:sp>
      <p:sp>
        <p:nvSpPr>
          <p:cNvPr id="6" name=""/>
          <p:cNvSpPr txBox="1"/>
          <p:nvPr/>
        </p:nvSpPr>
        <p:spPr>
          <a:xfrm>
            <a:off x="2266950" y="1895475"/>
            <a:ext cx="1285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7" name=""/>
          <p:cNvSpPr txBox="1"/>
          <p:nvPr/>
        </p:nvSpPr>
        <p:spPr>
          <a:xfrm>
            <a:off x="3219450" y="1857375"/>
            <a:ext cx="23145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C2340"/>
                </a:solidFill>
                <a:latin typeface="Noto Sans JP"/>
                <a:ea typeface="Noto Sans JP"/>
              </a:rPr>
              <a:t>特定のものではない、</a:t>
            </a:r>
          </a:p>
        </p:txBody>
      </p:sp>
      <p:sp>
        <p:nvSpPr>
          <p:cNvPr id="8" name=""/>
          <p:cNvSpPr txBox="1"/>
          <p:nvPr/>
        </p:nvSpPr>
        <p:spPr>
          <a:xfrm>
            <a:off x="3219450" y="2085975"/>
            <a:ext cx="2238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C2340"/>
                </a:solidFill>
                <a:latin typeface="Noto Sans JP"/>
                <a:ea typeface="Noto Sans JP"/>
              </a:rPr>
              <a:t>一般的なもの「1つ」</a:t>
            </a:r>
          </a:p>
        </p:txBody>
      </p:sp>
      <p:sp>
        <p:nvSpPr>
          <p:cNvPr id="9" name=""/>
          <p:cNvSpPr/>
          <p:nvPr/>
        </p:nvSpPr>
        <p:spPr>
          <a:xfrm>
            <a:off x="6848475" y="1743075"/>
            <a:ext cx="4657725" cy="704850"/>
          </a:xfrm>
          <a:prstGeom prst="roundRect">
            <a:avLst>
              <a:gd name="adj" fmla="val 27027"/>
            </a:avLst>
          </a:prstGeom>
          <a:solidFill>
            <a:srgbClr val="DDEFFC"/>
          </a:solidFill>
          <a:ln/>
        </p:spPr>
      </p:sp>
      <p:sp>
        <p:nvSpPr>
          <p:cNvPr id="10" name=""/>
          <p:cNvSpPr txBox="1"/>
          <p:nvPr/>
        </p:nvSpPr>
        <p:spPr>
          <a:xfrm>
            <a:off x="7058025" y="1895475"/>
            <a:ext cx="9239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7696200" y="1952625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どれのことか特定できる</a:t>
            </a:r>
          </a:p>
        </p:txBody>
      </p:sp>
      <p:pic>
        <p:nvPicPr>
          <p:cNvPr id="12" name="Image 0" descr="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425" y="2943225"/>
            <a:ext cx="1143000" cy="114300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2057400" y="2581275"/>
            <a:ext cx="4657725" cy="1857375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2305050" y="3171825"/>
            <a:ext cx="21526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saw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dog.</a:t>
            </a:r>
          </a:p>
        </p:txBody>
      </p:sp>
      <p:sp>
        <p:nvSpPr>
          <p:cNvPr id="15" name=""/>
          <p:cNvSpPr txBox="1"/>
          <p:nvPr/>
        </p:nvSpPr>
        <p:spPr>
          <a:xfrm>
            <a:off x="2305050" y="3600450"/>
            <a:ext cx="21240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犬を1匹見ました。</a:t>
            </a:r>
          </a:p>
        </p:txBody>
      </p:sp>
      <p:sp>
        <p:nvSpPr>
          <p:cNvPr id="16" name=""/>
          <p:cNvSpPr/>
          <p:nvPr/>
        </p:nvSpPr>
        <p:spPr>
          <a:xfrm>
            <a:off x="6848475" y="2581275"/>
            <a:ext cx="4657725" cy="1857375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7096125" y="3171825"/>
            <a:ext cx="31908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dog was cute.</a:t>
            </a:r>
          </a:p>
        </p:txBody>
      </p:sp>
      <p:sp>
        <p:nvSpPr>
          <p:cNvPr id="18" name=""/>
          <p:cNvSpPr txBox="1"/>
          <p:nvPr/>
        </p:nvSpPr>
        <p:spPr>
          <a:xfrm>
            <a:off x="7096125" y="3600450"/>
            <a:ext cx="30289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その犬はかわいかったです。</a:t>
            </a:r>
          </a:p>
        </p:txBody>
      </p:sp>
      <p:pic>
        <p:nvPicPr>
          <p:cNvPr id="19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" y="4933950"/>
            <a:ext cx="1143000" cy="1143000"/>
          </a:xfrm>
          <a:prstGeom prst="rect">
            <a:avLst/>
          </a:prstGeom>
        </p:spPr>
      </p:pic>
      <p:sp>
        <p:nvSpPr>
          <p:cNvPr id="20" name=""/>
          <p:cNvSpPr/>
          <p:nvPr/>
        </p:nvSpPr>
        <p:spPr>
          <a:xfrm>
            <a:off x="2057400" y="4581525"/>
            <a:ext cx="4657725" cy="1857375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2305050" y="4991100"/>
            <a:ext cx="3609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want to buy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book.</a:t>
            </a:r>
          </a:p>
        </p:txBody>
      </p:sp>
      <p:sp>
        <p:nvSpPr>
          <p:cNvPr id="22" name=""/>
          <p:cNvSpPr txBox="1"/>
          <p:nvPr/>
        </p:nvSpPr>
        <p:spPr>
          <a:xfrm>
            <a:off x="2305050" y="5419725"/>
            <a:ext cx="2514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本を1冊買いたいです。</a:t>
            </a:r>
          </a:p>
        </p:txBody>
      </p:sp>
      <p:sp>
        <p:nvSpPr>
          <p:cNvPr id="23" name=""/>
          <p:cNvSpPr txBox="1"/>
          <p:nvPr/>
        </p:nvSpPr>
        <p:spPr>
          <a:xfrm>
            <a:off x="2305050" y="5772150"/>
            <a:ext cx="3505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→ どの本かは、まだ決まっていない</a:t>
            </a:r>
          </a:p>
        </p:txBody>
      </p:sp>
      <p:sp>
        <p:nvSpPr>
          <p:cNvPr id="24" name=""/>
          <p:cNvSpPr/>
          <p:nvPr/>
        </p:nvSpPr>
        <p:spPr>
          <a:xfrm>
            <a:off x="6848475" y="4581525"/>
            <a:ext cx="4657725" cy="1857375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/>
        </p:spPr>
      </p:sp>
      <p:sp>
        <p:nvSpPr>
          <p:cNvPr id="25" name=""/>
          <p:cNvSpPr txBox="1"/>
          <p:nvPr/>
        </p:nvSpPr>
        <p:spPr>
          <a:xfrm>
            <a:off x="7096125" y="4991100"/>
            <a:ext cx="39624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want to buy </a:t>
            </a:r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book.</a:t>
            </a:r>
          </a:p>
        </p:txBody>
      </p:sp>
      <p:sp>
        <p:nvSpPr>
          <p:cNvPr id="26" name=""/>
          <p:cNvSpPr txBox="1"/>
          <p:nvPr/>
        </p:nvSpPr>
        <p:spPr>
          <a:xfrm>
            <a:off x="7096125" y="5419725"/>
            <a:ext cx="2600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その本を買いたいです。</a:t>
            </a:r>
          </a:p>
        </p:txBody>
      </p:sp>
      <p:sp>
        <p:nvSpPr>
          <p:cNvPr id="27" name=""/>
          <p:cNvSpPr txBox="1"/>
          <p:nvPr/>
        </p:nvSpPr>
        <p:spPr>
          <a:xfrm>
            <a:off x="7096125" y="5772150"/>
            <a:ext cx="4314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→ 話し手と聞き手が、どの本か分かっている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6" name="Image 0" descr="カフ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383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190750"/>
            <a:ext cx="24574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8" name=""/>
          <p:cNvSpPr/>
          <p:nvPr/>
        </p:nvSpPr>
        <p:spPr>
          <a:xfrm>
            <a:off x="5153025" y="21145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9" name=""/>
          <p:cNvSpPr txBox="1"/>
          <p:nvPr/>
        </p:nvSpPr>
        <p:spPr>
          <a:xfrm>
            <a:off x="6638925" y="219075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0" name=""/>
          <p:cNvSpPr/>
          <p:nvPr/>
        </p:nvSpPr>
        <p:spPr>
          <a:xfrm>
            <a:off x="3162300" y="30480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4648200" y="3124200"/>
            <a:ext cx="52482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was very quiet.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962400"/>
            <a:ext cx="8867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A5270"/>
                </a:solidFill>
                <a:latin typeface="Noto Sans JP"/>
                <a:ea typeface="Noto Sans JP"/>
              </a:rPr>
              <a:t>昨日、あるカフェに行きました。そのカフェはとても静かでした。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863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863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 txBox="1"/>
          <p:nvPr/>
        </p:nvSpPr>
        <p:spPr>
          <a:xfrm>
            <a:off x="1771650" y="5400675"/>
            <a:ext cx="5905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8A90A8"/>
                </a:solidFill>
                <a:latin typeface="DM Sans"/>
                <a:ea typeface="DM Sans"/>
              </a:rPr>
              <a:t>or</a:t>
            </a:r>
          </a:p>
        </p:txBody>
      </p:sp>
      <p:sp>
        <p:nvSpPr>
          <p:cNvPr id="16" name=""/>
          <p:cNvSpPr/>
          <p:nvPr/>
        </p:nvSpPr>
        <p:spPr>
          <a:xfrm>
            <a:off x="2162175" y="50863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066925" y="52863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 txBox="1"/>
          <p:nvPr/>
        </p:nvSpPr>
        <p:spPr>
          <a:xfrm>
            <a:off x="3381375" y="5353050"/>
            <a:ext cx="52959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どっち？ 声に出して答えてみよう！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6" name="Image 0" descr="カフ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38375"/>
            <a:ext cx="1905000" cy="1905000"/>
          </a:xfrm>
          <a:prstGeom prst="rect">
            <a:avLst/>
          </a:prstGeom>
        </p:spPr>
      </p:pic>
      <p:sp>
        <p:nvSpPr>
          <p:cNvPr id="7" name=""/>
          <p:cNvSpPr txBox="1"/>
          <p:nvPr/>
        </p:nvSpPr>
        <p:spPr>
          <a:xfrm>
            <a:off x="3162300" y="2190750"/>
            <a:ext cx="24574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8" name=""/>
          <p:cNvSpPr/>
          <p:nvPr/>
        </p:nvSpPr>
        <p:spPr>
          <a:xfrm>
            <a:off x="5153025" y="21145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E8461E"/>
          </a:solidFill>
          <a:ln/>
        </p:spPr>
      </p:sp>
      <p:sp>
        <p:nvSpPr>
          <p:cNvPr id="9" name=""/>
          <p:cNvSpPr txBox="1"/>
          <p:nvPr/>
        </p:nvSpPr>
        <p:spPr>
          <a:xfrm>
            <a:off x="5505450" y="2200275"/>
            <a:ext cx="6286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0" name=""/>
          <p:cNvSpPr txBox="1"/>
          <p:nvPr/>
        </p:nvSpPr>
        <p:spPr>
          <a:xfrm>
            <a:off x="6638925" y="219075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1" name=""/>
          <p:cNvSpPr/>
          <p:nvPr/>
        </p:nvSpPr>
        <p:spPr>
          <a:xfrm>
            <a:off x="3162300" y="30480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2F86C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219450" y="3133725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 txBox="1"/>
          <p:nvPr/>
        </p:nvSpPr>
        <p:spPr>
          <a:xfrm>
            <a:off x="4648200" y="3124200"/>
            <a:ext cx="52482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was very quiet.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962400"/>
            <a:ext cx="8867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A5270"/>
                </a:solidFill>
                <a:latin typeface="Noto Sans JP"/>
                <a:ea typeface="Noto Sans JP"/>
              </a:rPr>
              <a:t>昨日、あるカフェに行きました。そのカフェはとても静かでした。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8291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12445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8160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1回目</a:t>
            </a:r>
          </a:p>
        </p:txBody>
      </p:sp>
      <p:sp>
        <p:nvSpPr>
          <p:cNvPr id="18" name=""/>
          <p:cNvSpPr txBox="1"/>
          <p:nvPr/>
        </p:nvSpPr>
        <p:spPr>
          <a:xfrm>
            <a:off x="1914525" y="5143500"/>
            <a:ext cx="3086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cafe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911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483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2回目</a:t>
            </a:r>
          </a:p>
        </p:txBody>
      </p:sp>
      <p:sp>
        <p:nvSpPr>
          <p:cNvPr id="21" name=""/>
          <p:cNvSpPr txBox="1"/>
          <p:nvPr/>
        </p:nvSpPr>
        <p:spPr>
          <a:xfrm>
            <a:off x="1914525" y="5610225"/>
            <a:ext cx="5734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「さっきのカフェ」と分かるので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cafe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09537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すべての名詞に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をつけられるわけではない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85925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そこで大切なのが…</a:t>
            </a:r>
          </a:p>
        </p:txBody>
      </p:sp>
      <p:sp>
        <p:nvSpPr>
          <p:cNvPr id="6" name=""/>
          <p:cNvSpPr/>
          <p:nvPr/>
        </p:nvSpPr>
        <p:spPr>
          <a:xfrm>
            <a:off x="685800" y="2200275"/>
            <a:ext cx="5286375" cy="4238625"/>
          </a:xfrm>
          <a:prstGeom prst="roundRect">
            <a:avLst>
              <a:gd name="adj" fmla="val 6292"/>
            </a:avLst>
          </a:prstGeom>
          <a:solidFill>
            <a:srgbClr val="FFE8DC"/>
          </a:solidFill>
          <a:ln/>
        </p:spPr>
      </p:sp>
      <p:sp>
        <p:nvSpPr>
          <p:cNvPr id="7" name=""/>
          <p:cNvSpPr txBox="1"/>
          <p:nvPr/>
        </p:nvSpPr>
        <p:spPr>
          <a:xfrm>
            <a:off x="1028700" y="2466975"/>
            <a:ext cx="3257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028700" y="3048000"/>
            <a:ext cx="1304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可算名詞</a:t>
            </a:r>
          </a:p>
        </p:txBody>
      </p:sp>
      <p:sp>
        <p:nvSpPr>
          <p:cNvPr id="9" name=""/>
          <p:cNvSpPr/>
          <p:nvPr/>
        </p:nvSpPr>
        <p:spPr>
          <a:xfrm>
            <a:off x="1028700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0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4743450"/>
            <a:ext cx="1333500" cy="1333500"/>
          </a:xfrm>
          <a:prstGeom prst="rect">
            <a:avLst/>
          </a:prstGeom>
        </p:spPr>
      </p:pic>
      <p:pic>
        <p:nvPicPr>
          <p:cNvPr id="11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475" y="4743450"/>
            <a:ext cx="1333500" cy="1333500"/>
          </a:xfrm>
          <a:prstGeom prst="rect">
            <a:avLst/>
          </a:prstGeom>
        </p:spPr>
      </p:pic>
      <p:pic>
        <p:nvPicPr>
          <p:cNvPr id="12" name="Image 2" descr="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50" y="4743450"/>
            <a:ext cx="1333500" cy="133350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6219825" y="2200275"/>
            <a:ext cx="5286375" cy="4238625"/>
          </a:xfrm>
          <a:prstGeom prst="roundRect">
            <a:avLst>
              <a:gd name="adj" fmla="val 6292"/>
            </a:avLst>
          </a:prstGeom>
          <a:solidFill>
            <a:srgbClr val="DDEFFC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562725" y="2466975"/>
            <a:ext cx="36766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5" name=""/>
          <p:cNvSpPr txBox="1"/>
          <p:nvPr/>
        </p:nvSpPr>
        <p:spPr>
          <a:xfrm>
            <a:off x="6562725" y="3048000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</a:t>
            </a:r>
          </a:p>
        </p:txBody>
      </p:sp>
      <p:sp>
        <p:nvSpPr>
          <p:cNvPr id="16" name=""/>
          <p:cNvSpPr/>
          <p:nvPr/>
        </p:nvSpPr>
        <p:spPr>
          <a:xfrm>
            <a:off x="6562725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7" name="Image 3" descr="水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4743450"/>
            <a:ext cx="1333500" cy="1333500"/>
          </a:xfrm>
          <a:prstGeom prst="rect">
            <a:avLst/>
          </a:prstGeom>
        </p:spPr>
      </p:pic>
      <p:pic>
        <p:nvPicPr>
          <p:cNvPr id="18" name="Image 4" descr="愛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4743450"/>
            <a:ext cx="1333500" cy="1333500"/>
          </a:xfrm>
          <a:prstGeom prst="rect">
            <a:avLst/>
          </a:prstGeom>
        </p:spPr>
      </p:pic>
      <p:pic>
        <p:nvPicPr>
          <p:cNvPr id="19" name="Image 5" descr="幸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7875" y="4743450"/>
            <a:ext cx="13335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610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数えられる名詞（可算名詞）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47825"/>
            <a:ext cx="4124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1つ、2つ、3つ…と数えられる名詞</a:t>
            </a:r>
          </a:p>
        </p:txBody>
      </p:sp>
      <p:sp>
        <p:nvSpPr>
          <p:cNvPr id="6" name=""/>
          <p:cNvSpPr/>
          <p:nvPr/>
        </p:nvSpPr>
        <p:spPr>
          <a:xfrm>
            <a:off x="685800" y="2162175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</p:spPr>
      </p:sp>
      <p:sp>
        <p:nvSpPr>
          <p:cNvPr id="7" name=""/>
          <p:cNvSpPr txBox="1"/>
          <p:nvPr/>
        </p:nvSpPr>
        <p:spPr>
          <a:xfrm>
            <a:off x="933450" y="2762250"/>
            <a:ext cx="1152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book</a:t>
            </a:r>
          </a:p>
        </p:txBody>
      </p:sp>
      <p:pic>
        <p:nvPicPr>
          <p:cNvPr id="8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5575" y="2486025"/>
            <a:ext cx="647700" cy="6477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2562225" y="3152775"/>
            <a:ext cx="13906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book</a:t>
            </a:r>
          </a:p>
        </p:txBody>
      </p:sp>
      <p:pic>
        <p:nvPicPr>
          <p:cNvPr id="10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575" y="2486025"/>
            <a:ext cx="647700" cy="647700"/>
          </a:xfrm>
          <a:prstGeom prst="rect">
            <a:avLst/>
          </a:prstGeom>
        </p:spPr>
      </p:pic>
      <p:pic>
        <p:nvPicPr>
          <p:cNvPr id="11" name="Image 2" descr="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5" y="2486025"/>
            <a:ext cx="647700" cy="6477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4371975" y="3152775"/>
            <a:ext cx="15049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books</a:t>
            </a:r>
          </a:p>
        </p:txBody>
      </p:sp>
      <p:sp>
        <p:nvSpPr>
          <p:cNvPr id="13" name=""/>
          <p:cNvSpPr/>
          <p:nvPr/>
        </p:nvSpPr>
        <p:spPr>
          <a:xfrm>
            <a:off x="6200775" y="2162175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448425" y="2762250"/>
            <a:ext cx="1266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apple</a:t>
            </a:r>
          </a:p>
        </p:txBody>
      </p:sp>
      <p:pic>
        <p:nvPicPr>
          <p:cNvPr id="15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550" y="2486025"/>
            <a:ext cx="647700" cy="64770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8048625" y="3152775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apple</a:t>
            </a:r>
          </a:p>
        </p:txBody>
      </p:sp>
      <p:pic>
        <p:nvPicPr>
          <p:cNvPr id="17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4550" y="2486025"/>
            <a:ext cx="647700" cy="647700"/>
          </a:xfrm>
          <a:prstGeom prst="rect">
            <a:avLst/>
          </a:prstGeom>
        </p:spPr>
      </p:pic>
      <p:pic>
        <p:nvPicPr>
          <p:cNvPr id="18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2486025"/>
            <a:ext cx="647700" cy="6477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9848850" y="3152775"/>
            <a:ext cx="15906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apples</a:t>
            </a:r>
          </a:p>
        </p:txBody>
      </p:sp>
      <p:sp>
        <p:nvSpPr>
          <p:cNvPr id="20" name=""/>
          <p:cNvSpPr/>
          <p:nvPr/>
        </p:nvSpPr>
        <p:spPr>
          <a:xfrm>
            <a:off x="685800" y="3943350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933450" y="4543425"/>
            <a:ext cx="942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dog</a:t>
            </a:r>
          </a:p>
        </p:txBody>
      </p:sp>
      <p:pic>
        <p:nvPicPr>
          <p:cNvPr id="22" name="Image 6" descr="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5575" y="4267200"/>
            <a:ext cx="647700" cy="64770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2628900" y="4933950"/>
            <a:ext cx="12477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dog</a:t>
            </a:r>
          </a:p>
        </p:txBody>
      </p:sp>
      <p:pic>
        <p:nvPicPr>
          <p:cNvPr id="24" name="Image 7" descr="犬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9575" y="4267200"/>
            <a:ext cx="647700" cy="647700"/>
          </a:xfrm>
          <a:prstGeom prst="rect">
            <a:avLst/>
          </a:prstGeom>
        </p:spPr>
      </p:pic>
      <p:pic>
        <p:nvPicPr>
          <p:cNvPr id="25" name="Image 8" descr="犬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6325" y="4267200"/>
            <a:ext cx="647700" cy="64770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4429125" y="4933950"/>
            <a:ext cx="1371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dogs</a:t>
            </a:r>
          </a:p>
        </p:txBody>
      </p:sp>
      <p:sp>
        <p:nvSpPr>
          <p:cNvPr id="27" name=""/>
          <p:cNvSpPr/>
          <p:nvPr/>
        </p:nvSpPr>
        <p:spPr>
          <a:xfrm>
            <a:off x="6200775" y="3943350"/>
            <a:ext cx="5305425" cy="1571625"/>
          </a:xfrm>
          <a:prstGeom prst="roundRect">
            <a:avLst>
              <a:gd name="adj" fmla="val 16970"/>
            </a:avLst>
          </a:prstGeom>
          <a:solidFill>
            <a:srgbClr val="FFFFFF"/>
          </a:solidFill>
          <a:ln/>
        </p:spPr>
      </p:sp>
      <p:sp>
        <p:nvSpPr>
          <p:cNvPr id="28" name=""/>
          <p:cNvSpPr txBox="1"/>
          <p:nvPr/>
        </p:nvSpPr>
        <p:spPr>
          <a:xfrm>
            <a:off x="6448425" y="4543425"/>
            <a:ext cx="1638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student</a:t>
            </a:r>
          </a:p>
        </p:txBody>
      </p:sp>
      <p:pic>
        <p:nvPicPr>
          <p:cNvPr id="29" name="Image 9" descr="学生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0550" y="4267200"/>
            <a:ext cx="647700" cy="64770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7934325" y="4933950"/>
            <a:ext cx="17240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student</a:t>
            </a:r>
          </a:p>
        </p:txBody>
      </p:sp>
      <p:pic>
        <p:nvPicPr>
          <p:cNvPr id="31" name="Image 10" descr="学生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34550" y="4267200"/>
            <a:ext cx="647700" cy="647700"/>
          </a:xfrm>
          <a:prstGeom prst="rect">
            <a:avLst/>
          </a:prstGeom>
        </p:spPr>
      </p:pic>
      <p:pic>
        <p:nvPicPr>
          <p:cNvPr id="32" name="Image 11" descr="学生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01300" y="4267200"/>
            <a:ext cx="647700" cy="647700"/>
          </a:xfrm>
          <a:prstGeom prst="rect">
            <a:avLst/>
          </a:prstGeom>
        </p:spPr>
      </p:pic>
      <p:sp>
        <p:nvSpPr>
          <p:cNvPr id="33" name=""/>
          <p:cNvSpPr txBox="1"/>
          <p:nvPr/>
        </p:nvSpPr>
        <p:spPr>
          <a:xfrm>
            <a:off x="9734550" y="4933950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students</a:t>
            </a:r>
          </a:p>
        </p:txBody>
      </p:sp>
      <p:sp>
        <p:nvSpPr>
          <p:cNvPr id="34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35" name=""/>
          <p:cNvSpPr/>
          <p:nvPr/>
        </p:nvSpPr>
        <p:spPr>
          <a:xfrm>
            <a:off x="933450" y="5895975"/>
            <a:ext cx="13049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6" name=""/>
          <p:cNvSpPr txBox="1"/>
          <p:nvPr/>
        </p:nvSpPr>
        <p:spPr>
          <a:xfrm>
            <a:off x="1104900" y="5953125"/>
            <a:ext cx="14478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1つだけなら</a:t>
            </a:r>
          </a:p>
        </p:txBody>
      </p:sp>
      <p:sp>
        <p:nvSpPr>
          <p:cNvPr id="37" name=""/>
          <p:cNvSpPr txBox="1"/>
          <p:nvPr/>
        </p:nvSpPr>
        <p:spPr>
          <a:xfrm>
            <a:off x="2390775" y="5924550"/>
            <a:ext cx="56007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を使える：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5723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数えられない名詞（不可算名詞）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6668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240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7" name=""/>
          <p:cNvSpPr txBox="1"/>
          <p:nvPr/>
        </p:nvSpPr>
        <p:spPr>
          <a:xfrm>
            <a:off x="1676400" y="1676400"/>
            <a:ext cx="80200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1つ、2つ…とそのまま数えられない → </a:t>
            </a:r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は使えない</a:t>
            </a:r>
          </a:p>
        </p:txBody>
      </p:sp>
      <p:sp>
        <p:nvSpPr>
          <p:cNvPr id="8" name=""/>
          <p:cNvSpPr/>
          <p:nvPr/>
        </p:nvSpPr>
        <p:spPr>
          <a:xfrm>
            <a:off x="685800" y="2247900"/>
            <a:ext cx="3457575" cy="41910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</p:spPr>
      </p:sp>
      <p:sp>
        <p:nvSpPr>
          <p:cNvPr id="9" name=""/>
          <p:cNvSpPr/>
          <p:nvPr/>
        </p:nvSpPr>
        <p:spPr>
          <a:xfrm>
            <a:off x="933450" y="24574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DDEFFC"/>
          </a:solidFill>
          <a:ln/>
        </p:spPr>
      </p:sp>
      <p:pic>
        <p:nvPicPr>
          <p:cNvPr id="10" name="Image 0" descr="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533650"/>
            <a:ext cx="1619250" cy="1619250"/>
          </a:xfrm>
          <a:prstGeom prst="rect">
            <a:avLst/>
          </a:prstGeom>
        </p:spPr>
      </p:pic>
      <p:sp>
        <p:nvSpPr>
          <p:cNvPr id="11" name=""/>
          <p:cNvSpPr txBox="1"/>
          <p:nvPr/>
        </p:nvSpPr>
        <p:spPr>
          <a:xfrm>
            <a:off x="1819275" y="4362450"/>
            <a:ext cx="17049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water</a:t>
            </a:r>
          </a:p>
        </p:txBody>
      </p:sp>
      <p:sp>
        <p:nvSpPr>
          <p:cNvPr id="12" name=""/>
          <p:cNvSpPr txBox="1"/>
          <p:nvPr/>
        </p:nvSpPr>
        <p:spPr>
          <a:xfrm>
            <a:off x="2314575" y="4953000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水</a:t>
            </a:r>
          </a:p>
        </p:txBody>
      </p:sp>
      <p:sp>
        <p:nvSpPr>
          <p:cNvPr id="13" name=""/>
          <p:cNvSpPr/>
          <p:nvPr/>
        </p:nvSpPr>
        <p:spPr>
          <a:xfrm>
            <a:off x="1676400" y="5753100"/>
            <a:ext cx="14668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866900" y="5810250"/>
            <a:ext cx="15906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water</a:t>
            </a:r>
          </a:p>
        </p:txBody>
      </p:sp>
      <p:sp>
        <p:nvSpPr>
          <p:cNvPr id="15" name=""/>
          <p:cNvSpPr/>
          <p:nvPr/>
        </p:nvSpPr>
        <p:spPr>
          <a:xfrm>
            <a:off x="4371975" y="2247900"/>
            <a:ext cx="3457575" cy="41910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4619625" y="24574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FFE4EC"/>
          </a:solidFill>
          <a:ln/>
        </p:spPr>
      </p:sp>
      <p:pic>
        <p:nvPicPr>
          <p:cNvPr id="17" name="Image 1" descr="愛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6375" y="2533650"/>
            <a:ext cx="1619250" cy="161925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5667375" y="4362450"/>
            <a:ext cx="13144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love</a:t>
            </a:r>
          </a:p>
        </p:txBody>
      </p:sp>
      <p:sp>
        <p:nvSpPr>
          <p:cNvPr id="19" name=""/>
          <p:cNvSpPr txBox="1"/>
          <p:nvPr/>
        </p:nvSpPr>
        <p:spPr>
          <a:xfrm>
            <a:off x="6000750" y="4953000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愛</a:t>
            </a:r>
          </a:p>
        </p:txBody>
      </p:sp>
      <p:sp>
        <p:nvSpPr>
          <p:cNvPr id="20" name=""/>
          <p:cNvSpPr/>
          <p:nvPr/>
        </p:nvSpPr>
        <p:spPr>
          <a:xfrm>
            <a:off x="5457825" y="5753100"/>
            <a:ext cx="12763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21" name=""/>
          <p:cNvSpPr txBox="1"/>
          <p:nvPr/>
        </p:nvSpPr>
        <p:spPr>
          <a:xfrm>
            <a:off x="5648325" y="5810250"/>
            <a:ext cx="13716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love</a:t>
            </a:r>
          </a:p>
        </p:txBody>
      </p:sp>
      <p:sp>
        <p:nvSpPr>
          <p:cNvPr id="22" name=""/>
          <p:cNvSpPr/>
          <p:nvPr/>
        </p:nvSpPr>
        <p:spPr>
          <a:xfrm>
            <a:off x="8048625" y="2247900"/>
            <a:ext cx="3457575" cy="41910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8296275" y="24574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FFF2C9"/>
          </a:solidFill>
          <a:ln/>
        </p:spPr>
      </p:sp>
      <p:pic>
        <p:nvPicPr>
          <p:cNvPr id="24" name="Image 2" descr="幸せ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2550" y="2533650"/>
            <a:ext cx="1619250" cy="1619250"/>
          </a:xfrm>
          <a:prstGeom prst="rect">
            <a:avLst/>
          </a:prstGeom>
        </p:spPr>
      </p:pic>
      <p:sp>
        <p:nvSpPr>
          <p:cNvPr id="25" name=""/>
          <p:cNvSpPr txBox="1"/>
          <p:nvPr/>
        </p:nvSpPr>
        <p:spPr>
          <a:xfrm>
            <a:off x="8715375" y="4362450"/>
            <a:ext cx="27813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happiness</a:t>
            </a:r>
          </a:p>
        </p:txBody>
      </p:sp>
      <p:sp>
        <p:nvSpPr>
          <p:cNvPr id="26" name=""/>
          <p:cNvSpPr txBox="1"/>
          <p:nvPr/>
        </p:nvSpPr>
        <p:spPr>
          <a:xfrm>
            <a:off x="9591675" y="4953000"/>
            <a:ext cx="781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幸せ</a:t>
            </a:r>
          </a:p>
        </p:txBody>
      </p:sp>
      <p:sp>
        <p:nvSpPr>
          <p:cNvPr id="27" name=""/>
          <p:cNvSpPr/>
          <p:nvPr/>
        </p:nvSpPr>
        <p:spPr>
          <a:xfrm>
            <a:off x="8763000" y="5753100"/>
            <a:ext cx="20383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28" name=""/>
          <p:cNvSpPr txBox="1"/>
          <p:nvPr/>
        </p:nvSpPr>
        <p:spPr>
          <a:xfrm>
            <a:off x="8953500" y="5810250"/>
            <a:ext cx="22479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happiness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