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3" Type="http://schemas.openxmlformats.org/officeDocument/2006/relationships/presProps" Target="presProps.xml"/><Relationship Id="rId2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image" Target="../media/image-9-2.png"/><Relationship Id="rId7" Type="http://schemas.openxmlformats.org/officeDocument/2006/relationships/image" Target="../media/image-9-2.png"/><Relationship Id="rId8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2.png"/><Relationship Id="rId4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2.png"/><Relationship Id="rId4" Type="http://schemas.openxmlformats.org/officeDocument/2006/relationships/image" Target="../media/image-18-2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image" Target="../media/image-18-8.png"/><Relationship Id="rId9" Type="http://schemas.openxmlformats.org/officeDocument/2006/relationships/image" Target="../media/image-18-8.png"/><Relationship Id="rId10" Type="http://schemas.openxmlformats.org/officeDocument/2006/relationships/image" Target="../media/image-18-8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1.png"/><Relationship Id="rId13" Type="http://schemas.openxmlformats.org/officeDocument/2006/relationships/image" Target="../media/image-18-11.png"/><Relationship Id="rId14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EC4B20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562100"/>
            <a:ext cx="45053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FE3D8"/>
                </a:solidFill>
                <a:latin typeface="DM Sans"/>
                <a:ea typeface="DM Sans"/>
              </a:rPr>
              <a:t>HINA ENGLISH </a:t>
            </a:r>
            <a:pPr/>
            <a:r>
              <a:rPr sz="1500" b="1">
                <a:solidFill>
                  <a:srgbClr val="FFE3D8"/>
                </a:solidFill>
                <a:latin typeface="Noto Sans JP"/>
                <a:ea typeface="Noto Sans JP"/>
              </a:rPr>
              <a:t>・</a:t>
            </a:r>
            <a:pPr/>
            <a:r>
              <a:rPr sz="1500" b="1">
                <a:solidFill>
                  <a:srgbClr val="FFE3D8"/>
                </a:solidFill>
                <a:latin typeface="DM Sans"/>
                <a:ea typeface="DM Sans"/>
              </a:rPr>
              <a:t> </a:t>
            </a:r>
            <a:pPr/>
            <a:r>
              <a:rPr sz="1500" b="1">
                <a:solidFill>
                  <a:srgbClr val="FFE3D8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1619250"/>
            <a:ext cx="40195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FFFFFF"/>
                </a:solidFill>
                <a:latin typeface="Noto Sans JP"/>
                <a:ea typeface="Noto Sans JP"/>
              </a:rPr>
              <a:t>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3762375"/>
            <a:ext cx="52768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FFFFFF"/>
                </a:solidFill>
                <a:latin typeface="DM Sans"/>
                <a:ea typeface="DM Sans"/>
              </a:rPr>
              <a:t>a / an</a:t>
            </a:r>
            <a:pPr/>
            <a:r>
              <a:rPr sz="3750" b="1">
                <a:solidFill>
                  <a:srgbClr val="FFFFFF"/>
                </a:solidFill>
                <a:latin typeface="Noto Sans JP"/>
                <a:ea typeface="Noto Sans JP"/>
              </a:rPr>
              <a:t> と </a:t>
            </a:r>
            <a:pPr/>
            <a:r>
              <a:rPr sz="37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  <a:pPr/>
            <a:r>
              <a:rPr sz="3750" b="1">
                <a:solidFill>
                  <a:srgbClr val="FFFFFF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6" name=""/>
          <p:cNvSpPr txBox="1"/>
          <p:nvPr/>
        </p:nvSpPr>
        <p:spPr>
          <a:xfrm>
            <a:off x="1181100" y="4752975"/>
            <a:ext cx="48387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FFE3D8"/>
                </a:solidFill>
                <a:latin typeface="Caveat"/>
                <a:ea typeface="Caveat"/>
              </a:rPr>
              <a:t>Small steps, big changes.</a:t>
            </a:r>
          </a:p>
        </p:txBody>
      </p:sp>
      <p:pic>
        <p:nvPicPr>
          <p:cNvPr id="7" name="Image 0" descr="/home/user/hina-english/matome/a-th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152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BASICS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2752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冠詞とは？</a:t>
            </a:r>
          </a:p>
        </p:txBody>
      </p:sp>
      <p:sp>
        <p:nvSpPr>
          <p:cNvPr id="8" name=""/>
          <p:cNvSpPr/>
          <p:nvPr/>
        </p:nvSpPr>
        <p:spPr>
          <a:xfrm>
            <a:off x="685800" y="1962150"/>
            <a:ext cx="10820400" cy="3552825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3438525" y="2247900"/>
            <a:ext cx="6467475" cy="504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名詞の前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に置く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のこと</a:t>
            </a:r>
          </a:p>
        </p:txBody>
      </p:sp>
      <p:sp>
        <p:nvSpPr>
          <p:cNvPr id="10" name=""/>
          <p:cNvSpPr/>
          <p:nvPr/>
        </p:nvSpPr>
        <p:spPr>
          <a:xfrm>
            <a:off x="1066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FFE8DC"/>
          </a:solidFill>
          <a:ln/>
        </p:spPr>
      </p:sp>
      <p:pic>
        <p:nvPicPr>
          <p:cNvPr id="11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625" y="3124200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076450" y="4629150"/>
            <a:ext cx="1704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3" name=""/>
          <p:cNvSpPr/>
          <p:nvPr/>
        </p:nvSpPr>
        <p:spPr>
          <a:xfrm>
            <a:off x="4495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FFF2C9"/>
          </a:solidFill>
          <a:ln/>
        </p:spPr>
      </p:sp>
      <p:pic>
        <p:nvPicPr>
          <p:cNvPr id="14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312420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5343525" y="4629150"/>
            <a:ext cx="2085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16" name=""/>
          <p:cNvSpPr/>
          <p:nvPr/>
        </p:nvSpPr>
        <p:spPr>
          <a:xfrm>
            <a:off x="7924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DDEFFC"/>
          </a:solidFill>
          <a:ln/>
        </p:spPr>
      </p:sp>
      <p:pic>
        <p:nvPicPr>
          <p:cNvPr id="17" name="Image 3" descr="太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0625" y="3124200"/>
            <a:ext cx="1428750" cy="14287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8877300" y="4629150"/>
            <a:ext cx="18478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sun</a:t>
            </a:r>
          </a:p>
        </p:txBody>
      </p:sp>
      <p:sp>
        <p:nvSpPr>
          <p:cNvPr id="19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役割</a:t>
            </a:r>
          </a:p>
        </p:txBody>
      </p:sp>
      <p:sp>
        <p:nvSpPr>
          <p:cNvPr id="22" name=""/>
          <p:cNvSpPr txBox="1"/>
          <p:nvPr/>
        </p:nvSpPr>
        <p:spPr>
          <a:xfrm>
            <a:off x="1771650" y="5934075"/>
            <a:ext cx="752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名詞を「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どんな名詞として話しているか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」を、小さく示してくれる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428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ROADMAP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6048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まずは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の2つ</a:t>
            </a:r>
          </a:p>
        </p:txBody>
      </p:sp>
      <p:sp>
        <p:nvSpPr>
          <p:cNvPr id="8" name=""/>
          <p:cNvSpPr/>
          <p:nvPr/>
        </p:nvSpPr>
        <p:spPr>
          <a:xfrm>
            <a:off x="685800" y="2686050"/>
            <a:ext cx="4953000" cy="314325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1104900" y="3067050"/>
            <a:ext cx="952500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257300" y="3124200"/>
            <a:ext cx="10858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11" name=""/>
          <p:cNvSpPr txBox="1"/>
          <p:nvPr/>
        </p:nvSpPr>
        <p:spPr>
          <a:xfrm>
            <a:off x="1104900" y="3667125"/>
            <a:ext cx="25241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5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1104900" y="4295775"/>
            <a:ext cx="36480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まずはこの2つを理解しよう</a:t>
            </a:r>
          </a:p>
        </p:txBody>
      </p:sp>
      <p:sp>
        <p:nvSpPr>
          <p:cNvPr id="13" name=""/>
          <p:cNvSpPr/>
          <p:nvPr/>
        </p:nvSpPr>
        <p:spPr>
          <a:xfrm>
            <a:off x="1104900" y="5076825"/>
            <a:ext cx="17145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76350" y="5133975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まずはここから！</a:t>
            </a:r>
          </a:p>
        </p:txBody>
      </p:sp>
      <p:sp>
        <p:nvSpPr>
          <p:cNvPr id="15" name=""/>
          <p:cNvSpPr txBox="1"/>
          <p:nvPr/>
        </p:nvSpPr>
        <p:spPr>
          <a:xfrm>
            <a:off x="5886450" y="398145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>
                <a:solidFill>
                  <a:srgbClr val="E8461E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6" name=""/>
          <p:cNvSpPr/>
          <p:nvPr/>
        </p:nvSpPr>
        <p:spPr>
          <a:xfrm>
            <a:off x="6515100" y="2686050"/>
            <a:ext cx="4991100" cy="3143250"/>
          </a:xfrm>
          <a:prstGeom prst="rect">
            <a:avLst/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17" name=""/>
          <p:cNvSpPr/>
          <p:nvPr/>
        </p:nvSpPr>
        <p:spPr>
          <a:xfrm>
            <a:off x="6953250" y="3086100"/>
            <a:ext cx="990600" cy="352425"/>
          </a:xfrm>
          <a:prstGeom prst="roundRect">
            <a:avLst>
              <a:gd name="adj" fmla="val 50000"/>
            </a:avLst>
          </a:prstGeom>
          <a:solidFill>
            <a:srgbClr val="8A90A8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105650" y="3143250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9" name=""/>
          <p:cNvSpPr txBox="1"/>
          <p:nvPr/>
        </p:nvSpPr>
        <p:spPr>
          <a:xfrm>
            <a:off x="6953250" y="3686175"/>
            <a:ext cx="4419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4A5270"/>
                </a:solidFill>
                <a:latin typeface="Noto Sans JP"/>
                <a:ea typeface="Noto Sans JP"/>
              </a:rPr>
              <a:t>冠詞がつかないパターン</a:t>
            </a:r>
          </a:p>
        </p:txBody>
      </p:sp>
      <p:sp>
        <p:nvSpPr>
          <p:cNvPr id="20" name=""/>
          <p:cNvSpPr txBox="1"/>
          <p:nvPr/>
        </p:nvSpPr>
        <p:spPr>
          <a:xfrm>
            <a:off x="6953250" y="4305300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そのあとで説明します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/ AN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MENTAL IMAGE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3676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5286375" cy="3486150"/>
          </a:xfrm>
          <a:prstGeom prst="roundRect">
            <a:avLst>
              <a:gd name="adj" fmla="val 7650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066800" y="2505075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10" name=""/>
          <p:cNvSpPr txBox="1"/>
          <p:nvPr/>
        </p:nvSpPr>
        <p:spPr>
          <a:xfrm>
            <a:off x="1066800" y="3200400"/>
            <a:ext cx="43719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たくさんある中の</a:t>
            </a:r>
          </a:p>
        </p:txBody>
      </p:sp>
      <p:sp>
        <p:nvSpPr>
          <p:cNvPr id="11" name=""/>
          <p:cNvSpPr txBox="1"/>
          <p:nvPr/>
        </p:nvSpPr>
        <p:spPr>
          <a:xfrm>
            <a:off x="1066800" y="3790950"/>
            <a:ext cx="21621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「1つ」</a:t>
            </a:r>
          </a:p>
        </p:txBody>
      </p:sp>
      <p:sp>
        <p:nvSpPr>
          <p:cNvPr id="12" name=""/>
          <p:cNvSpPr/>
          <p:nvPr/>
        </p:nvSpPr>
        <p:spPr>
          <a:xfrm>
            <a:off x="1066800" y="4610100"/>
            <a:ext cx="1095375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238250" y="4667250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14" name=""/>
          <p:cNvSpPr/>
          <p:nvPr/>
        </p:nvSpPr>
        <p:spPr>
          <a:xfrm>
            <a:off x="2276475" y="4610100"/>
            <a:ext cx="971550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2447925" y="4667250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ある〜</a:t>
            </a:r>
          </a:p>
        </p:txBody>
      </p:sp>
      <p:sp>
        <p:nvSpPr>
          <p:cNvPr id="16" name=""/>
          <p:cNvSpPr txBox="1"/>
          <p:nvPr/>
        </p:nvSpPr>
        <p:spPr>
          <a:xfrm>
            <a:off x="3362325" y="467677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という感覚</a:t>
            </a:r>
          </a:p>
        </p:txBody>
      </p:sp>
      <p:sp>
        <p:nvSpPr>
          <p:cNvPr id="17" name=""/>
          <p:cNvSpPr/>
          <p:nvPr/>
        </p:nvSpPr>
        <p:spPr>
          <a:xfrm>
            <a:off x="6219825" y="2028825"/>
            <a:ext cx="5286375" cy="3486150"/>
          </a:xfrm>
          <a:prstGeom prst="roundRect">
            <a:avLst>
              <a:gd name="adj" fmla="val 76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8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0" y="2476500"/>
            <a:ext cx="1066800" cy="1066800"/>
          </a:xfrm>
          <a:prstGeom prst="rect">
            <a:avLst/>
          </a:prstGeom>
        </p:spPr>
      </p:pic>
      <p:pic>
        <p:nvPicPr>
          <p:cNvPr id="19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4375" y="2476500"/>
            <a:ext cx="1066800" cy="1066800"/>
          </a:xfrm>
          <a:prstGeom prst="rect">
            <a:avLst/>
          </a:prstGeom>
        </p:spPr>
      </p:pic>
      <p:pic>
        <p:nvPicPr>
          <p:cNvPr id="20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0" y="2476500"/>
            <a:ext cx="1066800" cy="1066800"/>
          </a:xfrm>
          <a:prstGeom prst="rect">
            <a:avLst/>
          </a:prstGeom>
        </p:spPr>
      </p:pic>
      <p:pic>
        <p:nvPicPr>
          <p:cNvPr id="21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0" y="4010025"/>
            <a:ext cx="1066800" cy="1066800"/>
          </a:xfrm>
          <a:prstGeom prst="rect">
            <a:avLst/>
          </a:prstGeom>
        </p:spPr>
      </p:pic>
      <p:sp>
        <p:nvSpPr>
          <p:cNvPr id="22" name=""/>
          <p:cNvSpPr/>
          <p:nvPr/>
        </p:nvSpPr>
        <p:spPr>
          <a:xfrm>
            <a:off x="8153400" y="3829050"/>
            <a:ext cx="1428750" cy="1428750"/>
          </a:xfrm>
          <a:prstGeom prst="ellipse">
            <a:avLst/>
          </a:prstGeom>
          <a:solidFill>
            <a:srgbClr val="FFE8DC"/>
          </a:solidFill>
          <a:ln w="38100">
            <a:solidFill>
              <a:srgbClr val="E8461E"/>
            </a:solidFill>
            <a:prstDash val="solid"/>
          </a:ln>
        </p:spPr>
      </p:sp>
      <p:pic>
        <p:nvPicPr>
          <p:cNvPr id="23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4375" y="4010025"/>
            <a:ext cx="1066800" cy="1066800"/>
          </a:xfrm>
          <a:prstGeom prst="rect">
            <a:avLst/>
          </a:prstGeom>
        </p:spPr>
      </p:pic>
      <p:sp>
        <p:nvSpPr>
          <p:cNvPr id="24" name=""/>
          <p:cNvSpPr/>
          <p:nvPr/>
        </p:nvSpPr>
        <p:spPr>
          <a:xfrm>
            <a:off x="8505825" y="5029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524875" y="5057775"/>
            <a:ext cx="676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26" name="Image 6" descr="りんご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0" y="4010025"/>
            <a:ext cx="1066800" cy="1066800"/>
          </a:xfrm>
          <a:prstGeom prst="rect">
            <a:avLst/>
          </a:prstGeom>
        </p:spPr>
      </p:pic>
      <p:sp>
        <p:nvSpPr>
          <p:cNvPr id="2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/>
          <p:nvPr/>
        </p:nvSpPr>
        <p:spPr>
          <a:xfrm>
            <a:off x="933450" y="5895975"/>
            <a:ext cx="13716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9" name=""/>
          <p:cNvSpPr txBox="1"/>
          <p:nvPr/>
        </p:nvSpPr>
        <p:spPr>
          <a:xfrm>
            <a:off x="1104900" y="59531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よく使う場面</a:t>
            </a:r>
          </a:p>
        </p:txBody>
      </p:sp>
      <p:sp>
        <p:nvSpPr>
          <p:cNvPr id="30" name=""/>
          <p:cNvSpPr txBox="1"/>
          <p:nvPr/>
        </p:nvSpPr>
        <p:spPr>
          <a:xfrm>
            <a:off x="2457450" y="5934075"/>
            <a:ext cx="85248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まだ相手が「どれのことか」分かっていないものを、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初めて会話に出す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590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/ AN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3190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5305425" cy="2095500"/>
          </a:xfrm>
          <a:prstGeom prst="roundRect">
            <a:avLst>
              <a:gd name="adj" fmla="val 11818"/>
            </a:avLst>
          </a:prstGeom>
          <a:solidFill>
            <a:srgbClr val="FFE8DC"/>
          </a:solidFill>
          <a:ln/>
        </p:spPr>
      </p:sp>
      <p:pic>
        <p:nvPicPr>
          <p:cNvPr id="9" name="Image 1" descr="バッ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2362200"/>
            <a:ext cx="1428750" cy="14287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533650" y="2714625"/>
            <a:ext cx="27432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bag.</a:t>
            </a:r>
          </a:p>
        </p:txBody>
      </p:sp>
      <p:sp>
        <p:nvSpPr>
          <p:cNvPr id="11" name=""/>
          <p:cNvSpPr txBox="1"/>
          <p:nvPr/>
        </p:nvSpPr>
        <p:spPr>
          <a:xfrm>
            <a:off x="2533650" y="317182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私はバッグを1つ買いました。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200775" y="2028825"/>
            <a:ext cx="5305425" cy="2095500"/>
          </a:xfrm>
          <a:prstGeom prst="roundRect">
            <a:avLst>
              <a:gd name="adj" fmla="val 11818"/>
            </a:avLst>
          </a:prstGeom>
          <a:solidFill>
            <a:srgbClr val="FFF2C9"/>
          </a:solidFill>
          <a:ln/>
        </p:spPr>
      </p:sp>
      <p:pic>
        <p:nvPicPr>
          <p:cNvPr id="13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325" y="2362200"/>
            <a:ext cx="1428750" cy="142875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8048625" y="2524125"/>
            <a:ext cx="211455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5" name=""/>
          <p:cNvSpPr txBox="1"/>
          <p:nvPr/>
        </p:nvSpPr>
        <p:spPr>
          <a:xfrm>
            <a:off x="8048625" y="2895600"/>
            <a:ext cx="218122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in the park.</a:t>
            </a:r>
          </a:p>
        </p:txBody>
      </p:sp>
      <p:sp>
        <p:nvSpPr>
          <p:cNvPr id="16" name=""/>
          <p:cNvSpPr txBox="1"/>
          <p:nvPr/>
        </p:nvSpPr>
        <p:spPr>
          <a:xfrm>
            <a:off x="8048625" y="336232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私は公園で犬を1匹見ました。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343400"/>
            <a:ext cx="5305425" cy="2095500"/>
          </a:xfrm>
          <a:prstGeom prst="roundRect">
            <a:avLst>
              <a:gd name="adj" fmla="val 11818"/>
            </a:avLst>
          </a:prstGeom>
          <a:solidFill>
            <a:srgbClr val="FFE4EC"/>
          </a:solidFill>
          <a:ln/>
        </p:spPr>
      </p:sp>
      <p:pic>
        <p:nvPicPr>
          <p:cNvPr id="18" name="Image 3" descr="先生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50" y="4676775"/>
            <a:ext cx="1428750" cy="14287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2533650" y="5019675"/>
            <a:ext cx="303847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teacher.</a:t>
            </a:r>
          </a:p>
        </p:txBody>
      </p:sp>
      <p:sp>
        <p:nvSpPr>
          <p:cNvPr id="20" name=""/>
          <p:cNvSpPr txBox="1"/>
          <p:nvPr/>
        </p:nvSpPr>
        <p:spPr>
          <a:xfrm>
            <a:off x="2533650" y="5486400"/>
            <a:ext cx="1990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彼女は先生です。</a:t>
            </a:r>
          </a:p>
        </p:txBody>
      </p:sp>
      <p:sp>
        <p:nvSpPr>
          <p:cNvPr id="21" name=""/>
          <p:cNvSpPr/>
          <p:nvPr/>
        </p:nvSpPr>
        <p:spPr>
          <a:xfrm>
            <a:off x="6200775" y="4343400"/>
            <a:ext cx="5305425" cy="2095500"/>
          </a:xfrm>
          <a:prstGeom prst="roundRect">
            <a:avLst>
              <a:gd name="adj" fmla="val 11818"/>
            </a:avLst>
          </a:prstGeom>
          <a:solidFill>
            <a:srgbClr val="DDEFFC"/>
          </a:solidFill>
          <a:ln/>
        </p:spPr>
      </p:sp>
      <p:pic>
        <p:nvPicPr>
          <p:cNvPr id="22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0325" y="4676775"/>
            <a:ext cx="1428750" cy="142875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8048625" y="5019675"/>
            <a:ext cx="26289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ate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apple.</a:t>
            </a:r>
          </a:p>
        </p:txBody>
      </p:sp>
      <p:sp>
        <p:nvSpPr>
          <p:cNvPr id="24" name=""/>
          <p:cNvSpPr txBox="1"/>
          <p:nvPr/>
        </p:nvSpPr>
        <p:spPr>
          <a:xfrm>
            <a:off x="8048625" y="548640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私はリンゴを1個食べました。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80010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職業を言うときも、基本的に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8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sp>
        <p:nvSpPr>
          <p:cNvPr id="9" name=""/>
          <p:cNvSpPr txBox="1"/>
          <p:nvPr/>
        </p:nvSpPr>
        <p:spPr>
          <a:xfrm>
            <a:off x="1104900" y="2362200"/>
            <a:ext cx="36480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1104900" y="30003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pic>
        <p:nvPicPr>
          <p:cNvPr id="11" name="Image 1" descr="看護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925" y="3962400"/>
            <a:ext cx="2476500" cy="2476500"/>
          </a:xfrm>
          <a:prstGeom prst="rect">
            <a:avLst/>
          </a:prstGeom>
        </p:spPr>
      </p:pic>
      <p:sp>
        <p:nvSpPr>
          <p:cNvPr id="12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6638925" y="2362200"/>
            <a:ext cx="4419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4" name=""/>
          <p:cNvSpPr txBox="1"/>
          <p:nvPr/>
        </p:nvSpPr>
        <p:spPr>
          <a:xfrm>
            <a:off x="6638925" y="3000375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pic>
        <p:nvPicPr>
          <p:cNvPr id="15" name="Image 2" descr="エンジニア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3950" y="3962400"/>
            <a:ext cx="2476500" cy="2476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390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or AN ?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3467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8" name=""/>
          <p:cNvSpPr/>
          <p:nvPr/>
        </p:nvSpPr>
        <p:spPr>
          <a:xfrm>
            <a:off x="685800" y="19431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9" name=""/>
          <p:cNvSpPr txBox="1"/>
          <p:nvPr/>
        </p:nvSpPr>
        <p:spPr>
          <a:xfrm>
            <a:off x="857250" y="20002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10" name=""/>
          <p:cNvSpPr txBox="1"/>
          <p:nvPr/>
        </p:nvSpPr>
        <p:spPr>
          <a:xfrm>
            <a:off x="1676400" y="1952625"/>
            <a:ext cx="4333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次に来る単語の</a:t>
            </a:r>
            <a:pPr/>
            <a:r>
              <a:rPr sz="19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で決まる</a:t>
            </a:r>
          </a:p>
        </p:txBody>
      </p:sp>
      <p:sp>
        <p:nvSpPr>
          <p:cNvPr id="11" name=""/>
          <p:cNvSpPr/>
          <p:nvPr/>
        </p:nvSpPr>
        <p:spPr>
          <a:xfrm>
            <a:off x="685800" y="2524125"/>
            <a:ext cx="5286375" cy="3914775"/>
          </a:xfrm>
          <a:prstGeom prst="roundRect">
            <a:avLst>
              <a:gd name="adj" fmla="val 6813"/>
            </a:avLst>
          </a:prstGeom>
          <a:solidFill>
            <a:srgbClr val="FFE8DC"/>
          </a:solidFill>
          <a:ln/>
        </p:spPr>
      </p:sp>
      <p:sp>
        <p:nvSpPr>
          <p:cNvPr id="12" name=""/>
          <p:cNvSpPr/>
          <p:nvPr/>
        </p:nvSpPr>
        <p:spPr>
          <a:xfrm>
            <a:off x="1009650" y="2771775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85850" y="2914650"/>
            <a:ext cx="5619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 txBox="1"/>
          <p:nvPr/>
        </p:nvSpPr>
        <p:spPr>
          <a:xfrm>
            <a:off x="1885950" y="2838450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子音の音から始まる</a:t>
            </a:r>
          </a:p>
        </p:txBody>
      </p:sp>
      <p:sp>
        <p:nvSpPr>
          <p:cNvPr id="15" name=""/>
          <p:cNvSpPr txBox="1"/>
          <p:nvPr/>
        </p:nvSpPr>
        <p:spPr>
          <a:xfrm>
            <a:off x="1885950" y="3162300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（母音以外の音）</a:t>
            </a:r>
          </a:p>
        </p:txBody>
      </p:sp>
      <p:sp>
        <p:nvSpPr>
          <p:cNvPr id="16" name=""/>
          <p:cNvSpPr/>
          <p:nvPr/>
        </p:nvSpPr>
        <p:spPr>
          <a:xfrm>
            <a:off x="1009650" y="3609975"/>
            <a:ext cx="4638675" cy="2581275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/>
        </p:spPr>
      </p:sp>
      <p:pic>
        <p:nvPicPr>
          <p:cNvPr id="17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3724275"/>
            <a:ext cx="704850" cy="7048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2133600" y="3876675"/>
            <a:ext cx="14859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9" name=""/>
          <p:cNvSpPr/>
          <p:nvPr/>
        </p:nvSpPr>
        <p:spPr>
          <a:xfrm>
            <a:off x="1238250" y="454342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20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4552950"/>
            <a:ext cx="704850" cy="7048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2133600" y="4705350"/>
            <a:ext cx="1266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2" name=""/>
          <p:cNvSpPr/>
          <p:nvPr/>
        </p:nvSpPr>
        <p:spPr>
          <a:xfrm>
            <a:off x="1238250" y="53721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23" name="Image 3" descr="大学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5381625"/>
            <a:ext cx="704850" cy="70485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133600" y="5534025"/>
            <a:ext cx="2343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university</a:t>
            </a:r>
          </a:p>
        </p:txBody>
      </p:sp>
      <p:sp>
        <p:nvSpPr>
          <p:cNvPr id="25" name=""/>
          <p:cNvSpPr/>
          <p:nvPr/>
        </p:nvSpPr>
        <p:spPr>
          <a:xfrm>
            <a:off x="6219825" y="2524125"/>
            <a:ext cx="5286375" cy="3914775"/>
          </a:xfrm>
          <a:prstGeom prst="roundRect">
            <a:avLst>
              <a:gd name="adj" fmla="val 6813"/>
            </a:avLst>
          </a:prstGeom>
          <a:solidFill>
            <a:srgbClr val="FFF2C9"/>
          </a:solidFill>
          <a:ln/>
        </p:spPr>
      </p:sp>
      <p:sp>
        <p:nvSpPr>
          <p:cNvPr id="26" name=""/>
          <p:cNvSpPr/>
          <p:nvPr/>
        </p:nvSpPr>
        <p:spPr>
          <a:xfrm>
            <a:off x="6543675" y="2771775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496050" y="2914650"/>
            <a:ext cx="7905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8" name=""/>
          <p:cNvSpPr txBox="1"/>
          <p:nvPr/>
        </p:nvSpPr>
        <p:spPr>
          <a:xfrm>
            <a:off x="7419975" y="2838450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母音の音から始まる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7419975" y="3162300"/>
            <a:ext cx="3181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（ア・イ・ウ・エ・オ に近い音）</a:t>
            </a:r>
          </a:p>
        </p:txBody>
      </p:sp>
      <p:sp>
        <p:nvSpPr>
          <p:cNvPr id="30" name=""/>
          <p:cNvSpPr/>
          <p:nvPr/>
        </p:nvSpPr>
        <p:spPr>
          <a:xfrm>
            <a:off x="6543675" y="3609975"/>
            <a:ext cx="4638675" cy="2581275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/>
        </p:spPr>
      </p:sp>
      <p:pic>
        <p:nvPicPr>
          <p:cNvPr id="31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275" y="3724275"/>
            <a:ext cx="704850" cy="7048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7667625" y="3876675"/>
            <a:ext cx="18097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33" name=""/>
          <p:cNvSpPr/>
          <p:nvPr/>
        </p:nvSpPr>
        <p:spPr>
          <a:xfrm>
            <a:off x="6772275" y="454342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4" name="Image 5" descr="卵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4552950"/>
            <a:ext cx="704850" cy="704850"/>
          </a:xfrm>
          <a:prstGeom prst="rect">
            <a:avLst/>
          </a:prstGeom>
        </p:spPr>
      </p:pic>
      <p:sp>
        <p:nvSpPr>
          <p:cNvPr id="35" name=""/>
          <p:cNvSpPr txBox="1"/>
          <p:nvPr/>
        </p:nvSpPr>
        <p:spPr>
          <a:xfrm>
            <a:off x="7667625" y="4705350"/>
            <a:ext cx="1466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egg</a:t>
            </a:r>
          </a:p>
        </p:txBody>
      </p:sp>
      <p:sp>
        <p:nvSpPr>
          <p:cNvPr id="36" name=""/>
          <p:cNvSpPr/>
          <p:nvPr/>
        </p:nvSpPr>
        <p:spPr>
          <a:xfrm>
            <a:off x="6772275" y="53721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7" name="Image 6" descr="時計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2275" y="5381625"/>
            <a:ext cx="704850" cy="704850"/>
          </a:xfrm>
          <a:prstGeom prst="rect">
            <a:avLst/>
          </a:prstGeom>
        </p:spPr>
      </p:pic>
      <p:sp>
        <p:nvSpPr>
          <p:cNvPr id="38" name=""/>
          <p:cNvSpPr txBox="1"/>
          <p:nvPr/>
        </p:nvSpPr>
        <p:spPr>
          <a:xfrm>
            <a:off x="7667625" y="5534025"/>
            <a:ext cx="1638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75438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スペルではなく</a:t>
            </a:r>
            <a:pPr/>
            <a:r>
              <a:rPr sz="33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で判断する</a:t>
            </a:r>
          </a:p>
        </p:txBody>
      </p:sp>
      <p:sp>
        <p:nvSpPr>
          <p:cNvPr id="8" name=""/>
          <p:cNvSpPr/>
          <p:nvPr/>
        </p:nvSpPr>
        <p:spPr>
          <a:xfrm>
            <a:off x="685800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1" descr="大学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209800"/>
            <a:ext cx="1333500" cy="13335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552700" y="2343150"/>
            <a:ext cx="3305175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E8461E"/>
                </a:solidFill>
                <a:latin typeface="DM Sans"/>
                <a:ea typeface="DM Sans"/>
              </a:rPr>
              <a:t>u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niversity</a:t>
            </a:r>
          </a:p>
        </p:txBody>
      </p:sp>
      <p:sp>
        <p:nvSpPr>
          <p:cNvPr id="11" name=""/>
          <p:cNvSpPr txBox="1"/>
          <p:nvPr/>
        </p:nvSpPr>
        <p:spPr>
          <a:xfrm>
            <a:off x="2552700" y="307657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ユ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ニバーシティ」</a:t>
            </a:r>
          </a:p>
        </p:txBody>
      </p:sp>
      <p:sp>
        <p:nvSpPr>
          <p:cNvPr id="12" name=""/>
          <p:cNvSpPr/>
          <p:nvPr/>
        </p:nvSpPr>
        <p:spPr>
          <a:xfrm>
            <a:off x="1009650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1009650" y="3867150"/>
            <a:ext cx="3848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u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で始まるけど、音は「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ユ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14" name=""/>
          <p:cNvSpPr txBox="1"/>
          <p:nvPr/>
        </p:nvSpPr>
        <p:spPr>
          <a:xfrm>
            <a:off x="1009650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子音の音</a:t>
            </a:r>
          </a:p>
        </p:txBody>
      </p:sp>
      <p:sp>
        <p:nvSpPr>
          <p:cNvPr id="15" name=""/>
          <p:cNvSpPr/>
          <p:nvPr/>
        </p:nvSpPr>
        <p:spPr>
          <a:xfrm>
            <a:off x="1009650" y="5591175"/>
            <a:ext cx="2371725" cy="600075"/>
          </a:xfrm>
          <a:prstGeom prst="roundRect">
            <a:avLst>
              <a:gd name="adj" fmla="val 25397"/>
            </a:avLst>
          </a:prstGeom>
          <a:solidFill>
            <a:srgbClr val="FFE8DC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219200" y="5667375"/>
            <a:ext cx="2590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university</a:t>
            </a:r>
          </a:p>
        </p:txBody>
      </p:sp>
      <p:sp>
        <p:nvSpPr>
          <p:cNvPr id="17" name=""/>
          <p:cNvSpPr/>
          <p:nvPr/>
        </p:nvSpPr>
        <p:spPr>
          <a:xfrm>
            <a:off x="6219825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8" name="Image 2" descr="時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675" y="2209800"/>
            <a:ext cx="1333500" cy="13335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8086725" y="2343150"/>
            <a:ext cx="1714500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C3C8D6"/>
                </a:solidFill>
                <a:latin typeface="DM Sans"/>
                <a:ea typeface="DM Sans"/>
              </a:rPr>
              <a:t>h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our</a:t>
            </a:r>
          </a:p>
        </p:txBody>
      </p:sp>
      <p:sp>
        <p:nvSpPr>
          <p:cNvPr id="20" name=""/>
          <p:cNvSpPr txBox="1"/>
          <p:nvPr/>
        </p:nvSpPr>
        <p:spPr>
          <a:xfrm>
            <a:off x="8086725" y="307657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ア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ワー」</a:t>
            </a:r>
          </a:p>
        </p:txBody>
      </p:sp>
      <p:sp>
        <p:nvSpPr>
          <p:cNvPr id="21" name=""/>
          <p:cNvSpPr/>
          <p:nvPr/>
        </p:nvSpPr>
        <p:spPr>
          <a:xfrm>
            <a:off x="6543675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2" name=""/>
          <p:cNvSpPr txBox="1"/>
          <p:nvPr/>
        </p:nvSpPr>
        <p:spPr>
          <a:xfrm>
            <a:off x="6543675" y="3867150"/>
            <a:ext cx="4400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h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は発音しないので、音は「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ア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23" name=""/>
          <p:cNvSpPr txBox="1"/>
          <p:nvPr/>
        </p:nvSpPr>
        <p:spPr>
          <a:xfrm>
            <a:off x="6543675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母音の音</a:t>
            </a:r>
          </a:p>
        </p:txBody>
      </p:sp>
      <p:sp>
        <p:nvSpPr>
          <p:cNvPr id="24" name=""/>
          <p:cNvSpPr/>
          <p:nvPr/>
        </p:nvSpPr>
        <p:spPr>
          <a:xfrm>
            <a:off x="6543675" y="5591175"/>
            <a:ext cx="1676400" cy="600075"/>
          </a:xfrm>
          <a:prstGeom prst="roundRect">
            <a:avLst>
              <a:gd name="adj" fmla="val 25397"/>
            </a:avLst>
          </a:prstGeom>
          <a:solidFill>
            <a:srgbClr val="FFE8D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6753225" y="5667375"/>
            <a:ext cx="17907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7813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THE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MENTAL IMAGE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3181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5286375" cy="3514725"/>
          </a:xfrm>
          <a:prstGeom prst="roundRect">
            <a:avLst>
              <a:gd name="adj" fmla="val 7588"/>
            </a:avLst>
          </a:prstGeom>
          <a:solidFill>
            <a:srgbClr val="DDEFF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066800" y="2838450"/>
            <a:ext cx="1676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10" name=""/>
          <p:cNvSpPr txBox="1"/>
          <p:nvPr/>
        </p:nvSpPr>
        <p:spPr>
          <a:xfrm>
            <a:off x="1066800" y="353377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2F86CF"/>
                </a:solidFill>
                <a:latin typeface="Noto Sans JP"/>
                <a:ea typeface="Noto Sans JP"/>
              </a:rPr>
              <a:t>それ！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」と</a:t>
            </a:r>
          </a:p>
        </p:txBody>
      </p:sp>
      <p:sp>
        <p:nvSpPr>
          <p:cNvPr id="11" name=""/>
          <p:cNvSpPr txBox="1"/>
          <p:nvPr/>
        </p:nvSpPr>
        <p:spPr>
          <a:xfrm>
            <a:off x="1066800" y="412432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指させるもの</a:t>
            </a:r>
          </a:p>
        </p:txBody>
      </p:sp>
      <p:sp>
        <p:nvSpPr>
          <p:cNvPr id="12" name=""/>
          <p:cNvSpPr/>
          <p:nvPr/>
        </p:nvSpPr>
        <p:spPr>
          <a:xfrm>
            <a:off x="6219825" y="2028825"/>
            <a:ext cx="5286375" cy="3514725"/>
          </a:xfrm>
          <a:prstGeom prst="roundRect">
            <a:avLst>
              <a:gd name="adj" fmla="val 75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3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0" y="2476500"/>
            <a:ext cx="1066800" cy="10668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8153400" y="2295525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5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4375" y="2476500"/>
            <a:ext cx="1066800" cy="106680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8505825" y="3495675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382000" y="35242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pic>
        <p:nvPicPr>
          <p:cNvPr id="18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0" y="2476500"/>
            <a:ext cx="1066800" cy="1066800"/>
          </a:xfrm>
          <a:prstGeom prst="rect">
            <a:avLst/>
          </a:prstGeom>
        </p:spPr>
      </p:pic>
      <p:pic>
        <p:nvPicPr>
          <p:cNvPr id="19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0" y="4029075"/>
            <a:ext cx="1066800" cy="1066800"/>
          </a:xfrm>
          <a:prstGeom prst="rect">
            <a:avLst/>
          </a:prstGeom>
        </p:spPr>
      </p:pic>
      <p:pic>
        <p:nvPicPr>
          <p:cNvPr id="20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4375" y="4029075"/>
            <a:ext cx="1066800" cy="1066800"/>
          </a:xfrm>
          <a:prstGeom prst="rect">
            <a:avLst/>
          </a:prstGeom>
        </p:spPr>
      </p:pic>
      <p:pic>
        <p:nvPicPr>
          <p:cNvPr id="21" name="Image 6" descr="りんご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0" y="4029075"/>
            <a:ext cx="1066800" cy="1066800"/>
          </a:xfrm>
          <a:prstGeom prst="rect">
            <a:avLst/>
          </a:prstGeom>
        </p:spPr>
      </p:pic>
      <p:sp>
        <p:nvSpPr>
          <p:cNvPr id="22" name=""/>
          <p:cNvSpPr/>
          <p:nvPr/>
        </p:nvSpPr>
        <p:spPr>
          <a:xfrm>
            <a:off x="685800" y="5734050"/>
            <a:ext cx="5314950" cy="704850"/>
          </a:xfrm>
          <a:prstGeom prst="roundRect">
            <a:avLst>
              <a:gd name="adj" fmla="val 378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914400" y="59055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885825" y="59721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5" name=""/>
          <p:cNvSpPr txBox="1"/>
          <p:nvPr/>
        </p:nvSpPr>
        <p:spPr>
          <a:xfrm>
            <a:off x="1409700" y="5934075"/>
            <a:ext cx="46767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どの人・どの物のことか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特定できる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  <p:sp>
        <p:nvSpPr>
          <p:cNvPr id="26" name=""/>
          <p:cNvSpPr/>
          <p:nvPr/>
        </p:nvSpPr>
        <p:spPr>
          <a:xfrm>
            <a:off x="6191250" y="5734050"/>
            <a:ext cx="5314950" cy="704850"/>
          </a:xfrm>
          <a:prstGeom prst="roundRect">
            <a:avLst>
              <a:gd name="adj" fmla="val 378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7" name=""/>
          <p:cNvSpPr/>
          <p:nvPr/>
        </p:nvSpPr>
        <p:spPr>
          <a:xfrm>
            <a:off x="6419850" y="59055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372225" y="59721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9" name=""/>
          <p:cNvSpPr txBox="1"/>
          <p:nvPr/>
        </p:nvSpPr>
        <p:spPr>
          <a:xfrm>
            <a:off x="6915150" y="5934075"/>
            <a:ext cx="4200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話し手と聞き手の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両方が分かる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2860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THE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2695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10820400" cy="1371600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1" descr="ド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2124075"/>
            <a:ext cx="1181100" cy="11811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324100" y="2324100"/>
            <a:ext cx="4552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Please close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door.</a:t>
            </a:r>
          </a:p>
        </p:txBody>
      </p:sp>
      <p:sp>
        <p:nvSpPr>
          <p:cNvPr id="11" name=""/>
          <p:cNvSpPr txBox="1"/>
          <p:nvPr/>
        </p:nvSpPr>
        <p:spPr>
          <a:xfrm>
            <a:off x="2324100" y="2828925"/>
            <a:ext cx="3181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2" name=""/>
          <p:cNvSpPr/>
          <p:nvPr/>
        </p:nvSpPr>
        <p:spPr>
          <a:xfrm>
            <a:off x="7981950" y="23050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172450" y="2447925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その場にいる人たちが</a:t>
            </a:r>
          </a:p>
        </p:txBody>
      </p:sp>
      <p:sp>
        <p:nvSpPr>
          <p:cNvPr id="14" name=""/>
          <p:cNvSpPr txBox="1"/>
          <p:nvPr/>
        </p:nvSpPr>
        <p:spPr>
          <a:xfrm>
            <a:off x="8172450" y="27241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どのドアか分かっている</a:t>
            </a:r>
          </a:p>
        </p:txBody>
      </p:sp>
      <p:sp>
        <p:nvSpPr>
          <p:cNvPr id="15" name=""/>
          <p:cNvSpPr/>
          <p:nvPr/>
        </p:nvSpPr>
        <p:spPr>
          <a:xfrm>
            <a:off x="685800" y="3552825"/>
            <a:ext cx="10820400" cy="1371600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6" name="Image 2" descr="トイ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3648075"/>
            <a:ext cx="1181100" cy="11811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2324100" y="3848100"/>
            <a:ext cx="49625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Where is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bathroom?</a:t>
            </a:r>
          </a:p>
        </p:txBody>
      </p:sp>
      <p:sp>
        <p:nvSpPr>
          <p:cNvPr id="18" name=""/>
          <p:cNvSpPr txBox="1"/>
          <p:nvPr/>
        </p:nvSpPr>
        <p:spPr>
          <a:xfrm>
            <a:off x="2324100" y="4352925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トイレはどこですか？</a:t>
            </a:r>
          </a:p>
        </p:txBody>
      </p:sp>
      <p:sp>
        <p:nvSpPr>
          <p:cNvPr id="19" name=""/>
          <p:cNvSpPr/>
          <p:nvPr/>
        </p:nvSpPr>
        <p:spPr>
          <a:xfrm>
            <a:off x="7981950" y="38195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172450" y="396240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その場所にあるトイレを</a:t>
            </a:r>
          </a:p>
        </p:txBody>
      </p:sp>
      <p:sp>
        <p:nvSpPr>
          <p:cNvPr id="21" name=""/>
          <p:cNvSpPr txBox="1"/>
          <p:nvPr/>
        </p:nvSpPr>
        <p:spPr>
          <a:xfrm>
            <a:off x="8172450" y="42481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指している</a:t>
            </a:r>
          </a:p>
        </p:txBody>
      </p:sp>
      <p:sp>
        <p:nvSpPr>
          <p:cNvPr id="22" name=""/>
          <p:cNvSpPr/>
          <p:nvPr/>
        </p:nvSpPr>
        <p:spPr>
          <a:xfrm>
            <a:off x="685800" y="5067300"/>
            <a:ext cx="10820400" cy="1371600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3" descr="太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50" y="5162550"/>
            <a:ext cx="1181100" cy="11811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24100" y="5362575"/>
            <a:ext cx="4772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sun is bright today.</a:t>
            </a:r>
          </a:p>
        </p:txBody>
      </p:sp>
      <p:sp>
        <p:nvSpPr>
          <p:cNvPr id="25" name=""/>
          <p:cNvSpPr txBox="1"/>
          <p:nvPr/>
        </p:nvSpPr>
        <p:spPr>
          <a:xfrm>
            <a:off x="2324100" y="5867400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今日は太陽がまぶしいです。</a:t>
            </a:r>
          </a:p>
        </p:txBody>
      </p:sp>
      <p:sp>
        <p:nvSpPr>
          <p:cNvPr id="26" name=""/>
          <p:cNvSpPr/>
          <p:nvPr/>
        </p:nvSpPr>
        <p:spPr>
          <a:xfrm>
            <a:off x="7981950" y="53435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172450" y="54864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太陽は、どれのことか</a:t>
            </a:r>
          </a:p>
        </p:txBody>
      </p:sp>
      <p:sp>
        <p:nvSpPr>
          <p:cNvPr id="28" name=""/>
          <p:cNvSpPr txBox="1"/>
          <p:nvPr/>
        </p:nvSpPr>
        <p:spPr>
          <a:xfrm>
            <a:off x="8172450" y="57626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1" descr="バッ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3162300" y="266700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1" name=""/>
          <p:cNvSpPr/>
          <p:nvPr/>
        </p:nvSpPr>
        <p:spPr>
          <a:xfrm>
            <a:off x="5067300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6553200" y="266700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4" name=""/>
          <p:cNvSpPr txBox="1"/>
          <p:nvPr/>
        </p:nvSpPr>
        <p:spPr>
          <a:xfrm>
            <a:off x="4648200" y="367665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5" name=""/>
          <p:cNvSpPr/>
          <p:nvPr/>
        </p:nvSpPr>
        <p:spPr>
          <a:xfrm>
            <a:off x="685800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5530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 txBox="1"/>
          <p:nvPr/>
        </p:nvSpPr>
        <p:spPr>
          <a:xfrm>
            <a:off x="1771650" y="56673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8" name=""/>
          <p:cNvSpPr/>
          <p:nvPr/>
        </p:nvSpPr>
        <p:spPr>
          <a:xfrm>
            <a:off x="2162175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066925" y="55530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 txBox="1"/>
          <p:nvPr/>
        </p:nvSpPr>
        <p:spPr>
          <a:xfrm>
            <a:off x="3381375" y="56197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466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 ANSWER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1" descr="バッ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3162300" y="266700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1" name=""/>
          <p:cNvSpPr/>
          <p:nvPr/>
        </p:nvSpPr>
        <p:spPr>
          <a:xfrm>
            <a:off x="5067300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419725" y="267652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 txBox="1"/>
          <p:nvPr/>
        </p:nvSpPr>
        <p:spPr>
          <a:xfrm>
            <a:off x="6553200" y="266700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4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3219450" y="368617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4648200" y="367665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7" name=""/>
          <p:cNvSpPr/>
          <p:nvPr/>
        </p:nvSpPr>
        <p:spPr>
          <a:xfrm>
            <a:off x="685800" y="50958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90600" y="5210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267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20" name=""/>
          <p:cNvSpPr txBox="1"/>
          <p:nvPr/>
        </p:nvSpPr>
        <p:spPr>
          <a:xfrm>
            <a:off x="1914525" y="5229225"/>
            <a:ext cx="2981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21" name=""/>
          <p:cNvSpPr/>
          <p:nvPr/>
        </p:nvSpPr>
        <p:spPr>
          <a:xfrm>
            <a:off x="990600" y="56769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7340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695950"/>
            <a:ext cx="5629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24" name=""/>
          <p:cNvSpPr txBox="1"/>
          <p:nvPr/>
        </p:nvSpPr>
        <p:spPr>
          <a:xfrm>
            <a:off x="990600" y="6162675"/>
            <a:ext cx="55245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419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COMPARE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4695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8" name=""/>
          <p:cNvSpPr/>
          <p:nvPr/>
        </p:nvSpPr>
        <p:spPr>
          <a:xfrm>
            <a:off x="2057400" y="1981200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FFE8DC"/>
          </a:solidFill>
          <a:ln/>
        </p:spPr>
      </p:sp>
      <p:sp>
        <p:nvSpPr>
          <p:cNvPr id="9" name=""/>
          <p:cNvSpPr txBox="1"/>
          <p:nvPr/>
        </p:nvSpPr>
        <p:spPr>
          <a:xfrm>
            <a:off x="2266950" y="213360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0" name=""/>
          <p:cNvSpPr txBox="1"/>
          <p:nvPr/>
        </p:nvSpPr>
        <p:spPr>
          <a:xfrm>
            <a:off x="3219450" y="2190750"/>
            <a:ext cx="34575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まだ特定されていない「1つ」</a:t>
            </a:r>
          </a:p>
        </p:txBody>
      </p:sp>
      <p:sp>
        <p:nvSpPr>
          <p:cNvPr id="11" name=""/>
          <p:cNvSpPr/>
          <p:nvPr/>
        </p:nvSpPr>
        <p:spPr>
          <a:xfrm>
            <a:off x="6848475" y="1981200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DDEFF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058025" y="2133600"/>
            <a:ext cx="923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 txBox="1"/>
          <p:nvPr/>
        </p:nvSpPr>
        <p:spPr>
          <a:xfrm>
            <a:off x="7696200" y="21907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どれのことか特定できる</a:t>
            </a:r>
          </a:p>
        </p:txBody>
      </p:sp>
      <p:pic>
        <p:nvPicPr>
          <p:cNvPr id="14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3124200"/>
            <a:ext cx="1143000" cy="1143000"/>
          </a:xfrm>
          <a:prstGeom prst="rect">
            <a:avLst/>
          </a:prstGeom>
        </p:spPr>
      </p:pic>
      <p:sp>
        <p:nvSpPr>
          <p:cNvPr id="15" name=""/>
          <p:cNvSpPr/>
          <p:nvPr/>
        </p:nvSpPr>
        <p:spPr>
          <a:xfrm>
            <a:off x="2057400" y="2819400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 txBox="1"/>
          <p:nvPr/>
        </p:nvSpPr>
        <p:spPr>
          <a:xfrm>
            <a:off x="2305050" y="3352800"/>
            <a:ext cx="2152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dog.</a:t>
            </a:r>
          </a:p>
        </p:txBody>
      </p:sp>
      <p:sp>
        <p:nvSpPr>
          <p:cNvPr id="17" name=""/>
          <p:cNvSpPr txBox="1"/>
          <p:nvPr/>
        </p:nvSpPr>
        <p:spPr>
          <a:xfrm>
            <a:off x="2305050" y="3781425"/>
            <a:ext cx="21240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犬を1匹見ました。</a:t>
            </a:r>
          </a:p>
        </p:txBody>
      </p:sp>
      <p:sp>
        <p:nvSpPr>
          <p:cNvPr id="18" name=""/>
          <p:cNvSpPr/>
          <p:nvPr/>
        </p:nvSpPr>
        <p:spPr>
          <a:xfrm>
            <a:off x="6848475" y="2819400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7096125" y="3352800"/>
            <a:ext cx="3190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 was cute.</a:t>
            </a:r>
          </a:p>
        </p:txBody>
      </p:sp>
      <p:sp>
        <p:nvSpPr>
          <p:cNvPr id="20" name=""/>
          <p:cNvSpPr txBox="1"/>
          <p:nvPr/>
        </p:nvSpPr>
        <p:spPr>
          <a:xfrm>
            <a:off x="7096125" y="3781425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その犬はかわいかったです。</a:t>
            </a:r>
          </a:p>
        </p:txBody>
      </p:sp>
      <p:pic>
        <p:nvPicPr>
          <p:cNvPr id="21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5000625"/>
            <a:ext cx="1143000" cy="1143000"/>
          </a:xfrm>
          <a:prstGeom prst="rect">
            <a:avLst/>
          </a:prstGeom>
        </p:spPr>
      </p:pic>
      <p:sp>
        <p:nvSpPr>
          <p:cNvPr id="22" name=""/>
          <p:cNvSpPr/>
          <p:nvPr/>
        </p:nvSpPr>
        <p:spPr>
          <a:xfrm>
            <a:off x="2057400" y="4695825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 txBox="1"/>
          <p:nvPr/>
        </p:nvSpPr>
        <p:spPr>
          <a:xfrm>
            <a:off x="2305050" y="5057775"/>
            <a:ext cx="3609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4" name=""/>
          <p:cNvSpPr txBox="1"/>
          <p:nvPr/>
        </p:nvSpPr>
        <p:spPr>
          <a:xfrm>
            <a:off x="2305050" y="5486400"/>
            <a:ext cx="2514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本を1冊買いたいです。</a:t>
            </a:r>
          </a:p>
        </p:txBody>
      </p:sp>
      <p:sp>
        <p:nvSpPr>
          <p:cNvPr id="25" name=""/>
          <p:cNvSpPr txBox="1"/>
          <p:nvPr/>
        </p:nvSpPr>
        <p:spPr>
          <a:xfrm>
            <a:off x="2305050" y="5838825"/>
            <a:ext cx="3505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どの本かは、まだ決まっていない</a:t>
            </a:r>
          </a:p>
        </p:txBody>
      </p:sp>
      <p:sp>
        <p:nvSpPr>
          <p:cNvPr id="26" name=""/>
          <p:cNvSpPr/>
          <p:nvPr/>
        </p:nvSpPr>
        <p:spPr>
          <a:xfrm>
            <a:off x="6848475" y="4695825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7" name=""/>
          <p:cNvSpPr txBox="1"/>
          <p:nvPr/>
        </p:nvSpPr>
        <p:spPr>
          <a:xfrm>
            <a:off x="7096125" y="5057775"/>
            <a:ext cx="39624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8" name=""/>
          <p:cNvSpPr txBox="1"/>
          <p:nvPr/>
        </p:nvSpPr>
        <p:spPr>
          <a:xfrm>
            <a:off x="7096125" y="5486400"/>
            <a:ext cx="2600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その本を買いたいです。</a:t>
            </a:r>
          </a:p>
        </p:txBody>
      </p:sp>
      <p:sp>
        <p:nvSpPr>
          <p:cNvPr id="29" name=""/>
          <p:cNvSpPr txBox="1"/>
          <p:nvPr/>
        </p:nvSpPr>
        <p:spPr>
          <a:xfrm>
            <a:off x="7096125" y="5838825"/>
            <a:ext cx="431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話し手と聞き手が、どの本か分かっている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1362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1" descr="カフ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3162300" y="266700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1" name=""/>
          <p:cNvSpPr/>
          <p:nvPr/>
        </p:nvSpPr>
        <p:spPr>
          <a:xfrm>
            <a:off x="5153025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6638925" y="266700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4" name=""/>
          <p:cNvSpPr txBox="1"/>
          <p:nvPr/>
        </p:nvSpPr>
        <p:spPr>
          <a:xfrm>
            <a:off x="4648200" y="367665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5" name=""/>
          <p:cNvSpPr/>
          <p:nvPr/>
        </p:nvSpPr>
        <p:spPr>
          <a:xfrm>
            <a:off x="685800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5530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 txBox="1"/>
          <p:nvPr/>
        </p:nvSpPr>
        <p:spPr>
          <a:xfrm>
            <a:off x="1771650" y="56673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8" name=""/>
          <p:cNvSpPr/>
          <p:nvPr/>
        </p:nvSpPr>
        <p:spPr>
          <a:xfrm>
            <a:off x="2162175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066925" y="55530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 txBox="1"/>
          <p:nvPr/>
        </p:nvSpPr>
        <p:spPr>
          <a:xfrm>
            <a:off x="3381375" y="56197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505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ANSWER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8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1" descr="カフ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3162300" y="266700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1" name=""/>
          <p:cNvSpPr/>
          <p:nvPr/>
        </p:nvSpPr>
        <p:spPr>
          <a:xfrm>
            <a:off x="5153025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505450" y="267652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 txBox="1"/>
          <p:nvPr/>
        </p:nvSpPr>
        <p:spPr>
          <a:xfrm>
            <a:off x="6638925" y="266700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4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3219450" y="368617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4648200" y="367665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7" name=""/>
          <p:cNvSpPr/>
          <p:nvPr/>
        </p:nvSpPr>
        <p:spPr>
          <a:xfrm>
            <a:off x="685800" y="50958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90600" y="5210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267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20" name=""/>
          <p:cNvSpPr txBox="1"/>
          <p:nvPr/>
        </p:nvSpPr>
        <p:spPr>
          <a:xfrm>
            <a:off x="1914525" y="5229225"/>
            <a:ext cx="3086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6769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7340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695950"/>
            <a:ext cx="573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24" name=""/>
          <p:cNvSpPr txBox="1"/>
          <p:nvPr/>
        </p:nvSpPr>
        <p:spPr>
          <a:xfrm>
            <a:off x="990600" y="6162675"/>
            <a:ext cx="656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171575"/>
            <a:ext cx="74961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会話で、とてもよく出てくる流れ</a:t>
            </a:r>
          </a:p>
        </p:txBody>
      </p:sp>
      <p:sp>
        <p:nvSpPr>
          <p:cNvPr id="8" name=""/>
          <p:cNvSpPr/>
          <p:nvPr/>
        </p:nvSpPr>
        <p:spPr>
          <a:xfrm>
            <a:off x="685800" y="1962150"/>
            <a:ext cx="4991100" cy="4476750"/>
          </a:xfrm>
          <a:prstGeom prst="roundRect">
            <a:avLst>
              <a:gd name="adj" fmla="val 5957"/>
            </a:avLst>
          </a:prstGeom>
          <a:solidFill>
            <a:srgbClr val="FFE8DC"/>
          </a:solidFill>
          <a:ln/>
        </p:spPr>
      </p:sp>
      <p:sp>
        <p:nvSpPr>
          <p:cNvPr id="9" name=""/>
          <p:cNvSpPr/>
          <p:nvPr/>
        </p:nvSpPr>
        <p:spPr>
          <a:xfrm>
            <a:off x="1028700" y="22479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200150" y="2305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初登場</a:t>
            </a:r>
          </a:p>
        </p:txBody>
      </p:sp>
      <p:sp>
        <p:nvSpPr>
          <p:cNvPr id="11" name=""/>
          <p:cNvSpPr txBox="1"/>
          <p:nvPr/>
        </p:nvSpPr>
        <p:spPr>
          <a:xfrm>
            <a:off x="1028700" y="277177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はじめて話に出る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3114675"/>
            <a:ext cx="2800350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3" name=""/>
          <p:cNvSpPr/>
          <p:nvPr/>
        </p:nvSpPr>
        <p:spPr>
          <a:xfrm>
            <a:off x="1028700" y="5048250"/>
            <a:ext cx="4305300" cy="110490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pic>
        <p:nvPicPr>
          <p:cNvPr id="14" name="Image 1" descr="カフ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5143500"/>
            <a:ext cx="914400" cy="9144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5362575"/>
            <a:ext cx="15716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cafe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392430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>
                <a:solidFill>
                  <a:srgbClr val="E8461E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7" name=""/>
          <p:cNvSpPr/>
          <p:nvPr/>
        </p:nvSpPr>
        <p:spPr>
          <a:xfrm>
            <a:off x="6515100" y="1962150"/>
            <a:ext cx="4991100" cy="4476750"/>
          </a:xfrm>
          <a:prstGeom prst="roundRect">
            <a:avLst>
              <a:gd name="adj" fmla="val 5957"/>
            </a:avLst>
          </a:prstGeom>
          <a:solidFill>
            <a:srgbClr val="DDEFFC"/>
          </a:solidFill>
          <a:ln/>
        </p:spPr>
      </p:sp>
      <p:sp>
        <p:nvSpPr>
          <p:cNvPr id="18" name=""/>
          <p:cNvSpPr/>
          <p:nvPr/>
        </p:nvSpPr>
        <p:spPr>
          <a:xfrm>
            <a:off x="6858000" y="2247900"/>
            <a:ext cx="1133475" cy="3714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029450" y="2305050"/>
            <a:ext cx="1247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2回目以降</a:t>
            </a:r>
          </a:p>
        </p:txBody>
      </p:sp>
      <p:sp>
        <p:nvSpPr>
          <p:cNvPr id="20" name=""/>
          <p:cNvSpPr txBox="1"/>
          <p:nvPr/>
        </p:nvSpPr>
        <p:spPr>
          <a:xfrm>
            <a:off x="6858000" y="277177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「さっきのそれ」と分かる</a:t>
            </a:r>
          </a:p>
        </p:txBody>
      </p:sp>
      <p:sp>
        <p:nvSpPr>
          <p:cNvPr id="21" name=""/>
          <p:cNvSpPr txBox="1"/>
          <p:nvPr/>
        </p:nvSpPr>
        <p:spPr>
          <a:xfrm>
            <a:off x="6858000" y="3114675"/>
            <a:ext cx="1866900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2" name=""/>
          <p:cNvSpPr/>
          <p:nvPr/>
        </p:nvSpPr>
        <p:spPr>
          <a:xfrm>
            <a:off x="6858000" y="5048250"/>
            <a:ext cx="4305300" cy="110490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pic>
        <p:nvPicPr>
          <p:cNvPr id="23" name="Image 2" descr="カフェ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550" y="5143500"/>
            <a:ext cx="914400" cy="9144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8153400" y="5362575"/>
            <a:ext cx="20097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cafe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8" name=""/>
          <p:cNvSpPr txBox="1"/>
          <p:nvPr/>
        </p:nvSpPr>
        <p:spPr>
          <a:xfrm>
            <a:off x="685800" y="1952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そこで大切なのが…</a:t>
            </a:r>
          </a:p>
        </p:txBody>
      </p:sp>
      <p:sp>
        <p:nvSpPr>
          <p:cNvPr id="9" name=""/>
          <p:cNvSpPr/>
          <p:nvPr/>
        </p:nvSpPr>
        <p:spPr>
          <a:xfrm>
            <a:off x="685800" y="2466975"/>
            <a:ext cx="5286375" cy="3971925"/>
          </a:xfrm>
          <a:prstGeom prst="roundRect">
            <a:avLst>
              <a:gd name="adj" fmla="val 6715"/>
            </a:avLst>
          </a:prstGeom>
          <a:solidFill>
            <a:srgbClr val="FFE8DC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028700" y="27336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11" name=""/>
          <p:cNvSpPr txBox="1"/>
          <p:nvPr/>
        </p:nvSpPr>
        <p:spPr>
          <a:xfrm>
            <a:off x="1028700" y="33147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12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3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4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5" name="Image 3" descr="犬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6219825" y="2466975"/>
            <a:ext cx="5286375" cy="3971925"/>
          </a:xfrm>
          <a:prstGeom prst="roundRect">
            <a:avLst>
              <a:gd name="adj" fmla="val 6715"/>
            </a:avLst>
          </a:prstGeom>
          <a:solidFill>
            <a:srgbClr val="DDEFFC"/>
          </a:solidFill>
          <a:ln/>
        </p:spPr>
      </p:sp>
      <p:sp>
        <p:nvSpPr>
          <p:cNvPr id="17" name=""/>
          <p:cNvSpPr txBox="1"/>
          <p:nvPr/>
        </p:nvSpPr>
        <p:spPr>
          <a:xfrm>
            <a:off x="6562725" y="27336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8" name=""/>
          <p:cNvSpPr txBox="1"/>
          <p:nvPr/>
        </p:nvSpPr>
        <p:spPr>
          <a:xfrm>
            <a:off x="6562725" y="33147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9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20" name="Image 4" descr="水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21" name="Image 5" descr="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22" name="Image 6" descr="幸せ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8" name=""/>
          <p:cNvSpPr txBox="1"/>
          <p:nvPr/>
        </p:nvSpPr>
        <p:spPr>
          <a:xfrm>
            <a:off x="685800" y="19145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9" name=""/>
          <p:cNvSpPr/>
          <p:nvPr/>
        </p:nvSpPr>
        <p:spPr>
          <a:xfrm>
            <a:off x="685800" y="2428875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933450" y="2962275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11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2686050"/>
            <a:ext cx="647700" cy="6477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2562225" y="3352800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3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9575" y="2686050"/>
            <a:ext cx="647700" cy="647700"/>
          </a:xfrm>
          <a:prstGeom prst="rect">
            <a:avLst/>
          </a:prstGeom>
        </p:spPr>
      </p:pic>
      <p:pic>
        <p:nvPicPr>
          <p:cNvPr id="14" name="Image 3" descr="本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6325" y="2686050"/>
            <a:ext cx="647700" cy="6477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4371975" y="3352800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6" name=""/>
          <p:cNvSpPr/>
          <p:nvPr/>
        </p:nvSpPr>
        <p:spPr>
          <a:xfrm>
            <a:off x="6200775" y="2428875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6448425" y="2962275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0550" y="2686050"/>
            <a:ext cx="647700" cy="6477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8048625" y="3352800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20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4550" y="2686050"/>
            <a:ext cx="647700" cy="647700"/>
          </a:xfrm>
          <a:prstGeom prst="rect">
            <a:avLst/>
          </a:prstGeom>
        </p:spPr>
      </p:pic>
      <p:pic>
        <p:nvPicPr>
          <p:cNvPr id="21" name="Image 6" descr="りんご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686050"/>
            <a:ext cx="647700" cy="6477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9848850" y="3352800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3" name=""/>
          <p:cNvSpPr/>
          <p:nvPr/>
        </p:nvSpPr>
        <p:spPr>
          <a:xfrm>
            <a:off x="685800" y="4076700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933450" y="4610100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5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95575" y="4333875"/>
            <a:ext cx="647700" cy="6477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2628900" y="5000625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7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9575" y="4333875"/>
            <a:ext cx="647700" cy="647700"/>
          </a:xfrm>
          <a:prstGeom prst="rect">
            <a:avLst/>
          </a:prstGeom>
        </p:spPr>
      </p:pic>
      <p:pic>
        <p:nvPicPr>
          <p:cNvPr id="28" name="Image 9" descr="犬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6325" y="4333875"/>
            <a:ext cx="647700" cy="647700"/>
          </a:xfrm>
          <a:prstGeom prst="rect">
            <a:avLst/>
          </a:prstGeom>
        </p:spPr>
      </p:pic>
      <p:sp>
        <p:nvSpPr>
          <p:cNvPr id="29" name=""/>
          <p:cNvSpPr txBox="1"/>
          <p:nvPr/>
        </p:nvSpPr>
        <p:spPr>
          <a:xfrm>
            <a:off x="4429125" y="5000625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30" name=""/>
          <p:cNvSpPr/>
          <p:nvPr/>
        </p:nvSpPr>
        <p:spPr>
          <a:xfrm>
            <a:off x="6200775" y="4076700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 txBox="1"/>
          <p:nvPr/>
        </p:nvSpPr>
        <p:spPr>
          <a:xfrm>
            <a:off x="6448425" y="4610100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32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0550" y="4333875"/>
            <a:ext cx="647700" cy="6477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7934325" y="5000625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4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34550" y="4333875"/>
            <a:ext cx="647700" cy="647700"/>
          </a:xfrm>
          <a:prstGeom prst="rect">
            <a:avLst/>
          </a:prstGeom>
        </p:spPr>
      </p:pic>
      <p:pic>
        <p:nvPicPr>
          <p:cNvPr id="35" name="Image 12" descr="学生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4333875"/>
            <a:ext cx="647700" cy="64770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9734550" y="500062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8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9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40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pic>
        <p:nvPicPr>
          <p:cNvPr id="3" name="Image 0" descr="/home/user/hina-english/matome/a-the/img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8875" y="180975"/>
            <a:ext cx="304800" cy="3048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10448925" y="2190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6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7" name=""/>
          <p:cNvSpPr txBox="1"/>
          <p:nvPr/>
        </p:nvSpPr>
        <p:spPr>
          <a:xfrm>
            <a:off x="685800" y="12001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8" name=""/>
          <p:cNvSpPr/>
          <p:nvPr/>
        </p:nvSpPr>
        <p:spPr>
          <a:xfrm>
            <a:off x="685800" y="19335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57250" y="1990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10" name=""/>
          <p:cNvSpPr txBox="1"/>
          <p:nvPr/>
        </p:nvSpPr>
        <p:spPr>
          <a:xfrm>
            <a:off x="1676400" y="1943100"/>
            <a:ext cx="80200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は使えない</a:t>
            </a:r>
          </a:p>
        </p:txBody>
      </p:sp>
      <p:sp>
        <p:nvSpPr>
          <p:cNvPr id="11" name=""/>
          <p:cNvSpPr/>
          <p:nvPr/>
        </p:nvSpPr>
        <p:spPr>
          <a:xfrm>
            <a:off x="685800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33450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DDEFFC"/>
          </a:solidFill>
          <a:ln/>
        </p:spPr>
      </p:sp>
      <p:pic>
        <p:nvPicPr>
          <p:cNvPr id="13" name="Image 1" descr="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800350"/>
            <a:ext cx="1619250" cy="161925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1819275" y="4629150"/>
            <a:ext cx="17049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5" name=""/>
          <p:cNvSpPr txBox="1"/>
          <p:nvPr/>
        </p:nvSpPr>
        <p:spPr>
          <a:xfrm>
            <a:off x="2314575" y="52197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6" name=""/>
          <p:cNvSpPr/>
          <p:nvPr/>
        </p:nvSpPr>
        <p:spPr>
          <a:xfrm>
            <a:off x="1676400" y="5753100"/>
            <a:ext cx="14668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866900" y="5810250"/>
            <a:ext cx="1590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water</a:t>
            </a:r>
          </a:p>
        </p:txBody>
      </p:sp>
      <p:sp>
        <p:nvSpPr>
          <p:cNvPr id="18" name=""/>
          <p:cNvSpPr/>
          <p:nvPr/>
        </p:nvSpPr>
        <p:spPr>
          <a:xfrm>
            <a:off x="4371975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4619625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E4EC"/>
          </a:solidFill>
          <a:ln/>
        </p:spPr>
      </p:sp>
      <p:pic>
        <p:nvPicPr>
          <p:cNvPr id="20" name="Image 2" descr="愛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375" y="2800350"/>
            <a:ext cx="1619250" cy="16192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5667375" y="4629150"/>
            <a:ext cx="13144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22" name=""/>
          <p:cNvSpPr txBox="1"/>
          <p:nvPr/>
        </p:nvSpPr>
        <p:spPr>
          <a:xfrm>
            <a:off x="6000750" y="52197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23" name=""/>
          <p:cNvSpPr/>
          <p:nvPr/>
        </p:nvSpPr>
        <p:spPr>
          <a:xfrm>
            <a:off x="5457825" y="5753100"/>
            <a:ext cx="1276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4" name=""/>
          <p:cNvSpPr txBox="1"/>
          <p:nvPr/>
        </p:nvSpPr>
        <p:spPr>
          <a:xfrm>
            <a:off x="5648325" y="5810250"/>
            <a:ext cx="13716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love</a:t>
            </a:r>
          </a:p>
        </p:txBody>
      </p:sp>
      <p:sp>
        <p:nvSpPr>
          <p:cNvPr id="25" name=""/>
          <p:cNvSpPr/>
          <p:nvPr/>
        </p:nvSpPr>
        <p:spPr>
          <a:xfrm>
            <a:off x="8048625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8296275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F2C9"/>
          </a:solidFill>
          <a:ln/>
        </p:spPr>
      </p:sp>
      <p:pic>
        <p:nvPicPr>
          <p:cNvPr id="27" name="Image 3" descr="幸せ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550" y="2800350"/>
            <a:ext cx="1619250" cy="16192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8715375" y="4629150"/>
            <a:ext cx="27813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29" name=""/>
          <p:cNvSpPr txBox="1"/>
          <p:nvPr/>
        </p:nvSpPr>
        <p:spPr>
          <a:xfrm>
            <a:off x="9591675" y="5219700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  <p:sp>
        <p:nvSpPr>
          <p:cNvPr id="30" name=""/>
          <p:cNvSpPr/>
          <p:nvPr/>
        </p:nvSpPr>
        <p:spPr>
          <a:xfrm>
            <a:off x="8763000" y="5753100"/>
            <a:ext cx="2038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31" name=""/>
          <p:cNvSpPr txBox="1"/>
          <p:nvPr/>
        </p:nvSpPr>
        <p:spPr>
          <a:xfrm>
            <a:off x="8953500" y="5810250"/>
            <a:ext cx="22479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happiness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EC4B20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476375"/>
            <a:ext cx="1104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FE3D8"/>
                </a:solidFill>
                <a:latin typeface="DM Sans"/>
                <a:ea typeface="DM Sans"/>
              </a:rPr>
              <a:t>NEXT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1704975"/>
            <a:ext cx="3362325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 b="1">
                <a:solidFill>
                  <a:srgbClr val="FFFFFF"/>
                </a:solidFill>
                <a:latin typeface="Noto Sans JP"/>
                <a:ea typeface="Noto Sans JP"/>
              </a:rPr>
              <a:t>続きは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2752725"/>
            <a:ext cx="7400925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 b="1">
                <a:solidFill>
                  <a:srgbClr val="FFFFFF"/>
                </a:solidFill>
                <a:latin typeface="Noto Sans JP"/>
                <a:ea typeface="Noto Sans JP"/>
              </a:rPr>
              <a:t>次回の動画で！</a:t>
            </a:r>
          </a:p>
        </p:txBody>
      </p:sp>
      <p:sp>
        <p:nvSpPr>
          <p:cNvPr id="6" name=""/>
          <p:cNvSpPr txBox="1"/>
          <p:nvPr/>
        </p:nvSpPr>
        <p:spPr>
          <a:xfrm>
            <a:off x="1181100" y="4086225"/>
            <a:ext cx="58864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FFFFF"/>
                </a:solidFill>
                <a:latin typeface="Noto Sans JP"/>
                <a:ea typeface="Noto Sans JP"/>
              </a:rPr>
              <a:t>数えられる名詞 / 数えられない名詞</a:t>
            </a:r>
          </a:p>
        </p:txBody>
      </p:sp>
      <p:sp>
        <p:nvSpPr>
          <p:cNvPr id="7" name=""/>
          <p:cNvSpPr txBox="1"/>
          <p:nvPr/>
        </p:nvSpPr>
        <p:spPr>
          <a:xfrm>
            <a:off x="1181100" y="4810125"/>
            <a:ext cx="48387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FFE3D8"/>
                </a:solidFill>
                <a:latin typeface="Caveat"/>
                <a:ea typeface="Caveat"/>
              </a:rPr>
              <a:t>Small steps, big changes.</a:t>
            </a:r>
          </a:p>
        </p:txBody>
      </p:sp>
      <p:pic>
        <p:nvPicPr>
          <p:cNvPr id="8" name="Image 0" descr="/home/user/hina-english/matome/a-th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