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presProps" Target="presProps.xml"/><Relationship Id="rId2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4.png"/><Relationship Id="rId5" Type="http://schemas.openxmlformats.org/officeDocument/2006/relationships/image" Target="../media/image-17-4.png"/><Relationship Id="rId6" Type="http://schemas.openxmlformats.org/officeDocument/2006/relationships/image" Target="../media/image-17-4.png"/><Relationship Id="rId7" Type="http://schemas.openxmlformats.org/officeDocument/2006/relationships/image" Target="../media/image-17-7.png"/><Relationship Id="rId8" Type="http://schemas.openxmlformats.org/officeDocument/2006/relationships/image" Target="../media/image-17-7.png"/><Relationship Id="rId9" Type="http://schemas.openxmlformats.org/officeDocument/2006/relationships/image" Target="../media/image-17-7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0.png"/><Relationship Id="rId12" Type="http://schemas.openxmlformats.org/officeDocument/2006/relationships/image" Target="../media/image-17-10.png"/><Relationship Id="rId13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" name=""/>
          <p:cNvSpPr txBox="1"/>
          <p:nvPr/>
        </p:nvSpPr>
        <p:spPr>
          <a:xfrm>
            <a:off x="1181100" y="1952625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文法解説動画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066925"/>
            <a:ext cx="4019550" cy="2314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1C2340"/>
                </a:solidFill>
                <a:latin typeface="Noto Sans JP"/>
                <a:ea typeface="Noto Sans JP"/>
              </a:rPr>
              <a:t>冠詞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200525"/>
            <a:ext cx="5276850" cy="704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7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 の違い</a:t>
            </a:r>
          </a:p>
        </p:txBody>
      </p:sp>
      <p:pic>
        <p:nvPicPr>
          <p:cNvPr id="6" name="Image 0" descr="/home/user/hina-english/matome/a-th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1525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BASICS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27527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冠詞とは？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10820400" cy="3552825"/>
          </a:xfrm>
          <a:prstGeom prst="roundRect">
            <a:avLst>
              <a:gd name="adj" fmla="val 75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 txBox="1"/>
          <p:nvPr/>
        </p:nvSpPr>
        <p:spPr>
          <a:xfrm>
            <a:off x="3438525" y="2247900"/>
            <a:ext cx="6467475" cy="5048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名詞の前</a:t>
            </a:r>
            <a:pPr/>
            <a:r>
              <a:rPr sz="2700" b="1">
                <a:solidFill>
                  <a:srgbClr val="1C2340"/>
                </a:solidFill>
                <a:latin typeface="Noto Sans JP"/>
                <a:ea typeface="Noto Sans JP"/>
              </a:rPr>
              <a:t>に置く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700" b="1">
                <a:solidFill>
                  <a:srgbClr val="1C2340"/>
                </a:solidFill>
                <a:latin typeface="Noto Sans JP"/>
                <a:ea typeface="Noto Sans JP"/>
              </a:rPr>
              <a:t> /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700" b="1">
                <a:solidFill>
                  <a:srgbClr val="1C2340"/>
                </a:solidFill>
                <a:latin typeface="Noto Sans JP"/>
                <a:ea typeface="Noto Sans JP"/>
              </a:rPr>
              <a:t> /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Noto Sans JP"/>
                <a:ea typeface="Noto Sans JP"/>
              </a:rPr>
              <a:t> のこと</a:t>
            </a:r>
          </a:p>
        </p:txBody>
      </p:sp>
      <p:sp>
        <p:nvSpPr>
          <p:cNvPr id="8" name=""/>
          <p:cNvSpPr/>
          <p:nvPr/>
        </p:nvSpPr>
        <p:spPr>
          <a:xfrm>
            <a:off x="1066800" y="3000375"/>
            <a:ext cx="3200400" cy="2228850"/>
          </a:xfrm>
          <a:prstGeom prst="roundRect">
            <a:avLst>
              <a:gd name="adj" fmla="val 9402"/>
            </a:avLst>
          </a:prstGeom>
          <a:solidFill>
            <a:srgbClr val="FFE8DC"/>
          </a:solidFill>
          <a:ln/>
        </p:spPr>
      </p:sp>
      <p:pic>
        <p:nvPicPr>
          <p:cNvPr id="9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25" y="3124200"/>
            <a:ext cx="1428750" cy="14287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076450" y="4629150"/>
            <a:ext cx="17049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 book</a:t>
            </a:r>
          </a:p>
        </p:txBody>
      </p:sp>
      <p:sp>
        <p:nvSpPr>
          <p:cNvPr id="11" name=""/>
          <p:cNvSpPr/>
          <p:nvPr/>
        </p:nvSpPr>
        <p:spPr>
          <a:xfrm>
            <a:off x="4495800" y="3000375"/>
            <a:ext cx="3200400" cy="2228850"/>
          </a:xfrm>
          <a:prstGeom prst="roundRect">
            <a:avLst>
              <a:gd name="adj" fmla="val 9402"/>
            </a:avLst>
          </a:prstGeom>
          <a:solidFill>
            <a:srgbClr val="FFF2C9"/>
          </a:solidFill>
          <a:ln/>
        </p:spPr>
      </p:sp>
      <p:pic>
        <p:nvPicPr>
          <p:cNvPr id="12" name="Image 1" descr="りん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5" y="3124200"/>
            <a:ext cx="1428750" cy="142875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5343525" y="4629150"/>
            <a:ext cx="2085975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 apple</a:t>
            </a:r>
          </a:p>
        </p:txBody>
      </p:sp>
      <p:sp>
        <p:nvSpPr>
          <p:cNvPr id="14" name=""/>
          <p:cNvSpPr/>
          <p:nvPr/>
        </p:nvSpPr>
        <p:spPr>
          <a:xfrm>
            <a:off x="7924800" y="3000375"/>
            <a:ext cx="3200400" cy="2228850"/>
          </a:xfrm>
          <a:prstGeom prst="roundRect">
            <a:avLst>
              <a:gd name="adj" fmla="val 9402"/>
            </a:avLst>
          </a:prstGeom>
          <a:solidFill>
            <a:srgbClr val="DDEFFC"/>
          </a:solidFill>
          <a:ln/>
        </p:spPr>
      </p:sp>
      <p:pic>
        <p:nvPicPr>
          <p:cNvPr id="15" name="Image 2" descr="太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0625" y="3124200"/>
            <a:ext cx="1428750" cy="142875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8877300" y="4629150"/>
            <a:ext cx="1847850" cy="4762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850" b="1">
                <a:solidFill>
                  <a:srgbClr val="1C2340"/>
                </a:solidFill>
                <a:latin typeface="DM Sans"/>
                <a:ea typeface="DM Sans"/>
              </a:rPr>
              <a:t> sun</a:t>
            </a:r>
          </a:p>
        </p:txBody>
      </p:sp>
      <p:sp>
        <p:nvSpPr>
          <p:cNvPr id="17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8" name=""/>
          <p:cNvSpPr/>
          <p:nvPr/>
        </p:nvSpPr>
        <p:spPr>
          <a:xfrm>
            <a:off x="933450" y="58959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04900" y="59531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役割</a:t>
            </a:r>
          </a:p>
        </p:txBody>
      </p:sp>
      <p:sp>
        <p:nvSpPr>
          <p:cNvPr id="20" name=""/>
          <p:cNvSpPr txBox="1"/>
          <p:nvPr/>
        </p:nvSpPr>
        <p:spPr>
          <a:xfrm>
            <a:off x="1771650" y="5934075"/>
            <a:ext cx="75247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名詞を「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どんな名詞として話しているか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」を、小さく示してくれる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4287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ROADMAP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60483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まずは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の2つ</a:t>
            </a:r>
          </a:p>
        </p:txBody>
      </p:sp>
      <p:sp>
        <p:nvSpPr>
          <p:cNvPr id="6" name=""/>
          <p:cNvSpPr/>
          <p:nvPr/>
        </p:nvSpPr>
        <p:spPr>
          <a:xfrm>
            <a:off x="685800" y="2552700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/>
          <p:nvPr/>
        </p:nvSpPr>
        <p:spPr>
          <a:xfrm>
            <a:off x="1104900" y="3095625"/>
            <a:ext cx="952500" cy="352425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8" name=""/>
          <p:cNvSpPr txBox="1"/>
          <p:nvPr/>
        </p:nvSpPr>
        <p:spPr>
          <a:xfrm>
            <a:off x="1257300" y="31527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1</a:t>
            </a:r>
          </a:p>
        </p:txBody>
      </p:sp>
      <p:sp>
        <p:nvSpPr>
          <p:cNvPr id="9" name=""/>
          <p:cNvSpPr txBox="1"/>
          <p:nvPr/>
        </p:nvSpPr>
        <p:spPr>
          <a:xfrm>
            <a:off x="2343150" y="3000375"/>
            <a:ext cx="2743200" cy="533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28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0" name=""/>
          <p:cNvSpPr txBox="1"/>
          <p:nvPr/>
        </p:nvSpPr>
        <p:spPr>
          <a:xfrm>
            <a:off x="8210550" y="3105150"/>
            <a:ext cx="36480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まずはこの2つを理解しよう</a:t>
            </a:r>
          </a:p>
        </p:txBody>
      </p:sp>
      <p:sp>
        <p:nvSpPr>
          <p:cNvPr id="11" name=""/>
          <p:cNvSpPr txBox="1"/>
          <p:nvPr/>
        </p:nvSpPr>
        <p:spPr>
          <a:xfrm>
            <a:off x="5924550" y="3981450"/>
            <a:ext cx="7334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>
                <a:solidFill>
                  <a:srgbClr val="E8461E"/>
                </a:solidFill>
                <a:latin typeface="Noto Sans JP"/>
                <a:ea typeface="Noto Sans JP"/>
              </a:rPr>
              <a:t>↓</a:t>
            </a:r>
          </a:p>
        </p:txBody>
      </p:sp>
      <p:sp>
        <p:nvSpPr>
          <p:cNvPr id="12" name=""/>
          <p:cNvSpPr/>
          <p:nvPr/>
        </p:nvSpPr>
        <p:spPr>
          <a:xfrm>
            <a:off x="685800" y="4476750"/>
            <a:ext cx="10820400" cy="1428750"/>
          </a:xfrm>
          <a:prstGeom prst="rect">
            <a:avLst/>
          </a:prstGeom>
          <a:solidFill>
            <a:srgbClr val="F3F7FC"/>
          </a:solidFill>
          <a:ln w="19050">
            <a:solidFill>
              <a:srgbClr val="D6E2F0"/>
            </a:solidFill>
            <a:prstDash val="dash"/>
          </a:ln>
        </p:spPr>
      </p:sp>
      <p:sp>
        <p:nvSpPr>
          <p:cNvPr id="13" name=""/>
          <p:cNvSpPr/>
          <p:nvPr/>
        </p:nvSpPr>
        <p:spPr>
          <a:xfrm>
            <a:off x="1123950" y="5019675"/>
            <a:ext cx="990600" cy="352425"/>
          </a:xfrm>
          <a:prstGeom prst="roundRect">
            <a:avLst>
              <a:gd name="adj" fmla="val 50000"/>
            </a:avLst>
          </a:prstGeom>
          <a:solidFill>
            <a:srgbClr val="8A90A8"/>
          </a:solidFill>
          <a:ln/>
        </p:spPr>
      </p:sp>
      <p:sp>
        <p:nvSpPr>
          <p:cNvPr id="14" name=""/>
          <p:cNvSpPr txBox="1"/>
          <p:nvPr/>
        </p:nvSpPr>
        <p:spPr>
          <a:xfrm>
            <a:off x="1276350" y="5076825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FFFFFF"/>
                </a:solidFill>
                <a:latin typeface="DM Sans"/>
                <a:ea typeface="DM Sans"/>
              </a:rPr>
              <a:t>STEP 2</a:t>
            </a:r>
          </a:p>
        </p:txBody>
      </p:sp>
      <p:sp>
        <p:nvSpPr>
          <p:cNvPr id="15" name=""/>
          <p:cNvSpPr txBox="1"/>
          <p:nvPr/>
        </p:nvSpPr>
        <p:spPr>
          <a:xfrm>
            <a:off x="2400300" y="4933950"/>
            <a:ext cx="48958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4A5270"/>
                </a:solidFill>
                <a:latin typeface="Noto Sans JP"/>
                <a:ea typeface="Noto Sans JP"/>
              </a:rPr>
              <a:t>冠詞がつかないパターン</a:t>
            </a:r>
          </a:p>
        </p:txBody>
      </p:sp>
      <p:sp>
        <p:nvSpPr>
          <p:cNvPr id="16" name=""/>
          <p:cNvSpPr txBox="1"/>
          <p:nvPr/>
        </p:nvSpPr>
        <p:spPr>
          <a:xfrm>
            <a:off x="8791575" y="5029200"/>
            <a:ext cx="29622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そのあとで説明します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30861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A / AN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MENTAL IMAGE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36766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の使い方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5286375" cy="4410075"/>
          </a:xfrm>
          <a:prstGeom prst="roundRect">
            <a:avLst>
              <a:gd name="adj" fmla="val 6048"/>
            </a:avLst>
          </a:prstGeom>
          <a:solidFill>
            <a:srgbClr val="FFE8DC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 txBox="1"/>
          <p:nvPr/>
        </p:nvSpPr>
        <p:spPr>
          <a:xfrm>
            <a:off x="1066800" y="2971800"/>
            <a:ext cx="2219325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 ＝</a:t>
            </a:r>
          </a:p>
        </p:txBody>
      </p:sp>
      <p:sp>
        <p:nvSpPr>
          <p:cNvPr id="8" name=""/>
          <p:cNvSpPr txBox="1"/>
          <p:nvPr/>
        </p:nvSpPr>
        <p:spPr>
          <a:xfrm>
            <a:off x="1066800" y="3667125"/>
            <a:ext cx="437197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たくさんある中の</a:t>
            </a:r>
          </a:p>
        </p:txBody>
      </p:sp>
      <p:sp>
        <p:nvSpPr>
          <p:cNvPr id="9" name=""/>
          <p:cNvSpPr txBox="1"/>
          <p:nvPr/>
        </p:nvSpPr>
        <p:spPr>
          <a:xfrm>
            <a:off x="1066800" y="4257675"/>
            <a:ext cx="216217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「1つ」</a:t>
            </a:r>
          </a:p>
        </p:txBody>
      </p:sp>
      <p:sp>
        <p:nvSpPr>
          <p:cNvPr id="10" name=""/>
          <p:cNvSpPr/>
          <p:nvPr/>
        </p:nvSpPr>
        <p:spPr>
          <a:xfrm>
            <a:off x="1066800" y="5076825"/>
            <a:ext cx="1095375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238250" y="5133975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1つの〜</a:t>
            </a:r>
          </a:p>
        </p:txBody>
      </p:sp>
      <p:sp>
        <p:nvSpPr>
          <p:cNvPr id="12" name=""/>
          <p:cNvSpPr/>
          <p:nvPr/>
        </p:nvSpPr>
        <p:spPr>
          <a:xfrm>
            <a:off x="2276475" y="5076825"/>
            <a:ext cx="971550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2447925" y="5133975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ある〜</a:t>
            </a:r>
          </a:p>
        </p:txBody>
      </p:sp>
      <p:sp>
        <p:nvSpPr>
          <p:cNvPr id="14" name=""/>
          <p:cNvSpPr txBox="1"/>
          <p:nvPr/>
        </p:nvSpPr>
        <p:spPr>
          <a:xfrm>
            <a:off x="3362325" y="513397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という感覚</a:t>
            </a:r>
          </a:p>
        </p:txBody>
      </p:sp>
      <p:sp>
        <p:nvSpPr>
          <p:cNvPr id="15" name=""/>
          <p:cNvSpPr/>
          <p:nvPr/>
        </p:nvSpPr>
        <p:spPr>
          <a:xfrm>
            <a:off x="6219825" y="2028825"/>
            <a:ext cx="5286375" cy="4410075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6" name="Image 0" descr="りん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0" y="2705100"/>
            <a:ext cx="1066800" cy="1066800"/>
          </a:xfrm>
          <a:prstGeom prst="rect">
            <a:avLst/>
          </a:prstGeom>
        </p:spPr>
      </p:pic>
      <p:pic>
        <p:nvPicPr>
          <p:cNvPr id="17" name="Image 1" descr="りん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5" y="2705100"/>
            <a:ext cx="1066800" cy="1066800"/>
          </a:xfrm>
          <a:prstGeom prst="rect">
            <a:avLst/>
          </a:prstGeom>
        </p:spPr>
      </p:pic>
      <p:pic>
        <p:nvPicPr>
          <p:cNvPr id="18" name="Image 2" descr="りん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705100"/>
            <a:ext cx="1066800" cy="1066800"/>
          </a:xfrm>
          <a:prstGeom prst="rect">
            <a:avLst/>
          </a:prstGeom>
        </p:spPr>
      </p:pic>
      <p:pic>
        <p:nvPicPr>
          <p:cNvPr id="19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4695825"/>
            <a:ext cx="1066800" cy="1066800"/>
          </a:xfrm>
          <a:prstGeom prst="rect">
            <a:avLst/>
          </a:prstGeom>
        </p:spPr>
      </p:pic>
      <p:sp>
        <p:nvSpPr>
          <p:cNvPr id="20" name=""/>
          <p:cNvSpPr/>
          <p:nvPr/>
        </p:nvSpPr>
        <p:spPr>
          <a:xfrm>
            <a:off x="8153400" y="4514850"/>
            <a:ext cx="1428750" cy="1428750"/>
          </a:xfrm>
          <a:prstGeom prst="ellipse">
            <a:avLst/>
          </a:prstGeom>
          <a:solidFill>
            <a:srgbClr val="FFE8DC"/>
          </a:solidFill>
          <a:ln w="38100">
            <a:solidFill>
              <a:srgbClr val="E8461E"/>
            </a:solidFill>
            <a:prstDash val="solid"/>
          </a:ln>
        </p:spPr>
      </p:sp>
      <p:pic>
        <p:nvPicPr>
          <p:cNvPr id="21" name="Image 4" descr="りん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4695825"/>
            <a:ext cx="1066800" cy="1066800"/>
          </a:xfrm>
          <a:prstGeom prst="rect">
            <a:avLst/>
          </a:prstGeom>
        </p:spPr>
      </p:pic>
      <p:sp>
        <p:nvSpPr>
          <p:cNvPr id="22" name=""/>
          <p:cNvSpPr/>
          <p:nvPr/>
        </p:nvSpPr>
        <p:spPr>
          <a:xfrm>
            <a:off x="8505825" y="571500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E8461E"/>
          </a:solidFill>
          <a:ln/>
        </p:spPr>
      </p:sp>
      <p:sp>
        <p:nvSpPr>
          <p:cNvPr id="23" name=""/>
          <p:cNvSpPr txBox="1"/>
          <p:nvPr/>
        </p:nvSpPr>
        <p:spPr>
          <a:xfrm>
            <a:off x="8524875" y="5743575"/>
            <a:ext cx="6762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1つ</a:t>
            </a:r>
          </a:p>
        </p:txBody>
      </p:sp>
      <p:pic>
        <p:nvPicPr>
          <p:cNvPr id="24" name="Image 5" descr="りん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4695825"/>
            <a:ext cx="1066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5908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A / AN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EXAMPLES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31908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の例文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5305425" cy="1638300"/>
          </a:xfrm>
          <a:prstGeom prst="roundRect">
            <a:avLst>
              <a:gd name="adj" fmla="val 15116"/>
            </a:avLst>
          </a:prstGeom>
          <a:solidFill>
            <a:srgbClr val="FFE8DC"/>
          </a:solidFill>
          <a:ln/>
        </p:spPr>
      </p:sp>
      <p:pic>
        <p:nvPicPr>
          <p:cNvPr id="7" name="Image 0" descr="バッ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00275"/>
            <a:ext cx="1295400" cy="12954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400300" y="2476500"/>
            <a:ext cx="2743200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I bought </a:t>
            </a:r>
            <a:pPr/>
            <a:r>
              <a:rPr sz="23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 bag.</a:t>
            </a:r>
          </a:p>
        </p:txBody>
      </p:sp>
      <p:sp>
        <p:nvSpPr>
          <p:cNvPr id="9" name=""/>
          <p:cNvSpPr txBox="1"/>
          <p:nvPr/>
        </p:nvSpPr>
        <p:spPr>
          <a:xfrm>
            <a:off x="2400300" y="2943225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私はバッグを1つ買いました。</a:t>
            </a:r>
          </a:p>
        </p:txBody>
      </p:sp>
      <p:sp>
        <p:nvSpPr>
          <p:cNvPr id="10" name=""/>
          <p:cNvSpPr/>
          <p:nvPr/>
        </p:nvSpPr>
        <p:spPr>
          <a:xfrm>
            <a:off x="6200775" y="2028825"/>
            <a:ext cx="5305425" cy="1638300"/>
          </a:xfrm>
          <a:prstGeom prst="roundRect">
            <a:avLst>
              <a:gd name="adj" fmla="val 15116"/>
            </a:avLst>
          </a:prstGeom>
          <a:solidFill>
            <a:srgbClr val="FFF2C9"/>
          </a:solidFill>
          <a:ln/>
        </p:spPr>
      </p:sp>
      <p:pic>
        <p:nvPicPr>
          <p:cNvPr id="11" name="Image 1" descr="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200275"/>
            <a:ext cx="1295400" cy="12954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7915275" y="2295525"/>
            <a:ext cx="2114550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I saw </a:t>
            </a:r>
            <a:pPr/>
            <a:r>
              <a:rPr sz="23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  <p:sp>
        <p:nvSpPr>
          <p:cNvPr id="13" name=""/>
          <p:cNvSpPr txBox="1"/>
          <p:nvPr/>
        </p:nvSpPr>
        <p:spPr>
          <a:xfrm>
            <a:off x="7915275" y="2667000"/>
            <a:ext cx="2181225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in the park.</a:t>
            </a:r>
          </a:p>
        </p:txBody>
      </p:sp>
      <p:sp>
        <p:nvSpPr>
          <p:cNvPr id="14" name=""/>
          <p:cNvSpPr txBox="1"/>
          <p:nvPr/>
        </p:nvSpPr>
        <p:spPr>
          <a:xfrm>
            <a:off x="7915275" y="3124200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私は公園で犬を1匹見ました。</a:t>
            </a:r>
          </a:p>
        </p:txBody>
      </p:sp>
      <p:sp>
        <p:nvSpPr>
          <p:cNvPr id="15" name=""/>
          <p:cNvSpPr/>
          <p:nvPr/>
        </p:nvSpPr>
        <p:spPr>
          <a:xfrm>
            <a:off x="685800" y="3876675"/>
            <a:ext cx="5305425" cy="1638300"/>
          </a:xfrm>
          <a:prstGeom prst="roundRect">
            <a:avLst>
              <a:gd name="adj" fmla="val 15116"/>
            </a:avLst>
          </a:prstGeom>
          <a:solidFill>
            <a:srgbClr val="FFE4EC"/>
          </a:solidFill>
          <a:ln/>
        </p:spPr>
      </p:sp>
      <p:pic>
        <p:nvPicPr>
          <p:cNvPr id="16" name="Image 2" descr="先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4048125"/>
            <a:ext cx="1295400" cy="129540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2400300" y="4324350"/>
            <a:ext cx="3038475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She is </a:t>
            </a:r>
            <a:pPr/>
            <a:r>
              <a:rPr sz="23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 teacher.</a:t>
            </a:r>
          </a:p>
        </p:txBody>
      </p:sp>
      <p:sp>
        <p:nvSpPr>
          <p:cNvPr id="18" name=""/>
          <p:cNvSpPr txBox="1"/>
          <p:nvPr/>
        </p:nvSpPr>
        <p:spPr>
          <a:xfrm>
            <a:off x="2400300" y="4791075"/>
            <a:ext cx="1990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彼女は先生です。</a:t>
            </a:r>
          </a:p>
        </p:txBody>
      </p:sp>
      <p:sp>
        <p:nvSpPr>
          <p:cNvPr id="19" name=""/>
          <p:cNvSpPr/>
          <p:nvPr/>
        </p:nvSpPr>
        <p:spPr>
          <a:xfrm>
            <a:off x="6200775" y="3876675"/>
            <a:ext cx="5305425" cy="1638300"/>
          </a:xfrm>
          <a:prstGeom prst="roundRect">
            <a:avLst>
              <a:gd name="adj" fmla="val 15116"/>
            </a:avLst>
          </a:prstGeom>
          <a:solidFill>
            <a:srgbClr val="DDEFFC"/>
          </a:solidFill>
          <a:ln/>
        </p:spPr>
      </p:sp>
      <p:pic>
        <p:nvPicPr>
          <p:cNvPr id="20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048125"/>
            <a:ext cx="1295400" cy="1295400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7915275" y="4324350"/>
            <a:ext cx="2628900" cy="3905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I ate </a:t>
            </a:r>
            <a:pPr/>
            <a:r>
              <a:rPr sz="235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350" b="1">
                <a:solidFill>
                  <a:srgbClr val="1C2340"/>
                </a:solidFill>
                <a:latin typeface="DM Sans"/>
                <a:ea typeface="DM Sans"/>
              </a:rPr>
              <a:t> apple.</a:t>
            </a:r>
          </a:p>
        </p:txBody>
      </p:sp>
      <p:sp>
        <p:nvSpPr>
          <p:cNvPr id="22" name=""/>
          <p:cNvSpPr txBox="1"/>
          <p:nvPr/>
        </p:nvSpPr>
        <p:spPr>
          <a:xfrm>
            <a:off x="7915275" y="4791075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私はリンゴを1個食べました。</a:t>
            </a:r>
          </a:p>
        </p:txBody>
      </p:sp>
      <p:sp>
        <p:nvSpPr>
          <p:cNvPr id="23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933450" y="5895975"/>
            <a:ext cx="13716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104900" y="5953125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よく使う場面</a:t>
            </a:r>
          </a:p>
        </p:txBody>
      </p:sp>
      <p:sp>
        <p:nvSpPr>
          <p:cNvPr id="26" name=""/>
          <p:cNvSpPr txBox="1"/>
          <p:nvPr/>
        </p:nvSpPr>
        <p:spPr>
          <a:xfrm>
            <a:off x="2457450" y="5934075"/>
            <a:ext cx="85248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まだ相手が「どれのことか」分かっていないものを、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初めて会話に出す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とき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80010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職業を言うときも、基本的に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</a:p>
        </p:txBody>
      </p:sp>
      <p:sp>
        <p:nvSpPr>
          <p:cNvPr id="6" name=""/>
          <p:cNvSpPr/>
          <p:nvPr/>
        </p:nvSpPr>
        <p:spPr>
          <a:xfrm>
            <a:off x="685800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FFE4EC"/>
          </a:solidFill>
          <a:ln/>
        </p:spPr>
      </p:sp>
      <p:sp>
        <p:nvSpPr>
          <p:cNvPr id="7" name=""/>
          <p:cNvSpPr txBox="1"/>
          <p:nvPr/>
        </p:nvSpPr>
        <p:spPr>
          <a:xfrm>
            <a:off x="1104900" y="2362200"/>
            <a:ext cx="364807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She is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 nurse.</a:t>
            </a:r>
          </a:p>
        </p:txBody>
      </p:sp>
      <p:sp>
        <p:nvSpPr>
          <p:cNvPr id="8" name=""/>
          <p:cNvSpPr txBox="1"/>
          <p:nvPr/>
        </p:nvSpPr>
        <p:spPr>
          <a:xfrm>
            <a:off x="1104900" y="3000375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彼女は看護師です。</a:t>
            </a:r>
          </a:p>
        </p:txBody>
      </p:sp>
      <p:pic>
        <p:nvPicPr>
          <p:cNvPr id="9" name="Image 0" descr="看護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925" y="3962400"/>
            <a:ext cx="2476500" cy="2476500"/>
          </a:xfrm>
          <a:prstGeom prst="rect">
            <a:avLst/>
          </a:prstGeom>
        </p:spPr>
      </p:pic>
      <p:sp>
        <p:nvSpPr>
          <p:cNvPr id="10" name=""/>
          <p:cNvSpPr/>
          <p:nvPr/>
        </p:nvSpPr>
        <p:spPr>
          <a:xfrm>
            <a:off x="6219825" y="2000250"/>
            <a:ext cx="5286375" cy="4438650"/>
          </a:xfrm>
          <a:prstGeom prst="roundRect">
            <a:avLst>
              <a:gd name="adj" fmla="val 6009"/>
            </a:avLst>
          </a:prstGeom>
          <a:solidFill>
            <a:srgbClr val="DDEFFC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638925" y="2362200"/>
            <a:ext cx="44196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He is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 engineer.</a:t>
            </a:r>
          </a:p>
        </p:txBody>
      </p:sp>
      <p:sp>
        <p:nvSpPr>
          <p:cNvPr id="12" name=""/>
          <p:cNvSpPr txBox="1"/>
          <p:nvPr/>
        </p:nvSpPr>
        <p:spPr>
          <a:xfrm>
            <a:off x="6638925" y="3000375"/>
            <a:ext cx="2733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彼はエンジニアです。</a:t>
            </a:r>
          </a:p>
        </p:txBody>
      </p:sp>
      <p:pic>
        <p:nvPicPr>
          <p:cNvPr id="13" name="Image 1" descr="エンジニ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950" y="3962400"/>
            <a:ext cx="24765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390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A or AN ?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34671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の違い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1943100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20002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ルール</a:t>
            </a:r>
          </a:p>
        </p:txBody>
      </p:sp>
      <p:sp>
        <p:nvSpPr>
          <p:cNvPr id="8" name=""/>
          <p:cNvSpPr txBox="1"/>
          <p:nvPr/>
        </p:nvSpPr>
        <p:spPr>
          <a:xfrm>
            <a:off x="1676400" y="1952625"/>
            <a:ext cx="43338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次に来る単語の</a:t>
            </a:r>
            <a:pPr/>
            <a:r>
              <a:rPr sz="195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「音」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で決まる</a:t>
            </a:r>
          </a:p>
        </p:txBody>
      </p:sp>
      <p:sp>
        <p:nvSpPr>
          <p:cNvPr id="9" name=""/>
          <p:cNvSpPr/>
          <p:nvPr/>
        </p:nvSpPr>
        <p:spPr>
          <a:xfrm>
            <a:off x="685800" y="2524125"/>
            <a:ext cx="5286375" cy="3914775"/>
          </a:xfrm>
          <a:prstGeom prst="roundRect">
            <a:avLst>
              <a:gd name="adj" fmla="val 6813"/>
            </a:avLst>
          </a:prstGeom>
          <a:solidFill>
            <a:srgbClr val="FFE8DC"/>
          </a:solidFill>
          <a:ln/>
        </p:spPr>
      </p:sp>
      <p:sp>
        <p:nvSpPr>
          <p:cNvPr id="10" name=""/>
          <p:cNvSpPr/>
          <p:nvPr/>
        </p:nvSpPr>
        <p:spPr>
          <a:xfrm>
            <a:off x="1009650" y="277177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E8461E"/>
          </a:solidFill>
          <a:ln/>
        </p:spPr>
      </p:sp>
      <p:sp>
        <p:nvSpPr>
          <p:cNvPr id="11" name=""/>
          <p:cNvSpPr txBox="1"/>
          <p:nvPr/>
        </p:nvSpPr>
        <p:spPr>
          <a:xfrm>
            <a:off x="1085850" y="2914650"/>
            <a:ext cx="56197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2" name=""/>
          <p:cNvSpPr txBox="1"/>
          <p:nvPr/>
        </p:nvSpPr>
        <p:spPr>
          <a:xfrm>
            <a:off x="1885950" y="2838450"/>
            <a:ext cx="29051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子音の音から始まる</a:t>
            </a:r>
          </a:p>
        </p:txBody>
      </p:sp>
      <p:sp>
        <p:nvSpPr>
          <p:cNvPr id="13" name=""/>
          <p:cNvSpPr txBox="1"/>
          <p:nvPr/>
        </p:nvSpPr>
        <p:spPr>
          <a:xfrm>
            <a:off x="1885950" y="3162300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（母音以外の音）</a:t>
            </a:r>
          </a:p>
        </p:txBody>
      </p:sp>
      <p:sp>
        <p:nvSpPr>
          <p:cNvPr id="14" name=""/>
          <p:cNvSpPr/>
          <p:nvPr/>
        </p:nvSpPr>
        <p:spPr>
          <a:xfrm>
            <a:off x="1009650" y="3609975"/>
            <a:ext cx="4638675" cy="2581275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/>
        </p:spPr>
      </p:sp>
      <p:pic>
        <p:nvPicPr>
          <p:cNvPr id="15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3724275"/>
            <a:ext cx="704850" cy="70485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2133600" y="3876675"/>
            <a:ext cx="14859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book</a:t>
            </a:r>
          </a:p>
        </p:txBody>
      </p:sp>
      <p:sp>
        <p:nvSpPr>
          <p:cNvPr id="17" name=""/>
          <p:cNvSpPr/>
          <p:nvPr/>
        </p:nvSpPr>
        <p:spPr>
          <a:xfrm>
            <a:off x="1238250" y="4543425"/>
            <a:ext cx="4181475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pic>
        <p:nvPicPr>
          <p:cNvPr id="18" name="Image 1" descr="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4552950"/>
            <a:ext cx="704850" cy="70485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2133600" y="4705350"/>
            <a:ext cx="12668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  <p:sp>
        <p:nvSpPr>
          <p:cNvPr id="20" name=""/>
          <p:cNvSpPr/>
          <p:nvPr/>
        </p:nvSpPr>
        <p:spPr>
          <a:xfrm>
            <a:off x="1238250" y="5372100"/>
            <a:ext cx="4181475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pic>
        <p:nvPicPr>
          <p:cNvPr id="21" name="Image 2" descr="大学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5381625"/>
            <a:ext cx="704850" cy="7048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133600" y="5534025"/>
            <a:ext cx="23431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university</a:t>
            </a:r>
          </a:p>
        </p:txBody>
      </p:sp>
      <p:sp>
        <p:nvSpPr>
          <p:cNvPr id="23" name=""/>
          <p:cNvSpPr/>
          <p:nvPr/>
        </p:nvSpPr>
        <p:spPr>
          <a:xfrm>
            <a:off x="6219825" y="2524125"/>
            <a:ext cx="5286375" cy="3914775"/>
          </a:xfrm>
          <a:prstGeom prst="roundRect">
            <a:avLst>
              <a:gd name="adj" fmla="val 6813"/>
            </a:avLst>
          </a:prstGeom>
          <a:solidFill>
            <a:srgbClr val="FFF2C9"/>
          </a:solidFill>
          <a:ln/>
        </p:spPr>
      </p:sp>
      <p:sp>
        <p:nvSpPr>
          <p:cNvPr id="24" name=""/>
          <p:cNvSpPr/>
          <p:nvPr/>
        </p:nvSpPr>
        <p:spPr>
          <a:xfrm>
            <a:off x="6543675" y="277177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E846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6496050" y="2914650"/>
            <a:ext cx="79057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550" b="1">
                <a:solidFill>
                  <a:srgbClr val="FFFFFF"/>
                </a:solidFill>
                <a:latin typeface="DM Sans"/>
                <a:ea typeface="DM Sans"/>
              </a:rPr>
              <a:t>an</a:t>
            </a:r>
          </a:p>
        </p:txBody>
      </p:sp>
      <p:sp>
        <p:nvSpPr>
          <p:cNvPr id="26" name=""/>
          <p:cNvSpPr txBox="1"/>
          <p:nvPr/>
        </p:nvSpPr>
        <p:spPr>
          <a:xfrm>
            <a:off x="7419975" y="2838450"/>
            <a:ext cx="29051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母音の音から始まる</a:t>
            </a:r>
          </a:p>
        </p:txBody>
      </p:sp>
      <p:sp>
        <p:nvSpPr>
          <p:cNvPr id="27" name=""/>
          <p:cNvSpPr txBox="1"/>
          <p:nvPr/>
        </p:nvSpPr>
        <p:spPr>
          <a:xfrm>
            <a:off x="7419975" y="3162300"/>
            <a:ext cx="3181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（ア・イ・ウ・エ・オ に近い音）</a:t>
            </a:r>
          </a:p>
        </p:txBody>
      </p:sp>
      <p:sp>
        <p:nvSpPr>
          <p:cNvPr id="28" name=""/>
          <p:cNvSpPr/>
          <p:nvPr/>
        </p:nvSpPr>
        <p:spPr>
          <a:xfrm>
            <a:off x="6543675" y="3609975"/>
            <a:ext cx="4638675" cy="2581275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/>
        </p:spPr>
      </p:sp>
      <p:pic>
        <p:nvPicPr>
          <p:cNvPr id="29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3724275"/>
            <a:ext cx="704850" cy="704850"/>
          </a:xfrm>
          <a:prstGeom prst="rect">
            <a:avLst/>
          </a:prstGeom>
        </p:spPr>
      </p:pic>
      <p:sp>
        <p:nvSpPr>
          <p:cNvPr id="30" name=""/>
          <p:cNvSpPr txBox="1"/>
          <p:nvPr/>
        </p:nvSpPr>
        <p:spPr>
          <a:xfrm>
            <a:off x="7667625" y="3876675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apple</a:t>
            </a:r>
          </a:p>
        </p:txBody>
      </p:sp>
      <p:sp>
        <p:nvSpPr>
          <p:cNvPr id="31" name=""/>
          <p:cNvSpPr/>
          <p:nvPr/>
        </p:nvSpPr>
        <p:spPr>
          <a:xfrm>
            <a:off x="6772275" y="4543425"/>
            <a:ext cx="4181475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pic>
        <p:nvPicPr>
          <p:cNvPr id="32" name="Image 4" descr="卵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75" y="4552950"/>
            <a:ext cx="704850" cy="704850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7667625" y="4705350"/>
            <a:ext cx="146685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egg</a:t>
            </a:r>
          </a:p>
        </p:txBody>
      </p:sp>
      <p:sp>
        <p:nvSpPr>
          <p:cNvPr id="34" name=""/>
          <p:cNvSpPr/>
          <p:nvPr/>
        </p:nvSpPr>
        <p:spPr>
          <a:xfrm>
            <a:off x="6772275" y="5372100"/>
            <a:ext cx="4181475" cy="0"/>
          </a:xfrm>
          <a:prstGeom prst="line">
            <a:avLst/>
          </a:prstGeom>
          <a:noFill/>
          <a:ln w="19050">
            <a:solidFill>
              <a:srgbClr val="EEF2F8"/>
            </a:solidFill>
            <a:prstDash val="solid"/>
          </a:ln>
        </p:spPr>
      </p:sp>
      <p:pic>
        <p:nvPicPr>
          <p:cNvPr id="35" name="Image 5" descr="時計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5381625"/>
            <a:ext cx="704850" cy="704850"/>
          </a:xfrm>
          <a:prstGeom prst="rect">
            <a:avLst/>
          </a:prstGeom>
        </p:spPr>
      </p:pic>
      <p:sp>
        <p:nvSpPr>
          <p:cNvPr id="36" name=""/>
          <p:cNvSpPr txBox="1"/>
          <p:nvPr/>
        </p:nvSpPr>
        <p:spPr>
          <a:xfrm>
            <a:off x="7667625" y="5534025"/>
            <a:ext cx="1638300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400" b="1">
                <a:solidFill>
                  <a:srgbClr val="1C2340"/>
                </a:solidFill>
                <a:latin typeface="DM Sans"/>
                <a:ea typeface="DM Sans"/>
              </a:rPr>
              <a:t> 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5438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スペルではなく</a:t>
            </a:r>
            <a:pPr/>
            <a:r>
              <a:rPr sz="330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「音」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で判断する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5286375" cy="447675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大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2209800"/>
            <a:ext cx="1333500" cy="13335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552700" y="2343150"/>
            <a:ext cx="3305175" cy="695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200" b="1">
                <a:solidFill>
                  <a:srgbClr val="E8461E"/>
                </a:solidFill>
                <a:latin typeface="DM Sans"/>
                <a:ea typeface="DM Sans"/>
              </a:rPr>
              <a:t>u</a:t>
            </a:r>
            <a:pPr/>
            <a:r>
              <a:rPr sz="4200" b="1">
                <a:solidFill>
                  <a:srgbClr val="1C2340"/>
                </a:solidFill>
                <a:latin typeface="DM Sans"/>
                <a:ea typeface="DM Sans"/>
              </a:rPr>
              <a:t>niversity</a:t>
            </a:r>
          </a:p>
        </p:txBody>
      </p:sp>
      <p:sp>
        <p:nvSpPr>
          <p:cNvPr id="9" name=""/>
          <p:cNvSpPr txBox="1"/>
          <p:nvPr/>
        </p:nvSpPr>
        <p:spPr>
          <a:xfrm>
            <a:off x="2552700" y="3076575"/>
            <a:ext cx="26955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「</a:t>
            </a:r>
            <a:pPr/>
            <a:r>
              <a:rPr sz="1800" b="1">
                <a:solidFill>
                  <a:srgbClr val="E8461E"/>
                </a:solidFill>
                <a:latin typeface="Noto Sans JP"/>
                <a:ea typeface="Noto Sans JP"/>
              </a:rPr>
              <a:t>ユ</a:t>
            </a:r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ニバーシティ」</a:t>
            </a:r>
          </a:p>
        </p:txBody>
      </p:sp>
      <p:sp>
        <p:nvSpPr>
          <p:cNvPr id="10" name=""/>
          <p:cNvSpPr/>
          <p:nvPr/>
        </p:nvSpPr>
        <p:spPr>
          <a:xfrm>
            <a:off x="1009650" y="3686175"/>
            <a:ext cx="4638675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1" name=""/>
          <p:cNvSpPr txBox="1"/>
          <p:nvPr/>
        </p:nvSpPr>
        <p:spPr>
          <a:xfrm>
            <a:off x="1009650" y="3867150"/>
            <a:ext cx="38481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u</a:t>
            </a:r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 で始まるけど、音は「</a:t>
            </a:r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ユ</a:t>
            </a:r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」</a:t>
            </a:r>
          </a:p>
        </p:txBody>
      </p:sp>
      <p:sp>
        <p:nvSpPr>
          <p:cNvPr id="12" name=""/>
          <p:cNvSpPr txBox="1"/>
          <p:nvPr/>
        </p:nvSpPr>
        <p:spPr>
          <a:xfrm>
            <a:off x="1009650" y="42767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→ 子音の音</a:t>
            </a:r>
          </a:p>
        </p:txBody>
      </p:sp>
      <p:sp>
        <p:nvSpPr>
          <p:cNvPr id="13" name=""/>
          <p:cNvSpPr/>
          <p:nvPr/>
        </p:nvSpPr>
        <p:spPr>
          <a:xfrm>
            <a:off x="1009650" y="5238750"/>
            <a:ext cx="4638675" cy="952500"/>
          </a:xfrm>
          <a:prstGeom prst="roundRect">
            <a:avLst>
              <a:gd name="adj" fmla="val 18000"/>
            </a:avLst>
          </a:prstGeom>
          <a:solidFill>
            <a:srgbClr val="FFE8DC"/>
          </a:solidFill>
          <a:ln/>
        </p:spPr>
      </p:sp>
      <p:sp>
        <p:nvSpPr>
          <p:cNvPr id="14" name=""/>
          <p:cNvSpPr txBox="1"/>
          <p:nvPr/>
        </p:nvSpPr>
        <p:spPr>
          <a:xfrm>
            <a:off x="1238250" y="5391150"/>
            <a:ext cx="44005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She is </a:t>
            </a:r>
            <a:pPr/>
            <a:r>
              <a:rPr sz="21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 university student.</a:t>
            </a:r>
          </a:p>
        </p:txBody>
      </p:sp>
      <p:sp>
        <p:nvSpPr>
          <p:cNvPr id="15" name=""/>
          <p:cNvSpPr txBox="1"/>
          <p:nvPr/>
        </p:nvSpPr>
        <p:spPr>
          <a:xfrm>
            <a:off x="1238250" y="5781675"/>
            <a:ext cx="21907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彼女は大学生です。</a:t>
            </a:r>
          </a:p>
        </p:txBody>
      </p:sp>
      <p:sp>
        <p:nvSpPr>
          <p:cNvPr id="16" name=""/>
          <p:cNvSpPr/>
          <p:nvPr/>
        </p:nvSpPr>
        <p:spPr>
          <a:xfrm>
            <a:off x="6219825" y="1962150"/>
            <a:ext cx="5286375" cy="447675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7" name="Image 1" descr="時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675" y="2209800"/>
            <a:ext cx="1333500" cy="13335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8086725" y="2343150"/>
            <a:ext cx="1714500" cy="695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200" b="1">
                <a:solidFill>
                  <a:srgbClr val="C3C8D6"/>
                </a:solidFill>
                <a:latin typeface="DM Sans"/>
                <a:ea typeface="DM Sans"/>
              </a:rPr>
              <a:t>h</a:t>
            </a:r>
            <a:pPr/>
            <a:r>
              <a:rPr sz="4200" b="1">
                <a:solidFill>
                  <a:srgbClr val="1C2340"/>
                </a:solidFill>
                <a:latin typeface="DM Sans"/>
                <a:ea typeface="DM Sans"/>
              </a:rPr>
              <a:t>our</a:t>
            </a:r>
          </a:p>
        </p:txBody>
      </p:sp>
      <p:sp>
        <p:nvSpPr>
          <p:cNvPr id="19" name=""/>
          <p:cNvSpPr txBox="1"/>
          <p:nvPr/>
        </p:nvSpPr>
        <p:spPr>
          <a:xfrm>
            <a:off x="8086725" y="3076575"/>
            <a:ext cx="16573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「</a:t>
            </a:r>
            <a:pPr/>
            <a:r>
              <a:rPr sz="1800" b="1">
                <a:solidFill>
                  <a:srgbClr val="E8461E"/>
                </a:solidFill>
                <a:latin typeface="Noto Sans JP"/>
                <a:ea typeface="Noto Sans JP"/>
              </a:rPr>
              <a:t>ア</a:t>
            </a:r>
            <a:pPr/>
            <a:r>
              <a:rPr sz="1800">
                <a:solidFill>
                  <a:srgbClr val="4A5270"/>
                </a:solidFill>
                <a:latin typeface="Noto Sans JP"/>
                <a:ea typeface="Noto Sans JP"/>
              </a:rPr>
              <a:t>ワー」</a:t>
            </a:r>
          </a:p>
        </p:txBody>
      </p:sp>
      <p:sp>
        <p:nvSpPr>
          <p:cNvPr id="20" name=""/>
          <p:cNvSpPr/>
          <p:nvPr/>
        </p:nvSpPr>
        <p:spPr>
          <a:xfrm>
            <a:off x="6543675" y="3686175"/>
            <a:ext cx="4638675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21" name=""/>
          <p:cNvSpPr txBox="1"/>
          <p:nvPr/>
        </p:nvSpPr>
        <p:spPr>
          <a:xfrm>
            <a:off x="6543675" y="3867150"/>
            <a:ext cx="44005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h</a:t>
            </a:r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 は発音しないので、音は「</a:t>
            </a:r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ア</a:t>
            </a:r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」</a:t>
            </a:r>
          </a:p>
        </p:txBody>
      </p:sp>
      <p:sp>
        <p:nvSpPr>
          <p:cNvPr id="22" name=""/>
          <p:cNvSpPr txBox="1"/>
          <p:nvPr/>
        </p:nvSpPr>
        <p:spPr>
          <a:xfrm>
            <a:off x="6543675" y="42767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>
                <a:solidFill>
                  <a:srgbClr val="1C2340"/>
                </a:solidFill>
                <a:latin typeface="Noto Sans JP"/>
                <a:ea typeface="Noto Sans JP"/>
              </a:rPr>
              <a:t>→ 母音の音</a:t>
            </a:r>
          </a:p>
        </p:txBody>
      </p:sp>
      <p:sp>
        <p:nvSpPr>
          <p:cNvPr id="23" name=""/>
          <p:cNvSpPr/>
          <p:nvPr/>
        </p:nvSpPr>
        <p:spPr>
          <a:xfrm>
            <a:off x="6543675" y="5238750"/>
            <a:ext cx="4638675" cy="952500"/>
          </a:xfrm>
          <a:prstGeom prst="roundRect">
            <a:avLst>
              <a:gd name="adj" fmla="val 18000"/>
            </a:avLst>
          </a:prstGeom>
          <a:solidFill>
            <a:srgbClr val="FFE8DC"/>
          </a:solidFill>
          <a:ln/>
        </p:spPr>
      </p:sp>
      <p:sp>
        <p:nvSpPr>
          <p:cNvPr id="24" name=""/>
          <p:cNvSpPr txBox="1"/>
          <p:nvPr/>
        </p:nvSpPr>
        <p:spPr>
          <a:xfrm>
            <a:off x="6772275" y="5391150"/>
            <a:ext cx="32670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I waited for </a:t>
            </a:r>
            <a:pPr/>
            <a:r>
              <a:rPr sz="210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2100" b="1">
                <a:solidFill>
                  <a:srgbClr val="1C2340"/>
                </a:solidFill>
                <a:latin typeface="DM Sans"/>
                <a:ea typeface="DM Sans"/>
              </a:rPr>
              <a:t> hour.</a:t>
            </a:r>
          </a:p>
        </p:txBody>
      </p:sp>
      <p:sp>
        <p:nvSpPr>
          <p:cNvPr id="25" name=""/>
          <p:cNvSpPr txBox="1"/>
          <p:nvPr/>
        </p:nvSpPr>
        <p:spPr>
          <a:xfrm>
            <a:off x="6772275" y="5781675"/>
            <a:ext cx="25431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私は1時間待ちました。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7813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THE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MENTAL IMAGE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31813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の使い方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5286375" cy="3514725"/>
          </a:xfrm>
          <a:prstGeom prst="roundRect">
            <a:avLst>
              <a:gd name="adj" fmla="val 7588"/>
            </a:avLst>
          </a:prstGeom>
          <a:solidFill>
            <a:srgbClr val="DDEFFC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7" name=""/>
          <p:cNvSpPr txBox="1"/>
          <p:nvPr/>
        </p:nvSpPr>
        <p:spPr>
          <a:xfrm>
            <a:off x="1066800" y="2838450"/>
            <a:ext cx="1676400" cy="6000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550" b="1">
                <a:solidFill>
                  <a:srgbClr val="1C2340"/>
                </a:solidFill>
                <a:latin typeface="Noto Sans JP"/>
                <a:ea typeface="Noto Sans JP"/>
              </a:rPr>
              <a:t> ＝</a:t>
            </a:r>
          </a:p>
        </p:txBody>
      </p:sp>
      <p:sp>
        <p:nvSpPr>
          <p:cNvPr id="8" name=""/>
          <p:cNvSpPr txBox="1"/>
          <p:nvPr/>
        </p:nvSpPr>
        <p:spPr>
          <a:xfrm>
            <a:off x="1066800" y="3533775"/>
            <a:ext cx="336232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「</a:t>
            </a:r>
            <a:pPr/>
            <a:r>
              <a:rPr sz="3450" b="1">
                <a:solidFill>
                  <a:srgbClr val="2F86CF"/>
                </a:solidFill>
                <a:latin typeface="Noto Sans JP"/>
                <a:ea typeface="Noto Sans JP"/>
              </a:rPr>
              <a:t>それ！</a:t>
            </a:r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」と</a:t>
            </a:r>
          </a:p>
        </p:txBody>
      </p:sp>
      <p:sp>
        <p:nvSpPr>
          <p:cNvPr id="9" name=""/>
          <p:cNvSpPr txBox="1"/>
          <p:nvPr/>
        </p:nvSpPr>
        <p:spPr>
          <a:xfrm>
            <a:off x="1066800" y="4124325"/>
            <a:ext cx="3362325" cy="628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Noto Sans JP"/>
                <a:ea typeface="Noto Sans JP"/>
              </a:rPr>
              <a:t>指させるもの</a:t>
            </a:r>
          </a:p>
        </p:txBody>
      </p:sp>
      <p:sp>
        <p:nvSpPr>
          <p:cNvPr id="10" name=""/>
          <p:cNvSpPr/>
          <p:nvPr/>
        </p:nvSpPr>
        <p:spPr>
          <a:xfrm>
            <a:off x="6219825" y="2028825"/>
            <a:ext cx="5286375" cy="3514725"/>
          </a:xfrm>
          <a:prstGeom prst="roundRect">
            <a:avLst>
              <a:gd name="adj" fmla="val 7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1" name="Image 0" descr="りん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0" y="2476500"/>
            <a:ext cx="1066800" cy="1066800"/>
          </a:xfrm>
          <a:prstGeom prst="rect">
            <a:avLst/>
          </a:prstGeom>
        </p:spPr>
      </p:pic>
      <p:sp>
        <p:nvSpPr>
          <p:cNvPr id="12" name=""/>
          <p:cNvSpPr/>
          <p:nvPr/>
        </p:nvSpPr>
        <p:spPr>
          <a:xfrm>
            <a:off x="8153400" y="2295525"/>
            <a:ext cx="1428750" cy="1428750"/>
          </a:xfrm>
          <a:prstGeom prst="ellipse">
            <a:avLst/>
          </a:prstGeom>
          <a:solidFill>
            <a:srgbClr val="DDEFFC"/>
          </a:solidFill>
          <a:ln w="38100">
            <a:solidFill>
              <a:srgbClr val="2F86CF"/>
            </a:solidFill>
            <a:prstDash val="solid"/>
          </a:ln>
        </p:spPr>
      </p:sp>
      <p:pic>
        <p:nvPicPr>
          <p:cNvPr id="13" name="Image 1" descr="青りん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5" y="2476500"/>
            <a:ext cx="1066800" cy="1066800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8505825" y="3495675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15" name=""/>
          <p:cNvSpPr txBox="1"/>
          <p:nvPr/>
        </p:nvSpPr>
        <p:spPr>
          <a:xfrm>
            <a:off x="8382000" y="3524250"/>
            <a:ext cx="9715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それ！</a:t>
            </a:r>
          </a:p>
        </p:txBody>
      </p:sp>
      <p:pic>
        <p:nvPicPr>
          <p:cNvPr id="16" name="Image 2" descr="りん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476500"/>
            <a:ext cx="1066800" cy="1066800"/>
          </a:xfrm>
          <a:prstGeom prst="rect">
            <a:avLst/>
          </a:prstGeom>
        </p:spPr>
      </p:pic>
      <p:pic>
        <p:nvPicPr>
          <p:cNvPr id="17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4029075"/>
            <a:ext cx="1066800" cy="1066800"/>
          </a:xfrm>
          <a:prstGeom prst="rect">
            <a:avLst/>
          </a:prstGeom>
        </p:spPr>
      </p:pic>
      <p:pic>
        <p:nvPicPr>
          <p:cNvPr id="18" name="Image 4" descr="りん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4029075"/>
            <a:ext cx="1066800" cy="1066800"/>
          </a:xfrm>
          <a:prstGeom prst="rect">
            <a:avLst/>
          </a:prstGeom>
        </p:spPr>
      </p:pic>
      <p:pic>
        <p:nvPicPr>
          <p:cNvPr id="19" name="Image 5" descr="りん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4029075"/>
            <a:ext cx="1066800" cy="1066800"/>
          </a:xfrm>
          <a:prstGeom prst="rect">
            <a:avLst/>
          </a:prstGeom>
        </p:spPr>
      </p:pic>
      <p:sp>
        <p:nvSpPr>
          <p:cNvPr id="20" name=""/>
          <p:cNvSpPr/>
          <p:nvPr/>
        </p:nvSpPr>
        <p:spPr>
          <a:xfrm>
            <a:off x="685800" y="5734050"/>
            <a:ext cx="5314950" cy="704850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1" name=""/>
          <p:cNvSpPr/>
          <p:nvPr/>
        </p:nvSpPr>
        <p:spPr>
          <a:xfrm>
            <a:off x="914400" y="5905500"/>
            <a:ext cx="361950" cy="36195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22" name=""/>
          <p:cNvSpPr txBox="1"/>
          <p:nvPr/>
        </p:nvSpPr>
        <p:spPr>
          <a:xfrm>
            <a:off x="885825" y="5972175"/>
            <a:ext cx="419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3" name=""/>
          <p:cNvSpPr txBox="1"/>
          <p:nvPr/>
        </p:nvSpPr>
        <p:spPr>
          <a:xfrm>
            <a:off x="1409700" y="5934075"/>
            <a:ext cx="46767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どの人・どの物のことか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特定できる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とき</a:t>
            </a:r>
          </a:p>
        </p:txBody>
      </p:sp>
      <p:sp>
        <p:nvSpPr>
          <p:cNvPr id="24" name=""/>
          <p:cNvSpPr/>
          <p:nvPr/>
        </p:nvSpPr>
        <p:spPr>
          <a:xfrm>
            <a:off x="6191250" y="5734050"/>
            <a:ext cx="5314950" cy="704850"/>
          </a:xfrm>
          <a:prstGeom prst="roundRect">
            <a:avLst>
              <a:gd name="adj" fmla="val 37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/>
          <p:nvPr/>
        </p:nvSpPr>
        <p:spPr>
          <a:xfrm>
            <a:off x="6419850" y="5905500"/>
            <a:ext cx="361950" cy="361950"/>
          </a:xfrm>
          <a:prstGeom prst="ellipse">
            <a:avLst/>
          </a:prstGeom>
          <a:solidFill>
            <a:srgbClr val="2F86CF"/>
          </a:solidFill>
          <a:ln/>
        </p:spPr>
      </p:sp>
      <p:sp>
        <p:nvSpPr>
          <p:cNvPr id="26" name=""/>
          <p:cNvSpPr txBox="1"/>
          <p:nvPr/>
        </p:nvSpPr>
        <p:spPr>
          <a:xfrm>
            <a:off x="6372225" y="5972175"/>
            <a:ext cx="466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27" name=""/>
          <p:cNvSpPr txBox="1"/>
          <p:nvPr/>
        </p:nvSpPr>
        <p:spPr>
          <a:xfrm>
            <a:off x="6915150" y="5934075"/>
            <a:ext cx="42005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話し手と聞き手の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両方が分かる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とき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2860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THE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EXAMPLES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26955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の例文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13716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ド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124075"/>
            <a:ext cx="1181100" cy="11811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24100" y="2324100"/>
            <a:ext cx="45529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Please close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door.</a:t>
            </a:r>
          </a:p>
        </p:txBody>
      </p:sp>
      <p:sp>
        <p:nvSpPr>
          <p:cNvPr id="9" name=""/>
          <p:cNvSpPr txBox="1"/>
          <p:nvPr/>
        </p:nvSpPr>
        <p:spPr>
          <a:xfrm>
            <a:off x="2324100" y="2828925"/>
            <a:ext cx="3181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そのドアを閉めてください。</a:t>
            </a:r>
          </a:p>
        </p:txBody>
      </p:sp>
      <p:sp>
        <p:nvSpPr>
          <p:cNvPr id="10" name=""/>
          <p:cNvSpPr/>
          <p:nvPr/>
        </p:nvSpPr>
        <p:spPr>
          <a:xfrm>
            <a:off x="7981950" y="230505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172450" y="2447925"/>
            <a:ext cx="24288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その場にいる人たちが</a:t>
            </a:r>
          </a:p>
        </p:txBody>
      </p:sp>
      <p:sp>
        <p:nvSpPr>
          <p:cNvPr id="12" name=""/>
          <p:cNvSpPr txBox="1"/>
          <p:nvPr/>
        </p:nvSpPr>
        <p:spPr>
          <a:xfrm>
            <a:off x="8172450" y="2724150"/>
            <a:ext cx="26193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どのドアか分かっている</a:t>
            </a:r>
          </a:p>
        </p:txBody>
      </p:sp>
      <p:sp>
        <p:nvSpPr>
          <p:cNvPr id="13" name=""/>
          <p:cNvSpPr/>
          <p:nvPr/>
        </p:nvSpPr>
        <p:spPr>
          <a:xfrm>
            <a:off x="685800" y="3552825"/>
            <a:ext cx="10820400" cy="13716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14" name="Image 1" descr="トイ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648075"/>
            <a:ext cx="1181100" cy="11811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2324100" y="3848100"/>
            <a:ext cx="49625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Where is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bathroom?</a:t>
            </a:r>
          </a:p>
        </p:txBody>
      </p:sp>
      <p:sp>
        <p:nvSpPr>
          <p:cNvPr id="16" name=""/>
          <p:cNvSpPr txBox="1"/>
          <p:nvPr/>
        </p:nvSpPr>
        <p:spPr>
          <a:xfrm>
            <a:off x="2324100" y="4352925"/>
            <a:ext cx="2524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トイレはどこですか？</a:t>
            </a:r>
          </a:p>
        </p:txBody>
      </p:sp>
      <p:sp>
        <p:nvSpPr>
          <p:cNvPr id="17" name=""/>
          <p:cNvSpPr/>
          <p:nvPr/>
        </p:nvSpPr>
        <p:spPr>
          <a:xfrm>
            <a:off x="7981950" y="3819525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8172450" y="3962400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その場所にあるトイレを</a:t>
            </a:r>
          </a:p>
        </p:txBody>
      </p:sp>
      <p:sp>
        <p:nvSpPr>
          <p:cNvPr id="19" name=""/>
          <p:cNvSpPr txBox="1"/>
          <p:nvPr/>
        </p:nvSpPr>
        <p:spPr>
          <a:xfrm>
            <a:off x="8172450" y="4248150"/>
            <a:ext cx="13716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指している</a:t>
            </a:r>
          </a:p>
        </p:txBody>
      </p:sp>
      <p:sp>
        <p:nvSpPr>
          <p:cNvPr id="20" name=""/>
          <p:cNvSpPr/>
          <p:nvPr/>
        </p:nvSpPr>
        <p:spPr>
          <a:xfrm>
            <a:off x="685800" y="5067300"/>
            <a:ext cx="10820400" cy="13716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21" name="Image 2" descr="太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162550"/>
            <a:ext cx="1181100" cy="11811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324100" y="5362575"/>
            <a:ext cx="47720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sun is bright today.</a:t>
            </a:r>
          </a:p>
        </p:txBody>
      </p:sp>
      <p:sp>
        <p:nvSpPr>
          <p:cNvPr id="23" name=""/>
          <p:cNvSpPr txBox="1"/>
          <p:nvPr/>
        </p:nvSpPr>
        <p:spPr>
          <a:xfrm>
            <a:off x="2324100" y="5867400"/>
            <a:ext cx="31623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今日は太陽がまぶしいです。</a:t>
            </a:r>
          </a:p>
        </p:txBody>
      </p:sp>
      <p:sp>
        <p:nvSpPr>
          <p:cNvPr id="24" name=""/>
          <p:cNvSpPr/>
          <p:nvPr/>
        </p:nvSpPr>
        <p:spPr>
          <a:xfrm>
            <a:off x="7981950" y="5343525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172450" y="5486400"/>
            <a:ext cx="24288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太陽は、どれのことか</a:t>
            </a:r>
          </a:p>
        </p:txBody>
      </p:sp>
      <p:sp>
        <p:nvSpPr>
          <p:cNvPr id="26" name=""/>
          <p:cNvSpPr txBox="1"/>
          <p:nvPr/>
        </p:nvSpPr>
        <p:spPr>
          <a:xfrm>
            <a:off x="8172450" y="5762625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特定できる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1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バッ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050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9" name=""/>
          <p:cNvSpPr/>
          <p:nvPr/>
        </p:nvSpPr>
        <p:spPr>
          <a:xfrm>
            <a:off x="5067300" y="259080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6553200" y="2667000"/>
            <a:ext cx="138112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bag.</a:t>
            </a:r>
          </a:p>
        </p:txBody>
      </p:sp>
      <p:sp>
        <p:nvSpPr>
          <p:cNvPr id="11" name=""/>
          <p:cNvSpPr/>
          <p:nvPr/>
        </p:nvSpPr>
        <p:spPr>
          <a:xfrm>
            <a:off x="3162300" y="36004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2" name=""/>
          <p:cNvSpPr txBox="1"/>
          <p:nvPr/>
        </p:nvSpPr>
        <p:spPr>
          <a:xfrm>
            <a:off x="4648200" y="3676650"/>
            <a:ext cx="507682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bag was expensive.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530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5530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 txBox="1"/>
          <p:nvPr/>
        </p:nvSpPr>
        <p:spPr>
          <a:xfrm>
            <a:off x="1771650" y="5667375"/>
            <a:ext cx="5905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8A90A8"/>
                </a:solidFill>
                <a:latin typeface="DM Sans"/>
                <a:ea typeface="DM Sans"/>
              </a:rPr>
              <a:t>or</a:t>
            </a:r>
          </a:p>
        </p:txBody>
      </p:sp>
      <p:sp>
        <p:nvSpPr>
          <p:cNvPr id="16" name=""/>
          <p:cNvSpPr/>
          <p:nvPr/>
        </p:nvSpPr>
        <p:spPr>
          <a:xfrm>
            <a:off x="2162175" y="53530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7" name=""/>
          <p:cNvSpPr txBox="1"/>
          <p:nvPr/>
        </p:nvSpPr>
        <p:spPr>
          <a:xfrm>
            <a:off x="2066925" y="55530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8" name=""/>
          <p:cNvSpPr txBox="1"/>
          <p:nvPr/>
        </p:nvSpPr>
        <p:spPr>
          <a:xfrm>
            <a:off x="3381375" y="5619750"/>
            <a:ext cx="52959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どっち？ 声に出して答えてみよう！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4669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1 ANSWER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バッ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050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9" name=""/>
          <p:cNvSpPr/>
          <p:nvPr/>
        </p:nvSpPr>
        <p:spPr>
          <a:xfrm>
            <a:off x="5067300" y="259080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E8461E"/>
          </a:solidFill>
          <a:ln/>
        </p:spPr>
      </p:sp>
      <p:sp>
        <p:nvSpPr>
          <p:cNvPr id="10" name=""/>
          <p:cNvSpPr txBox="1"/>
          <p:nvPr/>
        </p:nvSpPr>
        <p:spPr>
          <a:xfrm>
            <a:off x="5419725" y="2676525"/>
            <a:ext cx="6286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1" name=""/>
          <p:cNvSpPr txBox="1"/>
          <p:nvPr/>
        </p:nvSpPr>
        <p:spPr>
          <a:xfrm>
            <a:off x="6553200" y="2667000"/>
            <a:ext cx="138112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bag.</a:t>
            </a:r>
          </a:p>
        </p:txBody>
      </p:sp>
      <p:sp>
        <p:nvSpPr>
          <p:cNvPr id="12" name=""/>
          <p:cNvSpPr/>
          <p:nvPr/>
        </p:nvSpPr>
        <p:spPr>
          <a:xfrm>
            <a:off x="3162300" y="36004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2F86C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219450" y="3686175"/>
            <a:ext cx="12192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4" name=""/>
          <p:cNvSpPr txBox="1"/>
          <p:nvPr/>
        </p:nvSpPr>
        <p:spPr>
          <a:xfrm>
            <a:off x="4648200" y="3676650"/>
            <a:ext cx="507682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bag was expensive.</a:t>
            </a:r>
          </a:p>
        </p:txBody>
      </p:sp>
      <p:sp>
        <p:nvSpPr>
          <p:cNvPr id="15" name=""/>
          <p:cNvSpPr/>
          <p:nvPr/>
        </p:nvSpPr>
        <p:spPr>
          <a:xfrm>
            <a:off x="685800" y="50958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990600" y="5210175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62050" y="52673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1回目</a:t>
            </a:r>
          </a:p>
        </p:txBody>
      </p:sp>
      <p:sp>
        <p:nvSpPr>
          <p:cNvPr id="18" name=""/>
          <p:cNvSpPr txBox="1"/>
          <p:nvPr/>
        </p:nvSpPr>
        <p:spPr>
          <a:xfrm>
            <a:off x="1914525" y="5229225"/>
            <a:ext cx="2981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初登場なので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bag</a:t>
            </a:r>
          </a:p>
        </p:txBody>
      </p:sp>
      <p:sp>
        <p:nvSpPr>
          <p:cNvPr id="19" name=""/>
          <p:cNvSpPr/>
          <p:nvPr/>
        </p:nvSpPr>
        <p:spPr>
          <a:xfrm>
            <a:off x="990600" y="5676900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162050" y="573405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2回目</a:t>
            </a:r>
          </a:p>
        </p:txBody>
      </p:sp>
      <p:sp>
        <p:nvSpPr>
          <p:cNvPr id="21" name=""/>
          <p:cNvSpPr txBox="1"/>
          <p:nvPr/>
        </p:nvSpPr>
        <p:spPr>
          <a:xfrm>
            <a:off x="1914525" y="5695950"/>
            <a:ext cx="56292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「さっきのバッグ」と分かるので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bag</a:t>
            </a:r>
          </a:p>
        </p:txBody>
      </p:sp>
      <p:sp>
        <p:nvSpPr>
          <p:cNvPr id="22" name=""/>
          <p:cNvSpPr txBox="1"/>
          <p:nvPr/>
        </p:nvSpPr>
        <p:spPr>
          <a:xfrm>
            <a:off x="990600" y="6162675"/>
            <a:ext cx="55245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私はバッグを買いました。そのバッグは高かったです。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419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COMPARE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46958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と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の違い</a:t>
            </a:r>
          </a:p>
        </p:txBody>
      </p:sp>
      <p:sp>
        <p:nvSpPr>
          <p:cNvPr id="6" name=""/>
          <p:cNvSpPr/>
          <p:nvPr/>
        </p:nvSpPr>
        <p:spPr>
          <a:xfrm>
            <a:off x="2057400" y="1981200"/>
            <a:ext cx="4657725" cy="704850"/>
          </a:xfrm>
          <a:prstGeom prst="roundRect">
            <a:avLst>
              <a:gd name="adj" fmla="val 27027"/>
            </a:avLst>
          </a:prstGeom>
          <a:solidFill>
            <a:srgbClr val="FFE8DC"/>
          </a:solidFill>
          <a:ln/>
        </p:spPr>
      </p:sp>
      <p:sp>
        <p:nvSpPr>
          <p:cNvPr id="7" name=""/>
          <p:cNvSpPr txBox="1"/>
          <p:nvPr/>
        </p:nvSpPr>
        <p:spPr>
          <a:xfrm>
            <a:off x="2266950" y="2133600"/>
            <a:ext cx="128587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</a:p>
        </p:txBody>
      </p:sp>
      <p:sp>
        <p:nvSpPr>
          <p:cNvPr id="8" name=""/>
          <p:cNvSpPr txBox="1"/>
          <p:nvPr/>
        </p:nvSpPr>
        <p:spPr>
          <a:xfrm>
            <a:off x="3219450" y="2190750"/>
            <a:ext cx="345757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まだ特定されていない「1つ」</a:t>
            </a:r>
          </a:p>
        </p:txBody>
      </p:sp>
      <p:sp>
        <p:nvSpPr>
          <p:cNvPr id="9" name=""/>
          <p:cNvSpPr/>
          <p:nvPr/>
        </p:nvSpPr>
        <p:spPr>
          <a:xfrm>
            <a:off x="6848475" y="1981200"/>
            <a:ext cx="4657725" cy="704850"/>
          </a:xfrm>
          <a:prstGeom prst="roundRect">
            <a:avLst>
              <a:gd name="adj" fmla="val 27027"/>
            </a:avLst>
          </a:prstGeom>
          <a:solidFill>
            <a:srgbClr val="DDEFFC"/>
          </a:solidFill>
          <a:ln/>
        </p:spPr>
      </p:sp>
      <p:sp>
        <p:nvSpPr>
          <p:cNvPr id="10" name=""/>
          <p:cNvSpPr txBox="1"/>
          <p:nvPr/>
        </p:nvSpPr>
        <p:spPr>
          <a:xfrm>
            <a:off x="7058025" y="2133600"/>
            <a:ext cx="923925" cy="4000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1" name=""/>
          <p:cNvSpPr txBox="1"/>
          <p:nvPr/>
        </p:nvSpPr>
        <p:spPr>
          <a:xfrm>
            <a:off x="7696200" y="2190750"/>
            <a:ext cx="287655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どれのことか特定できる</a:t>
            </a:r>
          </a:p>
        </p:txBody>
      </p:sp>
      <p:pic>
        <p:nvPicPr>
          <p:cNvPr id="12" name="Image 0" descr="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3124200"/>
            <a:ext cx="1143000" cy="1143000"/>
          </a:xfrm>
          <a:prstGeom prst="rect">
            <a:avLst/>
          </a:prstGeom>
        </p:spPr>
      </p:pic>
      <p:sp>
        <p:nvSpPr>
          <p:cNvPr id="13" name=""/>
          <p:cNvSpPr/>
          <p:nvPr/>
        </p:nvSpPr>
        <p:spPr>
          <a:xfrm>
            <a:off x="2057400" y="2819400"/>
            <a:ext cx="4657725" cy="1743075"/>
          </a:xfrm>
          <a:prstGeom prst="roundRect">
            <a:avLst>
              <a:gd name="adj" fmla="val 12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4" name=""/>
          <p:cNvSpPr txBox="1"/>
          <p:nvPr/>
        </p:nvSpPr>
        <p:spPr>
          <a:xfrm>
            <a:off x="2305050" y="3352800"/>
            <a:ext cx="21526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I saw </a:t>
            </a:r>
            <a:pPr/>
            <a:r>
              <a:rPr sz="22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 dog.</a:t>
            </a:r>
          </a:p>
        </p:txBody>
      </p:sp>
      <p:sp>
        <p:nvSpPr>
          <p:cNvPr id="15" name=""/>
          <p:cNvSpPr txBox="1"/>
          <p:nvPr/>
        </p:nvSpPr>
        <p:spPr>
          <a:xfrm>
            <a:off x="2305050" y="3781425"/>
            <a:ext cx="21240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犬を1匹見ました。</a:t>
            </a:r>
          </a:p>
        </p:txBody>
      </p:sp>
      <p:sp>
        <p:nvSpPr>
          <p:cNvPr id="16" name=""/>
          <p:cNvSpPr/>
          <p:nvPr/>
        </p:nvSpPr>
        <p:spPr>
          <a:xfrm>
            <a:off x="6848475" y="2819400"/>
            <a:ext cx="4657725" cy="1743075"/>
          </a:xfrm>
          <a:prstGeom prst="roundRect">
            <a:avLst>
              <a:gd name="adj" fmla="val 12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7" name=""/>
          <p:cNvSpPr txBox="1"/>
          <p:nvPr/>
        </p:nvSpPr>
        <p:spPr>
          <a:xfrm>
            <a:off x="7096125" y="3352800"/>
            <a:ext cx="31908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 dog was cute.</a:t>
            </a:r>
          </a:p>
        </p:txBody>
      </p:sp>
      <p:sp>
        <p:nvSpPr>
          <p:cNvPr id="18" name=""/>
          <p:cNvSpPr txBox="1"/>
          <p:nvPr/>
        </p:nvSpPr>
        <p:spPr>
          <a:xfrm>
            <a:off x="7096125" y="3781425"/>
            <a:ext cx="30289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その犬はかわいかったです。</a:t>
            </a:r>
          </a:p>
        </p:txBody>
      </p:sp>
      <p:pic>
        <p:nvPicPr>
          <p:cNvPr id="19" name="Image 1" descr="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5000625"/>
            <a:ext cx="1143000" cy="1143000"/>
          </a:xfrm>
          <a:prstGeom prst="rect">
            <a:avLst/>
          </a:prstGeom>
        </p:spPr>
      </p:pic>
      <p:sp>
        <p:nvSpPr>
          <p:cNvPr id="20" name=""/>
          <p:cNvSpPr/>
          <p:nvPr/>
        </p:nvSpPr>
        <p:spPr>
          <a:xfrm>
            <a:off x="2057400" y="4695825"/>
            <a:ext cx="4657725" cy="1743075"/>
          </a:xfrm>
          <a:prstGeom prst="roundRect">
            <a:avLst>
              <a:gd name="adj" fmla="val 12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1" name=""/>
          <p:cNvSpPr txBox="1"/>
          <p:nvPr/>
        </p:nvSpPr>
        <p:spPr>
          <a:xfrm>
            <a:off x="2305050" y="5057775"/>
            <a:ext cx="36099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I want to buy </a:t>
            </a:r>
            <a:pPr/>
            <a:r>
              <a:rPr sz="22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 book.</a:t>
            </a:r>
          </a:p>
        </p:txBody>
      </p:sp>
      <p:sp>
        <p:nvSpPr>
          <p:cNvPr id="22" name=""/>
          <p:cNvSpPr txBox="1"/>
          <p:nvPr/>
        </p:nvSpPr>
        <p:spPr>
          <a:xfrm>
            <a:off x="2305050" y="5486400"/>
            <a:ext cx="25146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本を1冊買いたいです。</a:t>
            </a:r>
          </a:p>
        </p:txBody>
      </p:sp>
      <p:sp>
        <p:nvSpPr>
          <p:cNvPr id="23" name=""/>
          <p:cNvSpPr txBox="1"/>
          <p:nvPr/>
        </p:nvSpPr>
        <p:spPr>
          <a:xfrm>
            <a:off x="2305050" y="5838825"/>
            <a:ext cx="35052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→ どの本かは、まだ決まっていない</a:t>
            </a:r>
          </a:p>
        </p:txBody>
      </p:sp>
      <p:sp>
        <p:nvSpPr>
          <p:cNvPr id="24" name=""/>
          <p:cNvSpPr/>
          <p:nvPr/>
        </p:nvSpPr>
        <p:spPr>
          <a:xfrm>
            <a:off x="6848475" y="4695825"/>
            <a:ext cx="4657725" cy="1743075"/>
          </a:xfrm>
          <a:prstGeom prst="roundRect">
            <a:avLst>
              <a:gd name="adj" fmla="val 120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5" name=""/>
          <p:cNvSpPr txBox="1"/>
          <p:nvPr/>
        </p:nvSpPr>
        <p:spPr>
          <a:xfrm>
            <a:off x="7096125" y="5057775"/>
            <a:ext cx="39624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I want to buy </a:t>
            </a:r>
            <a:pPr/>
            <a:r>
              <a:rPr sz="22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 book.</a:t>
            </a:r>
          </a:p>
        </p:txBody>
      </p:sp>
      <p:sp>
        <p:nvSpPr>
          <p:cNvPr id="26" name=""/>
          <p:cNvSpPr txBox="1"/>
          <p:nvPr/>
        </p:nvSpPr>
        <p:spPr>
          <a:xfrm>
            <a:off x="7096125" y="5486400"/>
            <a:ext cx="26003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その本を買いたいです。</a:t>
            </a:r>
          </a:p>
        </p:txBody>
      </p:sp>
      <p:sp>
        <p:nvSpPr>
          <p:cNvPr id="27" name=""/>
          <p:cNvSpPr txBox="1"/>
          <p:nvPr/>
        </p:nvSpPr>
        <p:spPr>
          <a:xfrm>
            <a:off x="7096125" y="5838825"/>
            <a:ext cx="4314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→ 話し手と聞き手が、どの本か分かっている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13620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2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カフ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050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went to</a:t>
            </a:r>
          </a:p>
        </p:txBody>
      </p:sp>
      <p:sp>
        <p:nvSpPr>
          <p:cNvPr id="9" name=""/>
          <p:cNvSpPr/>
          <p:nvPr/>
        </p:nvSpPr>
        <p:spPr>
          <a:xfrm>
            <a:off x="5153025" y="259080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6638925" y="2667000"/>
            <a:ext cx="41148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cafe yesterday.</a:t>
            </a:r>
          </a:p>
        </p:txBody>
      </p:sp>
      <p:sp>
        <p:nvSpPr>
          <p:cNvPr id="11" name=""/>
          <p:cNvSpPr/>
          <p:nvPr/>
        </p:nvSpPr>
        <p:spPr>
          <a:xfrm>
            <a:off x="3162300" y="36004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2" name=""/>
          <p:cNvSpPr txBox="1"/>
          <p:nvPr/>
        </p:nvSpPr>
        <p:spPr>
          <a:xfrm>
            <a:off x="4648200" y="3676650"/>
            <a:ext cx="52482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cafe was very quiet.</a:t>
            </a:r>
          </a:p>
        </p:txBody>
      </p:sp>
      <p:sp>
        <p:nvSpPr>
          <p:cNvPr id="13" name=""/>
          <p:cNvSpPr/>
          <p:nvPr/>
        </p:nvSpPr>
        <p:spPr>
          <a:xfrm>
            <a:off x="685800" y="53530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4" name=""/>
          <p:cNvSpPr txBox="1"/>
          <p:nvPr/>
        </p:nvSpPr>
        <p:spPr>
          <a:xfrm>
            <a:off x="838200" y="55530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5" name=""/>
          <p:cNvSpPr txBox="1"/>
          <p:nvPr/>
        </p:nvSpPr>
        <p:spPr>
          <a:xfrm>
            <a:off x="1771650" y="5667375"/>
            <a:ext cx="5905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8A90A8"/>
                </a:solidFill>
                <a:latin typeface="DM Sans"/>
                <a:ea typeface="DM Sans"/>
              </a:rPr>
              <a:t>or</a:t>
            </a:r>
          </a:p>
        </p:txBody>
      </p:sp>
      <p:sp>
        <p:nvSpPr>
          <p:cNvPr id="16" name=""/>
          <p:cNvSpPr/>
          <p:nvPr/>
        </p:nvSpPr>
        <p:spPr>
          <a:xfrm>
            <a:off x="2162175" y="53530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7" name=""/>
          <p:cNvSpPr txBox="1"/>
          <p:nvPr/>
        </p:nvSpPr>
        <p:spPr>
          <a:xfrm>
            <a:off x="2066925" y="55530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8" name=""/>
          <p:cNvSpPr txBox="1"/>
          <p:nvPr/>
        </p:nvSpPr>
        <p:spPr>
          <a:xfrm>
            <a:off x="3381375" y="5619750"/>
            <a:ext cx="52959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どっち？ 声に出して答えてみよう！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5050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QUIZ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2 ANSWER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4771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（ ）に入るのは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 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？</a:t>
            </a:r>
          </a:p>
        </p:txBody>
      </p:sp>
      <p:sp>
        <p:nvSpPr>
          <p:cNvPr id="6" name=""/>
          <p:cNvSpPr/>
          <p:nvPr/>
        </p:nvSpPr>
        <p:spPr>
          <a:xfrm>
            <a:off x="685800" y="20288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pic>
        <p:nvPicPr>
          <p:cNvPr id="7" name="Image 0" descr="カフ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05075"/>
            <a:ext cx="1905000" cy="19050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3162300" y="2667000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went to</a:t>
            </a:r>
          </a:p>
        </p:txBody>
      </p:sp>
      <p:sp>
        <p:nvSpPr>
          <p:cNvPr id="9" name=""/>
          <p:cNvSpPr/>
          <p:nvPr/>
        </p:nvSpPr>
        <p:spPr>
          <a:xfrm>
            <a:off x="5153025" y="259080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E8461E"/>
          </a:solidFill>
          <a:ln/>
        </p:spPr>
      </p:sp>
      <p:sp>
        <p:nvSpPr>
          <p:cNvPr id="10" name=""/>
          <p:cNvSpPr txBox="1"/>
          <p:nvPr/>
        </p:nvSpPr>
        <p:spPr>
          <a:xfrm>
            <a:off x="5505450" y="2676525"/>
            <a:ext cx="6286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1" name=""/>
          <p:cNvSpPr txBox="1"/>
          <p:nvPr/>
        </p:nvSpPr>
        <p:spPr>
          <a:xfrm>
            <a:off x="6638925" y="2667000"/>
            <a:ext cx="41148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cafe yesterday.</a:t>
            </a:r>
          </a:p>
        </p:txBody>
      </p:sp>
      <p:sp>
        <p:nvSpPr>
          <p:cNvPr id="12" name=""/>
          <p:cNvSpPr/>
          <p:nvPr/>
        </p:nvSpPr>
        <p:spPr>
          <a:xfrm>
            <a:off x="3162300" y="36004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2F86C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219450" y="3686175"/>
            <a:ext cx="12192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4" name=""/>
          <p:cNvSpPr txBox="1"/>
          <p:nvPr/>
        </p:nvSpPr>
        <p:spPr>
          <a:xfrm>
            <a:off x="4648200" y="3676650"/>
            <a:ext cx="52482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cafe was very quiet.</a:t>
            </a:r>
          </a:p>
        </p:txBody>
      </p:sp>
      <p:sp>
        <p:nvSpPr>
          <p:cNvPr id="15" name=""/>
          <p:cNvSpPr/>
          <p:nvPr/>
        </p:nvSpPr>
        <p:spPr>
          <a:xfrm>
            <a:off x="685800" y="50958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6" name=""/>
          <p:cNvSpPr/>
          <p:nvPr/>
        </p:nvSpPr>
        <p:spPr>
          <a:xfrm>
            <a:off x="990600" y="5210175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62050" y="5267325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1回目</a:t>
            </a:r>
          </a:p>
        </p:txBody>
      </p:sp>
      <p:sp>
        <p:nvSpPr>
          <p:cNvPr id="18" name=""/>
          <p:cNvSpPr txBox="1"/>
          <p:nvPr/>
        </p:nvSpPr>
        <p:spPr>
          <a:xfrm>
            <a:off x="1914525" y="5229225"/>
            <a:ext cx="308610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初登場なので → </a:t>
            </a:r>
            <a:pPr/>
            <a:r>
              <a:rPr sz="18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cafe</a:t>
            </a:r>
          </a:p>
        </p:txBody>
      </p:sp>
      <p:sp>
        <p:nvSpPr>
          <p:cNvPr id="19" name=""/>
          <p:cNvSpPr/>
          <p:nvPr/>
        </p:nvSpPr>
        <p:spPr>
          <a:xfrm>
            <a:off x="990600" y="5676900"/>
            <a:ext cx="790575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1162050" y="5734050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2回目</a:t>
            </a:r>
          </a:p>
        </p:txBody>
      </p:sp>
      <p:sp>
        <p:nvSpPr>
          <p:cNvPr id="21" name=""/>
          <p:cNvSpPr txBox="1"/>
          <p:nvPr/>
        </p:nvSpPr>
        <p:spPr>
          <a:xfrm>
            <a:off x="1914525" y="5695950"/>
            <a:ext cx="5734050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「さっきのカフェ」と分かるので → </a:t>
            </a:r>
            <a:pPr/>
            <a:r>
              <a:rPr sz="18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 </a:t>
            </a:r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cafe</a:t>
            </a:r>
          </a:p>
        </p:txBody>
      </p:sp>
      <p:sp>
        <p:nvSpPr>
          <p:cNvPr id="22" name=""/>
          <p:cNvSpPr txBox="1"/>
          <p:nvPr/>
        </p:nvSpPr>
        <p:spPr>
          <a:xfrm>
            <a:off x="990600" y="6162675"/>
            <a:ext cx="6562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昨日、あるカフェに行きました。そのカフェはとても静かでした。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14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NEXT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次回予告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1095375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すべての名詞に </a:t>
            </a:r>
            <a:pPr/>
            <a:r>
              <a:rPr sz="330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をつけられるわけではない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952625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そこで大切なのが…</a:t>
            </a:r>
          </a:p>
        </p:txBody>
      </p:sp>
      <p:sp>
        <p:nvSpPr>
          <p:cNvPr id="7" name=""/>
          <p:cNvSpPr/>
          <p:nvPr/>
        </p:nvSpPr>
        <p:spPr>
          <a:xfrm>
            <a:off x="685800" y="2466975"/>
            <a:ext cx="5286375" cy="3971925"/>
          </a:xfrm>
          <a:prstGeom prst="roundRect">
            <a:avLst>
              <a:gd name="adj" fmla="val 6715"/>
            </a:avLst>
          </a:prstGeom>
          <a:solidFill>
            <a:srgbClr val="FFE8DC"/>
          </a:solidFill>
          <a:ln/>
        </p:spPr>
      </p:sp>
      <p:sp>
        <p:nvSpPr>
          <p:cNvPr id="8" name=""/>
          <p:cNvSpPr txBox="1"/>
          <p:nvPr/>
        </p:nvSpPr>
        <p:spPr>
          <a:xfrm>
            <a:off x="1028700" y="2733675"/>
            <a:ext cx="32575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数えられる名詞</a:t>
            </a:r>
          </a:p>
        </p:txBody>
      </p:sp>
      <p:sp>
        <p:nvSpPr>
          <p:cNvPr id="9" name=""/>
          <p:cNvSpPr txBox="1"/>
          <p:nvPr/>
        </p:nvSpPr>
        <p:spPr>
          <a:xfrm>
            <a:off x="1028700" y="3314700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可算名詞</a:t>
            </a:r>
          </a:p>
        </p:txBody>
      </p:sp>
      <p:sp>
        <p:nvSpPr>
          <p:cNvPr id="10" name=""/>
          <p:cNvSpPr/>
          <p:nvPr/>
        </p:nvSpPr>
        <p:spPr>
          <a:xfrm>
            <a:off x="1028700" y="4648200"/>
            <a:ext cx="4600575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1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4743450"/>
            <a:ext cx="1333500" cy="1333500"/>
          </a:xfrm>
          <a:prstGeom prst="rect">
            <a:avLst/>
          </a:prstGeom>
        </p:spPr>
      </p:pic>
      <p:pic>
        <p:nvPicPr>
          <p:cNvPr id="12" name="Image 1" descr="りん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4743450"/>
            <a:ext cx="1333500" cy="1333500"/>
          </a:xfrm>
          <a:prstGeom prst="rect">
            <a:avLst/>
          </a:prstGeom>
        </p:spPr>
      </p:pic>
      <p:pic>
        <p:nvPicPr>
          <p:cNvPr id="13" name="Image 2" descr="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743450"/>
            <a:ext cx="1333500" cy="1333500"/>
          </a:xfrm>
          <a:prstGeom prst="rect">
            <a:avLst/>
          </a:prstGeom>
        </p:spPr>
      </p:pic>
      <p:sp>
        <p:nvSpPr>
          <p:cNvPr id="14" name=""/>
          <p:cNvSpPr/>
          <p:nvPr/>
        </p:nvSpPr>
        <p:spPr>
          <a:xfrm>
            <a:off x="6219825" y="2466975"/>
            <a:ext cx="5286375" cy="3971925"/>
          </a:xfrm>
          <a:prstGeom prst="roundRect">
            <a:avLst>
              <a:gd name="adj" fmla="val 6715"/>
            </a:avLst>
          </a:prstGeom>
          <a:solidFill>
            <a:srgbClr val="DDEFF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562725" y="2733675"/>
            <a:ext cx="3676650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85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</a:t>
            </a:r>
          </a:p>
        </p:txBody>
      </p:sp>
      <p:sp>
        <p:nvSpPr>
          <p:cNvPr id="16" name=""/>
          <p:cNvSpPr txBox="1"/>
          <p:nvPr/>
        </p:nvSpPr>
        <p:spPr>
          <a:xfrm>
            <a:off x="6562725" y="3314700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不可算名詞</a:t>
            </a:r>
          </a:p>
        </p:txBody>
      </p:sp>
      <p:sp>
        <p:nvSpPr>
          <p:cNvPr id="17" name=""/>
          <p:cNvSpPr/>
          <p:nvPr/>
        </p:nvSpPr>
        <p:spPr>
          <a:xfrm>
            <a:off x="6562725" y="4648200"/>
            <a:ext cx="4600575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8" name="Image 3" descr="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4743450"/>
            <a:ext cx="1333500" cy="1333500"/>
          </a:xfrm>
          <a:prstGeom prst="rect">
            <a:avLst/>
          </a:prstGeom>
        </p:spPr>
      </p:pic>
      <p:pic>
        <p:nvPicPr>
          <p:cNvPr id="19" name="Image 4" descr="愛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743450"/>
            <a:ext cx="1333500" cy="1333500"/>
          </a:xfrm>
          <a:prstGeom prst="rect">
            <a:avLst/>
          </a:prstGeom>
        </p:spPr>
      </p:pic>
      <p:pic>
        <p:nvPicPr>
          <p:cNvPr id="20" name="Image 5" descr="幸せ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75" y="4743450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14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NEXT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次回予告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66103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数えられる名詞（可算名詞）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914525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1つ、2つ、3つ…と数えられる名詞</a:t>
            </a:r>
          </a:p>
        </p:txBody>
      </p:sp>
      <p:sp>
        <p:nvSpPr>
          <p:cNvPr id="7" name=""/>
          <p:cNvSpPr/>
          <p:nvPr/>
        </p:nvSpPr>
        <p:spPr>
          <a:xfrm>
            <a:off x="685800" y="2428875"/>
            <a:ext cx="5305425" cy="1438275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8" name=""/>
          <p:cNvSpPr txBox="1"/>
          <p:nvPr/>
        </p:nvSpPr>
        <p:spPr>
          <a:xfrm>
            <a:off x="933450" y="2962275"/>
            <a:ext cx="11525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book</a:t>
            </a:r>
          </a:p>
        </p:txBody>
      </p:sp>
      <p:pic>
        <p:nvPicPr>
          <p:cNvPr id="9" name="Image 0" descr="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5575" y="2686050"/>
            <a:ext cx="647700" cy="64770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2562225" y="335280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book</a:t>
            </a:r>
          </a:p>
        </p:txBody>
      </p:sp>
      <p:pic>
        <p:nvPicPr>
          <p:cNvPr id="11" name="Image 1" descr="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2686050"/>
            <a:ext cx="647700" cy="647700"/>
          </a:xfrm>
          <a:prstGeom prst="rect">
            <a:avLst/>
          </a:prstGeom>
        </p:spPr>
      </p:pic>
      <p:pic>
        <p:nvPicPr>
          <p:cNvPr id="12" name="Image 2" descr="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2686050"/>
            <a:ext cx="647700" cy="64770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4371975" y="33528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books</a:t>
            </a:r>
          </a:p>
        </p:txBody>
      </p:sp>
      <p:sp>
        <p:nvSpPr>
          <p:cNvPr id="14" name=""/>
          <p:cNvSpPr/>
          <p:nvPr/>
        </p:nvSpPr>
        <p:spPr>
          <a:xfrm>
            <a:off x="6200775" y="2428875"/>
            <a:ext cx="5305425" cy="1438275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5" name=""/>
          <p:cNvSpPr txBox="1"/>
          <p:nvPr/>
        </p:nvSpPr>
        <p:spPr>
          <a:xfrm>
            <a:off x="6448425" y="2962275"/>
            <a:ext cx="12668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apple</a:t>
            </a:r>
          </a:p>
        </p:txBody>
      </p:sp>
      <p:pic>
        <p:nvPicPr>
          <p:cNvPr id="16" name="Image 3" descr="りん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550" y="2686050"/>
            <a:ext cx="647700" cy="64770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8048625" y="33528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apple</a:t>
            </a:r>
          </a:p>
        </p:txBody>
      </p:sp>
      <p:pic>
        <p:nvPicPr>
          <p:cNvPr id="18" name="Image 4" descr="りん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550" y="2686050"/>
            <a:ext cx="647700" cy="647700"/>
          </a:xfrm>
          <a:prstGeom prst="rect">
            <a:avLst/>
          </a:prstGeom>
        </p:spPr>
      </p:pic>
      <p:pic>
        <p:nvPicPr>
          <p:cNvPr id="19" name="Image 5" descr="りん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2686050"/>
            <a:ext cx="647700" cy="647700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9848850" y="33528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apples</a:t>
            </a:r>
          </a:p>
        </p:txBody>
      </p:sp>
      <p:sp>
        <p:nvSpPr>
          <p:cNvPr id="21" name=""/>
          <p:cNvSpPr/>
          <p:nvPr/>
        </p:nvSpPr>
        <p:spPr>
          <a:xfrm>
            <a:off x="685800" y="4076700"/>
            <a:ext cx="5305425" cy="1438275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33450" y="4610100"/>
            <a:ext cx="9429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dog</a:t>
            </a:r>
          </a:p>
        </p:txBody>
      </p:sp>
      <p:pic>
        <p:nvPicPr>
          <p:cNvPr id="23" name="Image 6" descr="犬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5575" y="4333875"/>
            <a:ext cx="647700" cy="647700"/>
          </a:xfrm>
          <a:prstGeom prst="rect">
            <a:avLst/>
          </a:prstGeom>
        </p:spPr>
      </p:pic>
      <p:sp>
        <p:nvSpPr>
          <p:cNvPr id="24" name=""/>
          <p:cNvSpPr txBox="1"/>
          <p:nvPr/>
        </p:nvSpPr>
        <p:spPr>
          <a:xfrm>
            <a:off x="2628900" y="500062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dog</a:t>
            </a:r>
          </a:p>
        </p:txBody>
      </p:sp>
      <p:pic>
        <p:nvPicPr>
          <p:cNvPr id="25" name="Image 7" descr="犬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575" y="4333875"/>
            <a:ext cx="647700" cy="647700"/>
          </a:xfrm>
          <a:prstGeom prst="rect">
            <a:avLst/>
          </a:prstGeom>
        </p:spPr>
      </p:pic>
      <p:pic>
        <p:nvPicPr>
          <p:cNvPr id="26" name="Image 8" descr="犬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4333875"/>
            <a:ext cx="647700" cy="6477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4429125" y="500062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dogs</a:t>
            </a:r>
          </a:p>
        </p:txBody>
      </p:sp>
      <p:sp>
        <p:nvSpPr>
          <p:cNvPr id="28" name=""/>
          <p:cNvSpPr/>
          <p:nvPr/>
        </p:nvSpPr>
        <p:spPr>
          <a:xfrm>
            <a:off x="6200775" y="4076700"/>
            <a:ext cx="5305425" cy="1438275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9" name=""/>
          <p:cNvSpPr txBox="1"/>
          <p:nvPr/>
        </p:nvSpPr>
        <p:spPr>
          <a:xfrm>
            <a:off x="6448425" y="4610100"/>
            <a:ext cx="1638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student</a:t>
            </a:r>
          </a:p>
        </p:txBody>
      </p:sp>
      <p:pic>
        <p:nvPicPr>
          <p:cNvPr id="30" name="Image 9" descr="学生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0550" y="4333875"/>
            <a:ext cx="647700" cy="647700"/>
          </a:xfrm>
          <a:prstGeom prst="rect">
            <a:avLst/>
          </a:prstGeom>
        </p:spPr>
      </p:pic>
      <p:sp>
        <p:nvSpPr>
          <p:cNvPr id="31" name=""/>
          <p:cNvSpPr txBox="1"/>
          <p:nvPr/>
        </p:nvSpPr>
        <p:spPr>
          <a:xfrm>
            <a:off x="7934325" y="500062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one student</a:t>
            </a:r>
          </a:p>
        </p:txBody>
      </p:sp>
      <p:pic>
        <p:nvPicPr>
          <p:cNvPr id="32" name="Image 10" descr="学生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4550" y="4333875"/>
            <a:ext cx="647700" cy="647700"/>
          </a:xfrm>
          <a:prstGeom prst="rect">
            <a:avLst/>
          </a:prstGeom>
        </p:spPr>
      </p:pic>
      <p:pic>
        <p:nvPicPr>
          <p:cNvPr id="33" name="Image 11" descr="学生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1300" y="4333875"/>
            <a:ext cx="647700" cy="647700"/>
          </a:xfrm>
          <a:prstGeom prst="rect">
            <a:avLst/>
          </a:prstGeom>
        </p:spPr>
      </p:pic>
      <p:sp>
        <p:nvSpPr>
          <p:cNvPr id="34" name=""/>
          <p:cNvSpPr txBox="1"/>
          <p:nvPr/>
        </p:nvSpPr>
        <p:spPr>
          <a:xfrm>
            <a:off x="9734550" y="500062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A5270"/>
                </a:solidFill>
                <a:latin typeface="DM Sans"/>
                <a:ea typeface="DM Sans"/>
              </a:rPr>
              <a:t>two students</a:t>
            </a:r>
          </a:p>
        </p:txBody>
      </p:sp>
      <p:sp>
        <p:nvSpPr>
          <p:cNvPr id="35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6" name=""/>
          <p:cNvSpPr/>
          <p:nvPr/>
        </p:nvSpPr>
        <p:spPr>
          <a:xfrm>
            <a:off x="933450" y="5895975"/>
            <a:ext cx="130492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7" name=""/>
          <p:cNvSpPr txBox="1"/>
          <p:nvPr/>
        </p:nvSpPr>
        <p:spPr>
          <a:xfrm>
            <a:off x="1104900" y="5953125"/>
            <a:ext cx="14478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1つだけなら</a:t>
            </a:r>
          </a:p>
        </p:txBody>
      </p:sp>
      <p:sp>
        <p:nvSpPr>
          <p:cNvPr id="38" name=""/>
          <p:cNvSpPr txBox="1"/>
          <p:nvPr/>
        </p:nvSpPr>
        <p:spPr>
          <a:xfrm>
            <a:off x="2390775" y="5924550"/>
            <a:ext cx="56007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を使える：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book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an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apple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dog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1628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81075"/>
            <a:ext cx="21145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NEXT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・</a:t>
            </a:r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 </a:t>
            </a:r>
            <a:pPr/>
            <a:r>
              <a:rPr sz="1200" b="1">
                <a:solidFill>
                  <a:srgbClr val="E8461E"/>
                </a:solidFill>
                <a:latin typeface="Noto Sans JP"/>
                <a:ea typeface="Noto Sans JP"/>
              </a:rPr>
              <a:t>次回予告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200150"/>
            <a:ext cx="75723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数えられない名詞（不可算名詞）</a:t>
            </a:r>
          </a:p>
        </p:txBody>
      </p:sp>
      <p:sp>
        <p:nvSpPr>
          <p:cNvPr id="6" name=""/>
          <p:cNvSpPr/>
          <p:nvPr/>
        </p:nvSpPr>
        <p:spPr>
          <a:xfrm>
            <a:off x="685800" y="1933575"/>
            <a:ext cx="85725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7" name=""/>
          <p:cNvSpPr txBox="1"/>
          <p:nvPr/>
        </p:nvSpPr>
        <p:spPr>
          <a:xfrm>
            <a:off x="857250" y="1990725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ルール</a:t>
            </a:r>
          </a:p>
        </p:txBody>
      </p:sp>
      <p:sp>
        <p:nvSpPr>
          <p:cNvPr id="8" name=""/>
          <p:cNvSpPr txBox="1"/>
          <p:nvPr/>
        </p:nvSpPr>
        <p:spPr>
          <a:xfrm>
            <a:off x="1676400" y="1943100"/>
            <a:ext cx="8020050" cy="3619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1つ、2つ…とそのまま数えられない → </a:t>
            </a:r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 は使えない</a:t>
            </a:r>
          </a:p>
        </p:txBody>
      </p:sp>
      <p:sp>
        <p:nvSpPr>
          <p:cNvPr id="9" name=""/>
          <p:cNvSpPr/>
          <p:nvPr/>
        </p:nvSpPr>
        <p:spPr>
          <a:xfrm>
            <a:off x="685800" y="2514600"/>
            <a:ext cx="3457575" cy="392430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/>
          <p:nvPr/>
        </p:nvSpPr>
        <p:spPr>
          <a:xfrm>
            <a:off x="933450" y="2724150"/>
            <a:ext cx="2962275" cy="1771650"/>
          </a:xfrm>
          <a:prstGeom prst="roundRect">
            <a:avLst>
              <a:gd name="adj" fmla="val 10753"/>
            </a:avLst>
          </a:prstGeom>
          <a:solidFill>
            <a:srgbClr val="DDEFFC"/>
          </a:solidFill>
          <a:ln/>
        </p:spPr>
      </p:sp>
      <p:pic>
        <p:nvPicPr>
          <p:cNvPr id="11" name="Image 0" descr="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800350"/>
            <a:ext cx="1619250" cy="161925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1819275" y="4629150"/>
            <a:ext cx="170497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water</a:t>
            </a:r>
          </a:p>
        </p:txBody>
      </p:sp>
      <p:sp>
        <p:nvSpPr>
          <p:cNvPr id="13" name=""/>
          <p:cNvSpPr txBox="1"/>
          <p:nvPr/>
        </p:nvSpPr>
        <p:spPr>
          <a:xfrm>
            <a:off x="2314575" y="5219700"/>
            <a:ext cx="561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水</a:t>
            </a:r>
          </a:p>
        </p:txBody>
      </p:sp>
      <p:sp>
        <p:nvSpPr>
          <p:cNvPr id="14" name=""/>
          <p:cNvSpPr/>
          <p:nvPr/>
        </p:nvSpPr>
        <p:spPr>
          <a:xfrm>
            <a:off x="1676400" y="5753100"/>
            <a:ext cx="1466850" cy="438150"/>
          </a:xfrm>
          <a:prstGeom prst="roundRect">
            <a:avLst>
              <a:gd name="adj" fmla="val 30435"/>
            </a:avLst>
          </a:prstGeom>
          <a:solidFill>
            <a:srgbClr val="F3F5F9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866900" y="5810250"/>
            <a:ext cx="1590675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×</a:t>
            </a:r>
            <a:pPr/>
            <a:r>
              <a:rPr sz="1950" b="1">
                <a:solidFill>
                  <a:srgbClr val="8A90A8"/>
                </a:solidFill>
                <a:latin typeface="DM Sans"/>
                <a:ea typeface="DM Sans"/>
              </a:rPr>
              <a:t> a water</a:t>
            </a:r>
          </a:p>
        </p:txBody>
      </p:sp>
      <p:sp>
        <p:nvSpPr>
          <p:cNvPr id="16" name=""/>
          <p:cNvSpPr/>
          <p:nvPr/>
        </p:nvSpPr>
        <p:spPr>
          <a:xfrm>
            <a:off x="4371975" y="2514600"/>
            <a:ext cx="3457575" cy="392430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7" name=""/>
          <p:cNvSpPr/>
          <p:nvPr/>
        </p:nvSpPr>
        <p:spPr>
          <a:xfrm>
            <a:off x="4619625" y="2724150"/>
            <a:ext cx="2962275" cy="1771650"/>
          </a:xfrm>
          <a:prstGeom prst="roundRect">
            <a:avLst>
              <a:gd name="adj" fmla="val 10753"/>
            </a:avLst>
          </a:prstGeom>
          <a:solidFill>
            <a:srgbClr val="FFE4EC"/>
          </a:solidFill>
          <a:ln/>
        </p:spPr>
      </p:sp>
      <p:pic>
        <p:nvPicPr>
          <p:cNvPr id="18" name="Image 1" descr="愛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2800350"/>
            <a:ext cx="1619250" cy="161925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5667375" y="4629150"/>
            <a:ext cx="13144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love</a:t>
            </a:r>
          </a:p>
        </p:txBody>
      </p:sp>
      <p:sp>
        <p:nvSpPr>
          <p:cNvPr id="20" name=""/>
          <p:cNvSpPr txBox="1"/>
          <p:nvPr/>
        </p:nvSpPr>
        <p:spPr>
          <a:xfrm>
            <a:off x="6000750" y="5219700"/>
            <a:ext cx="561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愛</a:t>
            </a:r>
          </a:p>
        </p:txBody>
      </p:sp>
      <p:sp>
        <p:nvSpPr>
          <p:cNvPr id="21" name=""/>
          <p:cNvSpPr/>
          <p:nvPr/>
        </p:nvSpPr>
        <p:spPr>
          <a:xfrm>
            <a:off x="5457825" y="5753100"/>
            <a:ext cx="1276350" cy="438150"/>
          </a:xfrm>
          <a:prstGeom prst="roundRect">
            <a:avLst>
              <a:gd name="adj" fmla="val 30435"/>
            </a:avLst>
          </a:prstGeom>
          <a:solidFill>
            <a:srgbClr val="F3F5F9"/>
          </a:solidFill>
          <a:ln/>
        </p:spPr>
      </p:sp>
      <p:sp>
        <p:nvSpPr>
          <p:cNvPr id="22" name=""/>
          <p:cNvSpPr txBox="1"/>
          <p:nvPr/>
        </p:nvSpPr>
        <p:spPr>
          <a:xfrm>
            <a:off x="5648325" y="5810250"/>
            <a:ext cx="13716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×</a:t>
            </a:r>
            <a:pPr/>
            <a:r>
              <a:rPr sz="1950" b="1">
                <a:solidFill>
                  <a:srgbClr val="8A90A8"/>
                </a:solidFill>
                <a:latin typeface="DM Sans"/>
                <a:ea typeface="DM Sans"/>
              </a:rPr>
              <a:t> a love</a:t>
            </a:r>
          </a:p>
        </p:txBody>
      </p:sp>
      <p:sp>
        <p:nvSpPr>
          <p:cNvPr id="23" name=""/>
          <p:cNvSpPr/>
          <p:nvPr/>
        </p:nvSpPr>
        <p:spPr>
          <a:xfrm>
            <a:off x="8048625" y="2514600"/>
            <a:ext cx="3457575" cy="3924300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/>
          <p:nvPr/>
        </p:nvSpPr>
        <p:spPr>
          <a:xfrm>
            <a:off x="8296275" y="2724150"/>
            <a:ext cx="2962275" cy="1771650"/>
          </a:xfrm>
          <a:prstGeom prst="roundRect">
            <a:avLst>
              <a:gd name="adj" fmla="val 10753"/>
            </a:avLst>
          </a:prstGeom>
          <a:solidFill>
            <a:srgbClr val="FFF2C9"/>
          </a:solidFill>
          <a:ln/>
        </p:spPr>
      </p:sp>
      <p:pic>
        <p:nvPicPr>
          <p:cNvPr id="25" name="Image 2" descr="幸せ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2800350"/>
            <a:ext cx="1619250" cy="1619250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8715375" y="4629150"/>
            <a:ext cx="27813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happiness</a:t>
            </a:r>
          </a:p>
        </p:txBody>
      </p:sp>
      <p:sp>
        <p:nvSpPr>
          <p:cNvPr id="27" name=""/>
          <p:cNvSpPr txBox="1"/>
          <p:nvPr/>
        </p:nvSpPr>
        <p:spPr>
          <a:xfrm>
            <a:off x="9591675" y="5219700"/>
            <a:ext cx="781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幸せ</a:t>
            </a:r>
          </a:p>
        </p:txBody>
      </p:sp>
      <p:sp>
        <p:nvSpPr>
          <p:cNvPr id="28" name=""/>
          <p:cNvSpPr/>
          <p:nvPr/>
        </p:nvSpPr>
        <p:spPr>
          <a:xfrm>
            <a:off x="8763000" y="5753100"/>
            <a:ext cx="2038350" cy="438150"/>
          </a:xfrm>
          <a:prstGeom prst="roundRect">
            <a:avLst>
              <a:gd name="adj" fmla="val 30435"/>
            </a:avLst>
          </a:prstGeom>
          <a:solidFill>
            <a:srgbClr val="F3F5F9"/>
          </a:solidFill>
          <a:ln/>
        </p:spPr>
      </p:sp>
      <p:sp>
        <p:nvSpPr>
          <p:cNvPr id="29" name=""/>
          <p:cNvSpPr txBox="1"/>
          <p:nvPr/>
        </p:nvSpPr>
        <p:spPr>
          <a:xfrm>
            <a:off x="8953500" y="5810250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E8461E"/>
                </a:solidFill>
                <a:latin typeface="DM Sans"/>
                <a:ea typeface="DM Sans"/>
              </a:rPr>
              <a:t>×</a:t>
            </a:r>
            <a:pPr/>
            <a:r>
              <a:rPr sz="1950" b="1">
                <a:solidFill>
                  <a:srgbClr val="8A90A8"/>
                </a:solidFill>
                <a:latin typeface="DM Sans"/>
                <a:ea typeface="DM Sans"/>
              </a:rPr>
              <a:t> a happiness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3" name=""/>
          <p:cNvSpPr txBox="1"/>
          <p:nvPr/>
        </p:nvSpPr>
        <p:spPr>
          <a:xfrm>
            <a:off x="1181100" y="1457325"/>
            <a:ext cx="11620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DM Sans"/>
                <a:ea typeface="DM Sans"/>
              </a:rPr>
              <a:t>NEXT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1714500"/>
            <a:ext cx="3362325" cy="12668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6900" b="1">
                <a:solidFill>
                  <a:srgbClr val="1C2340"/>
                </a:solidFill>
                <a:latin typeface="Noto Sans JP"/>
                <a:ea typeface="Noto Sans JP"/>
              </a:rPr>
              <a:t>続きは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2771775"/>
            <a:ext cx="7400925" cy="12668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6900" b="1">
                <a:solidFill>
                  <a:srgbClr val="1C2340"/>
                </a:solidFill>
                <a:latin typeface="Noto Sans JP"/>
                <a:ea typeface="Noto Sans JP"/>
              </a:rPr>
              <a:t>次回の動画で！</a:t>
            </a:r>
          </a:p>
        </p:txBody>
      </p:sp>
      <p:sp>
        <p:nvSpPr>
          <p:cNvPr id="6" name=""/>
          <p:cNvSpPr txBox="1"/>
          <p:nvPr/>
        </p:nvSpPr>
        <p:spPr>
          <a:xfrm>
            <a:off x="1181100" y="4105275"/>
            <a:ext cx="58864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400" b="1">
                <a:solidFill>
                  <a:srgbClr val="1C2340"/>
                </a:solidFill>
                <a:latin typeface="Noto Sans JP"/>
                <a:ea typeface="Noto Sans JP"/>
              </a:rPr>
              <a:t>数えられる名詞 / 数えられない名詞</a:t>
            </a:r>
          </a:p>
        </p:txBody>
      </p:sp>
      <p:sp>
        <p:nvSpPr>
          <p:cNvPr id="7" name=""/>
          <p:cNvSpPr txBox="1"/>
          <p:nvPr/>
        </p:nvSpPr>
        <p:spPr>
          <a:xfrm>
            <a:off x="1181100" y="4829175"/>
            <a:ext cx="48387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600" b="1">
                <a:solidFill>
                  <a:srgbClr val="C8401A"/>
                </a:solidFill>
                <a:latin typeface="Caveat"/>
                <a:ea typeface="Caveat"/>
              </a:rPr>
              <a:t>Small steps, big changes.</a:t>
            </a:r>
          </a:p>
        </p:txBody>
      </p:sp>
      <p:pic>
        <p:nvPicPr>
          <p:cNvPr id="8" name="Image 0" descr="/home/user/hina-english/matome/a-th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