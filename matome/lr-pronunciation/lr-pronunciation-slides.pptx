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
		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5" Type="http://schemas.openxmlformats.org/officeDocument/2006/relationships/presProps" Target="presProps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419100" y="419100"/>
            <a:ext cx="11353800" cy="6019800"/>
          </a:xfrm>
          <a:prstGeom prst="roundRect">
            <a:avLst>
              <a:gd name="adj" fmla="val 6962"/>
            </a:avLst>
          </a:prstGeom>
          <a:solidFill>
            <a:srgbClr val="FFDCCB"/>
          </a:solidFill>
          <a:ln/>
        </p:spPr>
      </p:sp>
      <p:sp>
        <p:nvSpPr>
          <p:cNvPr id="3" name=""/>
          <p:cNvSpPr txBox="1"/>
          <p:nvPr/>
        </p:nvSpPr>
        <p:spPr>
          <a:xfrm>
            <a:off x="1181100" y="188595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01A"/>
                </a:solidFill>
                <a:latin typeface="Noto Sans JP"/>
                <a:ea typeface="Noto Sans JP"/>
              </a:rPr>
              <a:t>発音解説動画</a:t>
            </a:r>
          </a:p>
        </p:txBody>
      </p:sp>
      <p:sp>
        <p:nvSpPr>
          <p:cNvPr id="4" name=""/>
          <p:cNvSpPr txBox="1"/>
          <p:nvPr/>
        </p:nvSpPr>
        <p:spPr>
          <a:xfrm>
            <a:off x="1181100" y="2000250"/>
            <a:ext cx="5210175" cy="2352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6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1260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126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</a:p>
        </p:txBody>
      </p:sp>
      <p:sp>
        <p:nvSpPr>
          <p:cNvPr id="5" name=""/>
          <p:cNvSpPr txBox="1"/>
          <p:nvPr/>
        </p:nvSpPr>
        <p:spPr>
          <a:xfrm>
            <a:off x="1181100" y="4286250"/>
            <a:ext cx="689610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750" b="1">
                <a:solidFill>
                  <a:srgbClr val="1C2340"/>
                </a:solidFill>
                <a:latin typeface="Noto Sans JP"/>
                <a:ea typeface="Noto Sans JP"/>
              </a:rPr>
              <a:t>舌の位置と、毎日の練習法</a:t>
            </a:r>
          </a:p>
        </p:txBody>
      </p:sp>
      <p:pic>
        <p:nvPicPr>
          <p:cNvPr id="6" name="Image 0" descr="/home/user/hina-english/matome/img/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1809750"/>
            <a:ext cx="32385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65246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が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になってしまうと…？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5286375" cy="3752850"/>
          </a:xfrm>
          <a:prstGeom prst="roundRect">
            <a:avLst>
              <a:gd name="adj" fmla="val 7107"/>
            </a:avLst>
          </a:prstGeom>
          <a:solidFill>
            <a:srgbClr val="DDEFFC"/>
          </a:solidFill>
          <a:ln/>
        </p:spPr>
      </p:sp>
      <p:sp>
        <p:nvSpPr>
          <p:cNvPr id="6" name=""/>
          <p:cNvSpPr txBox="1"/>
          <p:nvPr/>
        </p:nvSpPr>
        <p:spPr>
          <a:xfrm>
            <a:off x="1066800" y="2085975"/>
            <a:ext cx="268605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I love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ice.</a:t>
            </a:r>
          </a:p>
        </p:txBody>
      </p:sp>
      <p:sp>
        <p:nvSpPr>
          <p:cNvPr id="7" name=""/>
          <p:cNvSpPr txBox="1"/>
          <p:nvPr/>
        </p:nvSpPr>
        <p:spPr>
          <a:xfrm>
            <a:off x="1066800" y="2724150"/>
            <a:ext cx="20288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お米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が大好き！</a:t>
            </a:r>
          </a:p>
        </p:txBody>
      </p:sp>
      <p:pic>
        <p:nvPicPr>
          <p:cNvPr id="8" name="Image 0" descr="ごはん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2325" y="3133725"/>
            <a:ext cx="2286000" cy="2286000"/>
          </a:xfrm>
          <a:prstGeom prst="rect">
            <a:avLst/>
          </a:prstGeom>
        </p:spPr>
      </p:pic>
      <p:sp>
        <p:nvSpPr>
          <p:cNvPr id="9" name=""/>
          <p:cNvSpPr/>
          <p:nvPr/>
        </p:nvSpPr>
        <p:spPr>
          <a:xfrm>
            <a:off x="6219825" y="1762125"/>
            <a:ext cx="5286375" cy="3752850"/>
          </a:xfrm>
          <a:prstGeom prst="roundRect">
            <a:avLst>
              <a:gd name="adj" fmla="val 7107"/>
            </a:avLst>
          </a:prstGeom>
          <a:solidFill>
            <a:srgbClr val="FFE4EC"/>
          </a:solidFill>
          <a:ln/>
        </p:spPr>
      </p:sp>
      <p:sp>
        <p:nvSpPr>
          <p:cNvPr id="10" name=""/>
          <p:cNvSpPr txBox="1"/>
          <p:nvPr/>
        </p:nvSpPr>
        <p:spPr>
          <a:xfrm>
            <a:off x="6600825" y="2085975"/>
            <a:ext cx="261937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I love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ice.</a:t>
            </a:r>
          </a:p>
        </p:txBody>
      </p:sp>
      <p:sp>
        <p:nvSpPr>
          <p:cNvPr id="11" name=""/>
          <p:cNvSpPr txBox="1"/>
          <p:nvPr/>
        </p:nvSpPr>
        <p:spPr>
          <a:xfrm>
            <a:off x="6600825" y="272415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シラミ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が大好き！？</a:t>
            </a:r>
          </a:p>
        </p:txBody>
      </p:sp>
      <p:pic>
        <p:nvPicPr>
          <p:cNvPr id="12" name="Image 1" descr="シラ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350" y="3133725"/>
            <a:ext cx="2286000" cy="2286000"/>
          </a:xfrm>
          <a:prstGeom prst="rect">
            <a:avLst/>
          </a:prstGeom>
        </p:spPr>
      </p:pic>
      <p:sp>
        <p:nvSpPr>
          <p:cNvPr id="13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933450" y="5895975"/>
            <a:ext cx="17145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104900" y="5953125"/>
            <a:ext cx="19240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言い分けられると</a:t>
            </a:r>
          </a:p>
        </p:txBody>
      </p:sp>
      <p:sp>
        <p:nvSpPr>
          <p:cNvPr id="16" name=""/>
          <p:cNvSpPr txBox="1"/>
          <p:nvPr/>
        </p:nvSpPr>
        <p:spPr>
          <a:xfrm>
            <a:off x="2800350" y="5934075"/>
            <a:ext cx="56959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話すときに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自信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がつく！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聞き取り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もラクになる！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今日やること</a:t>
            </a:r>
          </a:p>
        </p:txBody>
      </p:sp>
      <p:sp>
        <p:nvSpPr>
          <p:cNvPr id="5" name=""/>
          <p:cNvSpPr/>
          <p:nvPr/>
        </p:nvSpPr>
        <p:spPr>
          <a:xfrm>
            <a:off x="685800" y="2152650"/>
            <a:ext cx="10820400" cy="118110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</p:spPr>
      </p:sp>
      <p:sp>
        <p:nvSpPr>
          <p:cNvPr id="6" name=""/>
          <p:cNvSpPr/>
          <p:nvPr/>
        </p:nvSpPr>
        <p:spPr>
          <a:xfrm>
            <a:off x="1104900" y="2562225"/>
            <a:ext cx="962025" cy="35242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1257300" y="2619375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STEP 1</a:t>
            </a:r>
          </a:p>
        </p:txBody>
      </p:sp>
      <p:sp>
        <p:nvSpPr>
          <p:cNvPr id="8" name=""/>
          <p:cNvSpPr txBox="1"/>
          <p:nvPr/>
        </p:nvSpPr>
        <p:spPr>
          <a:xfrm>
            <a:off x="2352675" y="2476500"/>
            <a:ext cx="36480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なんで難しいの？</a:t>
            </a:r>
          </a:p>
        </p:txBody>
      </p:sp>
      <p:sp>
        <p:nvSpPr>
          <p:cNvPr id="9" name=""/>
          <p:cNvSpPr txBox="1"/>
          <p:nvPr/>
        </p:nvSpPr>
        <p:spPr>
          <a:xfrm>
            <a:off x="8572500" y="2571750"/>
            <a:ext cx="32289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日本語の「ら」との違い</a:t>
            </a:r>
          </a:p>
        </p:txBody>
      </p:sp>
      <p:sp>
        <p:nvSpPr>
          <p:cNvPr id="10" name=""/>
          <p:cNvSpPr/>
          <p:nvPr/>
        </p:nvSpPr>
        <p:spPr>
          <a:xfrm>
            <a:off x="685800" y="3505200"/>
            <a:ext cx="10820400" cy="118110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</p:spPr>
      </p:sp>
      <p:sp>
        <p:nvSpPr>
          <p:cNvPr id="11" name=""/>
          <p:cNvSpPr/>
          <p:nvPr/>
        </p:nvSpPr>
        <p:spPr>
          <a:xfrm>
            <a:off x="1104900" y="3914775"/>
            <a:ext cx="1000125" cy="35242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12" name=""/>
          <p:cNvSpPr txBox="1"/>
          <p:nvPr/>
        </p:nvSpPr>
        <p:spPr>
          <a:xfrm>
            <a:off x="1257300" y="3971925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STEP 2</a:t>
            </a:r>
          </a:p>
        </p:txBody>
      </p:sp>
      <p:sp>
        <p:nvSpPr>
          <p:cNvPr id="13" name=""/>
          <p:cNvSpPr txBox="1"/>
          <p:nvPr/>
        </p:nvSpPr>
        <p:spPr>
          <a:xfrm>
            <a:off x="2390775" y="38290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28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 の舌の位置</a:t>
            </a:r>
          </a:p>
        </p:txBody>
      </p:sp>
      <p:sp>
        <p:nvSpPr>
          <p:cNvPr id="14" name=""/>
          <p:cNvSpPr txBox="1"/>
          <p:nvPr/>
        </p:nvSpPr>
        <p:spPr>
          <a:xfrm>
            <a:off x="8582025" y="3924300"/>
            <a:ext cx="32289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一緒に声に出してみよう</a:t>
            </a:r>
          </a:p>
        </p:txBody>
      </p:sp>
      <p:sp>
        <p:nvSpPr>
          <p:cNvPr id="15" name=""/>
          <p:cNvSpPr/>
          <p:nvPr/>
        </p:nvSpPr>
        <p:spPr>
          <a:xfrm>
            <a:off x="685800" y="4857750"/>
            <a:ext cx="10820400" cy="118110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1104900" y="5267325"/>
            <a:ext cx="1000125" cy="35242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17" name=""/>
          <p:cNvSpPr txBox="1"/>
          <p:nvPr/>
        </p:nvSpPr>
        <p:spPr>
          <a:xfrm>
            <a:off x="1257300" y="532447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STEP 3</a:t>
            </a:r>
          </a:p>
        </p:txBody>
      </p:sp>
      <p:sp>
        <p:nvSpPr>
          <p:cNvPr id="18" name=""/>
          <p:cNvSpPr txBox="1"/>
          <p:nvPr/>
        </p:nvSpPr>
        <p:spPr>
          <a:xfrm>
            <a:off x="2390775" y="5181600"/>
            <a:ext cx="47529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毎日5分の練習メニュー</a:t>
            </a:r>
          </a:p>
        </p:txBody>
      </p:sp>
      <p:sp>
        <p:nvSpPr>
          <p:cNvPr id="19" name=""/>
          <p:cNvSpPr txBox="1"/>
          <p:nvPr/>
        </p:nvSpPr>
        <p:spPr>
          <a:xfrm>
            <a:off x="8820150" y="5276850"/>
            <a:ext cx="29527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スクショして使ってね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70675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「らりるれろ」と言ってみよう</a:t>
            </a:r>
          </a:p>
        </p:txBody>
      </p:sp>
      <p:sp>
        <p:nvSpPr>
          <p:cNvPr id="5" name=""/>
          <p:cNvSpPr/>
          <p:nvPr/>
        </p:nvSpPr>
        <p:spPr>
          <a:xfrm>
            <a:off x="685800" y="1724025"/>
            <a:ext cx="10820400" cy="4714875"/>
          </a:xfrm>
          <a:prstGeom prst="roundRect">
            <a:avLst>
              <a:gd name="adj" fmla="val 5657"/>
            </a:avLst>
          </a:prstGeom>
          <a:solidFill>
            <a:srgbClr val="FFFFFF"/>
          </a:solidFill>
          <a:ln/>
        </p:spPr>
      </p:sp>
      <p:sp>
        <p:nvSpPr>
          <p:cNvPr id="6" name=""/>
          <p:cNvSpPr txBox="1"/>
          <p:nvPr/>
        </p:nvSpPr>
        <p:spPr>
          <a:xfrm>
            <a:off x="2686050" y="2819400"/>
            <a:ext cx="8191500" cy="1762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9600" b="1">
                <a:solidFill>
                  <a:srgbClr val="1C2340"/>
                </a:solidFill>
                <a:latin typeface="Noto Sans JP"/>
                <a:ea typeface="Noto Sans JP"/>
              </a:rPr>
              <a:t>らりるれろ</a:t>
            </a:r>
          </a:p>
        </p:txBody>
      </p:sp>
      <p:sp>
        <p:nvSpPr>
          <p:cNvPr id="7" name=""/>
          <p:cNvSpPr txBox="1"/>
          <p:nvPr/>
        </p:nvSpPr>
        <p:spPr>
          <a:xfrm>
            <a:off x="4705350" y="4638675"/>
            <a:ext cx="4886325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Noto Sans JP"/>
                <a:ea typeface="Noto Sans JP"/>
              </a:rPr>
              <a:t>舌の先は、どう動いている？</a:t>
            </a:r>
          </a:p>
        </p:txBody>
      </p:sp>
      <p:sp>
        <p:nvSpPr>
          <p:cNvPr id="8" name=""/>
          <p:cNvSpPr/>
          <p:nvPr/>
        </p:nvSpPr>
        <p:spPr>
          <a:xfrm>
            <a:off x="3524250" y="4667250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9" name=""/>
          <p:cNvSpPr txBox="1"/>
          <p:nvPr/>
        </p:nvSpPr>
        <p:spPr>
          <a:xfrm>
            <a:off x="3695700" y="4724400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チェック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90201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日本語の「ら」は、舌先で一瞬はじく音</a:t>
            </a:r>
          </a:p>
        </p:txBody>
      </p:sp>
      <p:sp>
        <p:nvSpPr>
          <p:cNvPr id="5" name=""/>
          <p:cNvSpPr/>
          <p:nvPr/>
        </p:nvSpPr>
        <p:spPr>
          <a:xfrm>
            <a:off x="685800" y="1724025"/>
            <a:ext cx="5286375" cy="4714875"/>
          </a:xfrm>
          <a:prstGeom prst="roundRect">
            <a:avLst>
              <a:gd name="adj" fmla="val 5657"/>
            </a:avLst>
          </a:prstGeom>
          <a:solidFill>
            <a:srgbClr val="FFF2C9"/>
          </a:solidFill>
          <a:ln/>
        </p:spPr>
      </p:sp>
      <p:sp>
        <p:nvSpPr>
          <p:cNvPr id="6" name=""/>
          <p:cNvSpPr txBox="1"/>
          <p:nvPr/>
        </p:nvSpPr>
        <p:spPr>
          <a:xfrm>
            <a:off x="1066800" y="2838450"/>
            <a:ext cx="332422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C2340"/>
                </a:solidFill>
                <a:latin typeface="Noto Sans JP"/>
                <a:ea typeface="Noto Sans JP"/>
              </a:rPr>
              <a:t>日本語の「ら」＝</a:t>
            </a:r>
          </a:p>
        </p:txBody>
      </p:sp>
      <p:sp>
        <p:nvSpPr>
          <p:cNvPr id="7" name=""/>
          <p:cNvSpPr txBox="1"/>
          <p:nvPr/>
        </p:nvSpPr>
        <p:spPr>
          <a:xfrm>
            <a:off x="1066800" y="3400425"/>
            <a:ext cx="2867025" cy="628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Noto Sans JP"/>
                <a:ea typeface="Noto Sans JP"/>
              </a:rPr>
              <a:t>舌先で一瞬</a:t>
            </a:r>
          </a:p>
        </p:txBody>
      </p:sp>
      <p:sp>
        <p:nvSpPr>
          <p:cNvPr id="8" name=""/>
          <p:cNvSpPr txBox="1"/>
          <p:nvPr/>
        </p:nvSpPr>
        <p:spPr>
          <a:xfrm>
            <a:off x="1066800" y="3990975"/>
            <a:ext cx="2867025" cy="628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highlight>
                  <a:srgbClr val="FFD9C9"/>
                </a:highlight>
                <a:latin typeface="Noto Sans JP"/>
                <a:ea typeface="Noto Sans JP"/>
              </a:rPr>
              <a:t>「はじく」</a:t>
            </a:r>
          </a:p>
        </p:txBody>
      </p:sp>
      <p:sp>
        <p:nvSpPr>
          <p:cNvPr id="9" name=""/>
          <p:cNvSpPr txBox="1"/>
          <p:nvPr/>
        </p:nvSpPr>
        <p:spPr>
          <a:xfrm>
            <a:off x="1066800" y="4714875"/>
            <a:ext cx="41719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上の歯ぐきに「ペッ」と当たって、</a:t>
            </a:r>
          </a:p>
        </p:txBody>
      </p:sp>
      <p:sp>
        <p:nvSpPr>
          <p:cNvPr id="10" name=""/>
          <p:cNvSpPr txBox="1"/>
          <p:nvPr/>
        </p:nvSpPr>
        <p:spPr>
          <a:xfrm>
            <a:off x="1066800" y="5019675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すぐ離れる</a:t>
            </a:r>
          </a:p>
        </p:txBody>
      </p:sp>
      <p:sp>
        <p:nvSpPr>
          <p:cNvPr id="11" name=""/>
          <p:cNvSpPr/>
          <p:nvPr/>
        </p:nvSpPr>
        <p:spPr>
          <a:xfrm>
            <a:off x="6219825" y="1724025"/>
            <a:ext cx="5286375" cy="4714875"/>
          </a:xfrm>
          <a:prstGeom prst="roundRect">
            <a:avLst>
              <a:gd name="adj" fmla="val 5657"/>
            </a:avLst>
          </a:prstGeom>
          <a:solidFill>
            <a:srgbClr val="FFFFFF"/>
          </a:solidFill>
          <a:ln/>
        </p:spPr>
      </p:sp>
      <p:pic>
        <p:nvPicPr>
          <p:cNvPr id="12" name="Image 0" descr="舌先が上の歯ぐきを一瞬はじく様子の断面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8025" y="2276475"/>
            <a:ext cx="36195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84772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日本語の「ら」は、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でも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でもない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3467100" cy="3771900"/>
          </a:xfrm>
          <a:prstGeom prst="roundRect">
            <a:avLst>
              <a:gd name="adj" fmla="val 7692"/>
            </a:avLst>
          </a:prstGeom>
          <a:solidFill>
            <a:srgbClr val="FFE8DC"/>
          </a:solidFill>
          <a:ln/>
        </p:spPr>
      </p:sp>
      <p:sp>
        <p:nvSpPr>
          <p:cNvPr id="6" name=""/>
          <p:cNvSpPr/>
          <p:nvPr/>
        </p:nvSpPr>
        <p:spPr>
          <a:xfrm>
            <a:off x="914400" y="195262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E846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942975" y="2047875"/>
            <a:ext cx="552450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550" b="1">
                <a:solidFill>
                  <a:srgbClr val="FFFFFF"/>
                </a:solidFill>
                <a:latin typeface="DM Sans"/>
                <a:ea typeface="DM Sans"/>
              </a:rPr>
              <a:t>L</a:t>
            </a:r>
          </a:p>
        </p:txBody>
      </p:sp>
      <p:sp>
        <p:nvSpPr>
          <p:cNvPr id="8" name=""/>
          <p:cNvSpPr txBox="1"/>
          <p:nvPr/>
        </p:nvSpPr>
        <p:spPr>
          <a:xfrm>
            <a:off x="1676400" y="2000250"/>
            <a:ext cx="15906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つける</a:t>
            </a:r>
          </a:p>
        </p:txBody>
      </p:sp>
      <p:pic>
        <p:nvPicPr>
          <p:cNvPr id="9" name="Image 0" descr="L の舌の位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225" y="2638425"/>
            <a:ext cx="2000250" cy="200025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1562100" y="4714875"/>
            <a:ext cx="23145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舌先を上の歯の裏に</a:t>
            </a:r>
          </a:p>
        </p:txBody>
      </p:sp>
      <p:sp>
        <p:nvSpPr>
          <p:cNvPr id="11" name=""/>
          <p:cNvSpPr txBox="1"/>
          <p:nvPr/>
        </p:nvSpPr>
        <p:spPr>
          <a:xfrm>
            <a:off x="1476375" y="5000625"/>
            <a:ext cx="18764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しっかりつける</a:t>
            </a:r>
          </a:p>
        </p:txBody>
      </p:sp>
      <p:sp>
        <p:nvSpPr>
          <p:cNvPr id="12" name=""/>
          <p:cNvSpPr/>
          <p:nvPr/>
        </p:nvSpPr>
        <p:spPr>
          <a:xfrm>
            <a:off x="4362450" y="1762125"/>
            <a:ext cx="3467100" cy="3771900"/>
          </a:xfrm>
          <a:prstGeom prst="roundRect">
            <a:avLst>
              <a:gd name="adj" fmla="val 7692"/>
            </a:avLst>
          </a:prstGeom>
          <a:solidFill>
            <a:srgbClr val="F3F7FC"/>
          </a:solidFill>
          <a:ln w="19050">
            <a:solidFill>
              <a:srgbClr val="D6E2F0"/>
            </a:solidFill>
            <a:prstDash val="dash"/>
          </a:ln>
        </p:spPr>
      </p:sp>
      <p:sp>
        <p:nvSpPr>
          <p:cNvPr id="13" name=""/>
          <p:cNvSpPr/>
          <p:nvPr/>
        </p:nvSpPr>
        <p:spPr>
          <a:xfrm>
            <a:off x="4610100" y="197167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B7BCCB"/>
          </a:solidFill>
          <a:ln/>
        </p:spPr>
      </p:sp>
      <p:sp>
        <p:nvSpPr>
          <p:cNvPr id="14" name=""/>
          <p:cNvSpPr txBox="1"/>
          <p:nvPr/>
        </p:nvSpPr>
        <p:spPr>
          <a:xfrm>
            <a:off x="4552950" y="2047875"/>
            <a:ext cx="7143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550" b="1">
                <a:solidFill>
                  <a:srgbClr val="8A90A8"/>
                </a:solidFill>
                <a:latin typeface="Noto Sans JP"/>
                <a:ea typeface="Noto Sans JP"/>
              </a:rPr>
              <a:t>ら</a:t>
            </a:r>
          </a:p>
        </p:txBody>
      </p:sp>
      <p:sp>
        <p:nvSpPr>
          <p:cNvPr id="15" name=""/>
          <p:cNvSpPr txBox="1"/>
          <p:nvPr/>
        </p:nvSpPr>
        <p:spPr>
          <a:xfrm>
            <a:off x="5372100" y="2019300"/>
            <a:ext cx="15906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はじく</a:t>
            </a:r>
          </a:p>
        </p:txBody>
      </p:sp>
      <p:pic>
        <p:nvPicPr>
          <p:cNvPr id="16" name="Image 1" descr="ら の舌の動き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5" y="2657475"/>
            <a:ext cx="2000250" cy="200025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5153025" y="4733925"/>
            <a:ext cx="25146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舌先で一瞬はじいて、</a:t>
            </a:r>
          </a:p>
        </p:txBody>
      </p:sp>
      <p:sp>
        <p:nvSpPr>
          <p:cNvPr id="18" name=""/>
          <p:cNvSpPr txBox="1"/>
          <p:nvPr/>
        </p:nvSpPr>
        <p:spPr>
          <a:xfrm>
            <a:off x="5381625" y="5019675"/>
            <a:ext cx="14382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すぐ離れる</a:t>
            </a:r>
          </a:p>
        </p:txBody>
      </p:sp>
      <p:sp>
        <p:nvSpPr>
          <p:cNvPr id="19" name=""/>
          <p:cNvSpPr/>
          <p:nvPr/>
        </p:nvSpPr>
        <p:spPr>
          <a:xfrm>
            <a:off x="8039100" y="1762125"/>
            <a:ext cx="3467100" cy="3771900"/>
          </a:xfrm>
          <a:prstGeom prst="roundRect">
            <a:avLst>
              <a:gd name="adj" fmla="val 7692"/>
            </a:avLst>
          </a:prstGeom>
          <a:solidFill>
            <a:srgbClr val="DDEFFC"/>
          </a:solidFill>
          <a:ln/>
        </p:spPr>
      </p:sp>
      <p:sp>
        <p:nvSpPr>
          <p:cNvPr id="20" name=""/>
          <p:cNvSpPr/>
          <p:nvPr/>
        </p:nvSpPr>
        <p:spPr>
          <a:xfrm>
            <a:off x="8267700" y="195262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2F86CF"/>
          </a:solidFill>
          <a:ln/>
        </p:spPr>
      </p:sp>
      <p:sp>
        <p:nvSpPr>
          <p:cNvPr id="21" name=""/>
          <p:cNvSpPr txBox="1"/>
          <p:nvPr/>
        </p:nvSpPr>
        <p:spPr>
          <a:xfrm>
            <a:off x="8286750" y="2047875"/>
            <a:ext cx="581025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550" b="1">
                <a:solidFill>
                  <a:srgbClr val="FFFFFF"/>
                </a:solidFill>
                <a:latin typeface="DM Sans"/>
                <a:ea typeface="DM Sans"/>
              </a:rPr>
              <a:t>R</a:t>
            </a:r>
          </a:p>
        </p:txBody>
      </p:sp>
      <p:sp>
        <p:nvSpPr>
          <p:cNvPr id="22" name=""/>
          <p:cNvSpPr txBox="1"/>
          <p:nvPr/>
        </p:nvSpPr>
        <p:spPr>
          <a:xfrm>
            <a:off x="9029700" y="2000250"/>
            <a:ext cx="20097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つけない</a:t>
            </a:r>
          </a:p>
        </p:txBody>
      </p:sp>
      <p:pic>
        <p:nvPicPr>
          <p:cNvPr id="23" name="Image 2" descr="R の舌の位置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525" y="2638425"/>
            <a:ext cx="2000250" cy="2000250"/>
          </a:xfrm>
          <a:prstGeom prst="rect">
            <a:avLst/>
          </a:prstGeom>
        </p:spPr>
      </p:pic>
      <p:sp>
        <p:nvSpPr>
          <p:cNvPr id="24" name=""/>
          <p:cNvSpPr txBox="1"/>
          <p:nvPr/>
        </p:nvSpPr>
        <p:spPr>
          <a:xfrm>
            <a:off x="8734425" y="4714875"/>
            <a:ext cx="27336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舌先はどこにもつけない</a:t>
            </a:r>
          </a:p>
        </p:txBody>
      </p:sp>
      <p:sp>
        <p:nvSpPr>
          <p:cNvPr id="25" name=""/>
          <p:cNvSpPr txBox="1"/>
          <p:nvPr/>
        </p:nvSpPr>
        <p:spPr>
          <a:xfrm>
            <a:off x="8505825" y="5000625"/>
            <a:ext cx="25241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（奥に引いて丸める）</a:t>
            </a:r>
          </a:p>
        </p:txBody>
      </p:sp>
      <p:sp>
        <p:nvSpPr>
          <p:cNvPr id="26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27" name=""/>
          <p:cNvSpPr/>
          <p:nvPr/>
        </p:nvSpPr>
        <p:spPr>
          <a:xfrm>
            <a:off x="933450" y="58959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28" name=""/>
          <p:cNvSpPr txBox="1"/>
          <p:nvPr/>
        </p:nvSpPr>
        <p:spPr>
          <a:xfrm>
            <a:off x="1104900" y="59531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やること</a:t>
            </a:r>
          </a:p>
        </p:txBody>
      </p:sp>
      <p:sp>
        <p:nvSpPr>
          <p:cNvPr id="29" name=""/>
          <p:cNvSpPr txBox="1"/>
          <p:nvPr/>
        </p:nvSpPr>
        <p:spPr>
          <a:xfrm>
            <a:off x="2114550" y="5934075"/>
            <a:ext cx="79724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「はじく」をやめて、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「つける」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と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「つけない」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の2つを覚えれば OK！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287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708660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大事な前提：発音は「筋トレ」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1885950"/>
            <a:ext cx="82677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舌は筋肉のかたまり。日本語の「ら」の動きが、もう体にしみついている</a:t>
            </a:r>
          </a:p>
        </p:txBody>
      </p:sp>
      <p:sp>
        <p:nvSpPr>
          <p:cNvPr id="7" name=""/>
          <p:cNvSpPr/>
          <p:nvPr/>
        </p:nvSpPr>
        <p:spPr>
          <a:xfrm>
            <a:off x="685800" y="2362200"/>
            <a:ext cx="10820400" cy="1485900"/>
          </a:xfrm>
          <a:prstGeom prst="roundRect">
            <a:avLst>
              <a:gd name="adj" fmla="val 17949"/>
            </a:avLst>
          </a:prstGeom>
          <a:solidFill>
            <a:srgbClr val="FFE8DC"/>
          </a:solidFill>
          <a:ln/>
        </p:spPr>
      </p:sp>
      <p:pic>
        <p:nvPicPr>
          <p:cNvPr id="8" name="Image 0" descr="ダンベ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76500"/>
            <a:ext cx="1257300" cy="12573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2343150" y="2876550"/>
            <a:ext cx="145732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C2340"/>
                </a:solidFill>
                <a:latin typeface="Noto Sans JP"/>
                <a:ea typeface="Noto Sans JP"/>
              </a:rPr>
              <a:t>筋トレ</a:t>
            </a:r>
          </a:p>
        </p:txBody>
      </p:sp>
      <p:sp>
        <p:nvSpPr>
          <p:cNvPr id="10" name=""/>
          <p:cNvSpPr/>
          <p:nvPr/>
        </p:nvSpPr>
        <p:spPr>
          <a:xfrm>
            <a:off x="3657600" y="2809875"/>
            <a:ext cx="2143125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3733800" y="2962275"/>
            <a:ext cx="26384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正しいフォームを知る</a:t>
            </a:r>
          </a:p>
        </p:txBody>
      </p:sp>
      <p:sp>
        <p:nvSpPr>
          <p:cNvPr id="12" name=""/>
          <p:cNvSpPr txBox="1"/>
          <p:nvPr/>
        </p:nvSpPr>
        <p:spPr>
          <a:xfrm>
            <a:off x="5934075" y="291465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>
                <a:solidFill>
                  <a:srgbClr val="E8461E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13" name=""/>
          <p:cNvSpPr/>
          <p:nvPr/>
        </p:nvSpPr>
        <p:spPr>
          <a:xfrm>
            <a:off x="6334125" y="2809875"/>
            <a:ext cx="2143125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/>
        </p:spPr>
      </p:sp>
      <p:sp>
        <p:nvSpPr>
          <p:cNvPr id="14" name=""/>
          <p:cNvSpPr txBox="1"/>
          <p:nvPr/>
        </p:nvSpPr>
        <p:spPr>
          <a:xfrm>
            <a:off x="6553200" y="2962275"/>
            <a:ext cx="17240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何回も動かす</a:t>
            </a:r>
          </a:p>
        </p:txBody>
      </p:sp>
      <p:sp>
        <p:nvSpPr>
          <p:cNvPr id="15" name=""/>
          <p:cNvSpPr txBox="1"/>
          <p:nvPr/>
        </p:nvSpPr>
        <p:spPr>
          <a:xfrm>
            <a:off x="8620125" y="291465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>
                <a:solidFill>
                  <a:srgbClr val="E8461E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16" name=""/>
          <p:cNvSpPr/>
          <p:nvPr/>
        </p:nvSpPr>
        <p:spPr>
          <a:xfrm>
            <a:off x="9020175" y="2809875"/>
            <a:ext cx="2143125" cy="590550"/>
          </a:xfrm>
          <a:prstGeom prst="roundRect">
            <a:avLst>
              <a:gd name="adj" fmla="val 25806"/>
            </a:avLst>
          </a:prstGeom>
          <a:solidFill>
            <a:srgbClr val="E8461E"/>
          </a:solidFill>
          <a:ln/>
        </p:spPr>
      </p:sp>
      <p:sp>
        <p:nvSpPr>
          <p:cNvPr id="17" name=""/>
          <p:cNvSpPr txBox="1"/>
          <p:nvPr/>
        </p:nvSpPr>
        <p:spPr>
          <a:xfrm>
            <a:off x="9344025" y="2962275"/>
            <a:ext cx="14954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  <a:ea typeface="Noto Sans JP"/>
              </a:rPr>
              <a:t>筋肉がつく</a:t>
            </a:r>
          </a:p>
        </p:txBody>
      </p:sp>
      <p:sp>
        <p:nvSpPr>
          <p:cNvPr id="18" name=""/>
          <p:cNvSpPr/>
          <p:nvPr/>
        </p:nvSpPr>
        <p:spPr>
          <a:xfrm>
            <a:off x="685800" y="4029075"/>
            <a:ext cx="10820400" cy="1485900"/>
          </a:xfrm>
          <a:prstGeom prst="roundRect">
            <a:avLst>
              <a:gd name="adj" fmla="val 17949"/>
            </a:avLst>
          </a:prstGeom>
          <a:solidFill>
            <a:srgbClr val="DDEFFC"/>
          </a:solidFill>
          <a:ln/>
        </p:spPr>
      </p:sp>
      <p:pic>
        <p:nvPicPr>
          <p:cNvPr id="19" name="Image 1" descr="舌の断面図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43375"/>
            <a:ext cx="1257300" cy="1257300"/>
          </a:xfrm>
          <a:prstGeom prst="rect">
            <a:avLst/>
          </a:prstGeom>
        </p:spPr>
      </p:pic>
      <p:sp>
        <p:nvSpPr>
          <p:cNvPr id="20" name=""/>
          <p:cNvSpPr txBox="1"/>
          <p:nvPr/>
        </p:nvSpPr>
        <p:spPr>
          <a:xfrm>
            <a:off x="2343150" y="4533900"/>
            <a:ext cx="108585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C2340"/>
                </a:solidFill>
                <a:latin typeface="Noto Sans JP"/>
                <a:ea typeface="Noto Sans JP"/>
              </a:rPr>
              <a:t>発音</a:t>
            </a:r>
          </a:p>
        </p:txBody>
      </p:sp>
      <p:sp>
        <p:nvSpPr>
          <p:cNvPr id="21" name=""/>
          <p:cNvSpPr/>
          <p:nvPr/>
        </p:nvSpPr>
        <p:spPr>
          <a:xfrm>
            <a:off x="3657600" y="4476750"/>
            <a:ext cx="2143125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/>
        </p:spPr>
      </p:sp>
      <p:sp>
        <p:nvSpPr>
          <p:cNvPr id="22" name=""/>
          <p:cNvSpPr txBox="1"/>
          <p:nvPr/>
        </p:nvSpPr>
        <p:spPr>
          <a:xfrm>
            <a:off x="3752850" y="4629150"/>
            <a:ext cx="19526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舌の位置を知る</a:t>
            </a:r>
          </a:p>
        </p:txBody>
      </p:sp>
      <p:sp>
        <p:nvSpPr>
          <p:cNvPr id="23" name=""/>
          <p:cNvSpPr txBox="1"/>
          <p:nvPr/>
        </p:nvSpPr>
        <p:spPr>
          <a:xfrm>
            <a:off x="5934075" y="4581525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>
                <a:solidFill>
                  <a:srgbClr val="E8461E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24" name=""/>
          <p:cNvSpPr/>
          <p:nvPr/>
        </p:nvSpPr>
        <p:spPr>
          <a:xfrm>
            <a:off x="6334125" y="4476750"/>
            <a:ext cx="2143125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/>
        </p:spPr>
      </p:sp>
      <p:sp>
        <p:nvSpPr>
          <p:cNvPr id="25" name=""/>
          <p:cNvSpPr txBox="1"/>
          <p:nvPr/>
        </p:nvSpPr>
        <p:spPr>
          <a:xfrm>
            <a:off x="6667500" y="4629150"/>
            <a:ext cx="14954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何回も言う</a:t>
            </a:r>
          </a:p>
        </p:txBody>
      </p:sp>
      <p:sp>
        <p:nvSpPr>
          <p:cNvPr id="26" name=""/>
          <p:cNvSpPr txBox="1"/>
          <p:nvPr/>
        </p:nvSpPr>
        <p:spPr>
          <a:xfrm>
            <a:off x="8620125" y="4581525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>
                <a:solidFill>
                  <a:srgbClr val="E8461E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27" name=""/>
          <p:cNvSpPr/>
          <p:nvPr/>
        </p:nvSpPr>
        <p:spPr>
          <a:xfrm>
            <a:off x="9020175" y="4476750"/>
            <a:ext cx="2143125" cy="590550"/>
          </a:xfrm>
          <a:prstGeom prst="roundRect">
            <a:avLst>
              <a:gd name="adj" fmla="val 25806"/>
            </a:avLst>
          </a:prstGeom>
          <a:solidFill>
            <a:srgbClr val="2F86CF"/>
          </a:solidFill>
          <a:ln/>
        </p:spPr>
      </p:sp>
      <p:sp>
        <p:nvSpPr>
          <p:cNvPr id="28" name=""/>
          <p:cNvSpPr txBox="1"/>
          <p:nvPr/>
        </p:nvSpPr>
        <p:spPr>
          <a:xfrm>
            <a:off x="9001125" y="4629150"/>
            <a:ext cx="21717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  <a:ea typeface="Noto Sans JP"/>
              </a:rPr>
              <a:t>言えるようになる</a:t>
            </a:r>
          </a:p>
        </p:txBody>
      </p:sp>
      <p:sp>
        <p:nvSpPr>
          <p:cNvPr id="29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30" name=""/>
          <p:cNvSpPr/>
          <p:nvPr/>
        </p:nvSpPr>
        <p:spPr>
          <a:xfrm>
            <a:off x="933450" y="5895975"/>
            <a:ext cx="85725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104900" y="5953125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だから</a:t>
            </a:r>
          </a:p>
        </p:txBody>
      </p:sp>
      <p:sp>
        <p:nvSpPr>
          <p:cNvPr id="32" name=""/>
          <p:cNvSpPr txBox="1"/>
          <p:nvPr/>
        </p:nvSpPr>
        <p:spPr>
          <a:xfrm>
            <a:off x="1943100" y="5934075"/>
            <a:ext cx="75723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「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分かる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」と「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できる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」は別もの。知っただけでは、まだ言えない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689610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発音の筋トレ、ポイントは3つ</a:t>
            </a:r>
          </a:p>
        </p:txBody>
      </p:sp>
      <p:sp>
        <p:nvSpPr>
          <p:cNvPr id="5" name=""/>
          <p:cNvSpPr/>
          <p:nvPr/>
        </p:nvSpPr>
        <p:spPr>
          <a:xfrm>
            <a:off x="685800" y="1724025"/>
            <a:ext cx="3457575" cy="3790950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/>
        </p:spPr>
      </p:sp>
      <p:sp>
        <p:nvSpPr>
          <p:cNvPr id="6" name=""/>
          <p:cNvSpPr/>
          <p:nvPr/>
        </p:nvSpPr>
        <p:spPr>
          <a:xfrm>
            <a:off x="933450" y="1933575"/>
            <a:ext cx="2962275" cy="1676400"/>
          </a:xfrm>
          <a:prstGeom prst="roundRect">
            <a:avLst>
              <a:gd name="adj" fmla="val 11364"/>
            </a:avLst>
          </a:prstGeom>
          <a:solidFill>
            <a:srgbClr val="FFF2C9"/>
          </a:solidFill>
          <a:ln/>
        </p:spPr>
      </p:sp>
      <p:pic>
        <p:nvPicPr>
          <p:cNvPr id="7" name="Image 0" descr="オウ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825" y="2009775"/>
            <a:ext cx="1524000" cy="1524000"/>
          </a:xfrm>
          <a:prstGeom prst="rect">
            <a:avLst/>
          </a:prstGeom>
        </p:spPr>
      </p:pic>
      <p:sp>
        <p:nvSpPr>
          <p:cNvPr id="8" name=""/>
          <p:cNvSpPr/>
          <p:nvPr/>
        </p:nvSpPr>
        <p:spPr>
          <a:xfrm>
            <a:off x="1066800" y="2066925"/>
            <a:ext cx="400050" cy="4000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9" name=""/>
          <p:cNvSpPr txBox="1"/>
          <p:nvPr/>
        </p:nvSpPr>
        <p:spPr>
          <a:xfrm>
            <a:off x="1057275" y="2143125"/>
            <a:ext cx="4191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95450" y="3762375"/>
            <a:ext cx="19907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Noto Sans JP"/>
                <a:ea typeface="Noto Sans JP"/>
              </a:rPr>
              <a:t>まねをする</a:t>
            </a:r>
          </a:p>
        </p:txBody>
      </p:sp>
      <p:sp>
        <p:nvSpPr>
          <p:cNvPr id="11" name=""/>
          <p:cNvSpPr txBox="1"/>
          <p:nvPr/>
        </p:nvSpPr>
        <p:spPr>
          <a:xfrm>
            <a:off x="1276350" y="4286250"/>
            <a:ext cx="29527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お手本の音をよく聞いて、</a:t>
            </a:r>
          </a:p>
        </p:txBody>
      </p:sp>
      <p:sp>
        <p:nvSpPr>
          <p:cNvPr id="12" name=""/>
          <p:cNvSpPr txBox="1"/>
          <p:nvPr/>
        </p:nvSpPr>
        <p:spPr>
          <a:xfrm>
            <a:off x="1362075" y="4581525"/>
            <a:ext cx="20955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そっくりまねする</a:t>
            </a:r>
          </a:p>
        </p:txBody>
      </p:sp>
      <p:sp>
        <p:nvSpPr>
          <p:cNvPr id="13" name=""/>
          <p:cNvSpPr/>
          <p:nvPr/>
        </p:nvSpPr>
        <p:spPr>
          <a:xfrm>
            <a:off x="4371975" y="1724025"/>
            <a:ext cx="3457575" cy="3790950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4619625" y="1933575"/>
            <a:ext cx="2962275" cy="1676400"/>
          </a:xfrm>
          <a:prstGeom prst="roundRect">
            <a:avLst>
              <a:gd name="adj" fmla="val 11364"/>
            </a:avLst>
          </a:prstGeom>
          <a:solidFill>
            <a:srgbClr val="DDEFFC"/>
          </a:solidFill>
          <a:ln/>
        </p:spPr>
      </p:sp>
      <p:pic>
        <p:nvPicPr>
          <p:cNvPr id="15" name="Image 1" descr="カ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009775"/>
            <a:ext cx="1524000" cy="1524000"/>
          </a:xfrm>
          <a:prstGeom prst="rect">
            <a:avLst/>
          </a:prstGeom>
        </p:spPr>
      </p:pic>
      <p:sp>
        <p:nvSpPr>
          <p:cNvPr id="16" name=""/>
          <p:cNvSpPr/>
          <p:nvPr/>
        </p:nvSpPr>
        <p:spPr>
          <a:xfrm>
            <a:off x="4752975" y="2066925"/>
            <a:ext cx="400050" cy="4000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7" name=""/>
          <p:cNvSpPr txBox="1"/>
          <p:nvPr/>
        </p:nvSpPr>
        <p:spPr>
          <a:xfrm>
            <a:off x="4714875" y="2143125"/>
            <a:ext cx="4667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18" name=""/>
          <p:cNvSpPr txBox="1"/>
          <p:nvPr/>
        </p:nvSpPr>
        <p:spPr>
          <a:xfrm>
            <a:off x="4667250" y="3762375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Noto Sans JP"/>
                <a:ea typeface="Noto Sans JP"/>
              </a:rPr>
              <a:t>おおげさに、ゆっくり</a:t>
            </a:r>
          </a:p>
        </p:txBody>
      </p:sp>
      <p:sp>
        <p:nvSpPr>
          <p:cNvPr id="19" name=""/>
          <p:cNvSpPr txBox="1"/>
          <p:nvPr/>
        </p:nvSpPr>
        <p:spPr>
          <a:xfrm>
            <a:off x="5162550" y="4286250"/>
            <a:ext cx="18669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慣れてきたら、</a:t>
            </a:r>
          </a:p>
        </p:txBody>
      </p:sp>
      <p:sp>
        <p:nvSpPr>
          <p:cNvPr id="20" name=""/>
          <p:cNvSpPr txBox="1"/>
          <p:nvPr/>
        </p:nvSpPr>
        <p:spPr>
          <a:xfrm>
            <a:off x="4953000" y="4581525"/>
            <a:ext cx="2971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だんだん自然なスピードへ</a:t>
            </a:r>
          </a:p>
        </p:txBody>
      </p:sp>
      <p:sp>
        <p:nvSpPr>
          <p:cNvPr id="21" name=""/>
          <p:cNvSpPr/>
          <p:nvPr/>
        </p:nvSpPr>
        <p:spPr>
          <a:xfrm>
            <a:off x="8048625" y="1724025"/>
            <a:ext cx="3457575" cy="3790950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/>
        </p:spPr>
      </p:sp>
      <p:sp>
        <p:nvSpPr>
          <p:cNvPr id="22" name=""/>
          <p:cNvSpPr/>
          <p:nvPr/>
        </p:nvSpPr>
        <p:spPr>
          <a:xfrm>
            <a:off x="8296275" y="1933575"/>
            <a:ext cx="2962275" cy="1676400"/>
          </a:xfrm>
          <a:prstGeom prst="roundRect">
            <a:avLst>
              <a:gd name="adj" fmla="val 11364"/>
            </a:avLst>
          </a:prstGeom>
          <a:solidFill>
            <a:srgbClr val="FFE8DC"/>
          </a:solidFill>
          <a:ln/>
        </p:spPr>
      </p:sp>
      <p:pic>
        <p:nvPicPr>
          <p:cNvPr id="23" name="Image 2" descr="カレンダー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175" y="2009775"/>
            <a:ext cx="1524000" cy="1524000"/>
          </a:xfrm>
          <a:prstGeom prst="rect">
            <a:avLst/>
          </a:prstGeom>
        </p:spPr>
      </p:pic>
      <p:sp>
        <p:nvSpPr>
          <p:cNvPr id="24" name=""/>
          <p:cNvSpPr/>
          <p:nvPr/>
        </p:nvSpPr>
        <p:spPr>
          <a:xfrm>
            <a:off x="8429625" y="2066925"/>
            <a:ext cx="400050" cy="4000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25" name=""/>
          <p:cNvSpPr txBox="1"/>
          <p:nvPr/>
        </p:nvSpPr>
        <p:spPr>
          <a:xfrm>
            <a:off x="8391525" y="2143125"/>
            <a:ext cx="476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sp>
        <p:nvSpPr>
          <p:cNvPr id="26" name=""/>
          <p:cNvSpPr txBox="1"/>
          <p:nvPr/>
        </p:nvSpPr>
        <p:spPr>
          <a:xfrm>
            <a:off x="8639175" y="3762375"/>
            <a:ext cx="29622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Noto Sans JP"/>
                <a:ea typeface="Noto Sans JP"/>
              </a:rPr>
              <a:t>毎日ちょっとずつ</a:t>
            </a:r>
          </a:p>
        </p:txBody>
      </p:sp>
      <p:sp>
        <p:nvSpPr>
          <p:cNvPr id="27" name=""/>
          <p:cNvSpPr txBox="1"/>
          <p:nvPr/>
        </p:nvSpPr>
        <p:spPr>
          <a:xfrm>
            <a:off x="8724900" y="4286250"/>
            <a:ext cx="21145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週1回1時間より、</a:t>
            </a:r>
          </a:p>
        </p:txBody>
      </p:sp>
      <p:sp>
        <p:nvSpPr>
          <p:cNvPr id="28" name=""/>
          <p:cNvSpPr txBox="1"/>
          <p:nvPr/>
        </p:nvSpPr>
        <p:spPr>
          <a:xfrm>
            <a:off x="8867775" y="4581525"/>
            <a:ext cx="24384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毎日5分のほうが効く</a:t>
            </a:r>
          </a:p>
        </p:txBody>
      </p:sp>
      <p:sp>
        <p:nvSpPr>
          <p:cNvPr id="29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30" name=""/>
          <p:cNvSpPr/>
          <p:nvPr/>
        </p:nvSpPr>
        <p:spPr>
          <a:xfrm>
            <a:off x="933450" y="5895975"/>
            <a:ext cx="17145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104900" y="5953125"/>
            <a:ext cx="19240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舌や口が疲れたら</a:t>
            </a:r>
          </a:p>
        </p:txBody>
      </p:sp>
      <p:sp>
        <p:nvSpPr>
          <p:cNvPr id="32" name=""/>
          <p:cNvSpPr txBox="1"/>
          <p:nvPr/>
        </p:nvSpPr>
        <p:spPr>
          <a:xfrm>
            <a:off x="2800350" y="5934075"/>
            <a:ext cx="63436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ふだん使っていない筋肉を使っている証拠。いい感じ！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217170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の発音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5286375" cy="4676775"/>
          </a:xfrm>
          <a:prstGeom prst="roundRect">
            <a:avLst>
              <a:gd name="adj" fmla="val 5703"/>
            </a:avLst>
          </a:prstGeom>
          <a:solidFill>
            <a:srgbClr val="FFE8DC"/>
          </a:solidFill>
          <a:ln/>
        </p:spPr>
      </p:sp>
      <p:sp>
        <p:nvSpPr>
          <p:cNvPr id="6" name=""/>
          <p:cNvSpPr/>
          <p:nvPr/>
        </p:nvSpPr>
        <p:spPr>
          <a:xfrm>
            <a:off x="1047750" y="2847975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1047750" y="2924175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8" name=""/>
          <p:cNvSpPr txBox="1"/>
          <p:nvPr/>
        </p:nvSpPr>
        <p:spPr>
          <a:xfrm>
            <a:off x="1619250" y="2838450"/>
            <a:ext cx="4638675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舌先を、上の前歯の裏につける</a:t>
            </a:r>
          </a:p>
        </p:txBody>
      </p:sp>
      <p:sp>
        <p:nvSpPr>
          <p:cNvPr id="9" name=""/>
          <p:cNvSpPr txBox="1"/>
          <p:nvPr/>
        </p:nvSpPr>
        <p:spPr>
          <a:xfrm>
            <a:off x="1619250" y="3267075"/>
            <a:ext cx="32575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歯の付け根の、歯ぐきのあたり</a:t>
            </a:r>
          </a:p>
        </p:txBody>
      </p:sp>
      <p:sp>
        <p:nvSpPr>
          <p:cNvPr id="10" name=""/>
          <p:cNvSpPr/>
          <p:nvPr/>
        </p:nvSpPr>
        <p:spPr>
          <a:xfrm>
            <a:off x="1047750" y="3771900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1" name=""/>
          <p:cNvSpPr txBox="1"/>
          <p:nvPr/>
        </p:nvSpPr>
        <p:spPr>
          <a:xfrm>
            <a:off x="1019175" y="38481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12" name=""/>
          <p:cNvSpPr txBox="1"/>
          <p:nvPr/>
        </p:nvSpPr>
        <p:spPr>
          <a:xfrm>
            <a:off x="1619250" y="3762375"/>
            <a:ext cx="33909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つけたまま、声を出す</a:t>
            </a:r>
          </a:p>
        </p:txBody>
      </p:sp>
      <p:sp>
        <p:nvSpPr>
          <p:cNvPr id="13" name=""/>
          <p:cNvSpPr txBox="1"/>
          <p:nvPr/>
        </p:nvSpPr>
        <p:spPr>
          <a:xfrm>
            <a:off x="1619250" y="4181475"/>
            <a:ext cx="26289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声は舌の両わきから出る</a:t>
            </a:r>
          </a:p>
        </p:txBody>
      </p:sp>
      <p:sp>
        <p:nvSpPr>
          <p:cNvPr id="14" name=""/>
          <p:cNvSpPr/>
          <p:nvPr/>
        </p:nvSpPr>
        <p:spPr>
          <a:xfrm>
            <a:off x="1047750" y="4686300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019175" y="47625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sp>
        <p:nvSpPr>
          <p:cNvPr id="16" name=""/>
          <p:cNvSpPr txBox="1"/>
          <p:nvPr/>
        </p:nvSpPr>
        <p:spPr>
          <a:xfrm>
            <a:off x="1619250" y="4676775"/>
            <a:ext cx="1876425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はじかない</a:t>
            </a:r>
          </a:p>
        </p:txBody>
      </p:sp>
      <p:sp>
        <p:nvSpPr>
          <p:cNvPr id="17" name=""/>
          <p:cNvSpPr txBox="1"/>
          <p:nvPr/>
        </p:nvSpPr>
        <p:spPr>
          <a:xfrm>
            <a:off x="1619250" y="5095875"/>
            <a:ext cx="49053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ペッとすぐ離さず、ちょっと「ためて」から離す</a:t>
            </a:r>
          </a:p>
        </p:txBody>
      </p:sp>
      <p:sp>
        <p:nvSpPr>
          <p:cNvPr id="18" name=""/>
          <p:cNvSpPr/>
          <p:nvPr/>
        </p:nvSpPr>
        <p:spPr>
          <a:xfrm>
            <a:off x="6219825" y="1762125"/>
            <a:ext cx="5286375" cy="4676775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/>
        </p:spPr>
      </p:sp>
      <p:sp>
        <p:nvSpPr>
          <p:cNvPr id="19" name=""/>
          <p:cNvSpPr/>
          <p:nvPr/>
        </p:nvSpPr>
        <p:spPr>
          <a:xfrm>
            <a:off x="6486525" y="2009775"/>
            <a:ext cx="971550" cy="42862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20" name=""/>
          <p:cNvSpPr txBox="1"/>
          <p:nvPr/>
        </p:nvSpPr>
        <p:spPr>
          <a:xfrm>
            <a:off x="6657975" y="2066925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01A"/>
                </a:solidFill>
                <a:latin typeface="Noto Sans JP"/>
                <a:ea typeface="Noto Sans JP"/>
              </a:rPr>
              <a:t>つける</a:t>
            </a:r>
          </a:p>
        </p:txBody>
      </p:sp>
      <p:pic>
        <p:nvPicPr>
          <p:cNvPr id="21" name="Image 0" descr="L：舌先を上の前歯の裏につけた断面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8025" y="2295525"/>
            <a:ext cx="36195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40671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を言ってみよう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10820400" cy="14478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6" name=""/>
          <p:cNvSpPr/>
          <p:nvPr/>
        </p:nvSpPr>
        <p:spPr>
          <a:xfrm>
            <a:off x="1028700" y="2305050"/>
            <a:ext cx="962025" cy="35242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1181100" y="236220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STEP 1</a:t>
            </a:r>
          </a:p>
        </p:txBody>
      </p:sp>
      <p:sp>
        <p:nvSpPr>
          <p:cNvPr id="8" name=""/>
          <p:cNvSpPr txBox="1"/>
          <p:nvPr/>
        </p:nvSpPr>
        <p:spPr>
          <a:xfrm>
            <a:off x="2686050" y="2105025"/>
            <a:ext cx="2314575" cy="762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0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4050" b="1">
                <a:solidFill>
                  <a:srgbClr val="E8461E"/>
                </a:solidFill>
                <a:latin typeface="Noto Sans JP"/>
                <a:ea typeface="Noto Sans JP"/>
              </a:rPr>
              <a:t>〜〜〜</a:t>
            </a:r>
          </a:p>
        </p:txBody>
      </p:sp>
      <p:sp>
        <p:nvSpPr>
          <p:cNvPr id="9" name=""/>
          <p:cNvSpPr txBox="1"/>
          <p:nvPr/>
        </p:nvSpPr>
        <p:spPr>
          <a:xfrm>
            <a:off x="6057900" y="2314575"/>
            <a:ext cx="586740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伸ばす</a:t>
            </a:r>
            <a:pPr/>
            <a:r>
              <a:rPr sz="1750">
                <a:solidFill>
                  <a:srgbClr val="4A5270"/>
                </a:solidFill>
                <a:latin typeface="Noto Sans JP"/>
                <a:ea typeface="Noto Sans JP"/>
              </a:rPr>
              <a:t>：舌先をつけたまま、こもった声を伸ばす</a:t>
            </a:r>
          </a:p>
        </p:txBody>
      </p:sp>
      <p:sp>
        <p:nvSpPr>
          <p:cNvPr id="10" name=""/>
          <p:cNvSpPr/>
          <p:nvPr/>
        </p:nvSpPr>
        <p:spPr>
          <a:xfrm>
            <a:off x="685800" y="3381375"/>
            <a:ext cx="10820400" cy="14478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11" name=""/>
          <p:cNvSpPr/>
          <p:nvPr/>
        </p:nvSpPr>
        <p:spPr>
          <a:xfrm>
            <a:off x="1028700" y="3924300"/>
            <a:ext cx="1000125" cy="35242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12" name=""/>
          <p:cNvSpPr txBox="1"/>
          <p:nvPr/>
        </p:nvSpPr>
        <p:spPr>
          <a:xfrm>
            <a:off x="1181100" y="398145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STEP 2</a:t>
            </a:r>
          </a:p>
        </p:txBody>
      </p:sp>
      <p:sp>
        <p:nvSpPr>
          <p:cNvPr id="13" name=""/>
          <p:cNvSpPr txBox="1"/>
          <p:nvPr/>
        </p:nvSpPr>
        <p:spPr>
          <a:xfrm>
            <a:off x="2686050" y="3762375"/>
            <a:ext cx="2476500" cy="676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0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4050" b="1">
                <a:solidFill>
                  <a:srgbClr val="1C2340"/>
                </a:solidFill>
                <a:latin typeface="DM Sans"/>
                <a:ea typeface="DM Sans"/>
              </a:rPr>
              <a:t>a, </a:t>
            </a:r>
            <a:pPr/>
            <a:r>
              <a:rPr sz="40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4050" b="1">
                <a:solidFill>
                  <a:srgbClr val="1C2340"/>
                </a:solidFill>
                <a:latin typeface="DM Sans"/>
                <a:ea typeface="DM Sans"/>
              </a:rPr>
              <a:t>a, </a:t>
            </a:r>
            <a:pPr/>
            <a:r>
              <a:rPr sz="40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4050" b="1">
                <a:solidFill>
                  <a:srgbClr val="1C2340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4" name=""/>
          <p:cNvSpPr txBox="1"/>
          <p:nvPr/>
        </p:nvSpPr>
        <p:spPr>
          <a:xfrm>
            <a:off x="6057900" y="3762375"/>
            <a:ext cx="5876925" cy="666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つなげる</a:t>
            </a:r>
            <a:pPr/>
            <a:r>
              <a:rPr sz="1750">
                <a:solidFill>
                  <a:srgbClr val="4A5270"/>
                </a:solidFill>
                <a:latin typeface="Noto Sans JP"/>
                <a:ea typeface="Noto Sans JP"/>
              </a:rPr>
              <a:t>：ちょっと「ためて」から、舌を離して「ア」へ</a:t>
            </a:r>
          </a:p>
        </p:txBody>
      </p:sp>
      <p:sp>
        <p:nvSpPr>
          <p:cNvPr id="15" name=""/>
          <p:cNvSpPr/>
          <p:nvPr/>
        </p:nvSpPr>
        <p:spPr>
          <a:xfrm>
            <a:off x="685800" y="4991100"/>
            <a:ext cx="10820400" cy="14478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1028700" y="5524500"/>
            <a:ext cx="695325" cy="381000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/>
        </p:spPr>
      </p:sp>
      <p:sp>
        <p:nvSpPr>
          <p:cNvPr id="17" name=""/>
          <p:cNvSpPr txBox="1"/>
          <p:nvPr/>
        </p:nvSpPr>
        <p:spPr>
          <a:xfrm>
            <a:off x="1181100" y="5610225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FFFFFF"/>
                </a:solidFill>
                <a:latin typeface="Noto Sans JP"/>
                <a:ea typeface="Noto Sans JP"/>
              </a:rPr>
              <a:t>コツ</a:t>
            </a:r>
          </a:p>
        </p:txBody>
      </p:sp>
      <p:sp>
        <p:nvSpPr>
          <p:cNvPr id="18" name=""/>
          <p:cNvSpPr txBox="1"/>
          <p:nvPr/>
        </p:nvSpPr>
        <p:spPr>
          <a:xfrm>
            <a:off x="2686050" y="5381625"/>
            <a:ext cx="3000375" cy="676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Noto Sans JP"/>
                <a:ea typeface="Noto Sans JP"/>
              </a:rPr>
              <a:t>（ン）</a:t>
            </a:r>
            <a:pPr/>
            <a:r>
              <a:rPr sz="40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405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9" name=""/>
          <p:cNvSpPr txBox="1"/>
          <p:nvPr/>
        </p:nvSpPr>
        <p:spPr>
          <a:xfrm>
            <a:off x="6057900" y="5381625"/>
            <a:ext cx="6124575" cy="666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>
                <a:solidFill>
                  <a:srgbClr val="4A5270"/>
                </a:solidFill>
                <a:latin typeface="Noto Sans JP"/>
                <a:ea typeface="Noto Sans JP"/>
              </a:rPr>
              <a:t>小さい「ン」から入ると、</a:t>
            </a:r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舌先がついた状態</a:t>
            </a:r>
            <a:pPr/>
            <a:r>
              <a:rPr sz="1750">
                <a:solidFill>
                  <a:srgbClr val="4A5270"/>
                </a:solidFill>
                <a:latin typeface="Noto Sans JP"/>
                <a:ea typeface="Noto Sans JP"/>
              </a:rPr>
              <a:t>から始められる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217170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の単語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685925"/>
            <a:ext cx="5124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私のあとに続いて、声に出して言ってみよう</a:t>
            </a:r>
          </a:p>
        </p:txBody>
      </p:sp>
      <p:sp>
        <p:nvSpPr>
          <p:cNvPr id="6" name=""/>
          <p:cNvSpPr/>
          <p:nvPr/>
        </p:nvSpPr>
        <p:spPr>
          <a:xfrm>
            <a:off x="685800" y="2181225"/>
            <a:ext cx="2028825" cy="42576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7" name=""/>
          <p:cNvSpPr/>
          <p:nvPr/>
        </p:nvSpPr>
        <p:spPr>
          <a:xfrm>
            <a:off x="800100" y="3019425"/>
            <a:ext cx="1800225" cy="1524000"/>
          </a:xfrm>
          <a:prstGeom prst="roundRect">
            <a:avLst>
              <a:gd name="adj" fmla="val 12500"/>
            </a:avLst>
          </a:prstGeom>
          <a:solidFill>
            <a:srgbClr val="FFF2C9"/>
          </a:solidFill>
          <a:ln/>
        </p:spPr>
      </p:sp>
      <p:pic>
        <p:nvPicPr>
          <p:cNvPr id="8" name="Image 0" descr="電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3114675"/>
            <a:ext cx="1333500" cy="13335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1219200" y="4714875"/>
            <a:ext cx="14478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0" name=""/>
          <p:cNvSpPr txBox="1"/>
          <p:nvPr/>
        </p:nvSpPr>
        <p:spPr>
          <a:xfrm>
            <a:off x="1219200" y="5324475"/>
            <a:ext cx="14382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光・明かり</a:t>
            </a:r>
          </a:p>
        </p:txBody>
      </p:sp>
      <p:sp>
        <p:nvSpPr>
          <p:cNvPr id="11" name=""/>
          <p:cNvSpPr/>
          <p:nvPr/>
        </p:nvSpPr>
        <p:spPr>
          <a:xfrm>
            <a:off x="2886075" y="2181225"/>
            <a:ext cx="2028825" cy="42576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3000375" y="3019425"/>
            <a:ext cx="1800225" cy="1524000"/>
          </a:xfrm>
          <a:prstGeom prst="roundRect">
            <a:avLst>
              <a:gd name="adj" fmla="val 12500"/>
            </a:avLst>
          </a:prstGeom>
          <a:solidFill>
            <a:srgbClr val="FFE4EC"/>
          </a:solidFill>
          <a:ln/>
        </p:spPr>
      </p:sp>
      <p:pic>
        <p:nvPicPr>
          <p:cNvPr id="13" name="Image 1" descr="ハー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75" y="3114675"/>
            <a:ext cx="1333500" cy="133350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3457575" y="4714875"/>
            <a:ext cx="135255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ove</a:t>
            </a:r>
          </a:p>
        </p:txBody>
      </p:sp>
      <p:sp>
        <p:nvSpPr>
          <p:cNvPr id="15" name=""/>
          <p:cNvSpPr txBox="1"/>
          <p:nvPr/>
        </p:nvSpPr>
        <p:spPr>
          <a:xfrm>
            <a:off x="3609975" y="5324475"/>
            <a:ext cx="10001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大好き</a:t>
            </a:r>
          </a:p>
        </p:txBody>
      </p:sp>
      <p:sp>
        <p:nvSpPr>
          <p:cNvPr id="16" name=""/>
          <p:cNvSpPr/>
          <p:nvPr/>
        </p:nvSpPr>
        <p:spPr>
          <a:xfrm>
            <a:off x="5086350" y="2181225"/>
            <a:ext cx="2028825" cy="42576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17" name=""/>
          <p:cNvSpPr/>
          <p:nvPr/>
        </p:nvSpPr>
        <p:spPr>
          <a:xfrm>
            <a:off x="5200650" y="3019425"/>
            <a:ext cx="1800225" cy="1524000"/>
          </a:xfrm>
          <a:prstGeom prst="roundRect">
            <a:avLst>
              <a:gd name="adj" fmla="val 12500"/>
            </a:avLst>
          </a:prstGeom>
          <a:solidFill>
            <a:srgbClr val="DDEFFC"/>
          </a:solidFill>
          <a:ln/>
        </p:spPr>
      </p:sp>
      <p:pic>
        <p:nvPicPr>
          <p:cNvPr id="18" name="Image 2" descr="目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3114675"/>
            <a:ext cx="1333500" cy="1333500"/>
          </a:xfrm>
          <a:prstGeom prst="rect">
            <a:avLst/>
          </a:prstGeom>
        </p:spPr>
      </p:pic>
      <p:sp>
        <p:nvSpPr>
          <p:cNvPr id="19" name=""/>
          <p:cNvSpPr txBox="1"/>
          <p:nvPr/>
        </p:nvSpPr>
        <p:spPr>
          <a:xfrm>
            <a:off x="5638800" y="4714875"/>
            <a:ext cx="139065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ook</a:t>
            </a:r>
          </a:p>
        </p:txBody>
      </p:sp>
      <p:sp>
        <p:nvSpPr>
          <p:cNvPr id="20" name=""/>
          <p:cNvSpPr txBox="1"/>
          <p:nvPr/>
        </p:nvSpPr>
        <p:spPr>
          <a:xfrm>
            <a:off x="5905500" y="5324475"/>
            <a:ext cx="7810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見る</a:t>
            </a:r>
          </a:p>
        </p:txBody>
      </p:sp>
      <p:sp>
        <p:nvSpPr>
          <p:cNvPr id="21" name=""/>
          <p:cNvSpPr/>
          <p:nvPr/>
        </p:nvSpPr>
        <p:spPr>
          <a:xfrm>
            <a:off x="7277100" y="2181225"/>
            <a:ext cx="2028825" cy="42576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22" name=""/>
          <p:cNvSpPr/>
          <p:nvPr/>
        </p:nvSpPr>
        <p:spPr>
          <a:xfrm>
            <a:off x="7391400" y="3019425"/>
            <a:ext cx="1800225" cy="1524000"/>
          </a:xfrm>
          <a:prstGeom prst="roundRect">
            <a:avLst>
              <a:gd name="adj" fmla="val 12500"/>
            </a:avLst>
          </a:prstGeom>
          <a:solidFill>
            <a:srgbClr val="FFE8DC"/>
          </a:solidFill>
          <a:ln/>
        </p:spPr>
      </p:sp>
      <p:pic>
        <p:nvPicPr>
          <p:cNvPr id="23" name="Image 3" descr="ボール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525" y="3114675"/>
            <a:ext cx="1333500" cy="1333500"/>
          </a:xfrm>
          <a:prstGeom prst="rect">
            <a:avLst/>
          </a:prstGeom>
        </p:spPr>
      </p:pic>
      <p:sp>
        <p:nvSpPr>
          <p:cNvPr id="24" name=""/>
          <p:cNvSpPr txBox="1"/>
          <p:nvPr/>
        </p:nvSpPr>
        <p:spPr>
          <a:xfrm>
            <a:off x="7829550" y="4714875"/>
            <a:ext cx="14001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p</a:t>
            </a:r>
            <a:pPr/>
            <a:r>
              <a:rPr sz="34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ay</a:t>
            </a:r>
          </a:p>
        </p:txBody>
      </p:sp>
      <p:sp>
        <p:nvSpPr>
          <p:cNvPr id="25" name=""/>
          <p:cNvSpPr txBox="1"/>
          <p:nvPr/>
        </p:nvSpPr>
        <p:spPr>
          <a:xfrm>
            <a:off x="8105775" y="5324475"/>
            <a:ext cx="7810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遊ぶ</a:t>
            </a:r>
          </a:p>
        </p:txBody>
      </p:sp>
      <p:sp>
        <p:nvSpPr>
          <p:cNvPr id="26" name=""/>
          <p:cNvSpPr/>
          <p:nvPr/>
        </p:nvSpPr>
        <p:spPr>
          <a:xfrm>
            <a:off x="9477375" y="2181225"/>
            <a:ext cx="2028825" cy="42576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27" name=""/>
          <p:cNvSpPr/>
          <p:nvPr/>
        </p:nvSpPr>
        <p:spPr>
          <a:xfrm>
            <a:off x="9591675" y="3019425"/>
            <a:ext cx="1800225" cy="1524000"/>
          </a:xfrm>
          <a:prstGeom prst="roundRect">
            <a:avLst>
              <a:gd name="adj" fmla="val 12500"/>
            </a:avLst>
          </a:prstGeom>
          <a:solidFill>
            <a:srgbClr val="FFE4EC"/>
          </a:solidFill>
          <a:ln/>
        </p:spPr>
      </p:sp>
      <p:pic>
        <p:nvPicPr>
          <p:cNvPr id="28" name="Image 4" descr="グラス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3114675"/>
            <a:ext cx="1333500" cy="1333500"/>
          </a:xfrm>
          <a:prstGeom prst="rect">
            <a:avLst/>
          </a:prstGeom>
        </p:spPr>
      </p:pic>
      <p:sp>
        <p:nvSpPr>
          <p:cNvPr id="29" name=""/>
          <p:cNvSpPr txBox="1"/>
          <p:nvPr/>
        </p:nvSpPr>
        <p:spPr>
          <a:xfrm>
            <a:off x="9944100" y="4714875"/>
            <a:ext cx="160972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g</a:t>
            </a:r>
            <a:pPr/>
            <a:r>
              <a:rPr sz="345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ass</a:t>
            </a:r>
          </a:p>
        </p:txBody>
      </p:sp>
      <p:sp>
        <p:nvSpPr>
          <p:cNvPr id="30" name=""/>
          <p:cNvSpPr txBox="1"/>
          <p:nvPr/>
        </p:nvSpPr>
        <p:spPr>
          <a:xfrm>
            <a:off x="10210800" y="5324475"/>
            <a:ext cx="10001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グラス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79438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ができているか、チェックしよう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5286375" cy="4676775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/>
        </p:spPr>
      </p:sp>
      <p:sp>
        <p:nvSpPr>
          <p:cNvPr id="6" name=""/>
          <p:cNvSpPr txBox="1"/>
          <p:nvPr/>
        </p:nvSpPr>
        <p:spPr>
          <a:xfrm>
            <a:off x="1590675" y="2009775"/>
            <a:ext cx="1876425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鏡チェック</a:t>
            </a:r>
          </a:p>
        </p:txBody>
      </p:sp>
      <p:sp>
        <p:nvSpPr>
          <p:cNvPr id="7" name=""/>
          <p:cNvSpPr/>
          <p:nvPr/>
        </p:nvSpPr>
        <p:spPr>
          <a:xfrm>
            <a:off x="1009650" y="2019300"/>
            <a:ext cx="447675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8" name=""/>
          <p:cNvSpPr txBox="1"/>
          <p:nvPr/>
        </p:nvSpPr>
        <p:spPr>
          <a:xfrm>
            <a:off x="1181100" y="2076450"/>
            <a:ext cx="4572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1</a:t>
            </a:r>
          </a:p>
        </p:txBody>
      </p:sp>
      <p:pic>
        <p:nvPicPr>
          <p:cNvPr id="9" name="Image 0" descr="L のときの口を正面から見た図。舌先が上の歯の裏についてい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125" y="2781300"/>
            <a:ext cx="2381250" cy="238125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1952625" y="5553075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舌先が、上の歯の裏に</a:t>
            </a:r>
          </a:p>
        </p:txBody>
      </p:sp>
      <p:sp>
        <p:nvSpPr>
          <p:cNvPr id="11" name=""/>
          <p:cNvSpPr txBox="1"/>
          <p:nvPr/>
        </p:nvSpPr>
        <p:spPr>
          <a:xfrm>
            <a:off x="1962150" y="5876925"/>
            <a:ext cx="27336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ついているのが見える</a:t>
            </a:r>
          </a:p>
        </p:txBody>
      </p:sp>
      <p:sp>
        <p:nvSpPr>
          <p:cNvPr id="12" name=""/>
          <p:cNvSpPr/>
          <p:nvPr/>
        </p:nvSpPr>
        <p:spPr>
          <a:xfrm>
            <a:off x="6219825" y="1762125"/>
            <a:ext cx="5286375" cy="4676775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/>
        </p:spPr>
      </p:sp>
      <p:sp>
        <p:nvSpPr>
          <p:cNvPr id="13" name=""/>
          <p:cNvSpPr txBox="1"/>
          <p:nvPr/>
        </p:nvSpPr>
        <p:spPr>
          <a:xfrm>
            <a:off x="7124700" y="2009775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伸ばしチェック</a:t>
            </a:r>
          </a:p>
        </p:txBody>
      </p:sp>
      <p:sp>
        <p:nvSpPr>
          <p:cNvPr id="14" name=""/>
          <p:cNvSpPr/>
          <p:nvPr/>
        </p:nvSpPr>
        <p:spPr>
          <a:xfrm>
            <a:off x="6543675" y="2019300"/>
            <a:ext cx="447675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5" name=""/>
          <p:cNvSpPr txBox="1"/>
          <p:nvPr/>
        </p:nvSpPr>
        <p:spPr>
          <a:xfrm>
            <a:off x="6715125" y="2076450"/>
            <a:ext cx="4572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16" name=""/>
          <p:cNvSpPr txBox="1"/>
          <p:nvPr/>
        </p:nvSpPr>
        <p:spPr>
          <a:xfrm>
            <a:off x="6543675" y="3276600"/>
            <a:ext cx="16192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550" b="1">
                <a:solidFill>
                  <a:srgbClr val="E8461E"/>
                </a:solidFill>
                <a:latin typeface="Noto Sans JP"/>
                <a:ea typeface="Noto Sans JP"/>
              </a:rPr>
              <a:t>〜〜〜</a:t>
            </a:r>
          </a:p>
        </p:txBody>
      </p:sp>
      <p:sp>
        <p:nvSpPr>
          <p:cNvPr id="17" name=""/>
          <p:cNvSpPr/>
          <p:nvPr/>
        </p:nvSpPr>
        <p:spPr>
          <a:xfrm>
            <a:off x="8124825" y="3400425"/>
            <a:ext cx="1476375" cy="247650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18" name=""/>
          <p:cNvSpPr txBox="1"/>
          <p:nvPr/>
        </p:nvSpPr>
        <p:spPr>
          <a:xfrm>
            <a:off x="9753600" y="3390900"/>
            <a:ext cx="14859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○ 伸ばせる</a:t>
            </a:r>
          </a:p>
        </p:txBody>
      </p:sp>
      <p:sp>
        <p:nvSpPr>
          <p:cNvPr id="19" name=""/>
          <p:cNvSpPr txBox="1"/>
          <p:nvPr/>
        </p:nvSpPr>
        <p:spPr>
          <a:xfrm>
            <a:off x="6543675" y="3981450"/>
            <a:ext cx="78105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8A90A8"/>
                </a:solidFill>
                <a:latin typeface="Noto Sans JP"/>
                <a:ea typeface="Noto Sans JP"/>
              </a:rPr>
              <a:t>ら</a:t>
            </a:r>
          </a:p>
        </p:txBody>
      </p:sp>
      <p:sp>
        <p:nvSpPr>
          <p:cNvPr id="20" name=""/>
          <p:cNvSpPr/>
          <p:nvPr/>
        </p:nvSpPr>
        <p:spPr>
          <a:xfrm>
            <a:off x="8124825" y="4133850"/>
            <a:ext cx="381000" cy="247650"/>
          </a:xfrm>
          <a:prstGeom prst="roundRect">
            <a:avLst>
              <a:gd name="adj" fmla="val 50000"/>
            </a:avLst>
          </a:prstGeom>
          <a:solidFill>
            <a:srgbClr val="B7BCCB"/>
          </a:solidFill>
          <a:ln/>
        </p:spPr>
      </p:sp>
      <p:sp>
        <p:nvSpPr>
          <p:cNvPr id="21" name=""/>
          <p:cNvSpPr txBox="1"/>
          <p:nvPr/>
        </p:nvSpPr>
        <p:spPr>
          <a:xfrm>
            <a:off x="9753600" y="4124325"/>
            <a:ext cx="17049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8A90A8"/>
                </a:solidFill>
                <a:latin typeface="Noto Sans JP"/>
                <a:ea typeface="Noto Sans JP"/>
              </a:rPr>
              <a:t>× 伸ばせない</a:t>
            </a:r>
          </a:p>
        </p:txBody>
      </p:sp>
      <p:sp>
        <p:nvSpPr>
          <p:cNvPr id="22" name=""/>
          <p:cNvSpPr/>
          <p:nvPr/>
        </p:nvSpPr>
        <p:spPr>
          <a:xfrm>
            <a:off x="6543675" y="5429250"/>
            <a:ext cx="4638675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23" name=""/>
          <p:cNvSpPr txBox="1"/>
          <p:nvPr/>
        </p:nvSpPr>
        <p:spPr>
          <a:xfrm>
            <a:off x="6543675" y="5581650"/>
            <a:ext cx="2409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伸ばせなかったら、</a:t>
            </a:r>
          </a:p>
        </p:txBody>
      </p:sp>
      <p:sp>
        <p:nvSpPr>
          <p:cNvPr id="24" name=""/>
          <p:cNvSpPr txBox="1"/>
          <p:nvPr/>
        </p:nvSpPr>
        <p:spPr>
          <a:xfrm>
            <a:off x="6543675" y="5886450"/>
            <a:ext cx="353377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舌が</a:t>
            </a:r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はじいてしまっている</a:t>
            </a:r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合図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22002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の発音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5286375" cy="4676775"/>
          </a:xfrm>
          <a:prstGeom prst="roundRect">
            <a:avLst>
              <a:gd name="adj" fmla="val 5703"/>
            </a:avLst>
          </a:prstGeom>
          <a:solidFill>
            <a:srgbClr val="DDEFFC"/>
          </a:solidFill>
          <a:ln/>
        </p:spPr>
      </p:sp>
      <p:sp>
        <p:nvSpPr>
          <p:cNvPr id="6" name=""/>
          <p:cNvSpPr/>
          <p:nvPr/>
        </p:nvSpPr>
        <p:spPr>
          <a:xfrm>
            <a:off x="1047750" y="2847975"/>
            <a:ext cx="419100" cy="419100"/>
          </a:xfrm>
          <a:prstGeom prst="ellipse">
            <a:avLst/>
          </a:prstGeom>
          <a:solidFill>
            <a:srgbClr val="2F86CF"/>
          </a:solidFill>
          <a:ln/>
        </p:spPr>
      </p:sp>
      <p:sp>
        <p:nvSpPr>
          <p:cNvPr id="7" name=""/>
          <p:cNvSpPr txBox="1"/>
          <p:nvPr/>
        </p:nvSpPr>
        <p:spPr>
          <a:xfrm>
            <a:off x="1047750" y="2924175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8" name=""/>
          <p:cNvSpPr txBox="1"/>
          <p:nvPr/>
        </p:nvSpPr>
        <p:spPr>
          <a:xfrm>
            <a:off x="1619250" y="28384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舌先は、どこにもつけない</a:t>
            </a:r>
          </a:p>
        </p:txBody>
      </p:sp>
      <p:sp>
        <p:nvSpPr>
          <p:cNvPr id="9" name=""/>
          <p:cNvSpPr txBox="1"/>
          <p:nvPr/>
        </p:nvSpPr>
        <p:spPr>
          <a:xfrm>
            <a:off x="1619250" y="3267075"/>
            <a:ext cx="45339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いちばん大事！ 上あごにも、歯にもつけない</a:t>
            </a:r>
          </a:p>
        </p:txBody>
      </p:sp>
      <p:sp>
        <p:nvSpPr>
          <p:cNvPr id="10" name=""/>
          <p:cNvSpPr/>
          <p:nvPr/>
        </p:nvSpPr>
        <p:spPr>
          <a:xfrm>
            <a:off x="1047750" y="3771900"/>
            <a:ext cx="419100" cy="419100"/>
          </a:xfrm>
          <a:prstGeom prst="ellipse">
            <a:avLst/>
          </a:prstGeom>
          <a:solidFill>
            <a:srgbClr val="2F86C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1019175" y="38481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12" name=""/>
          <p:cNvSpPr txBox="1"/>
          <p:nvPr/>
        </p:nvSpPr>
        <p:spPr>
          <a:xfrm>
            <a:off x="1619250" y="3762375"/>
            <a:ext cx="49149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舌を奥に引いて、口の中で丸める</a:t>
            </a:r>
          </a:p>
        </p:txBody>
      </p:sp>
      <p:sp>
        <p:nvSpPr>
          <p:cNvPr id="13" name=""/>
          <p:cNvSpPr txBox="1"/>
          <p:nvPr/>
        </p:nvSpPr>
        <p:spPr>
          <a:xfrm>
            <a:off x="1619250" y="4181475"/>
            <a:ext cx="45053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舌の両わきが、上の奥歯に軽くふれるくらい</a:t>
            </a:r>
          </a:p>
        </p:txBody>
      </p:sp>
      <p:sp>
        <p:nvSpPr>
          <p:cNvPr id="14" name=""/>
          <p:cNvSpPr/>
          <p:nvPr/>
        </p:nvSpPr>
        <p:spPr>
          <a:xfrm>
            <a:off x="1047750" y="4686300"/>
            <a:ext cx="419100" cy="419100"/>
          </a:xfrm>
          <a:prstGeom prst="ellipse">
            <a:avLst/>
          </a:prstGeom>
          <a:solidFill>
            <a:srgbClr val="2F86CF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019175" y="47625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sp>
        <p:nvSpPr>
          <p:cNvPr id="16" name=""/>
          <p:cNvSpPr txBox="1"/>
          <p:nvPr/>
        </p:nvSpPr>
        <p:spPr>
          <a:xfrm>
            <a:off x="1619250" y="4676775"/>
            <a:ext cx="2790825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唇を少しすぼめる</a:t>
            </a:r>
          </a:p>
        </p:txBody>
      </p:sp>
      <p:sp>
        <p:nvSpPr>
          <p:cNvPr id="17" name=""/>
          <p:cNvSpPr txBox="1"/>
          <p:nvPr/>
        </p:nvSpPr>
        <p:spPr>
          <a:xfrm>
            <a:off x="1619250" y="5095875"/>
            <a:ext cx="13811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「ウ」の口</a:t>
            </a:r>
          </a:p>
        </p:txBody>
      </p:sp>
      <p:sp>
        <p:nvSpPr>
          <p:cNvPr id="18" name=""/>
          <p:cNvSpPr/>
          <p:nvPr/>
        </p:nvSpPr>
        <p:spPr>
          <a:xfrm>
            <a:off x="6219825" y="1762125"/>
            <a:ext cx="5286375" cy="4676775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/>
        </p:spPr>
      </p:sp>
      <p:sp>
        <p:nvSpPr>
          <p:cNvPr id="19" name=""/>
          <p:cNvSpPr/>
          <p:nvPr/>
        </p:nvSpPr>
        <p:spPr>
          <a:xfrm>
            <a:off x="6486525" y="2009775"/>
            <a:ext cx="1181100" cy="42862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20" name=""/>
          <p:cNvSpPr txBox="1"/>
          <p:nvPr/>
        </p:nvSpPr>
        <p:spPr>
          <a:xfrm>
            <a:off x="6657975" y="2066925"/>
            <a:ext cx="13049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F6FB2"/>
                </a:solidFill>
                <a:latin typeface="Noto Sans JP"/>
                <a:ea typeface="Noto Sans JP"/>
              </a:rPr>
              <a:t>つけない</a:t>
            </a:r>
          </a:p>
        </p:txBody>
      </p:sp>
      <p:pic>
        <p:nvPicPr>
          <p:cNvPr id="21" name="Image 0" descr="R：舌を奥に引いて丸め、舌先がどこにもついていない断面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8025" y="2295525"/>
            <a:ext cx="36195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41052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を言ってみよう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10820400" cy="14478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6" name=""/>
          <p:cNvSpPr/>
          <p:nvPr/>
        </p:nvSpPr>
        <p:spPr>
          <a:xfrm>
            <a:off x="1028700" y="2305050"/>
            <a:ext cx="962025" cy="352425"/>
          </a:xfrm>
          <a:prstGeom prst="roundRect">
            <a:avLst>
              <a:gd name="adj" fmla="val 50000"/>
            </a:avLst>
          </a:prstGeom>
          <a:solidFill>
            <a:srgbClr val="2F86CF"/>
          </a:solidFill>
          <a:ln/>
        </p:spPr>
      </p:sp>
      <p:sp>
        <p:nvSpPr>
          <p:cNvPr id="7" name=""/>
          <p:cNvSpPr txBox="1"/>
          <p:nvPr/>
        </p:nvSpPr>
        <p:spPr>
          <a:xfrm>
            <a:off x="1181100" y="236220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STEP 1</a:t>
            </a:r>
          </a:p>
        </p:txBody>
      </p:sp>
      <p:sp>
        <p:nvSpPr>
          <p:cNvPr id="8" name=""/>
          <p:cNvSpPr txBox="1"/>
          <p:nvPr/>
        </p:nvSpPr>
        <p:spPr>
          <a:xfrm>
            <a:off x="2686050" y="2105025"/>
            <a:ext cx="2352675" cy="762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0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4050" b="1">
                <a:solidFill>
                  <a:srgbClr val="2F86CF"/>
                </a:solidFill>
                <a:latin typeface="Noto Sans JP"/>
                <a:ea typeface="Noto Sans JP"/>
              </a:rPr>
              <a:t>〜〜〜</a:t>
            </a:r>
          </a:p>
        </p:txBody>
      </p:sp>
      <p:sp>
        <p:nvSpPr>
          <p:cNvPr id="9" name=""/>
          <p:cNvSpPr txBox="1"/>
          <p:nvPr/>
        </p:nvSpPr>
        <p:spPr>
          <a:xfrm>
            <a:off x="6057900" y="2143125"/>
            <a:ext cx="6115050" cy="666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伸ばす</a:t>
            </a:r>
            <a:pPr/>
            <a:r>
              <a:rPr sz="1750">
                <a:solidFill>
                  <a:srgbClr val="4A5270"/>
                </a:solidFill>
                <a:latin typeface="Noto Sans JP"/>
                <a:ea typeface="Noto Sans JP"/>
              </a:rPr>
              <a:t>：唇を「ウ」にして舌を奥に引き、口の奥でうなるように伸ばす</a:t>
            </a:r>
          </a:p>
        </p:txBody>
      </p:sp>
      <p:sp>
        <p:nvSpPr>
          <p:cNvPr id="10" name=""/>
          <p:cNvSpPr/>
          <p:nvPr/>
        </p:nvSpPr>
        <p:spPr>
          <a:xfrm>
            <a:off x="685800" y="3381375"/>
            <a:ext cx="10820400" cy="14478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11" name=""/>
          <p:cNvSpPr/>
          <p:nvPr/>
        </p:nvSpPr>
        <p:spPr>
          <a:xfrm>
            <a:off x="1028700" y="3924300"/>
            <a:ext cx="1000125" cy="352425"/>
          </a:xfrm>
          <a:prstGeom prst="roundRect">
            <a:avLst>
              <a:gd name="adj" fmla="val 50000"/>
            </a:avLst>
          </a:prstGeom>
          <a:solidFill>
            <a:srgbClr val="2F86CF"/>
          </a:solidFill>
          <a:ln/>
        </p:spPr>
      </p:sp>
      <p:sp>
        <p:nvSpPr>
          <p:cNvPr id="12" name=""/>
          <p:cNvSpPr txBox="1"/>
          <p:nvPr/>
        </p:nvSpPr>
        <p:spPr>
          <a:xfrm>
            <a:off x="1181100" y="398145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STEP 2</a:t>
            </a:r>
          </a:p>
        </p:txBody>
      </p:sp>
      <p:sp>
        <p:nvSpPr>
          <p:cNvPr id="13" name=""/>
          <p:cNvSpPr txBox="1"/>
          <p:nvPr/>
        </p:nvSpPr>
        <p:spPr>
          <a:xfrm>
            <a:off x="2686050" y="3762375"/>
            <a:ext cx="2724150" cy="676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0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4050" b="1">
                <a:solidFill>
                  <a:srgbClr val="1C2340"/>
                </a:solidFill>
                <a:latin typeface="DM Sans"/>
                <a:ea typeface="DM Sans"/>
              </a:rPr>
              <a:t>a, </a:t>
            </a:r>
            <a:pPr/>
            <a:r>
              <a:rPr sz="40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4050" b="1">
                <a:solidFill>
                  <a:srgbClr val="1C2340"/>
                </a:solidFill>
                <a:latin typeface="DM Sans"/>
                <a:ea typeface="DM Sans"/>
              </a:rPr>
              <a:t>a, </a:t>
            </a:r>
            <a:pPr/>
            <a:r>
              <a:rPr sz="40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4050" b="1">
                <a:solidFill>
                  <a:srgbClr val="1C2340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4" name=""/>
          <p:cNvSpPr txBox="1"/>
          <p:nvPr/>
        </p:nvSpPr>
        <p:spPr>
          <a:xfrm>
            <a:off x="6057900" y="3933825"/>
            <a:ext cx="487680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つなげる</a:t>
            </a:r>
            <a:pPr/>
            <a:r>
              <a:rPr sz="1750">
                <a:solidFill>
                  <a:srgbClr val="4A5270"/>
                </a:solidFill>
                <a:latin typeface="Noto Sans JP"/>
                <a:ea typeface="Noto Sans JP"/>
              </a:rPr>
              <a:t>：舌先をつけないまま「ア」へ</a:t>
            </a:r>
          </a:p>
        </p:txBody>
      </p:sp>
      <p:sp>
        <p:nvSpPr>
          <p:cNvPr id="15" name=""/>
          <p:cNvSpPr/>
          <p:nvPr/>
        </p:nvSpPr>
        <p:spPr>
          <a:xfrm>
            <a:off x="685800" y="4991100"/>
            <a:ext cx="10820400" cy="14478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1028700" y="5524500"/>
            <a:ext cx="695325" cy="381000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/>
        </p:spPr>
      </p:sp>
      <p:sp>
        <p:nvSpPr>
          <p:cNvPr id="17" name=""/>
          <p:cNvSpPr txBox="1"/>
          <p:nvPr/>
        </p:nvSpPr>
        <p:spPr>
          <a:xfrm>
            <a:off x="1181100" y="5610225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FFFFFF"/>
                </a:solidFill>
                <a:latin typeface="Noto Sans JP"/>
                <a:ea typeface="Noto Sans JP"/>
              </a:rPr>
              <a:t>コツ</a:t>
            </a:r>
          </a:p>
        </p:txBody>
      </p:sp>
      <p:sp>
        <p:nvSpPr>
          <p:cNvPr id="18" name=""/>
          <p:cNvSpPr txBox="1"/>
          <p:nvPr/>
        </p:nvSpPr>
        <p:spPr>
          <a:xfrm>
            <a:off x="2686050" y="5381625"/>
            <a:ext cx="3076575" cy="676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Noto Sans JP"/>
                <a:ea typeface="Noto Sans JP"/>
              </a:rPr>
              <a:t>（ゥ）</a:t>
            </a:r>
            <a:pPr/>
            <a:r>
              <a:rPr sz="40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405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9" name=""/>
          <p:cNvSpPr txBox="1"/>
          <p:nvPr/>
        </p:nvSpPr>
        <p:spPr>
          <a:xfrm>
            <a:off x="6057900" y="5381625"/>
            <a:ext cx="6124575" cy="666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750">
                <a:solidFill>
                  <a:srgbClr val="4A5270"/>
                </a:solidFill>
                <a:latin typeface="Noto Sans JP"/>
                <a:ea typeface="Noto Sans JP"/>
              </a:rPr>
              <a:t>唇をすぼめて小さい「ゥ」から入ると、</a:t>
            </a:r>
            <a:pPr/>
            <a:r>
              <a:rPr sz="1750" b="1">
                <a:solidFill>
                  <a:srgbClr val="1C2340"/>
                </a:solidFill>
                <a:latin typeface="Noto Sans JP"/>
                <a:ea typeface="Noto Sans JP"/>
              </a:rPr>
              <a:t>舌が上あごから離れたまま</a:t>
            </a:r>
            <a:pPr/>
            <a:r>
              <a:rPr sz="1750">
                <a:solidFill>
                  <a:srgbClr val="4A5270"/>
                </a:solidFill>
                <a:latin typeface="Noto Sans JP"/>
                <a:ea typeface="Noto Sans JP"/>
              </a:rPr>
              <a:t>になる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22002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の単語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685925"/>
            <a:ext cx="5124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私のあとに続いて、声に出して言ってみよう</a:t>
            </a:r>
          </a:p>
        </p:txBody>
      </p:sp>
      <p:sp>
        <p:nvSpPr>
          <p:cNvPr id="6" name=""/>
          <p:cNvSpPr/>
          <p:nvPr/>
        </p:nvSpPr>
        <p:spPr>
          <a:xfrm>
            <a:off x="685800" y="2181225"/>
            <a:ext cx="2028825" cy="42576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7" name=""/>
          <p:cNvSpPr/>
          <p:nvPr/>
        </p:nvSpPr>
        <p:spPr>
          <a:xfrm>
            <a:off x="800100" y="3019425"/>
            <a:ext cx="1800225" cy="1524000"/>
          </a:xfrm>
          <a:prstGeom prst="roundRect">
            <a:avLst>
              <a:gd name="adj" fmla="val 12500"/>
            </a:avLst>
          </a:prstGeom>
          <a:solidFill>
            <a:srgbClr val="DDEFFC"/>
          </a:solidFill>
          <a:ln/>
        </p:spPr>
      </p:sp>
      <p:pic>
        <p:nvPicPr>
          <p:cNvPr id="8" name="Image 0" descr="右向きの矢印の標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3114675"/>
            <a:ext cx="1333500" cy="13335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1190625" y="4714875"/>
            <a:ext cx="15144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0" name=""/>
          <p:cNvSpPr txBox="1"/>
          <p:nvPr/>
        </p:nvSpPr>
        <p:spPr>
          <a:xfrm>
            <a:off x="1219200" y="5324475"/>
            <a:ext cx="14382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右・正しい</a:t>
            </a:r>
          </a:p>
        </p:txBody>
      </p:sp>
      <p:sp>
        <p:nvSpPr>
          <p:cNvPr id="11" name=""/>
          <p:cNvSpPr/>
          <p:nvPr/>
        </p:nvSpPr>
        <p:spPr>
          <a:xfrm>
            <a:off x="2886075" y="2181225"/>
            <a:ext cx="2028825" cy="42576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3000375" y="3019425"/>
            <a:ext cx="1800225" cy="1524000"/>
          </a:xfrm>
          <a:prstGeom prst="roundRect">
            <a:avLst>
              <a:gd name="adj" fmla="val 12500"/>
            </a:avLst>
          </a:prstGeom>
          <a:solidFill>
            <a:srgbClr val="FFE4EC"/>
          </a:solidFill>
          <a:ln/>
        </p:spPr>
      </p:sp>
      <p:pic>
        <p:nvPicPr>
          <p:cNvPr id="13" name="Image 1" descr="赤い絵の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75" y="3114675"/>
            <a:ext cx="1333500" cy="133350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3533775" y="4714875"/>
            <a:ext cx="11811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ed</a:t>
            </a:r>
          </a:p>
        </p:txBody>
      </p:sp>
      <p:sp>
        <p:nvSpPr>
          <p:cNvPr id="15" name=""/>
          <p:cNvSpPr txBox="1"/>
          <p:nvPr/>
        </p:nvSpPr>
        <p:spPr>
          <a:xfrm>
            <a:off x="3800475" y="5324475"/>
            <a:ext cx="5619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赤</a:t>
            </a:r>
          </a:p>
        </p:txBody>
      </p:sp>
      <p:sp>
        <p:nvSpPr>
          <p:cNvPr id="16" name=""/>
          <p:cNvSpPr/>
          <p:nvPr/>
        </p:nvSpPr>
        <p:spPr>
          <a:xfrm>
            <a:off x="5086350" y="2181225"/>
            <a:ext cx="2028825" cy="42576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17" name=""/>
          <p:cNvSpPr/>
          <p:nvPr/>
        </p:nvSpPr>
        <p:spPr>
          <a:xfrm>
            <a:off x="5200650" y="3019425"/>
            <a:ext cx="1800225" cy="1524000"/>
          </a:xfrm>
          <a:prstGeom prst="roundRect">
            <a:avLst>
              <a:gd name="adj" fmla="val 12500"/>
            </a:avLst>
          </a:prstGeom>
          <a:solidFill>
            <a:srgbClr val="FFF2C9"/>
          </a:solidFill>
          <a:ln/>
        </p:spPr>
      </p:sp>
      <p:pic>
        <p:nvPicPr>
          <p:cNvPr id="18" name="Image 2" descr="ごはん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3114675"/>
            <a:ext cx="1333500" cy="1333500"/>
          </a:xfrm>
          <a:prstGeom prst="rect">
            <a:avLst/>
          </a:prstGeom>
        </p:spPr>
      </p:pic>
      <p:sp>
        <p:nvSpPr>
          <p:cNvPr id="19" name=""/>
          <p:cNvSpPr txBox="1"/>
          <p:nvPr/>
        </p:nvSpPr>
        <p:spPr>
          <a:xfrm>
            <a:off x="5676900" y="4714875"/>
            <a:ext cx="12954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ice</a:t>
            </a:r>
          </a:p>
        </p:txBody>
      </p:sp>
      <p:sp>
        <p:nvSpPr>
          <p:cNvPr id="20" name=""/>
          <p:cNvSpPr txBox="1"/>
          <p:nvPr/>
        </p:nvSpPr>
        <p:spPr>
          <a:xfrm>
            <a:off x="5524500" y="5324475"/>
            <a:ext cx="16573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お米・ごはん</a:t>
            </a:r>
          </a:p>
        </p:txBody>
      </p:sp>
      <p:sp>
        <p:nvSpPr>
          <p:cNvPr id="21" name=""/>
          <p:cNvSpPr/>
          <p:nvPr/>
        </p:nvSpPr>
        <p:spPr>
          <a:xfrm>
            <a:off x="7277100" y="2181225"/>
            <a:ext cx="2028825" cy="42576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22" name=""/>
          <p:cNvSpPr/>
          <p:nvPr/>
        </p:nvSpPr>
        <p:spPr>
          <a:xfrm>
            <a:off x="7391400" y="3019425"/>
            <a:ext cx="1800225" cy="1524000"/>
          </a:xfrm>
          <a:prstGeom prst="roundRect">
            <a:avLst>
              <a:gd name="adj" fmla="val 12500"/>
            </a:avLst>
          </a:prstGeom>
          <a:solidFill>
            <a:srgbClr val="FFE8DC"/>
          </a:solidFill>
          <a:ln/>
        </p:spPr>
      </p:sp>
      <p:pic>
        <p:nvPicPr>
          <p:cNvPr id="23" name="Image 3" descr="祈る手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525" y="3114675"/>
            <a:ext cx="1333500" cy="1333500"/>
          </a:xfrm>
          <a:prstGeom prst="rect">
            <a:avLst/>
          </a:prstGeom>
        </p:spPr>
      </p:pic>
      <p:sp>
        <p:nvSpPr>
          <p:cNvPr id="24" name=""/>
          <p:cNvSpPr txBox="1"/>
          <p:nvPr/>
        </p:nvSpPr>
        <p:spPr>
          <a:xfrm>
            <a:off x="7800975" y="4714875"/>
            <a:ext cx="146685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p</a:t>
            </a:r>
            <a:pPr/>
            <a:r>
              <a:rPr sz="34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ay</a:t>
            </a:r>
          </a:p>
        </p:txBody>
      </p:sp>
      <p:sp>
        <p:nvSpPr>
          <p:cNvPr id="25" name=""/>
          <p:cNvSpPr txBox="1"/>
          <p:nvPr/>
        </p:nvSpPr>
        <p:spPr>
          <a:xfrm>
            <a:off x="8105775" y="5324475"/>
            <a:ext cx="7810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祈る</a:t>
            </a:r>
          </a:p>
        </p:txBody>
      </p:sp>
      <p:sp>
        <p:nvSpPr>
          <p:cNvPr id="26" name=""/>
          <p:cNvSpPr/>
          <p:nvPr/>
        </p:nvSpPr>
        <p:spPr>
          <a:xfrm>
            <a:off x="9477375" y="2181225"/>
            <a:ext cx="2028825" cy="4257675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27" name=""/>
          <p:cNvSpPr/>
          <p:nvPr/>
        </p:nvSpPr>
        <p:spPr>
          <a:xfrm>
            <a:off x="9591675" y="3019425"/>
            <a:ext cx="1800225" cy="1524000"/>
          </a:xfrm>
          <a:prstGeom prst="roundRect">
            <a:avLst>
              <a:gd name="adj" fmla="val 12500"/>
            </a:avLst>
          </a:prstGeom>
          <a:solidFill>
            <a:srgbClr val="DDEFFC"/>
          </a:solidFill>
          <a:ln/>
        </p:spPr>
      </p:sp>
      <p:pic>
        <p:nvPicPr>
          <p:cNvPr id="28" name="Image 4" descr="草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3114675"/>
            <a:ext cx="1333500" cy="1333500"/>
          </a:xfrm>
          <a:prstGeom prst="rect">
            <a:avLst/>
          </a:prstGeom>
        </p:spPr>
      </p:pic>
      <p:sp>
        <p:nvSpPr>
          <p:cNvPr id="29" name=""/>
          <p:cNvSpPr txBox="1"/>
          <p:nvPr/>
        </p:nvSpPr>
        <p:spPr>
          <a:xfrm>
            <a:off x="9915525" y="4714875"/>
            <a:ext cx="16764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g</a:t>
            </a:r>
            <a:pPr/>
            <a:r>
              <a:rPr sz="34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ass</a:t>
            </a:r>
          </a:p>
        </p:txBody>
      </p:sp>
      <p:sp>
        <p:nvSpPr>
          <p:cNvPr id="30" name=""/>
          <p:cNvSpPr txBox="1"/>
          <p:nvPr/>
        </p:nvSpPr>
        <p:spPr>
          <a:xfrm>
            <a:off x="10115550" y="5324475"/>
            <a:ext cx="12192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草・芝生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79724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ができているか、チェックしよう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5286375" cy="4676775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/>
        </p:spPr>
      </p:sp>
      <p:sp>
        <p:nvSpPr>
          <p:cNvPr id="6" name=""/>
          <p:cNvSpPr txBox="1"/>
          <p:nvPr/>
        </p:nvSpPr>
        <p:spPr>
          <a:xfrm>
            <a:off x="1590675" y="2009775"/>
            <a:ext cx="1876425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鏡チェック</a:t>
            </a:r>
          </a:p>
        </p:txBody>
      </p:sp>
      <p:sp>
        <p:nvSpPr>
          <p:cNvPr id="7" name=""/>
          <p:cNvSpPr/>
          <p:nvPr/>
        </p:nvSpPr>
        <p:spPr>
          <a:xfrm>
            <a:off x="1009650" y="2019300"/>
            <a:ext cx="447675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8" name=""/>
          <p:cNvSpPr txBox="1"/>
          <p:nvPr/>
        </p:nvSpPr>
        <p:spPr>
          <a:xfrm>
            <a:off x="1181100" y="2076450"/>
            <a:ext cx="4572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1</a:t>
            </a:r>
          </a:p>
        </p:txBody>
      </p:sp>
      <p:pic>
        <p:nvPicPr>
          <p:cNvPr id="9" name="Image 0" descr="R のときの口を正面から見た図。唇が丸く、舌先は見えな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125" y="2781300"/>
            <a:ext cx="2381250" cy="238125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2190750" y="5553075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舌先が</a:t>
            </a:r>
            <a:pPr algn="ctr"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見えない</a:t>
            </a:r>
            <a:pPr algn="ctr"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。</a:t>
            </a:r>
          </a:p>
        </p:txBody>
      </p:sp>
      <p:sp>
        <p:nvSpPr>
          <p:cNvPr id="11" name=""/>
          <p:cNvSpPr txBox="1"/>
          <p:nvPr/>
        </p:nvSpPr>
        <p:spPr>
          <a:xfrm>
            <a:off x="1838325" y="5876925"/>
            <a:ext cx="29813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唇が少し</a:t>
            </a:r>
            <a:pPr algn="ctr"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丸く</a:t>
            </a:r>
            <a:pPr algn="ctr"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なっている</a:t>
            </a:r>
          </a:p>
        </p:txBody>
      </p:sp>
      <p:sp>
        <p:nvSpPr>
          <p:cNvPr id="12" name=""/>
          <p:cNvSpPr/>
          <p:nvPr/>
        </p:nvSpPr>
        <p:spPr>
          <a:xfrm>
            <a:off x="6219825" y="1762125"/>
            <a:ext cx="5286375" cy="4676775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/>
        </p:spPr>
      </p:sp>
      <p:sp>
        <p:nvSpPr>
          <p:cNvPr id="13" name=""/>
          <p:cNvSpPr txBox="1"/>
          <p:nvPr/>
        </p:nvSpPr>
        <p:spPr>
          <a:xfrm>
            <a:off x="7124700" y="2009775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伸ばしチェック</a:t>
            </a:r>
          </a:p>
        </p:txBody>
      </p:sp>
      <p:sp>
        <p:nvSpPr>
          <p:cNvPr id="14" name=""/>
          <p:cNvSpPr/>
          <p:nvPr/>
        </p:nvSpPr>
        <p:spPr>
          <a:xfrm>
            <a:off x="6543675" y="2019300"/>
            <a:ext cx="447675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5" name=""/>
          <p:cNvSpPr txBox="1"/>
          <p:nvPr/>
        </p:nvSpPr>
        <p:spPr>
          <a:xfrm>
            <a:off x="6715125" y="2076450"/>
            <a:ext cx="4572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16" name=""/>
          <p:cNvSpPr txBox="1"/>
          <p:nvPr/>
        </p:nvSpPr>
        <p:spPr>
          <a:xfrm>
            <a:off x="6543675" y="3276600"/>
            <a:ext cx="164782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550" b="1">
                <a:solidFill>
                  <a:srgbClr val="2F86CF"/>
                </a:solidFill>
                <a:latin typeface="Noto Sans JP"/>
                <a:ea typeface="Noto Sans JP"/>
              </a:rPr>
              <a:t>〜〜〜</a:t>
            </a:r>
          </a:p>
        </p:txBody>
      </p:sp>
      <p:sp>
        <p:nvSpPr>
          <p:cNvPr id="17" name=""/>
          <p:cNvSpPr/>
          <p:nvPr/>
        </p:nvSpPr>
        <p:spPr>
          <a:xfrm>
            <a:off x="8124825" y="3400425"/>
            <a:ext cx="1476375" cy="247650"/>
          </a:xfrm>
          <a:prstGeom prst="roundRect">
            <a:avLst>
              <a:gd name="adj" fmla="val 50000"/>
            </a:avLst>
          </a:prstGeom>
          <a:solidFill>
            <a:srgbClr val="2F86CF"/>
          </a:solidFill>
          <a:ln/>
        </p:spPr>
      </p:sp>
      <p:sp>
        <p:nvSpPr>
          <p:cNvPr id="18" name=""/>
          <p:cNvSpPr txBox="1"/>
          <p:nvPr/>
        </p:nvSpPr>
        <p:spPr>
          <a:xfrm>
            <a:off x="9753600" y="3390900"/>
            <a:ext cx="14859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F6FB2"/>
                </a:solidFill>
                <a:latin typeface="Noto Sans JP"/>
                <a:ea typeface="Noto Sans JP"/>
              </a:rPr>
              <a:t>○ 伸ばせる</a:t>
            </a:r>
          </a:p>
        </p:txBody>
      </p:sp>
      <p:sp>
        <p:nvSpPr>
          <p:cNvPr id="19" name=""/>
          <p:cNvSpPr txBox="1"/>
          <p:nvPr/>
        </p:nvSpPr>
        <p:spPr>
          <a:xfrm>
            <a:off x="6543675" y="3981450"/>
            <a:ext cx="78105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8A90A8"/>
                </a:solidFill>
                <a:latin typeface="Noto Sans JP"/>
                <a:ea typeface="Noto Sans JP"/>
              </a:rPr>
              <a:t>ら</a:t>
            </a:r>
          </a:p>
        </p:txBody>
      </p:sp>
      <p:sp>
        <p:nvSpPr>
          <p:cNvPr id="20" name=""/>
          <p:cNvSpPr/>
          <p:nvPr/>
        </p:nvSpPr>
        <p:spPr>
          <a:xfrm>
            <a:off x="8124825" y="4133850"/>
            <a:ext cx="381000" cy="247650"/>
          </a:xfrm>
          <a:prstGeom prst="roundRect">
            <a:avLst>
              <a:gd name="adj" fmla="val 50000"/>
            </a:avLst>
          </a:prstGeom>
          <a:solidFill>
            <a:srgbClr val="B7BCCB"/>
          </a:solidFill>
          <a:ln/>
        </p:spPr>
      </p:sp>
      <p:sp>
        <p:nvSpPr>
          <p:cNvPr id="21" name=""/>
          <p:cNvSpPr txBox="1"/>
          <p:nvPr/>
        </p:nvSpPr>
        <p:spPr>
          <a:xfrm>
            <a:off x="9753600" y="4124325"/>
            <a:ext cx="17049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8A90A8"/>
                </a:solidFill>
                <a:latin typeface="Noto Sans JP"/>
                <a:ea typeface="Noto Sans JP"/>
              </a:rPr>
              <a:t>× 伸ばせない</a:t>
            </a:r>
          </a:p>
        </p:txBody>
      </p:sp>
      <p:sp>
        <p:nvSpPr>
          <p:cNvPr id="22" name=""/>
          <p:cNvSpPr/>
          <p:nvPr/>
        </p:nvSpPr>
        <p:spPr>
          <a:xfrm>
            <a:off x="6543675" y="5429250"/>
            <a:ext cx="4638675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23" name=""/>
          <p:cNvSpPr txBox="1"/>
          <p:nvPr/>
        </p:nvSpPr>
        <p:spPr>
          <a:xfrm>
            <a:off x="6543675" y="5581650"/>
            <a:ext cx="35623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途中で「ら」っぽくなったら、</a:t>
            </a:r>
          </a:p>
        </p:txBody>
      </p:sp>
      <p:sp>
        <p:nvSpPr>
          <p:cNvPr id="24" name=""/>
          <p:cNvSpPr txBox="1"/>
          <p:nvPr/>
        </p:nvSpPr>
        <p:spPr>
          <a:xfrm>
            <a:off x="6543675" y="5886450"/>
            <a:ext cx="28670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舌を</a:t>
            </a:r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奥に引いて</a:t>
            </a:r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やり直し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100488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おさらい：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は「つける」、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は「つけない」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3467100" cy="4676775"/>
          </a:xfrm>
          <a:prstGeom prst="roundRect">
            <a:avLst>
              <a:gd name="adj" fmla="val 7692"/>
            </a:avLst>
          </a:prstGeom>
          <a:solidFill>
            <a:srgbClr val="FFE8DC"/>
          </a:solidFill>
          <a:ln/>
        </p:spPr>
      </p:sp>
      <p:sp>
        <p:nvSpPr>
          <p:cNvPr id="6" name=""/>
          <p:cNvSpPr/>
          <p:nvPr/>
        </p:nvSpPr>
        <p:spPr>
          <a:xfrm>
            <a:off x="914400" y="195262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E846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942975" y="2047875"/>
            <a:ext cx="552450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550" b="1">
                <a:solidFill>
                  <a:srgbClr val="FFFFFF"/>
                </a:solidFill>
                <a:latin typeface="DM Sans"/>
                <a:ea typeface="DM Sans"/>
              </a:rPr>
              <a:t>L</a:t>
            </a:r>
          </a:p>
        </p:txBody>
      </p:sp>
      <p:sp>
        <p:nvSpPr>
          <p:cNvPr id="8" name=""/>
          <p:cNvSpPr txBox="1"/>
          <p:nvPr/>
        </p:nvSpPr>
        <p:spPr>
          <a:xfrm>
            <a:off x="1676400" y="2000250"/>
            <a:ext cx="15906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つける</a:t>
            </a:r>
          </a:p>
        </p:txBody>
      </p:sp>
      <p:pic>
        <p:nvPicPr>
          <p:cNvPr id="9" name="Image 0" descr="L の舌の位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225" y="2638425"/>
            <a:ext cx="2000250" cy="200025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1466850" y="4714875"/>
            <a:ext cx="25336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舌先を上の前歯の裏に</a:t>
            </a:r>
          </a:p>
        </p:txBody>
      </p:sp>
      <p:sp>
        <p:nvSpPr>
          <p:cNvPr id="11" name=""/>
          <p:cNvSpPr txBox="1"/>
          <p:nvPr/>
        </p:nvSpPr>
        <p:spPr>
          <a:xfrm>
            <a:off x="1485900" y="5000625"/>
            <a:ext cx="18669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ペタッとつける</a:t>
            </a:r>
          </a:p>
        </p:txBody>
      </p:sp>
      <p:sp>
        <p:nvSpPr>
          <p:cNvPr id="12" name=""/>
          <p:cNvSpPr/>
          <p:nvPr/>
        </p:nvSpPr>
        <p:spPr>
          <a:xfrm>
            <a:off x="4362450" y="1762125"/>
            <a:ext cx="3467100" cy="4676775"/>
          </a:xfrm>
          <a:prstGeom prst="roundRect">
            <a:avLst>
              <a:gd name="adj" fmla="val 7692"/>
            </a:avLst>
          </a:prstGeom>
          <a:solidFill>
            <a:srgbClr val="DDEFFC"/>
          </a:solidFill>
          <a:ln/>
        </p:spPr>
      </p:sp>
      <p:sp>
        <p:nvSpPr>
          <p:cNvPr id="13" name=""/>
          <p:cNvSpPr/>
          <p:nvPr/>
        </p:nvSpPr>
        <p:spPr>
          <a:xfrm>
            <a:off x="4591050" y="195262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2F86CF"/>
          </a:solidFill>
          <a:ln/>
        </p:spPr>
      </p:sp>
      <p:sp>
        <p:nvSpPr>
          <p:cNvPr id="14" name=""/>
          <p:cNvSpPr txBox="1"/>
          <p:nvPr/>
        </p:nvSpPr>
        <p:spPr>
          <a:xfrm>
            <a:off x="4610100" y="2047875"/>
            <a:ext cx="581025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550" b="1">
                <a:solidFill>
                  <a:srgbClr val="FFFFFF"/>
                </a:solidFill>
                <a:latin typeface="DM Sans"/>
                <a:ea typeface="DM Sans"/>
              </a:rPr>
              <a:t>R</a:t>
            </a:r>
          </a:p>
        </p:txBody>
      </p:sp>
      <p:sp>
        <p:nvSpPr>
          <p:cNvPr id="15" name=""/>
          <p:cNvSpPr txBox="1"/>
          <p:nvPr/>
        </p:nvSpPr>
        <p:spPr>
          <a:xfrm>
            <a:off x="5353050" y="2000250"/>
            <a:ext cx="20097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つけない</a:t>
            </a:r>
          </a:p>
        </p:txBody>
      </p:sp>
      <p:pic>
        <p:nvPicPr>
          <p:cNvPr id="16" name="Image 1" descr="R の舌の位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5" y="2638425"/>
            <a:ext cx="2000250" cy="200025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5143500" y="4714875"/>
            <a:ext cx="25241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舌を奥に引いて丸める</a:t>
            </a:r>
          </a:p>
        </p:txBody>
      </p:sp>
      <p:sp>
        <p:nvSpPr>
          <p:cNvPr id="18" name=""/>
          <p:cNvSpPr txBox="1"/>
          <p:nvPr/>
        </p:nvSpPr>
        <p:spPr>
          <a:xfrm>
            <a:off x="5381625" y="5000625"/>
            <a:ext cx="14382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唇は「ウ」</a:t>
            </a:r>
          </a:p>
        </p:txBody>
      </p:sp>
      <p:sp>
        <p:nvSpPr>
          <p:cNvPr id="19" name=""/>
          <p:cNvSpPr/>
          <p:nvPr/>
        </p:nvSpPr>
        <p:spPr>
          <a:xfrm>
            <a:off x="8039100" y="1762125"/>
            <a:ext cx="3467100" cy="4676775"/>
          </a:xfrm>
          <a:prstGeom prst="roundRect">
            <a:avLst>
              <a:gd name="adj" fmla="val 7692"/>
            </a:avLst>
          </a:prstGeom>
          <a:solidFill>
            <a:srgbClr val="F3F7FC"/>
          </a:solidFill>
          <a:ln w="19050">
            <a:solidFill>
              <a:srgbClr val="D6E2F0"/>
            </a:solidFill>
            <a:prstDash val="dash"/>
          </a:ln>
        </p:spPr>
      </p:sp>
      <p:sp>
        <p:nvSpPr>
          <p:cNvPr id="20" name=""/>
          <p:cNvSpPr/>
          <p:nvPr/>
        </p:nvSpPr>
        <p:spPr>
          <a:xfrm>
            <a:off x="8286750" y="197167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B7BCCB"/>
          </a:solidFill>
          <a:ln/>
        </p:spPr>
      </p:sp>
      <p:sp>
        <p:nvSpPr>
          <p:cNvPr id="21" name=""/>
          <p:cNvSpPr txBox="1"/>
          <p:nvPr/>
        </p:nvSpPr>
        <p:spPr>
          <a:xfrm>
            <a:off x="8229600" y="2047875"/>
            <a:ext cx="7143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550" b="1">
                <a:solidFill>
                  <a:srgbClr val="8A90A8"/>
                </a:solidFill>
                <a:latin typeface="Noto Sans JP"/>
                <a:ea typeface="Noto Sans JP"/>
              </a:rPr>
              <a:t>ら</a:t>
            </a:r>
          </a:p>
        </p:txBody>
      </p:sp>
      <p:sp>
        <p:nvSpPr>
          <p:cNvPr id="22" name=""/>
          <p:cNvSpPr txBox="1"/>
          <p:nvPr/>
        </p:nvSpPr>
        <p:spPr>
          <a:xfrm>
            <a:off x="9048750" y="2019300"/>
            <a:ext cx="15906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はじく</a:t>
            </a:r>
          </a:p>
        </p:txBody>
      </p:sp>
      <p:pic>
        <p:nvPicPr>
          <p:cNvPr id="23" name="Image 2" descr="ら の舌の動き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525" y="2657475"/>
            <a:ext cx="2000250" cy="2000250"/>
          </a:xfrm>
          <a:prstGeom prst="rect">
            <a:avLst/>
          </a:prstGeom>
        </p:spPr>
      </p:pic>
      <p:sp>
        <p:nvSpPr>
          <p:cNvPr id="24" name=""/>
          <p:cNvSpPr txBox="1"/>
          <p:nvPr/>
        </p:nvSpPr>
        <p:spPr>
          <a:xfrm>
            <a:off x="8829675" y="4733925"/>
            <a:ext cx="25146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舌先で一瞬はじいて、</a:t>
            </a:r>
          </a:p>
        </p:txBody>
      </p:sp>
      <p:sp>
        <p:nvSpPr>
          <p:cNvPr id="25" name=""/>
          <p:cNvSpPr txBox="1"/>
          <p:nvPr/>
        </p:nvSpPr>
        <p:spPr>
          <a:xfrm>
            <a:off x="9058275" y="5019675"/>
            <a:ext cx="14382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すぐ離れる</a:t>
            </a:r>
          </a:p>
        </p:txBody>
      </p:sp>
      <p:sp>
        <p:nvSpPr>
          <p:cNvPr id="26" name=""/>
          <p:cNvSpPr/>
          <p:nvPr/>
        </p:nvSpPr>
        <p:spPr>
          <a:xfrm>
            <a:off x="8267700" y="3190875"/>
            <a:ext cx="3009900" cy="1457325"/>
          </a:xfrm>
          <a:prstGeom prst="roundRect">
            <a:avLst>
              <a:gd name="adj" fmla="val 11765"/>
            </a:avLst>
          </a:prstGeom>
          <a:solidFill>
            <a:srgbClr val="FFFFFF">
              <a:alpha val="85000"/>
            </a:srgbClr>
          </a:solidFill>
          <a:ln w="57150">
            <a:solidFill>
              <a:srgbClr val="E8461E"/>
            </a:solidFill>
            <a:prstDash val="solid"/>
          </a:ln>
        </p:spPr>
      </p:sp>
      <p:sp>
        <p:nvSpPr>
          <p:cNvPr id="27" name=""/>
          <p:cNvSpPr txBox="1"/>
          <p:nvPr/>
        </p:nvSpPr>
        <p:spPr>
          <a:xfrm>
            <a:off x="8591550" y="3400425"/>
            <a:ext cx="3048000" cy="1019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E8461E"/>
                </a:solidFill>
                <a:latin typeface="Noto Sans JP"/>
                <a:ea typeface="Noto Sans JP"/>
              </a:rPr>
              <a:t>今日は封印！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50768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を比べてみよう</a:t>
            </a:r>
          </a:p>
        </p:txBody>
      </p:sp>
      <p:sp>
        <p:nvSpPr>
          <p:cNvPr id="5" name=""/>
          <p:cNvSpPr/>
          <p:nvPr/>
        </p:nvSpPr>
        <p:spPr>
          <a:xfrm>
            <a:off x="685800" y="1704975"/>
            <a:ext cx="1362075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7250" y="1762125"/>
            <a:ext cx="1514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L → R の順に</a:t>
            </a:r>
          </a:p>
        </p:txBody>
      </p:sp>
      <p:sp>
        <p:nvSpPr>
          <p:cNvPr id="7" name=""/>
          <p:cNvSpPr txBox="1"/>
          <p:nvPr/>
        </p:nvSpPr>
        <p:spPr>
          <a:xfrm>
            <a:off x="2181225" y="1714500"/>
            <a:ext cx="80200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最初はゆっくり、おおげさに → 次はふつうのスピードで</a:t>
            </a:r>
          </a:p>
        </p:txBody>
      </p:sp>
      <p:sp>
        <p:nvSpPr>
          <p:cNvPr id="8" name=""/>
          <p:cNvSpPr/>
          <p:nvPr/>
        </p:nvSpPr>
        <p:spPr>
          <a:xfrm>
            <a:off x="685800" y="2247900"/>
            <a:ext cx="5334000" cy="12954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/>
        </p:spPr>
      </p:sp>
      <p:pic>
        <p:nvPicPr>
          <p:cNvPr id="9" name="Image 0" descr="電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457450"/>
            <a:ext cx="876300" cy="87630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1866900" y="2552700"/>
            <a:ext cx="12096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1" name=""/>
          <p:cNvSpPr txBox="1"/>
          <p:nvPr/>
        </p:nvSpPr>
        <p:spPr>
          <a:xfrm>
            <a:off x="1866900" y="29622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光</a:t>
            </a:r>
          </a:p>
        </p:txBody>
      </p:sp>
      <p:sp>
        <p:nvSpPr>
          <p:cNvPr id="12" name=""/>
          <p:cNvSpPr txBox="1"/>
          <p:nvPr/>
        </p:nvSpPr>
        <p:spPr>
          <a:xfrm>
            <a:off x="3114675" y="271462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13" name="Image 1" descr="右向きの矢印の標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2457450"/>
            <a:ext cx="876300" cy="87630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4486275" y="2552700"/>
            <a:ext cx="12573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ight</a:t>
            </a:r>
          </a:p>
        </p:txBody>
      </p:sp>
      <p:sp>
        <p:nvSpPr>
          <p:cNvPr id="15" name=""/>
          <p:cNvSpPr txBox="1"/>
          <p:nvPr/>
        </p:nvSpPr>
        <p:spPr>
          <a:xfrm>
            <a:off x="4486275" y="29622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右</a:t>
            </a:r>
          </a:p>
        </p:txBody>
      </p:sp>
      <p:sp>
        <p:nvSpPr>
          <p:cNvPr id="16" name=""/>
          <p:cNvSpPr/>
          <p:nvPr/>
        </p:nvSpPr>
        <p:spPr>
          <a:xfrm>
            <a:off x="6172200" y="2247900"/>
            <a:ext cx="5334000" cy="12954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/>
        </p:spPr>
      </p:sp>
      <p:pic>
        <p:nvPicPr>
          <p:cNvPr id="17" name="Image 2" descr="シラミ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457450"/>
            <a:ext cx="876300" cy="87630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7353300" y="2552700"/>
            <a:ext cx="10382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ice</a:t>
            </a:r>
          </a:p>
        </p:txBody>
      </p:sp>
      <p:sp>
        <p:nvSpPr>
          <p:cNvPr id="19" name=""/>
          <p:cNvSpPr txBox="1"/>
          <p:nvPr/>
        </p:nvSpPr>
        <p:spPr>
          <a:xfrm>
            <a:off x="7353300" y="296227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シラミ</a:t>
            </a:r>
          </a:p>
        </p:txBody>
      </p:sp>
      <p:sp>
        <p:nvSpPr>
          <p:cNvPr id="20" name=""/>
          <p:cNvSpPr txBox="1"/>
          <p:nvPr/>
        </p:nvSpPr>
        <p:spPr>
          <a:xfrm>
            <a:off x="8601075" y="271462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21" name="Image 3" descr="ごはん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025" y="2457450"/>
            <a:ext cx="876300" cy="87630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9972675" y="2552700"/>
            <a:ext cx="10858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ice</a:t>
            </a:r>
          </a:p>
        </p:txBody>
      </p:sp>
      <p:sp>
        <p:nvSpPr>
          <p:cNvPr id="23" name=""/>
          <p:cNvSpPr txBox="1"/>
          <p:nvPr/>
        </p:nvSpPr>
        <p:spPr>
          <a:xfrm>
            <a:off x="9972675" y="29622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お米</a:t>
            </a:r>
          </a:p>
        </p:txBody>
      </p:sp>
      <p:sp>
        <p:nvSpPr>
          <p:cNvPr id="24" name=""/>
          <p:cNvSpPr/>
          <p:nvPr/>
        </p:nvSpPr>
        <p:spPr>
          <a:xfrm>
            <a:off x="685800" y="3695700"/>
            <a:ext cx="5334000" cy="12954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/>
        </p:spPr>
      </p:sp>
      <p:pic>
        <p:nvPicPr>
          <p:cNvPr id="25" name="Image 4" descr="グラス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905250"/>
            <a:ext cx="876300" cy="876300"/>
          </a:xfrm>
          <a:prstGeom prst="rect">
            <a:avLst/>
          </a:prstGeom>
        </p:spPr>
      </p:pic>
      <p:sp>
        <p:nvSpPr>
          <p:cNvPr id="26" name=""/>
          <p:cNvSpPr txBox="1"/>
          <p:nvPr/>
        </p:nvSpPr>
        <p:spPr>
          <a:xfrm>
            <a:off x="1866900" y="4000500"/>
            <a:ext cx="13335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g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ass</a:t>
            </a:r>
          </a:p>
        </p:txBody>
      </p:sp>
      <p:sp>
        <p:nvSpPr>
          <p:cNvPr id="27" name=""/>
          <p:cNvSpPr txBox="1"/>
          <p:nvPr/>
        </p:nvSpPr>
        <p:spPr>
          <a:xfrm>
            <a:off x="1866900" y="4410075"/>
            <a:ext cx="895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グラス</a:t>
            </a:r>
          </a:p>
        </p:txBody>
      </p:sp>
      <p:sp>
        <p:nvSpPr>
          <p:cNvPr id="28" name=""/>
          <p:cNvSpPr txBox="1"/>
          <p:nvPr/>
        </p:nvSpPr>
        <p:spPr>
          <a:xfrm>
            <a:off x="3114675" y="416242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29" name="Image 5" descr="草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625" y="3905250"/>
            <a:ext cx="876300" cy="876300"/>
          </a:xfrm>
          <a:prstGeom prst="rect">
            <a:avLst/>
          </a:prstGeom>
        </p:spPr>
      </p:pic>
      <p:sp>
        <p:nvSpPr>
          <p:cNvPr id="30" name=""/>
          <p:cNvSpPr txBox="1"/>
          <p:nvPr/>
        </p:nvSpPr>
        <p:spPr>
          <a:xfrm>
            <a:off x="4486275" y="4000500"/>
            <a:ext cx="13906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g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ass</a:t>
            </a:r>
          </a:p>
        </p:txBody>
      </p:sp>
      <p:sp>
        <p:nvSpPr>
          <p:cNvPr id="31" name=""/>
          <p:cNvSpPr txBox="1"/>
          <p:nvPr/>
        </p:nvSpPr>
        <p:spPr>
          <a:xfrm>
            <a:off x="4486275" y="44100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草</a:t>
            </a:r>
          </a:p>
        </p:txBody>
      </p:sp>
      <p:sp>
        <p:nvSpPr>
          <p:cNvPr id="32" name=""/>
          <p:cNvSpPr/>
          <p:nvPr/>
        </p:nvSpPr>
        <p:spPr>
          <a:xfrm>
            <a:off x="6172200" y="3695700"/>
            <a:ext cx="5334000" cy="12954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/>
        </p:spPr>
      </p:sp>
      <p:pic>
        <p:nvPicPr>
          <p:cNvPr id="33" name="Image 6" descr="ボール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3905250"/>
            <a:ext cx="876300" cy="876300"/>
          </a:xfrm>
          <a:prstGeom prst="rect">
            <a:avLst/>
          </a:prstGeom>
        </p:spPr>
      </p:pic>
      <p:sp>
        <p:nvSpPr>
          <p:cNvPr id="34" name=""/>
          <p:cNvSpPr txBox="1"/>
          <p:nvPr/>
        </p:nvSpPr>
        <p:spPr>
          <a:xfrm>
            <a:off x="7353300" y="4000500"/>
            <a:ext cx="11715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p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ay</a:t>
            </a:r>
          </a:p>
        </p:txBody>
      </p:sp>
      <p:sp>
        <p:nvSpPr>
          <p:cNvPr id="35" name=""/>
          <p:cNvSpPr txBox="1"/>
          <p:nvPr/>
        </p:nvSpPr>
        <p:spPr>
          <a:xfrm>
            <a:off x="7353300" y="44100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遊ぶ</a:t>
            </a:r>
          </a:p>
        </p:txBody>
      </p:sp>
      <p:sp>
        <p:nvSpPr>
          <p:cNvPr id="36" name=""/>
          <p:cNvSpPr txBox="1"/>
          <p:nvPr/>
        </p:nvSpPr>
        <p:spPr>
          <a:xfrm>
            <a:off x="8601075" y="416242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37" name="Image 7" descr="祈る手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3025" y="3905250"/>
            <a:ext cx="876300" cy="876300"/>
          </a:xfrm>
          <a:prstGeom prst="rect">
            <a:avLst/>
          </a:prstGeom>
        </p:spPr>
      </p:pic>
      <p:sp>
        <p:nvSpPr>
          <p:cNvPr id="38" name=""/>
          <p:cNvSpPr txBox="1"/>
          <p:nvPr/>
        </p:nvSpPr>
        <p:spPr>
          <a:xfrm>
            <a:off x="9972675" y="4000500"/>
            <a:ext cx="12287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p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ay</a:t>
            </a:r>
          </a:p>
        </p:txBody>
      </p:sp>
      <p:sp>
        <p:nvSpPr>
          <p:cNvPr id="39" name=""/>
          <p:cNvSpPr txBox="1"/>
          <p:nvPr/>
        </p:nvSpPr>
        <p:spPr>
          <a:xfrm>
            <a:off x="9972675" y="44100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祈る</a:t>
            </a:r>
          </a:p>
        </p:txBody>
      </p:sp>
      <p:sp>
        <p:nvSpPr>
          <p:cNvPr id="40" name=""/>
          <p:cNvSpPr/>
          <p:nvPr/>
        </p:nvSpPr>
        <p:spPr>
          <a:xfrm>
            <a:off x="685800" y="5143500"/>
            <a:ext cx="5334000" cy="12954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/>
        </p:spPr>
      </p:sp>
      <p:pic>
        <p:nvPicPr>
          <p:cNvPr id="41" name="Image 8" descr="ものさし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5353050"/>
            <a:ext cx="876300" cy="876300"/>
          </a:xfrm>
          <a:prstGeom prst="rect">
            <a:avLst/>
          </a:prstGeom>
        </p:spPr>
      </p:pic>
      <p:sp>
        <p:nvSpPr>
          <p:cNvPr id="42" name=""/>
          <p:cNvSpPr txBox="1"/>
          <p:nvPr/>
        </p:nvSpPr>
        <p:spPr>
          <a:xfrm>
            <a:off x="1866900" y="5448300"/>
            <a:ext cx="11715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ong</a:t>
            </a:r>
          </a:p>
        </p:txBody>
      </p:sp>
      <p:sp>
        <p:nvSpPr>
          <p:cNvPr id="43" name=""/>
          <p:cNvSpPr txBox="1"/>
          <p:nvPr/>
        </p:nvSpPr>
        <p:spPr>
          <a:xfrm>
            <a:off x="1866900" y="58578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長い</a:t>
            </a:r>
          </a:p>
        </p:txBody>
      </p:sp>
      <p:sp>
        <p:nvSpPr>
          <p:cNvPr id="44" name=""/>
          <p:cNvSpPr txBox="1"/>
          <p:nvPr/>
        </p:nvSpPr>
        <p:spPr>
          <a:xfrm>
            <a:off x="3114675" y="561022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45" name="Image 9" descr="バツのついた紙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6625" y="5353050"/>
            <a:ext cx="876300" cy="876300"/>
          </a:xfrm>
          <a:prstGeom prst="rect">
            <a:avLst/>
          </a:prstGeom>
        </p:spPr>
      </p:pic>
      <p:sp>
        <p:nvSpPr>
          <p:cNvPr id="46" name=""/>
          <p:cNvSpPr txBox="1"/>
          <p:nvPr/>
        </p:nvSpPr>
        <p:spPr>
          <a:xfrm>
            <a:off x="4486275" y="5448300"/>
            <a:ext cx="15430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w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ong</a:t>
            </a:r>
          </a:p>
        </p:txBody>
      </p:sp>
      <p:sp>
        <p:nvSpPr>
          <p:cNvPr id="47" name=""/>
          <p:cNvSpPr txBox="1"/>
          <p:nvPr/>
        </p:nvSpPr>
        <p:spPr>
          <a:xfrm>
            <a:off x="4486275" y="58578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まちがった</a:t>
            </a:r>
          </a:p>
        </p:txBody>
      </p:sp>
      <p:sp>
        <p:nvSpPr>
          <p:cNvPr id="48" name=""/>
          <p:cNvSpPr/>
          <p:nvPr/>
        </p:nvSpPr>
        <p:spPr>
          <a:xfrm>
            <a:off x="6172200" y="5143500"/>
            <a:ext cx="5334000" cy="12954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/>
        </p:spPr>
      </p:sp>
      <p:pic>
        <p:nvPicPr>
          <p:cNvPr id="49" name="Image 10" descr="鳥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3650" y="5353050"/>
            <a:ext cx="876300" cy="876300"/>
          </a:xfrm>
          <a:prstGeom prst="rect">
            <a:avLst/>
          </a:prstGeom>
        </p:spPr>
      </p:pic>
      <p:sp>
        <p:nvSpPr>
          <p:cNvPr id="50" name=""/>
          <p:cNvSpPr txBox="1"/>
          <p:nvPr/>
        </p:nvSpPr>
        <p:spPr>
          <a:xfrm>
            <a:off x="7353300" y="5448300"/>
            <a:ext cx="8286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f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y</a:t>
            </a:r>
          </a:p>
        </p:txBody>
      </p:sp>
      <p:sp>
        <p:nvSpPr>
          <p:cNvPr id="51" name=""/>
          <p:cNvSpPr txBox="1"/>
          <p:nvPr/>
        </p:nvSpPr>
        <p:spPr>
          <a:xfrm>
            <a:off x="7353300" y="58578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飛ぶ</a:t>
            </a:r>
          </a:p>
        </p:txBody>
      </p:sp>
      <p:sp>
        <p:nvSpPr>
          <p:cNvPr id="52" name=""/>
          <p:cNvSpPr txBox="1"/>
          <p:nvPr/>
        </p:nvSpPr>
        <p:spPr>
          <a:xfrm>
            <a:off x="8601075" y="5610225"/>
            <a:ext cx="47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>
                <a:solidFill>
                  <a:srgbClr val="C3C8D6"/>
                </a:solidFill>
                <a:latin typeface="DM Sans"/>
                <a:ea typeface="DM Sans"/>
              </a:rPr>
              <a:t>/</a:t>
            </a:r>
          </a:p>
        </p:txBody>
      </p:sp>
      <p:pic>
        <p:nvPicPr>
          <p:cNvPr id="53" name="Image 11" descr="エビフライ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3025" y="5353050"/>
            <a:ext cx="876300" cy="876300"/>
          </a:xfrm>
          <a:prstGeom prst="rect">
            <a:avLst/>
          </a:prstGeom>
        </p:spPr>
      </p:pic>
      <p:sp>
        <p:nvSpPr>
          <p:cNvPr id="54" name=""/>
          <p:cNvSpPr txBox="1"/>
          <p:nvPr/>
        </p:nvSpPr>
        <p:spPr>
          <a:xfrm>
            <a:off x="9972675" y="5448300"/>
            <a:ext cx="8858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f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y</a:t>
            </a:r>
          </a:p>
        </p:txBody>
      </p:sp>
      <p:sp>
        <p:nvSpPr>
          <p:cNvPr id="55" name=""/>
          <p:cNvSpPr txBox="1"/>
          <p:nvPr/>
        </p:nvSpPr>
        <p:spPr>
          <a:xfrm>
            <a:off x="9972675" y="585787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揚げる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287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104679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前に子音があるときは、間に「ウ」を入れない</a:t>
            </a:r>
          </a:p>
        </p:txBody>
      </p:sp>
      <p:sp>
        <p:nvSpPr>
          <p:cNvPr id="6" name=""/>
          <p:cNvSpPr/>
          <p:nvPr/>
        </p:nvSpPr>
        <p:spPr>
          <a:xfrm>
            <a:off x="685800" y="1962150"/>
            <a:ext cx="5286375" cy="3552825"/>
          </a:xfrm>
          <a:prstGeom prst="roundRect">
            <a:avLst>
              <a:gd name="adj" fmla="val 7507"/>
            </a:avLst>
          </a:prstGeom>
          <a:solidFill>
            <a:srgbClr val="FFFFFF"/>
          </a:solidFill>
          <a:ln/>
        </p:spPr>
      </p:sp>
      <p:pic>
        <p:nvPicPr>
          <p:cNvPr id="7" name="Image 0" descr="グラ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2209800"/>
            <a:ext cx="1238250" cy="123825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457450" y="2438400"/>
            <a:ext cx="2133600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g</a:t>
            </a:r>
            <a:pPr/>
            <a:r>
              <a:rPr sz="4800" b="1">
                <a:solidFill>
                  <a:srgbClr val="E8461E"/>
                </a:solidFill>
                <a:highlight>
                  <a:srgbClr val="FFD9C9"/>
                </a:highlight>
                <a:latin typeface="DM Sans"/>
                <a:ea typeface="DM Sans"/>
              </a:rPr>
              <a:t>l</a:t>
            </a:r>
            <a:pPr/>
            <a:r>
              <a:rPr sz="4800" b="1">
                <a:solidFill>
                  <a:srgbClr val="1C2340"/>
                </a:solidFill>
                <a:latin typeface="DM Sans"/>
                <a:ea typeface="DM Sans"/>
              </a:rPr>
              <a:t>ass</a:t>
            </a:r>
          </a:p>
        </p:txBody>
      </p:sp>
      <p:sp>
        <p:nvSpPr>
          <p:cNvPr id="9" name=""/>
          <p:cNvSpPr/>
          <p:nvPr/>
        </p:nvSpPr>
        <p:spPr>
          <a:xfrm>
            <a:off x="1009650" y="3600450"/>
            <a:ext cx="4638675" cy="609600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/>
        </p:spPr>
      </p:sp>
      <p:sp>
        <p:nvSpPr>
          <p:cNvPr id="10" name=""/>
          <p:cNvSpPr txBox="1"/>
          <p:nvPr/>
        </p:nvSpPr>
        <p:spPr>
          <a:xfrm>
            <a:off x="1600200" y="3743325"/>
            <a:ext cx="45339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8A90A8"/>
                </a:solidFill>
                <a:latin typeface="Noto Sans JP"/>
                <a:ea typeface="Noto Sans JP"/>
              </a:rPr>
              <a:t>「グ・ラス」と、間に「ウ」が入る</a:t>
            </a:r>
          </a:p>
        </p:txBody>
      </p:sp>
      <p:sp>
        <p:nvSpPr>
          <p:cNvPr id="11" name=""/>
          <p:cNvSpPr txBox="1"/>
          <p:nvPr/>
        </p:nvSpPr>
        <p:spPr>
          <a:xfrm>
            <a:off x="1200150" y="371475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E8461E"/>
                </a:solidFill>
                <a:latin typeface="Noto Sans JP"/>
                <a:ea typeface="Noto Sans JP"/>
              </a:rPr>
              <a:t>×</a:t>
            </a:r>
          </a:p>
        </p:txBody>
      </p:sp>
      <p:sp>
        <p:nvSpPr>
          <p:cNvPr id="12" name=""/>
          <p:cNvSpPr/>
          <p:nvPr/>
        </p:nvSpPr>
        <p:spPr>
          <a:xfrm>
            <a:off x="1009650" y="4362450"/>
            <a:ext cx="4638675" cy="609600"/>
          </a:xfrm>
          <a:prstGeom prst="roundRect">
            <a:avLst>
              <a:gd name="adj" fmla="val 25000"/>
            </a:avLst>
          </a:prstGeom>
          <a:solidFill>
            <a:srgbClr val="FFE8DC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200150" y="447675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E8461E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14" name=""/>
          <p:cNvSpPr txBox="1"/>
          <p:nvPr/>
        </p:nvSpPr>
        <p:spPr>
          <a:xfrm>
            <a:off x="1600200" y="4505325"/>
            <a:ext cx="42291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g</a:t>
            </a:r>
            <a:pPr/>
            <a:r>
              <a:rPr sz="1800" b="1">
                <a:solidFill>
                  <a:srgbClr val="1C2340"/>
                </a:solidFill>
                <a:latin typeface="Noto Sans JP"/>
                <a:ea typeface="Noto Sans JP"/>
              </a:rPr>
              <a:t> の口のまま、すぐ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1800" b="1">
                <a:solidFill>
                  <a:srgbClr val="1C2340"/>
                </a:solidFill>
                <a:latin typeface="Noto Sans JP"/>
                <a:ea typeface="Noto Sans JP"/>
              </a:rPr>
              <a:t> につなげる</a:t>
            </a:r>
          </a:p>
        </p:txBody>
      </p:sp>
      <p:sp>
        <p:nvSpPr>
          <p:cNvPr id="15" name=""/>
          <p:cNvSpPr/>
          <p:nvPr/>
        </p:nvSpPr>
        <p:spPr>
          <a:xfrm>
            <a:off x="6219825" y="1962150"/>
            <a:ext cx="5286375" cy="3552825"/>
          </a:xfrm>
          <a:prstGeom prst="roundRect">
            <a:avLst>
              <a:gd name="adj" fmla="val 7507"/>
            </a:avLst>
          </a:prstGeom>
          <a:solidFill>
            <a:srgbClr val="FFFFFF"/>
          </a:solidFill>
          <a:ln/>
        </p:spPr>
      </p:sp>
      <p:pic>
        <p:nvPicPr>
          <p:cNvPr id="16" name="Image 1" descr="ボー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675" y="2209800"/>
            <a:ext cx="1238250" cy="123825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7991475" y="2438400"/>
            <a:ext cx="1838325" cy="790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p</a:t>
            </a:r>
            <a:pPr/>
            <a:r>
              <a:rPr sz="4800" b="1">
                <a:solidFill>
                  <a:srgbClr val="E8461E"/>
                </a:solidFill>
                <a:highlight>
                  <a:srgbClr val="FFD9C9"/>
                </a:highlight>
                <a:latin typeface="DM Sans"/>
                <a:ea typeface="DM Sans"/>
              </a:rPr>
              <a:t>l</a:t>
            </a:r>
            <a:pPr/>
            <a:r>
              <a:rPr sz="4800" b="1">
                <a:solidFill>
                  <a:srgbClr val="1C2340"/>
                </a:solidFill>
                <a:latin typeface="DM Sans"/>
                <a:ea typeface="DM Sans"/>
              </a:rPr>
              <a:t>ay</a:t>
            </a:r>
          </a:p>
        </p:txBody>
      </p:sp>
      <p:sp>
        <p:nvSpPr>
          <p:cNvPr id="18" name=""/>
          <p:cNvSpPr/>
          <p:nvPr/>
        </p:nvSpPr>
        <p:spPr>
          <a:xfrm>
            <a:off x="6543675" y="3600450"/>
            <a:ext cx="4638675" cy="609600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/>
        </p:spPr>
      </p:sp>
      <p:sp>
        <p:nvSpPr>
          <p:cNvPr id="19" name=""/>
          <p:cNvSpPr txBox="1"/>
          <p:nvPr/>
        </p:nvSpPr>
        <p:spPr>
          <a:xfrm>
            <a:off x="7134225" y="3743325"/>
            <a:ext cx="45434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8A90A8"/>
                </a:solidFill>
                <a:latin typeface="Noto Sans JP"/>
                <a:ea typeface="Noto Sans JP"/>
              </a:rPr>
              <a:t>「プ・レイ」と、間に「ウ」が入る</a:t>
            </a:r>
          </a:p>
        </p:txBody>
      </p:sp>
      <p:sp>
        <p:nvSpPr>
          <p:cNvPr id="20" name=""/>
          <p:cNvSpPr txBox="1"/>
          <p:nvPr/>
        </p:nvSpPr>
        <p:spPr>
          <a:xfrm>
            <a:off x="6734175" y="371475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E8461E"/>
                </a:solidFill>
                <a:latin typeface="Noto Sans JP"/>
                <a:ea typeface="Noto Sans JP"/>
              </a:rPr>
              <a:t>×</a:t>
            </a:r>
          </a:p>
        </p:txBody>
      </p:sp>
      <p:sp>
        <p:nvSpPr>
          <p:cNvPr id="21" name=""/>
          <p:cNvSpPr/>
          <p:nvPr/>
        </p:nvSpPr>
        <p:spPr>
          <a:xfrm>
            <a:off x="6543675" y="4362450"/>
            <a:ext cx="4638675" cy="609600"/>
          </a:xfrm>
          <a:prstGeom prst="roundRect">
            <a:avLst>
              <a:gd name="adj" fmla="val 25000"/>
            </a:avLst>
          </a:prstGeom>
          <a:solidFill>
            <a:srgbClr val="FFE8DC"/>
          </a:solidFill>
          <a:ln/>
        </p:spPr>
      </p:sp>
      <p:sp>
        <p:nvSpPr>
          <p:cNvPr id="22" name=""/>
          <p:cNvSpPr txBox="1"/>
          <p:nvPr/>
        </p:nvSpPr>
        <p:spPr>
          <a:xfrm>
            <a:off x="6734175" y="447675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E8461E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23" name=""/>
          <p:cNvSpPr txBox="1"/>
          <p:nvPr/>
        </p:nvSpPr>
        <p:spPr>
          <a:xfrm>
            <a:off x="7134225" y="4505325"/>
            <a:ext cx="42481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p</a:t>
            </a:r>
            <a:pPr/>
            <a:r>
              <a:rPr sz="1800" b="1">
                <a:solidFill>
                  <a:srgbClr val="1C2340"/>
                </a:solidFill>
                <a:latin typeface="Noto Sans JP"/>
                <a:ea typeface="Noto Sans JP"/>
              </a:rPr>
              <a:t> の口のまま、すぐ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1800" b="1">
                <a:solidFill>
                  <a:srgbClr val="1C2340"/>
                </a:solidFill>
                <a:latin typeface="Noto Sans JP"/>
                <a:ea typeface="Noto Sans JP"/>
              </a:rPr>
              <a:t> につなげる</a:t>
            </a:r>
          </a:p>
        </p:txBody>
      </p:sp>
      <p:sp>
        <p:nvSpPr>
          <p:cNvPr id="24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25" name=""/>
          <p:cNvSpPr/>
          <p:nvPr/>
        </p:nvSpPr>
        <p:spPr>
          <a:xfrm>
            <a:off x="933450" y="5895975"/>
            <a:ext cx="100965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26" name=""/>
          <p:cNvSpPr txBox="1"/>
          <p:nvPr/>
        </p:nvSpPr>
        <p:spPr>
          <a:xfrm>
            <a:off x="1104900" y="5953125"/>
            <a:ext cx="1114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R も同じ</a:t>
            </a:r>
          </a:p>
        </p:txBody>
      </p:sp>
      <p:sp>
        <p:nvSpPr>
          <p:cNvPr id="27" name=""/>
          <p:cNvSpPr txBox="1"/>
          <p:nvPr/>
        </p:nvSpPr>
        <p:spPr>
          <a:xfrm>
            <a:off x="2095500" y="5924550"/>
            <a:ext cx="59150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g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ass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p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ay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f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y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も、前の子音とひと息で言う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文で練習しよう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647825"/>
            <a:ext cx="9344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ゆっくり → ふつうのスピードで。文になると、つい「ら」に戻りがちなので注意！</a:t>
            </a:r>
          </a:p>
        </p:txBody>
      </p:sp>
      <p:sp>
        <p:nvSpPr>
          <p:cNvPr id="6" name=""/>
          <p:cNvSpPr/>
          <p:nvPr/>
        </p:nvSpPr>
        <p:spPr>
          <a:xfrm>
            <a:off x="685800" y="2162175"/>
            <a:ext cx="10820400" cy="1323975"/>
          </a:xfrm>
          <a:prstGeom prst="roundRect">
            <a:avLst>
              <a:gd name="adj" fmla="val 20144"/>
            </a:avLst>
          </a:prstGeom>
          <a:solidFill>
            <a:srgbClr val="FFFFFF"/>
          </a:solidFill>
          <a:ln/>
        </p:spPr>
      </p:sp>
      <p:pic>
        <p:nvPicPr>
          <p:cNvPr id="7" name="Image 0" descr="ごはん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238375"/>
            <a:ext cx="1181100" cy="11811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324100" y="2438400"/>
            <a:ext cx="22574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ove 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ice.</a:t>
            </a:r>
          </a:p>
        </p:txBody>
      </p:sp>
      <p:sp>
        <p:nvSpPr>
          <p:cNvPr id="9" name=""/>
          <p:cNvSpPr txBox="1"/>
          <p:nvPr/>
        </p:nvSpPr>
        <p:spPr>
          <a:xfrm>
            <a:off x="2324100" y="2943225"/>
            <a:ext cx="18669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お米が大好き。</a:t>
            </a:r>
          </a:p>
        </p:txBody>
      </p:sp>
      <p:sp>
        <p:nvSpPr>
          <p:cNvPr id="10" name=""/>
          <p:cNvSpPr/>
          <p:nvPr/>
        </p:nvSpPr>
        <p:spPr>
          <a:xfrm>
            <a:off x="7981950" y="2409825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11" name=""/>
          <p:cNvSpPr txBox="1"/>
          <p:nvPr/>
        </p:nvSpPr>
        <p:spPr>
          <a:xfrm>
            <a:off x="8172450" y="2552700"/>
            <a:ext cx="24860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E8461E"/>
                </a:solidFill>
                <a:latin typeface="Noto Sans JP"/>
                <a:ea typeface="Noto Sans JP"/>
              </a:rPr>
              <a:t>love</a:t>
            </a:r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 は舌を「つける」</a:t>
            </a:r>
          </a:p>
        </p:txBody>
      </p:sp>
      <p:sp>
        <p:nvSpPr>
          <p:cNvPr id="12" name=""/>
          <p:cNvSpPr txBox="1"/>
          <p:nvPr/>
        </p:nvSpPr>
        <p:spPr>
          <a:xfrm>
            <a:off x="8172450" y="2838450"/>
            <a:ext cx="22288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2F86CF"/>
                </a:solidFill>
                <a:latin typeface="Noto Sans JP"/>
                <a:ea typeface="Noto Sans JP"/>
              </a:rPr>
              <a:t>rice</a:t>
            </a:r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 は「つけない」</a:t>
            </a:r>
          </a:p>
        </p:txBody>
      </p:sp>
      <p:sp>
        <p:nvSpPr>
          <p:cNvPr id="13" name=""/>
          <p:cNvSpPr/>
          <p:nvPr/>
        </p:nvSpPr>
        <p:spPr>
          <a:xfrm>
            <a:off x="685800" y="3638550"/>
            <a:ext cx="10820400" cy="1323975"/>
          </a:xfrm>
          <a:prstGeom prst="roundRect">
            <a:avLst>
              <a:gd name="adj" fmla="val 20144"/>
            </a:avLst>
          </a:prstGeom>
          <a:solidFill>
            <a:srgbClr val="FFFFFF"/>
          </a:solidFill>
          <a:ln/>
        </p:spPr>
      </p:sp>
      <p:pic>
        <p:nvPicPr>
          <p:cNvPr id="14" name="Image 1" descr="信号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714750"/>
            <a:ext cx="1181100" cy="1181100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2324100" y="3914775"/>
            <a:ext cx="44767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Turn 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ight at the 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ight.</a:t>
            </a:r>
          </a:p>
        </p:txBody>
      </p:sp>
      <p:sp>
        <p:nvSpPr>
          <p:cNvPr id="16" name=""/>
          <p:cNvSpPr txBox="1"/>
          <p:nvPr/>
        </p:nvSpPr>
        <p:spPr>
          <a:xfrm>
            <a:off x="2324100" y="4419600"/>
            <a:ext cx="29527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その信号を右に曲がって。</a:t>
            </a:r>
          </a:p>
        </p:txBody>
      </p:sp>
      <p:sp>
        <p:nvSpPr>
          <p:cNvPr id="17" name=""/>
          <p:cNvSpPr/>
          <p:nvPr/>
        </p:nvSpPr>
        <p:spPr>
          <a:xfrm>
            <a:off x="7981950" y="3886200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18" name=""/>
          <p:cNvSpPr txBox="1"/>
          <p:nvPr/>
        </p:nvSpPr>
        <p:spPr>
          <a:xfrm>
            <a:off x="8172450" y="4029075"/>
            <a:ext cx="18764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2F86CF"/>
                </a:solidFill>
                <a:latin typeface="Noto Sans JP"/>
                <a:ea typeface="Noto Sans JP"/>
              </a:rPr>
              <a:t>right</a:t>
            </a:r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 と </a:t>
            </a:r>
            <a:pPr/>
            <a:r>
              <a:rPr sz="1450" b="1">
                <a:solidFill>
                  <a:srgbClr val="E8461E"/>
                </a:solidFill>
                <a:latin typeface="Noto Sans JP"/>
                <a:ea typeface="Noto Sans JP"/>
              </a:rPr>
              <a:t>light</a:t>
            </a:r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 が</a:t>
            </a:r>
          </a:p>
        </p:txBody>
      </p:sp>
      <p:sp>
        <p:nvSpPr>
          <p:cNvPr id="19" name=""/>
          <p:cNvSpPr txBox="1"/>
          <p:nvPr/>
        </p:nvSpPr>
        <p:spPr>
          <a:xfrm>
            <a:off x="8172450" y="4314825"/>
            <a:ext cx="23241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1つの文に入っている</a:t>
            </a:r>
          </a:p>
        </p:txBody>
      </p:sp>
      <p:sp>
        <p:nvSpPr>
          <p:cNvPr id="20" name=""/>
          <p:cNvSpPr/>
          <p:nvPr/>
        </p:nvSpPr>
        <p:spPr>
          <a:xfrm>
            <a:off x="685800" y="5114925"/>
            <a:ext cx="10820400" cy="1323975"/>
          </a:xfrm>
          <a:prstGeom prst="roundRect">
            <a:avLst>
              <a:gd name="adj" fmla="val 20144"/>
            </a:avLst>
          </a:prstGeom>
          <a:solidFill>
            <a:srgbClr val="FFFFFF"/>
          </a:solidFill>
          <a:ln/>
        </p:spPr>
      </p:sp>
      <p:pic>
        <p:nvPicPr>
          <p:cNvPr id="21" name="Image 2" descr="ハート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5191125"/>
            <a:ext cx="1181100" cy="118110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2324100" y="5391150"/>
            <a:ext cx="28289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ea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y 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ike it.</a:t>
            </a:r>
          </a:p>
        </p:txBody>
      </p:sp>
      <p:sp>
        <p:nvSpPr>
          <p:cNvPr id="23" name=""/>
          <p:cNvSpPr txBox="1"/>
          <p:nvPr/>
        </p:nvSpPr>
        <p:spPr>
          <a:xfrm>
            <a:off x="2324100" y="5895975"/>
            <a:ext cx="27432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ほんとに気に入ってる。</a:t>
            </a:r>
          </a:p>
        </p:txBody>
      </p:sp>
      <p:sp>
        <p:nvSpPr>
          <p:cNvPr id="24" name=""/>
          <p:cNvSpPr/>
          <p:nvPr/>
        </p:nvSpPr>
        <p:spPr>
          <a:xfrm>
            <a:off x="7981950" y="5362575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25" name=""/>
          <p:cNvSpPr txBox="1"/>
          <p:nvPr/>
        </p:nvSpPr>
        <p:spPr>
          <a:xfrm>
            <a:off x="8172450" y="5505450"/>
            <a:ext cx="17907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1F4E79"/>
                </a:solidFill>
                <a:latin typeface="Noto Sans JP"/>
                <a:ea typeface="Noto Sans JP"/>
              </a:rPr>
              <a:t>really</a:t>
            </a:r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 は </a:t>
            </a:r>
            <a:pPr/>
            <a:r>
              <a:rPr sz="1450" b="1">
                <a:solidFill>
                  <a:srgbClr val="2F86CF"/>
                </a:solidFill>
                <a:latin typeface="Noto Sans JP"/>
                <a:ea typeface="Noto Sans JP"/>
              </a:rPr>
              <a:t>R</a:t>
            </a:r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 → </a:t>
            </a:r>
            <a:pPr/>
            <a:r>
              <a:rPr sz="1450" b="1">
                <a:solidFill>
                  <a:srgbClr val="E8461E"/>
                </a:solidFill>
                <a:latin typeface="Noto Sans JP"/>
                <a:ea typeface="Noto Sans JP"/>
              </a:rPr>
              <a:t>L</a:t>
            </a:r>
          </a:p>
        </p:txBody>
      </p:sp>
      <p:sp>
        <p:nvSpPr>
          <p:cNvPr id="26" name=""/>
          <p:cNvSpPr txBox="1"/>
          <p:nvPr/>
        </p:nvSpPr>
        <p:spPr>
          <a:xfrm>
            <a:off x="8172450" y="5791200"/>
            <a:ext cx="31432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舌が「奥 → 前」に大きく動く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704850"/>
            <a:ext cx="59245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毎日5分の筋トレメニュー</a:t>
            </a:r>
          </a:p>
        </p:txBody>
      </p:sp>
      <p:sp>
        <p:nvSpPr>
          <p:cNvPr id="5" name=""/>
          <p:cNvSpPr/>
          <p:nvPr/>
        </p:nvSpPr>
        <p:spPr>
          <a:xfrm>
            <a:off x="9496425" y="771525"/>
            <a:ext cx="2009775" cy="42862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6" name=""/>
          <p:cNvSpPr txBox="1"/>
          <p:nvPr/>
        </p:nvSpPr>
        <p:spPr>
          <a:xfrm>
            <a:off x="9667875" y="828675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01A"/>
                </a:solidFill>
                <a:latin typeface="Noto Sans JP"/>
                <a:ea typeface="Noto Sans JP"/>
              </a:rPr>
              <a:t>スクショしてね！</a:t>
            </a:r>
          </a:p>
        </p:txBody>
      </p:sp>
      <p:sp>
        <p:nvSpPr>
          <p:cNvPr id="7" name=""/>
          <p:cNvSpPr/>
          <p:nvPr/>
        </p:nvSpPr>
        <p:spPr>
          <a:xfrm>
            <a:off x="685800" y="1457325"/>
            <a:ext cx="10820400" cy="4981575"/>
          </a:xfrm>
          <a:prstGeom prst="roundRect">
            <a:avLst>
              <a:gd name="adj" fmla="val 5354"/>
            </a:avLst>
          </a:prstGeom>
          <a:solidFill>
            <a:srgbClr val="FFFFFF"/>
          </a:solidFill>
          <a:ln/>
        </p:spPr>
      </p:sp>
      <p:sp>
        <p:nvSpPr>
          <p:cNvPr id="8" name=""/>
          <p:cNvSpPr/>
          <p:nvPr/>
        </p:nvSpPr>
        <p:spPr>
          <a:xfrm>
            <a:off x="1009650" y="1781175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9" name=""/>
          <p:cNvSpPr txBox="1"/>
          <p:nvPr/>
        </p:nvSpPr>
        <p:spPr>
          <a:xfrm>
            <a:off x="1009650" y="1857375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10" name=""/>
          <p:cNvSpPr txBox="1"/>
          <p:nvPr/>
        </p:nvSpPr>
        <p:spPr>
          <a:xfrm>
            <a:off x="1600200" y="1809750"/>
            <a:ext cx="12287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Noto Sans JP"/>
                <a:ea typeface="Noto Sans JP"/>
              </a:rPr>
              <a:t>伸ばす</a:t>
            </a:r>
          </a:p>
        </p:txBody>
      </p:sp>
      <p:sp>
        <p:nvSpPr>
          <p:cNvPr id="11" name=""/>
          <p:cNvSpPr txBox="1"/>
          <p:nvPr/>
        </p:nvSpPr>
        <p:spPr>
          <a:xfrm>
            <a:off x="3867150" y="1838325"/>
            <a:ext cx="40386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L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 を5秒、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R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 を5秒。交互に3セット</a:t>
            </a:r>
          </a:p>
        </p:txBody>
      </p:sp>
      <p:sp>
        <p:nvSpPr>
          <p:cNvPr id="12" name=""/>
          <p:cNvSpPr/>
          <p:nvPr/>
        </p:nvSpPr>
        <p:spPr>
          <a:xfrm>
            <a:off x="10534650" y="1790700"/>
            <a:ext cx="6477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0706100" y="1847850"/>
            <a:ext cx="6953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1分</a:t>
            </a:r>
          </a:p>
        </p:txBody>
      </p:sp>
      <p:sp>
        <p:nvSpPr>
          <p:cNvPr id="14" name=""/>
          <p:cNvSpPr/>
          <p:nvPr/>
        </p:nvSpPr>
        <p:spPr>
          <a:xfrm>
            <a:off x="1009650" y="2657475"/>
            <a:ext cx="101727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15" name=""/>
          <p:cNvSpPr/>
          <p:nvPr/>
        </p:nvSpPr>
        <p:spPr>
          <a:xfrm>
            <a:off x="1009650" y="2762250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6" name=""/>
          <p:cNvSpPr txBox="1"/>
          <p:nvPr/>
        </p:nvSpPr>
        <p:spPr>
          <a:xfrm>
            <a:off x="981075" y="283845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17" name=""/>
          <p:cNvSpPr txBox="1"/>
          <p:nvPr/>
        </p:nvSpPr>
        <p:spPr>
          <a:xfrm>
            <a:off x="1600200" y="2790825"/>
            <a:ext cx="24003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Noto Sans JP"/>
                <a:ea typeface="Noto Sans JP"/>
              </a:rPr>
              <a:t>母音とつなげる</a:t>
            </a:r>
          </a:p>
        </p:txBody>
      </p:sp>
      <p:sp>
        <p:nvSpPr>
          <p:cNvPr id="18" name=""/>
          <p:cNvSpPr txBox="1"/>
          <p:nvPr/>
        </p:nvSpPr>
        <p:spPr>
          <a:xfrm>
            <a:off x="3867150" y="2857500"/>
            <a:ext cx="52482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la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–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ra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li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–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ri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lu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–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ru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le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–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re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lo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–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ro</a:t>
            </a:r>
          </a:p>
        </p:txBody>
      </p:sp>
      <p:sp>
        <p:nvSpPr>
          <p:cNvPr id="19" name=""/>
          <p:cNvSpPr/>
          <p:nvPr/>
        </p:nvSpPr>
        <p:spPr>
          <a:xfrm>
            <a:off x="10534650" y="2771775"/>
            <a:ext cx="6477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20" name=""/>
          <p:cNvSpPr txBox="1"/>
          <p:nvPr/>
        </p:nvSpPr>
        <p:spPr>
          <a:xfrm>
            <a:off x="10706100" y="2828925"/>
            <a:ext cx="6953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1分</a:t>
            </a:r>
          </a:p>
        </p:txBody>
      </p:sp>
      <p:sp>
        <p:nvSpPr>
          <p:cNvPr id="21" name=""/>
          <p:cNvSpPr/>
          <p:nvPr/>
        </p:nvSpPr>
        <p:spPr>
          <a:xfrm>
            <a:off x="1009650" y="3638550"/>
            <a:ext cx="101727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22" name=""/>
          <p:cNvSpPr/>
          <p:nvPr/>
        </p:nvSpPr>
        <p:spPr>
          <a:xfrm>
            <a:off x="1009650" y="3743325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23" name=""/>
          <p:cNvSpPr txBox="1"/>
          <p:nvPr/>
        </p:nvSpPr>
        <p:spPr>
          <a:xfrm>
            <a:off x="981075" y="3819525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sp>
        <p:nvSpPr>
          <p:cNvPr id="24" name=""/>
          <p:cNvSpPr txBox="1"/>
          <p:nvPr/>
        </p:nvSpPr>
        <p:spPr>
          <a:xfrm>
            <a:off x="1600200" y="3762375"/>
            <a:ext cx="15240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Noto Sans JP"/>
                <a:ea typeface="Noto Sans JP"/>
              </a:rPr>
              <a:t>ペア単語</a:t>
            </a:r>
          </a:p>
        </p:txBody>
      </p:sp>
      <p:sp>
        <p:nvSpPr>
          <p:cNvPr id="25" name=""/>
          <p:cNvSpPr txBox="1"/>
          <p:nvPr/>
        </p:nvSpPr>
        <p:spPr>
          <a:xfrm>
            <a:off x="3867150" y="3800475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今日の6組を、ゆっくり → ふつうのスピードで</a:t>
            </a:r>
          </a:p>
        </p:txBody>
      </p:sp>
      <p:sp>
        <p:nvSpPr>
          <p:cNvPr id="26" name=""/>
          <p:cNvSpPr/>
          <p:nvPr/>
        </p:nvSpPr>
        <p:spPr>
          <a:xfrm>
            <a:off x="10344150" y="3752850"/>
            <a:ext cx="8382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10515600" y="3810000"/>
            <a:ext cx="9144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1分半</a:t>
            </a:r>
          </a:p>
        </p:txBody>
      </p:sp>
      <p:sp>
        <p:nvSpPr>
          <p:cNvPr id="28" name=""/>
          <p:cNvSpPr/>
          <p:nvPr/>
        </p:nvSpPr>
        <p:spPr>
          <a:xfrm>
            <a:off x="1009650" y="4610100"/>
            <a:ext cx="101727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29" name=""/>
          <p:cNvSpPr/>
          <p:nvPr/>
        </p:nvSpPr>
        <p:spPr>
          <a:xfrm>
            <a:off x="1009650" y="4714875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0" name=""/>
          <p:cNvSpPr txBox="1"/>
          <p:nvPr/>
        </p:nvSpPr>
        <p:spPr>
          <a:xfrm>
            <a:off x="971550" y="4791075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4</a:t>
            </a:r>
          </a:p>
        </p:txBody>
      </p:sp>
      <p:sp>
        <p:nvSpPr>
          <p:cNvPr id="31" name=""/>
          <p:cNvSpPr txBox="1"/>
          <p:nvPr/>
        </p:nvSpPr>
        <p:spPr>
          <a:xfrm>
            <a:off x="1600200" y="4743450"/>
            <a:ext cx="6381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Noto Sans JP"/>
                <a:ea typeface="Noto Sans JP"/>
              </a:rPr>
              <a:t>文</a:t>
            </a:r>
          </a:p>
        </p:txBody>
      </p:sp>
      <p:sp>
        <p:nvSpPr>
          <p:cNvPr id="32" name=""/>
          <p:cNvSpPr txBox="1"/>
          <p:nvPr/>
        </p:nvSpPr>
        <p:spPr>
          <a:xfrm>
            <a:off x="3867150" y="4772025"/>
            <a:ext cx="44672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3つの文を、お手本をまねして3回ずつ</a:t>
            </a:r>
          </a:p>
        </p:txBody>
      </p:sp>
      <p:sp>
        <p:nvSpPr>
          <p:cNvPr id="33" name=""/>
          <p:cNvSpPr/>
          <p:nvPr/>
        </p:nvSpPr>
        <p:spPr>
          <a:xfrm>
            <a:off x="10534650" y="4724400"/>
            <a:ext cx="6477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0706100" y="4781550"/>
            <a:ext cx="6953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1分</a:t>
            </a:r>
          </a:p>
        </p:txBody>
      </p:sp>
      <p:sp>
        <p:nvSpPr>
          <p:cNvPr id="35" name=""/>
          <p:cNvSpPr/>
          <p:nvPr/>
        </p:nvSpPr>
        <p:spPr>
          <a:xfrm>
            <a:off x="1009650" y="5591175"/>
            <a:ext cx="10172700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sp>
        <p:nvSpPr>
          <p:cNvPr id="36" name=""/>
          <p:cNvSpPr/>
          <p:nvPr/>
        </p:nvSpPr>
        <p:spPr>
          <a:xfrm>
            <a:off x="1009650" y="5695950"/>
            <a:ext cx="419100" cy="41910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7" name=""/>
          <p:cNvSpPr txBox="1"/>
          <p:nvPr/>
        </p:nvSpPr>
        <p:spPr>
          <a:xfrm>
            <a:off x="971550" y="5772150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DM Sans"/>
                <a:ea typeface="DM Sans"/>
              </a:rPr>
              <a:t>5</a:t>
            </a:r>
          </a:p>
        </p:txBody>
      </p:sp>
      <p:sp>
        <p:nvSpPr>
          <p:cNvPr id="38" name=""/>
          <p:cNvSpPr txBox="1"/>
          <p:nvPr/>
        </p:nvSpPr>
        <p:spPr>
          <a:xfrm>
            <a:off x="1600200" y="5715000"/>
            <a:ext cx="21145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050" b="1">
                <a:solidFill>
                  <a:srgbClr val="1C2340"/>
                </a:solidFill>
                <a:latin typeface="Noto Sans JP"/>
                <a:ea typeface="Noto Sans JP"/>
              </a:rPr>
              <a:t>録音チェック</a:t>
            </a:r>
          </a:p>
        </p:txBody>
      </p:sp>
      <p:sp>
        <p:nvSpPr>
          <p:cNvPr id="39" name=""/>
          <p:cNvSpPr txBox="1"/>
          <p:nvPr/>
        </p:nvSpPr>
        <p:spPr>
          <a:xfrm>
            <a:off x="3867150" y="5753100"/>
            <a:ext cx="55149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1文だけスマホで録音して、お手本と聞き比べる</a:t>
            </a:r>
          </a:p>
        </p:txBody>
      </p:sp>
      <p:sp>
        <p:nvSpPr>
          <p:cNvPr id="40" name=""/>
          <p:cNvSpPr/>
          <p:nvPr/>
        </p:nvSpPr>
        <p:spPr>
          <a:xfrm>
            <a:off x="10420350" y="5705475"/>
            <a:ext cx="762000" cy="400050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41" name=""/>
          <p:cNvSpPr txBox="1"/>
          <p:nvPr/>
        </p:nvSpPr>
        <p:spPr>
          <a:xfrm>
            <a:off x="10591800" y="5762625"/>
            <a:ext cx="8191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C8401A"/>
                </a:solidFill>
                <a:latin typeface="Noto Sans JP"/>
                <a:ea typeface="Noto Sans JP"/>
              </a:rPr>
              <a:t>30秒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7430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発音解説 / L と R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今日のまとめ</a:t>
            </a:r>
          </a:p>
        </p:txBody>
      </p:sp>
      <p:sp>
        <p:nvSpPr>
          <p:cNvPr id="5" name=""/>
          <p:cNvSpPr/>
          <p:nvPr/>
        </p:nvSpPr>
        <p:spPr>
          <a:xfrm>
            <a:off x="685800" y="1724025"/>
            <a:ext cx="3457575" cy="4714875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/>
        </p:spPr>
      </p:sp>
      <p:sp>
        <p:nvSpPr>
          <p:cNvPr id="6" name=""/>
          <p:cNvSpPr/>
          <p:nvPr/>
        </p:nvSpPr>
        <p:spPr>
          <a:xfrm>
            <a:off x="933450" y="1933575"/>
            <a:ext cx="2962275" cy="2428875"/>
          </a:xfrm>
          <a:prstGeom prst="roundRect">
            <a:avLst>
              <a:gd name="adj" fmla="val 7843"/>
            </a:avLst>
          </a:prstGeom>
          <a:solidFill>
            <a:srgbClr val="FFE8DC"/>
          </a:solidFill>
          <a:ln/>
        </p:spPr>
      </p:sp>
      <p:pic>
        <p:nvPicPr>
          <p:cNvPr id="7" name="Image 0" descr="L の舌の位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325" y="2200275"/>
            <a:ext cx="1905000" cy="19050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295525" y="4495800"/>
            <a:ext cx="6096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L</a:t>
            </a:r>
          </a:p>
        </p:txBody>
      </p:sp>
      <p:sp>
        <p:nvSpPr>
          <p:cNvPr id="9" name=""/>
          <p:cNvSpPr txBox="1"/>
          <p:nvPr/>
        </p:nvSpPr>
        <p:spPr>
          <a:xfrm>
            <a:off x="1266825" y="5086350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Noto Sans JP"/>
                <a:ea typeface="Noto Sans JP"/>
              </a:rPr>
              <a:t>舌先を「つける」</a:t>
            </a:r>
          </a:p>
        </p:txBody>
      </p:sp>
      <p:sp>
        <p:nvSpPr>
          <p:cNvPr id="10" name=""/>
          <p:cNvSpPr txBox="1"/>
          <p:nvPr/>
        </p:nvSpPr>
        <p:spPr>
          <a:xfrm>
            <a:off x="1371600" y="5610225"/>
            <a:ext cx="20859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上の前歯の裏に、</a:t>
            </a:r>
          </a:p>
        </p:txBody>
      </p:sp>
      <p:sp>
        <p:nvSpPr>
          <p:cNvPr id="11" name=""/>
          <p:cNvSpPr txBox="1"/>
          <p:nvPr/>
        </p:nvSpPr>
        <p:spPr>
          <a:xfrm>
            <a:off x="1181100" y="5905500"/>
            <a:ext cx="31908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しっかりつけたまま声を出す</a:t>
            </a:r>
          </a:p>
        </p:txBody>
      </p:sp>
      <p:sp>
        <p:nvSpPr>
          <p:cNvPr id="12" name=""/>
          <p:cNvSpPr/>
          <p:nvPr/>
        </p:nvSpPr>
        <p:spPr>
          <a:xfrm>
            <a:off x="4371975" y="1724025"/>
            <a:ext cx="3457575" cy="4714875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4619625" y="1933575"/>
            <a:ext cx="2962275" cy="2428875"/>
          </a:xfrm>
          <a:prstGeom prst="roundRect">
            <a:avLst>
              <a:gd name="adj" fmla="val 7843"/>
            </a:avLst>
          </a:prstGeom>
          <a:solidFill>
            <a:srgbClr val="DDEFFC"/>
          </a:solidFill>
          <a:ln/>
        </p:spPr>
      </p:sp>
      <p:pic>
        <p:nvPicPr>
          <p:cNvPr id="14" name="Image 1" descr="R の舌の位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2200275"/>
            <a:ext cx="1905000" cy="1905000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5962650" y="4495800"/>
            <a:ext cx="6477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R</a:t>
            </a:r>
          </a:p>
        </p:txBody>
      </p:sp>
      <p:sp>
        <p:nvSpPr>
          <p:cNvPr id="16" name=""/>
          <p:cNvSpPr txBox="1"/>
          <p:nvPr/>
        </p:nvSpPr>
        <p:spPr>
          <a:xfrm>
            <a:off x="4810125" y="5086350"/>
            <a:ext cx="33051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Noto Sans JP"/>
                <a:ea typeface="Noto Sans JP"/>
              </a:rPr>
              <a:t>舌先を「つけない」</a:t>
            </a:r>
          </a:p>
        </p:txBody>
      </p:sp>
      <p:sp>
        <p:nvSpPr>
          <p:cNvPr id="17" name=""/>
          <p:cNvSpPr txBox="1"/>
          <p:nvPr/>
        </p:nvSpPr>
        <p:spPr>
          <a:xfrm>
            <a:off x="5248275" y="5610225"/>
            <a:ext cx="22955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奥に引いて丸めて、</a:t>
            </a:r>
          </a:p>
        </p:txBody>
      </p:sp>
      <p:sp>
        <p:nvSpPr>
          <p:cNvPr id="18" name=""/>
          <p:cNvSpPr txBox="1"/>
          <p:nvPr/>
        </p:nvSpPr>
        <p:spPr>
          <a:xfrm>
            <a:off x="5372100" y="5905500"/>
            <a:ext cx="14382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唇は「ウ」</a:t>
            </a:r>
          </a:p>
        </p:txBody>
      </p:sp>
      <p:sp>
        <p:nvSpPr>
          <p:cNvPr id="19" name=""/>
          <p:cNvSpPr/>
          <p:nvPr/>
        </p:nvSpPr>
        <p:spPr>
          <a:xfrm>
            <a:off x="8048625" y="1724025"/>
            <a:ext cx="3457575" cy="4714875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/>
        </p:spPr>
      </p:sp>
      <p:sp>
        <p:nvSpPr>
          <p:cNvPr id="20" name=""/>
          <p:cNvSpPr/>
          <p:nvPr/>
        </p:nvSpPr>
        <p:spPr>
          <a:xfrm>
            <a:off x="8296275" y="1933575"/>
            <a:ext cx="2962275" cy="2428875"/>
          </a:xfrm>
          <a:prstGeom prst="roundRect">
            <a:avLst>
              <a:gd name="adj" fmla="val 7843"/>
            </a:avLst>
          </a:prstGeom>
          <a:solidFill>
            <a:srgbClr val="FFF2C9"/>
          </a:solidFill>
          <a:ln/>
        </p:spPr>
      </p:sp>
      <p:pic>
        <p:nvPicPr>
          <p:cNvPr id="21" name="Image 2" descr="ダンベル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675" y="2200275"/>
            <a:ext cx="1905000" cy="190500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8924925" y="5086350"/>
            <a:ext cx="23145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Noto Sans JP"/>
                <a:ea typeface="Noto Sans JP"/>
              </a:rPr>
              <a:t>発音は筋トレ</a:t>
            </a:r>
          </a:p>
        </p:txBody>
      </p:sp>
      <p:sp>
        <p:nvSpPr>
          <p:cNvPr id="23" name=""/>
          <p:cNvSpPr txBox="1"/>
          <p:nvPr/>
        </p:nvSpPr>
        <p:spPr>
          <a:xfrm>
            <a:off x="9067800" y="5610225"/>
            <a:ext cx="14192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まねして、</a:t>
            </a:r>
          </a:p>
        </p:txBody>
      </p:sp>
      <p:sp>
        <p:nvSpPr>
          <p:cNvPr id="24" name=""/>
          <p:cNvSpPr txBox="1"/>
          <p:nvPr/>
        </p:nvSpPr>
        <p:spPr>
          <a:xfrm>
            <a:off x="9020175" y="5905500"/>
            <a:ext cx="20859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毎日ちょっとずつ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